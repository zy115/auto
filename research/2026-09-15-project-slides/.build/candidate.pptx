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7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8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9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0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f858c7bc334abc" /><Relationship Type="http://schemas.openxmlformats.org/officeDocument/2006/relationships/extended-properties" Target="/docProps/app.xml" Id="R2070136fd29c431c" /><Relationship Type="http://schemas.openxmlformats.org/officeDocument/2006/relationships/officeDocument" Target="/ppt/presentation.xml" Id="R97b2d5582cac4c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2c6a6030394d8b"/>
  </p:sldMasterIdLst>
  <p:notesMasterIdLst>
    <p:notesMasterId xmlns:r="http://schemas.openxmlformats.org/officeDocument/2006/relationships" r:id="R4a167e765aa5473e"/>
  </p:notesMasterIdLst>
  <p:sldIdLst>
    <p:sldId xmlns:r="http://schemas.openxmlformats.org/officeDocument/2006/relationships" id="256" r:id="Rbfbd4d23eece428a"/>
    <p:sldId xmlns:r="http://schemas.openxmlformats.org/officeDocument/2006/relationships" id="257" r:id="Redcc1034bca24466"/>
    <p:sldId xmlns:r="http://schemas.openxmlformats.org/officeDocument/2006/relationships" id="258" r:id="R8ce614ed360d4a85"/>
    <p:sldId xmlns:r="http://schemas.openxmlformats.org/officeDocument/2006/relationships" id="259" r:id="R5125b150d1534175"/>
    <p:sldId xmlns:r="http://schemas.openxmlformats.org/officeDocument/2006/relationships" id="260" r:id="R54feeabca64e419c"/>
    <p:sldId xmlns:r="http://schemas.openxmlformats.org/officeDocument/2006/relationships" id="261" r:id="Rcef7f4f376c24bf3"/>
    <p:sldId xmlns:r="http://schemas.openxmlformats.org/officeDocument/2006/relationships" id="262" r:id="R3ea9a7bbd7ef4bd0"/>
    <p:sldId xmlns:r="http://schemas.openxmlformats.org/officeDocument/2006/relationships" id="263" r:id="Rc5a89088245b4129"/>
    <p:sldId xmlns:r="http://schemas.openxmlformats.org/officeDocument/2006/relationships" id="264" r:id="Rdc9bc96ddb744ef0"/>
    <p:sldId xmlns:r="http://schemas.openxmlformats.org/officeDocument/2006/relationships" id="265" r:id="R1f7e5d836d024dc2"/>
    <p:sldId xmlns:r="http://schemas.openxmlformats.org/officeDocument/2006/relationships" id="266" r:id="R298d7500595b4c7b"/>
    <p:sldId xmlns:r="http://schemas.openxmlformats.org/officeDocument/2006/relationships" id="267" r:id="R00e982a2152f4299"/>
    <p:sldId xmlns:r="http://schemas.openxmlformats.org/officeDocument/2006/relationships" id="268" r:id="R57df83be821946b1"/>
    <p:sldId xmlns:r="http://schemas.openxmlformats.org/officeDocument/2006/relationships" id="269" r:id="Re80d52edd18241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5dd13e145a4ebd" /><Relationship Type="http://schemas.openxmlformats.org/officeDocument/2006/relationships/slideMaster" Target="/ppt/slideMasters/slideMaster1.xml" Id="R1d2c6a6030394d8b" /><Relationship Type="http://schemas.openxmlformats.org/officeDocument/2006/relationships/notesMaster" Target="/ppt/notesMasters/notesMaster1.xml" Id="R4a167e765aa5473e" /><Relationship Type="http://schemas.openxmlformats.org/officeDocument/2006/relationships/presProps" Target="/ppt/presProps.xml" Id="Ref2479895eb44216" /><Relationship Type="http://schemas.openxmlformats.org/officeDocument/2006/relationships/tableStyles" Target="/ppt/tableStyles.xml" Id="R2436256becd646f4" /><Relationship Type="http://schemas.openxmlformats.org/officeDocument/2006/relationships/slide" Target="/ppt/slides/slide1.xml" Id="Rbfbd4d23eece428a" /><Relationship Type="http://schemas.openxmlformats.org/officeDocument/2006/relationships/slide" Target="/ppt/slides/slide2.xml" Id="Redcc1034bca24466" /><Relationship Type="http://schemas.openxmlformats.org/officeDocument/2006/relationships/slide" Target="/ppt/slides/slide3.xml" Id="R8ce614ed360d4a85" /><Relationship Type="http://schemas.openxmlformats.org/officeDocument/2006/relationships/slide" Target="/ppt/slides/slide4.xml" Id="R5125b150d1534175" /><Relationship Type="http://schemas.openxmlformats.org/officeDocument/2006/relationships/slide" Target="/ppt/slides/slide5.xml" Id="R54feeabca64e419c" /><Relationship Type="http://schemas.openxmlformats.org/officeDocument/2006/relationships/slide" Target="/ppt/slides/slide6.xml" Id="Rcef7f4f376c24bf3" /><Relationship Type="http://schemas.openxmlformats.org/officeDocument/2006/relationships/slide" Target="/ppt/slides/slide7.xml" Id="R3ea9a7bbd7ef4bd0" /><Relationship Type="http://schemas.openxmlformats.org/officeDocument/2006/relationships/slide" Target="/ppt/slides/slide8.xml" Id="Rc5a89088245b4129" /><Relationship Type="http://schemas.openxmlformats.org/officeDocument/2006/relationships/slide" Target="/ppt/slides/slide9.xml" Id="Rdc9bc96ddb744ef0" /><Relationship Type="http://schemas.openxmlformats.org/officeDocument/2006/relationships/slide" Target="/ppt/slides/slide10.xml" Id="R1f7e5d836d024dc2" /><Relationship Type="http://schemas.openxmlformats.org/officeDocument/2006/relationships/slide" Target="/ppt/slides/slide11.xml" Id="R298d7500595b4c7b" /><Relationship Type="http://schemas.openxmlformats.org/officeDocument/2006/relationships/slide" Target="/ppt/slides/slide12.xml" Id="R00e982a2152f4299" /><Relationship Type="http://schemas.openxmlformats.org/officeDocument/2006/relationships/slide" Target="/ppt/slides/slide13.xml" Id="R57df83be821946b1" /><Relationship Type="http://schemas.openxmlformats.org/officeDocument/2006/relationships/slide" Target="/ppt/slides/slide14.xml" Id="Re80d52edd18241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bcefc37afb49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19d64884154866" /><Relationship Type="http://schemas.openxmlformats.org/officeDocument/2006/relationships/notesMaster" Target="/ppt/notesMasters/notesMaster1.xml" Id="R33e75ab962554d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bdb28ca7264e07" /><Relationship Type="http://schemas.openxmlformats.org/officeDocument/2006/relationships/notesMaster" Target="/ppt/notesMasters/notesMaster1.xml" Id="R3ad81294166145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d6aff959b64ce2" /><Relationship Type="http://schemas.openxmlformats.org/officeDocument/2006/relationships/notesMaster" Target="/ppt/notesMasters/notesMaster1.xml" Id="Rfe83a90c5fe04c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6f6db58a944ac1" /><Relationship Type="http://schemas.openxmlformats.org/officeDocument/2006/relationships/notesMaster" Target="/ppt/notesMasters/notesMaster1.xml" Id="R9140317468e547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4780eba5654251" /><Relationship Type="http://schemas.openxmlformats.org/officeDocument/2006/relationships/notesMaster" Target="/ppt/notesMasters/notesMaster1.xml" Id="R7c753cdcdca940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c6682b514243c1" /><Relationship Type="http://schemas.openxmlformats.org/officeDocument/2006/relationships/notesMaster" Target="/ppt/notesMasters/notesMaster1.xml" Id="R46c206bbe22b48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9a11e87ead40af" /><Relationship Type="http://schemas.openxmlformats.org/officeDocument/2006/relationships/notesMaster" Target="/ppt/notesMasters/notesMaster1.xml" Id="Recf722a5de754a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bc4fb70b9d472a" /><Relationship Type="http://schemas.openxmlformats.org/officeDocument/2006/relationships/notesMaster" Target="/ppt/notesMasters/notesMaster1.xml" Id="R974c9045310b43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c0934845df41fa" /><Relationship Type="http://schemas.openxmlformats.org/officeDocument/2006/relationships/notesMaster" Target="/ppt/notesMasters/notesMaster1.xml" Id="R25760bf796c444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16fa392fd746d5" /><Relationship Type="http://schemas.openxmlformats.org/officeDocument/2006/relationships/notesMaster" Target="/ppt/notesMasters/notesMaster1.xml" Id="R68538ab0db0d49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5d755819cf4daf" /><Relationship Type="http://schemas.openxmlformats.org/officeDocument/2006/relationships/notesMaster" Target="/ppt/notesMasters/notesMaster1.xml" Id="R39f91e77619b41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8c32a30bb74fc0" /><Relationship Type="http://schemas.openxmlformats.org/officeDocument/2006/relationships/notesMaster" Target="/ppt/notesMasters/notesMaster1.xml" Id="Rcba215d1cf3a41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e68598f3d104174" /><Relationship Type="http://schemas.openxmlformats.org/officeDocument/2006/relationships/notesMaster" Target="/ppt/notesMasters/notesMaster1.xml" Id="R79cf183c20a94c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610dc9767945de" /><Relationship Type="http://schemas.openxmlformats.org/officeDocument/2006/relationships/notesMaster" Target="/ppt/notesMasters/notesMaster1.xml" Id="R5ad84f949e324b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问题是隐藏任务顺序/逻辑的发现，不是完全没有任务信号的目标发现。事件可识别，早期实验提供可靠的逐步推进反馈。格子图仅为机制示意，不对应具体实验地图。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6：长度16，动作噪声，第二批32个新种子。左图为首次成功率达到90%的平均环境步。右图为第一次完整成功之前，在已知目标前缀中累计执行的平均步数，两者观察区间不同，不应当相减或当成总成本的精确分解。三方法每步9次Bellman更新；立即/延迟epsilon均为0.005，普通replay为0.05（开发集选择）。未声称超过ISA等既有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在线性任务与可靠进度反馈条件下，进度唯一标记任务阶段。列表是链式自动机的等价表示；结果不证明图形式本身的优势。未知项由试错逐步填入。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→E与B→E汇入同一物理位置，进度均为2、末事件均为E，但后继要求不同。图中两个E表示不同历史下的任务状态，不是两个物理位置。充分历史可以解决这个任务。咖啡例子只是同构的直觉说明，不是实验中的任务：A与B是两个不同的首步（烧开水 / 取冷水），E是两边共有的同一个动作（冲入咖啡粉）。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前缀树与完整成功事件历史dictionary在匹配输入与随机数时逐动作一致。字典包含足够历史，并非只存进度或最后事件。这里比较表示形式，不涉及合并不同历史。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零件任务规则：A先于B则选X，否则选Y，其他零件位置无关。完整顺序由环境提供；末端只做一次二选一。此图表示末端决策等价，不声称每个中间前缀在环境状态上都等价。正确自动机与等价手写程序使用同一状态划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TL/AUTO/docs/MEMORY_COMPRESSION_PILOT.md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规模400个配对种子，每方法5000幕。T95为首次达到并在后续记录点保持至少95%准确率的幕数，本批主要对照无删失，因此RMST等于平均T95。压缩等价关系由设计者提供。完整历史与正确压缩使用同样Q-learning。自动机与等价手写程序逐种子逐评估点一致。比值来自未取整均值，不应以显示取整值要求精确相除。该量级有闭式解释：错误动作Q恒为0，正确动作首次获正奖励后Q=1，此后该状态永远答对；未覆盖状态随机并列答对一半，故准确率=(H+c)/2H，要达95%需覆盖c&gt;=0.9H。已覆盖i格时新覆盖一格的概率为(H-i)/(2H)，期望等待2H/(H-i)，累加得 sum(2H/(H-i), i=0..ceil(0.9H)-1)。H=6/24/120给出29.40/109.25/543.76幕，压缩后H=2给出6.0幕，理论倍数90.63x，实测89.75x。大倍数来自填表次数，不需要额外机制假设。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TL/AUTO/results/runs/memory_compression_pilot_5k.md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机制示意。左侧：暂时具有相同观测的历史可能在未见后缀上要求不同操作；合并会错用经验。右侧：等价历史始终分开会重复学习。示意不是本次审计的原始自动机，不把当前裁决相同视为全后缀等价。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35：n=3的8个任务族，792次查询。固定基线轨迹，逐查询只使用当时证据进行回放审计；未将这些合并接入控制器，也没有相应学习曲线。k_min是当时证据所容许的最小机器状态数，+1放松该上界。节省只计审计识别的可安全节省部分（134/792），那102次落在必要查询上的复用不计入节省，它是另一种危害：把真正需要买的答案用别人的答案替掉。判据在跑之前写定：节省&gt;=20%且错误共享约等于0。在线k_min是8-12而真状态数是19-27，证据少时最小机器严重过度合并，这是离线97.6%精确率无法在线复现的全部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归档AUTO/discovery/results/verify.jsonl.gz：预算40/80/160/320，first90&lt;200000的运行分别1/61/131/144，共144。图中百分比按用户口播四舍五入为1/42/91/100。嵌入图表数据保留12位小数，分子分母在页面与备注中保留精确计数。160预算时最终仍&gt;=90%的只有127/144；本图量的是曾经达标，不是最终成功比例。控制器按历史节点读取局部证据，未启用合并。不能由最终树节点数推断必须完整结构才能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TL/AUTO/discovery/src/run_verify.py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零件pilot每规模400种子。训练期间、规则唯一识别前立即法相比延迟法实际额外成功均值为0.1225、0.4525、0.635，图显示口播取整0.123/0.453/0.635。不是贪心评估累计期望0.137/0.533/0.696。规则识别前准确率不足95%；识别后两臂在该实现中相同，因此T95没有分辨能力。该必然性只针对这个规则族、确定反馈、更新与阈值设置。主动任务早期调用技能改变到达后缀的行为，被动任务每幕独立给出排列，动作不影响下一份证据。不能据此断言所有边学边用收益都必须依赖主动取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族×30种子×5臂，预算200000步。first90是报告中的中位数，AUC为成功率曲线面积。Y00没有两种机制，Y01用学习型元控制器调用共享技能，Y10真规则路由但技能按任务状态独立，Y11真规则路由且跨状态共享技能；QRM单列。Y01并未被给定正确目标顺序，结构化臂用真规则而不是在线学规则。原报告关于路由压倒性强于复用的AUC解释已在Step38撤回，因天花板影响；不能用本页做该推断。后续C-full审计指出Y10/Y11差异不只来自参数共享，还涉及经验传播、采样和探索计数。删失：原始归档results/factorial.json中first90=-1（从未达标）共40次，全部落在Y00（30/720）与Y01（10/720），Y10/Y11/QRM为0。页面中位数按达标者计；Y00若把-1记作预算200000，中位为41000而非38500。该丢弃使Y00/Y01显得偏好，因此本页对比是保守的。另：报告曾给出样本复杂度主效应路由6.39x、复用5.34x，本次未能从归档复现（把-1记作预算得9.03x/4.50x），故本页不列该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38.5剂量扫描，昂贵导航，自有导出模拟器，任务规则已给定，训练预算1000000环境步。达标率为预算内达到90%成功率的运行比例。Y10/Y11数据按历史报告提供。此扫描的逐种子原始数据后来确认遗失，因此不能重算置信区间。Step40新网格逐运行归档：步费改变QRM排序，并使风险交互效应缩小；不能将此页视为协议不变的效应大小。无论存在何种图论路径，危险格可能迫使成功轨迹绕行。这里不声明几何难度完全不变。页底两行取自REPORT_STEP38_5第125-126行：昂贵地图加岩浆时「有技能无路由」0.882远胜「有路由无技能」0.106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TL/progressive_task_discovery/stage8_compression/REPORT_STEP38_5.md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层不是全都已集成的一套通用算法。结构发现的受限未知顺序闭环有正结果；状态抽象的已知正确压缩有明确收益，可靠在线合并尚未解决；结构利用的路由/共享实现具有条件性收益，但一般机制归因、协议与任务边界未定。未建立超过ISA等的通用新方法，不声称自动机语法优于等价手写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4541beda9941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9cf77de85744fc" /><Relationship Type="http://schemas.openxmlformats.org/officeDocument/2006/relationships/slideLayout" Target="/ppt/slideLayouts/slideLayout1.xml" Id="R0459d8d2d3fb4e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59d8d2d3fb4e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772c261994814" /><Relationship Type="http://schemas.openxmlformats.org/officeDocument/2006/relationships/notesSlide" Target="/ppt/notesSlides/notesSlide1.xml" Id="Rac0ae087ddc74a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045329fda4de2" /><Relationship Type="http://schemas.openxmlformats.org/officeDocument/2006/relationships/chart" Target="/ppt/slides/charts/chart1.xml" Id="R93f0b4cb993c4ba4" /><Relationship Type="http://schemas.openxmlformats.org/officeDocument/2006/relationships/chart" Target="/ppt/slides/charts/chart2.xml" Id="R0aae2237754e404d" /><Relationship Type="http://schemas.openxmlformats.org/officeDocument/2006/relationships/notesSlide" Target="/ppt/notesSlides/notesSlide2.xml" Id="R976e9a5159b145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c67c89c6a45f9" /><Relationship Type="http://schemas.openxmlformats.org/officeDocument/2006/relationships/notesSlide" Target="/ppt/notesSlides/notesSlide3.xml" Id="R143edc1d605a4f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662e78cee4b27" /><Relationship Type="http://schemas.openxmlformats.org/officeDocument/2006/relationships/notesSlide" Target="/ppt/notesSlides/notesSlide4.xml" Id="R22c4b717e34d47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e5c4524c74470" /><Relationship Type="http://schemas.openxmlformats.org/officeDocument/2006/relationships/notesSlide" Target="/ppt/notesSlides/notesSlide5.xml" Id="Rd4eb0bffa37643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8480e16b4470e" /><Relationship Type="http://schemas.openxmlformats.org/officeDocument/2006/relationships/notesSlide" Target="/ppt/notesSlides/notesSlide6.xml" Id="R6aeba063410a41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efa0ca59f4314" /><Relationship Type="http://schemas.openxmlformats.org/officeDocument/2006/relationships/chart" Target="/ppt/slides/charts/chart3.xml" Id="Raed4ee202a2541ee" /><Relationship Type="http://schemas.openxmlformats.org/officeDocument/2006/relationships/notesSlide" Target="/ppt/notesSlides/notesSlide7.xml" Id="R676ee671b29f43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a07874d0e46d6" /><Relationship Type="http://schemas.openxmlformats.org/officeDocument/2006/relationships/notesSlide" Target="/ppt/notesSlides/notesSlide8.xml" Id="R30f8f6f843a149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3a69edcf24858" /><Relationship Type="http://schemas.openxmlformats.org/officeDocument/2006/relationships/chart" Target="/ppt/slides/charts/chart4.xml" Id="R6d842c64651d4ae6" /><Relationship Type="http://schemas.openxmlformats.org/officeDocument/2006/relationships/chart" Target="/ppt/slides/charts/chart5.xml" Id="Rf08f31a01fad4d16" /><Relationship Type="http://schemas.openxmlformats.org/officeDocument/2006/relationships/chart" Target="/ppt/slides/charts/chart6.xml" Id="R0949d4b1cfc84745" /><Relationship Type="http://schemas.openxmlformats.org/officeDocument/2006/relationships/notesSlide" Target="/ppt/notesSlides/notesSlide9.xml" Id="Rec13a22a43a44d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9bf905f374654" /><Relationship Type="http://schemas.openxmlformats.org/officeDocument/2006/relationships/chart" Target="/ppt/slides/charts/chart7.xml" Id="Rcfe4b0f2b7d8454c" /><Relationship Type="http://schemas.openxmlformats.org/officeDocument/2006/relationships/notesSlide" Target="/ppt/notesSlides/notesSlide10.xml" Id="Ra25c23d5618942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d4bedcf8c4613" /><Relationship Type="http://schemas.openxmlformats.org/officeDocument/2006/relationships/chart" Target="/ppt/slides/charts/chart8.xml" Id="R82d77abaa2c84ee8" /><Relationship Type="http://schemas.openxmlformats.org/officeDocument/2006/relationships/notesSlide" Target="/ppt/notesSlides/notesSlide11.xml" Id="R9053fe0a02ac43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5aea59c81436d" /><Relationship Type="http://schemas.openxmlformats.org/officeDocument/2006/relationships/chart" Target="/ppt/slides/charts/chart9.xml" Id="R6ed6dd8fde654ddd" /><Relationship Type="http://schemas.openxmlformats.org/officeDocument/2006/relationships/notesSlide" Target="/ppt/notesSlides/notesSlide12.xml" Id="R797764a33da74e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85d8eaf044c42" /><Relationship Type="http://schemas.openxmlformats.org/officeDocument/2006/relationships/chart" Target="/ppt/slides/charts/chart10.xml" Id="R04edf8d5a5634f43" /><Relationship Type="http://schemas.openxmlformats.org/officeDocument/2006/relationships/notesSlide" Target="/ppt/notesSlides/notesSlide13.xml" Id="R80cb52b13b4d4aa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3acf3ecdc4079" /><Relationship Type="http://schemas.openxmlformats.org/officeDocument/2006/relationships/notesSlide" Target="/ppt/notesSlides/notesSlide14.xml" Id="R9284a4b57e794e9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 first90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4A1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Lit>
              <c:ptCount val="3"/>
              <c:pt idx="0">
                <c:v>普通 replay</c:v>
              </c:pt>
              <c:pt idx="1">
                <c:v>延迟使用</c:v>
              </c:pt>
              <c:pt idx="2">
                <c:v>立即使用</c:v>
              </c:pt>
            </c:strLit>
          </c:cat>
          <c:val>
            <c:numLit>
              <c:formatCode>#,##0</c:formatCode>
              <c:ptCount val="3"/>
              <c:pt idx="0">
                <c:v>18594</c:v>
              </c:pt>
              <c:pt idx="1">
                <c:v>37938</c:v>
              </c:pt>
              <c:pt idx="2">
                <c:v>6906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已知前缀执行步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Lit>
              <c:ptCount val="2"/>
              <c:pt idx="0">
                <c:v>延迟</c:v>
              </c:pt>
              <c:pt idx="1">
                <c:v>立即</c:v>
              </c:pt>
            </c:strLit>
          </c:cat>
          <c:val>
            <c:numLit>
              <c:formatCode>#,##0</c:formatCode>
              <c:ptCount val="2"/>
              <c:pt idx="0">
                <c:v>33194</c:v>
              </c:pt>
              <c:pt idx="1">
                <c:v>2566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完整历史</c:v>
          </c:tx>
          <c:spPr>
            <a:solidFill xmlns:a="http://schemas.openxmlformats.org/drawingml/2006/main">
              <a:srgbClr val="94A1AA"/>
            </a:solidFill>
          </c:spPr>
          <c:cat>
            <c:strLit>
              <c:ptCount val="3"/>
              <c:pt idx="0">
                <c:v>3 个零件</c:v>
              </c:pt>
              <c:pt idx="1">
                <c:v>4 个零件</c:v>
              </c:pt>
              <c:pt idx="2">
                <c:v>5 个零件</c:v>
              </c:pt>
            </c:strLit>
          </c:cat>
          <c:val>
            <c:numLit>
              <c:formatCode>0.00</c:formatCode>
              <c:ptCount val="3"/>
              <c:pt idx="0">
                <c:v>28.28</c:v>
              </c:pt>
              <c:pt idx="1">
                <c:v>109.15</c:v>
              </c:pt>
              <c:pt idx="2">
                <c:v>547.23</c:v>
              </c:pt>
            </c:numLit>
          </c:val>
        </c:ser>
        <c:ser>
          <c:idx val="1"/>
          <c:order val="1"/>
          <c:tx>
            <c:v>正确压缩</c:v>
          </c:tx>
          <c:spPr>
            <a:solidFill xmlns:a="http://schemas.openxmlformats.org/drawingml/2006/main">
              <a:srgbClr val="2176AD"/>
            </a:solidFill>
          </c:spPr>
          <c:cat>
            <c:strLit>
              <c:ptCount val="3"/>
              <c:pt idx="0">
                <c:v>3 个零件</c:v>
              </c:pt>
              <c:pt idx="1">
                <c:v>4 个零件</c:v>
              </c:pt>
              <c:pt idx="2">
                <c:v>5 个零件</c:v>
              </c:pt>
            </c:strLit>
          </c:cat>
          <c:val>
            <c:numLit>
              <c:formatCode>0.00</c:formatCode>
              <c:ptCount val="3"/>
              <c:pt idx="0">
                <c:v>6.05</c:v>
              </c:pt>
              <c:pt idx="1">
                <c:v>5.89</c:v>
              </c:pt>
              <c:pt idx="2">
                <c:v>6.1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平均 T95 / 幕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Lit>
              <c:ptCount val="2"/>
              <c:pt idx="0">
                <c:v>k_min</c:v>
              </c:pt>
              <c:pt idx="1">
                <c:v>k_min+1</c:v>
              </c:pt>
            </c:strLit>
          </c:cat>
          <c:val>
            <c:numLit>
              <c:formatCode>0.0%</c:formatCode>
              <c:ptCount val="2"/>
              <c:pt idx="0">
                <c:v>0.801</c:v>
              </c:pt>
              <c:pt idx="1">
                <c:v>0.773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Lit>
              <c:ptCount val="2"/>
              <c:pt idx="0">
                <c:v>k_min</c:v>
              </c:pt>
              <c:pt idx="1">
                <c:v>k_min+1</c:v>
              </c:pt>
            </c:strLit>
          </c:cat>
          <c:val>
            <c:numLit>
              <c:formatCode>0.0%</c:formatCode>
              <c:ptCount val="2"/>
              <c:pt idx="0">
                <c:v>0.407</c:v>
              </c:pt>
              <c:pt idx="1">
                <c:v>0.636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Lit>
              <c:ptCount val="2"/>
              <c:pt idx="0">
                <c:v>k_min</c:v>
              </c:pt>
              <c:pt idx="1">
                <c:v>k_min+1</c:v>
              </c:pt>
            </c:strLit>
          </c:cat>
          <c:val>
            <c:numLit>
              <c:formatCode>0.0%</c:formatCode>
              <c:ptCount val="2"/>
              <c:pt idx="0">
                <c:v>0.169</c:v>
              </c:pt>
              <c:pt idx="1">
                <c:v>0.018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达标运行比例</c:v>
          </c:tx>
          <c:spPr>
            <a:solidFill xmlns:a="http://schemas.openxmlformats.org/drawingml/2006/main">
              <a:srgbClr val="2176AD"/>
            </a:solidFill>
          </c:spPr>
          <c:cat>
            <c:numLit>
              <c:formatCode>General</c:formatCode>
              <c:ptCount val="4"/>
              <c:pt idx="0">
                <c:v>40</c:v>
              </c:pt>
              <c:pt idx="1">
                <c:v>80</c:v>
              </c:pt>
              <c:pt idx="2">
                <c:v>160</c:v>
              </c:pt>
              <c:pt idx="3">
                <c:v>320</c:v>
              </c:pt>
            </c:numLit>
          </c:cat>
          <c:val>
            <c:numLit>
              <c:formatCode>0%</c:formatCode>
              <c:ptCount val="4"/>
              <c:pt idx="0">
                <c:v>0.006944444444</c:v>
              </c:pt>
              <c:pt idx="1">
                <c:v>0.423611111111</c:v>
              </c:pt>
              <c:pt idx="2">
                <c:v>0.909722222222</c:v>
              </c:pt>
              <c:pt idx="3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提问预算 / 次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立即减延迟</c:v>
          </c:tx>
          <c:spPr>
            <a:solidFill xmlns:a="http://schemas.openxmlformats.org/drawingml/2006/main">
              <a:srgbClr val="2176AD"/>
            </a:solidFill>
          </c:spPr>
          <c:cat>
            <c:strLit>
              <c:ptCount val="3"/>
              <c:pt idx="0">
                <c:v>3 个</c:v>
              </c:pt>
              <c:pt idx="1">
                <c:v>4 个</c:v>
              </c:pt>
              <c:pt idx="2">
                <c:v>5 个</c:v>
              </c:pt>
            </c:strLit>
          </c:cat>
          <c:val>
            <c:numLit>
              <c:formatCode>0.000</c:formatCode>
              <c:ptCount val="3"/>
              <c:pt idx="0">
                <c:v>0.123</c:v>
              </c:pt>
              <c:pt idx="1">
                <c:v>0.453</c:v>
              </c:pt>
              <c:pt idx="2">
                <c:v>0.635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first90</c:v>
          </c:tx>
          <c:spPr>
            <a:solidFill xmlns:a="http://schemas.openxmlformats.org/drawingml/2006/main">
              <a:srgbClr val="94A1AA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2A0B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Lit>
              <c:ptCount val="5"/>
              <c:pt idx="0">
                <c:v>Y00</c:v>
              </c:pt>
              <c:pt idx="1">
                <c:v>Y01</c:v>
              </c:pt>
              <c:pt idx="2">
                <c:v>Y10</c:v>
              </c:pt>
              <c:pt idx="3">
                <c:v>Y11</c:v>
              </c:pt>
              <c:pt idx="4">
                <c:v>QRM</c:v>
              </c:pt>
            </c:strLit>
          </c:cat>
          <c:val>
            <c:numLit>
              <c:formatCode>#,##0</c:formatCode>
              <c:ptCount val="5"/>
              <c:pt idx="0">
                <c:v>38500</c:v>
              </c:pt>
              <c:pt idx="1">
                <c:v>4000</c:v>
              </c:pt>
              <c:pt idx="2">
                <c:v>3750</c:v>
              </c:pt>
              <c:pt idx="3">
                <c:v>1000</c:v>
              </c:pt>
              <c:pt idx="4">
                <c:v>7000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5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0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Y10  分阶段技能</c:v>
          </c:tx>
          <c:spPr>
            <a:ln xmlns:a="http://schemas.openxmlformats.org/drawingml/2006/main" w="28575">
              <a:solidFill>
                <a:srgbClr val="C47A35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C47A35"/>
              </a:solidFill>
            </c:spPr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</c:numLit>
          </c:cat>
          <c:val>
            <c:numLit>
              <c:formatCode>0%</c:formatCode>
              <c:ptCount val="5"/>
              <c:pt idx="0">
                <c:v>1</c:v>
              </c:pt>
              <c:pt idx="1">
                <c:v>0.32</c:v>
              </c:pt>
              <c:pt idx="2">
                <c:v>0.16</c:v>
              </c:pt>
              <c:pt idx="3">
                <c:v>0.11</c:v>
              </c:pt>
              <c:pt idx="4">
                <c:v>0.1</c:v>
              </c:pt>
            </c:numLit>
          </c:val>
          <c:smooth val="0"/>
        </c:ser>
        <c:ser>
          <c:idx val="1"/>
          <c:order val="1"/>
          <c:tx>
            <c:v>Y11  共享技能</c:v>
          </c:tx>
          <c:spPr>
            <a:ln xmlns:a="http://schemas.openxmlformats.org/drawingml/2006/main" w="28575">
              <a:solidFill>
                <a:srgbClr val="2176AD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2176AD"/>
              </a:solidFill>
            </c:spPr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</c:numLit>
          </c:cat>
          <c:val>
            <c:numLit>
              <c:formatCode>0%</c:formatCode>
              <c:ptCount val="5"/>
              <c:pt idx="0">
                <c:v>1</c:v>
              </c:pt>
              <c:pt idx="1">
                <c:v>1</c:v>
              </c:pt>
              <c:pt idx="2">
                <c:v>0.99</c:v>
              </c:pt>
              <c:pt idx="3">
                <c:v>0.95</c:v>
              </c:pt>
              <c:pt idx="4">
                <c:v>0.91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危险格 / 个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text-1">
            <a:extLst xmlns:a="http://schemas.openxmlformats.org/drawingml/2006/main">
              <a:ext uri="{FF2B5EF4-FFF2-40B4-BE49-F238E27FC236}">
                <a16:creationId xmlns:a16="http://schemas.microsoft.com/office/drawing/2014/main" id="{0FB2B536-D4C5-408A-9287-FFA66110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未知任务中的在线发现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DC71C0CE-3945-440A-B7CE-D1A2C856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957EA7A5-E8AB-4241-86B2-E34C2C75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事件可见，进度反馈可靠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7337B-6B87-4A73-BF83-3D23440A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EDB064-33E3-4483-B6A1-88DF4917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3838C-A6F8-4B13-A02E-2401372F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4FA3D-96C5-4A02-86B4-F98FC57A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B53BA-DC4E-4FC2-9A27-E4BA8A93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71CBE-4B51-40DF-8A26-F33245E0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AD560E-1D9E-4C46-8577-9B422F6A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97837-1406-4A49-A561-F5DAA250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D2716-BF50-4251-B1F0-A57673CB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4415D5-95F0-4B78-A2CC-A1E43102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98542D-F565-4B8B-A3F5-AE7CFF30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E5359-E304-4D15-8085-14E438F4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43212-206F-427F-B1BC-68BB2764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CFC3F7-50BD-4E8D-A4BC-3D0B9108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1C3590-8005-4195-9982-05A67331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B61AB5-4CE7-43CD-83B0-8A54FFAA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41AB1A-AFA8-4925-B742-2F57E336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6010A6-04F3-418D-B8A6-5FD521F7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CBFB4F-0B8D-4F3D-8B33-AC24662C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F25C94-8ADD-4889-AEB6-2E3A0D25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DEEC46-3409-4D2B-B12A-AE674441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2DCF88-A745-4533-B4B6-8E49AE37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E307BA-CFA6-4BC6-81F2-19997727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CE7C78-E341-4673-9CF3-C2B63F61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657000-43BA-403A-8ABA-DA4B495B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428DC4-E04C-464A-9C8A-8D367341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A2FC5D-9293-4838-B6D6-7C7A941A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BB52FA-D33F-453F-8F9D-FC622CE0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B2400A-0D27-4E6C-B122-EF564FAE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5228BF-84CA-42B3-9F8F-45C98EEC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720FCB-1E72-43EC-8B66-CCC24D05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6F9D82-79AC-451F-B628-1B512301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24230F-AB9D-4AE4-90B1-3C91E56A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1F9B7E-BB6D-4B96-94ED-0AD0E972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B45E66-74A4-4EC2-B90C-4ACE926E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67E413-D711-4056-A42D-DAADA98D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40" name="text-4">
            <a:extLst xmlns:a="http://schemas.openxmlformats.org/drawingml/2006/main">
              <a:ext uri="{FF2B5EF4-FFF2-40B4-BE49-F238E27FC236}">
                <a16:creationId xmlns:a16="http://schemas.microsoft.com/office/drawing/2014/main" id="{09EAB583-889D-4D5B-ADED-D5A67236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agent</a:t>
            </a:r>
          </a:p>
        </p:txBody>
      </p:sp>
      <p:sp>
        <p:nvSpPr>
          <p:cNvPr id="41" name="text-5">
            <a:extLst xmlns:a="http://schemas.openxmlformats.org/drawingml/2006/main">
              <a:ext uri="{FF2B5EF4-FFF2-40B4-BE49-F238E27FC236}">
                <a16:creationId xmlns:a16="http://schemas.microsoft.com/office/drawing/2014/main" id="{2F5D3F63-191F-437A-9266-AF905860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42" name="text-6">
            <a:extLst xmlns:a="http://schemas.openxmlformats.org/drawingml/2006/main">
              <a:ext uri="{FF2B5EF4-FFF2-40B4-BE49-F238E27FC236}">
                <a16:creationId xmlns:a16="http://schemas.microsoft.com/office/drawing/2014/main" id="{A5289508-6CB7-43C6-B6A7-41FD1523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43" name="text-7">
            <a:extLst xmlns:a="http://schemas.openxmlformats.org/drawingml/2006/main">
              <a:ext uri="{FF2B5EF4-FFF2-40B4-BE49-F238E27FC236}">
                <a16:creationId xmlns:a16="http://schemas.microsoft.com/office/drawing/2014/main" id="{2927BA60-BF46-4701-B05B-1EA1E710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44" name="text-8">
            <a:extLst xmlns:a="http://schemas.openxmlformats.org/drawingml/2006/main">
              <a:ext uri="{FF2B5EF4-FFF2-40B4-BE49-F238E27FC236}">
                <a16:creationId xmlns:a16="http://schemas.microsoft.com/office/drawing/2014/main" id="{CAFAF734-0003-4A0F-A42F-71E14E32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45" name="text-9">
            <a:extLst xmlns:a="http://schemas.openxmlformats.org/drawingml/2006/main">
              <a:ext uri="{FF2B5EF4-FFF2-40B4-BE49-F238E27FC236}">
                <a16:creationId xmlns:a16="http://schemas.microsoft.com/office/drawing/2014/main" id="{7EB832ED-4DAD-4009-AC25-BA45284F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A   ?   B   ?   C   ?   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090450-0B0E-4F3C-A546-4937C54A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交互反馈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B3183A-684D-4769-A9F6-04EE3D2F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局部任务结构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D77665-A3AA-48AB-9BE8-76AE8363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继续探索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93CEE36-D0BF-4A74-9B47-997A6D00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调用已学技能</a:t>
            </a:r>
          </a:p>
        </p:txBody>
      </p:sp>
      <p:cxnSp>
        <p:nvCxnSpPr>
          <p:cNvPr id="105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7953375" y="23145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47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9953625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49" idx="1"/>
            <a:endCxn xmlns:a="http://schemas.openxmlformats.org/drawingml/2006/main" id="48" idx="3"/>
          </p:cNvCxnSpPr>
          <p:nvPr/>
        </p:nvCxnSpPr>
        <p:spPr>
          <a:xfrm xmlns:a="http://schemas.openxmlformats.org/drawingml/2006/main" flipH="1">
            <a:off x="7953375" y="45053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48" idx="0"/>
            <a:endCxn xmlns:a="http://schemas.openxmlformats.org/drawingml/2006/main" id="46" idx="2"/>
          </p:cNvCxnSpPr>
          <p:nvPr/>
        </p:nvCxnSpPr>
        <p:spPr>
          <a:xfrm xmlns:a="http://schemas.openxmlformats.org/drawingml/2006/main" flipV="1">
            <a:off x="6858000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54" name="text-10">
            <a:extLst xmlns:a="http://schemas.openxmlformats.org/drawingml/2006/main">
              <a:ext uri="{FF2B5EF4-FFF2-40B4-BE49-F238E27FC236}">
                <a16:creationId xmlns:a16="http://schemas.microsoft.com/office/drawing/2014/main" id="{3D856CEF-2B07-47E2-AEDB-6B6BA8F0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53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未知部分</a:t>
            </a:r>
          </a:p>
        </p:txBody>
      </p:sp>
      <p:sp>
        <p:nvSpPr>
          <p:cNvPr id="55" name="text-11">
            <a:extLst xmlns:a="http://schemas.openxmlformats.org/drawingml/2006/main">
              <a:ext uri="{FF2B5EF4-FFF2-40B4-BE49-F238E27FC236}">
                <a16:creationId xmlns:a16="http://schemas.microsoft.com/office/drawing/2014/main" id="{E9B4A747-544F-4F60-8555-D52AF503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530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已知前缀</a:t>
            </a:r>
          </a:p>
        </p:txBody>
      </p:sp>
    </p:spTree>
    <p:extLst>
      <p:ext uri="{BB962C8B-B14F-4D97-AF65-F5344CB8AC3E}">
        <p14:creationId xmlns:p14="http://schemas.microsoft.com/office/powerpoint/2010/main" val="18500286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2">
            <a:extLst xmlns:a="http://schemas.openxmlformats.org/drawingml/2006/main">
              <a:ext uri="{FF2B5EF4-FFF2-40B4-BE49-F238E27FC236}">
                <a16:creationId xmlns:a16="http://schemas.microsoft.com/office/drawing/2014/main" id="{99E89DF0-C35B-4CC2-8C03-1BCA2B0B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线性任务：立即使用已发现的前缀</a:t>
            </a:r>
          </a:p>
        </p:txBody>
      </p:sp>
      <p:sp>
        <p:nvSpPr>
          <p:cNvPr id="2" name="text-13">
            <a:extLst xmlns:a="http://schemas.openxmlformats.org/drawingml/2006/main">
              <a:ext uri="{FF2B5EF4-FFF2-40B4-BE49-F238E27FC236}">
                <a16:creationId xmlns:a16="http://schemas.microsoft.com/office/drawing/2014/main" id="{33AFF798-F643-4711-9190-AEF21139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长度 16，32 个种子；立即与延迟是同配置的时机对照，普通 replay 探索率不同，仅作参考基线</a:t>
            </a:r>
          </a:p>
        </p:txBody>
      </p:sp>
      <p:sp>
        <p:nvSpPr>
          <p:cNvPr id="3" name="text-14">
            <a:extLst xmlns:a="http://schemas.openxmlformats.org/drawingml/2006/main">
              <a:ext uri="{FF2B5EF4-FFF2-40B4-BE49-F238E27FC236}">
                <a16:creationId xmlns:a16="http://schemas.microsoft.com/office/drawing/2014/main" id="{4D8FB389-B08D-48C1-A1C8-DD5C7203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text-15">
            <a:extLst xmlns:a="http://schemas.openxmlformats.org/drawingml/2006/main">
              <a:ext uri="{FF2B5EF4-FFF2-40B4-BE49-F238E27FC236}">
                <a16:creationId xmlns:a16="http://schemas.microsoft.com/office/drawing/2014/main" id="{C487B45C-C12F-449F-AEC4-A516330E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首次达到 90%</a:t>
            </a:r>
          </a:p>
        </p:txBody>
      </p:sp>
      <p:sp>
        <p:nvSpPr>
          <p:cNvPr id="5" name="text-16">
            <a:extLst xmlns:a="http://schemas.openxmlformats.org/drawingml/2006/main">
              <a:ext uri="{FF2B5EF4-FFF2-40B4-BE49-F238E27FC236}">
                <a16:creationId xmlns:a16="http://schemas.microsoft.com/office/drawing/2014/main" id="{BC05C19B-F189-434C-A9E4-05DD9F0F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049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首次完整成功前：已知前缀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" y="1885950"/>
          <a:ext xmlns:a="http://schemas.openxmlformats.org/drawingml/2006/main" cx="6715125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f0b4cb993c4ba4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734300" y="1885950"/>
          <a:ext xmlns:a="http://schemas.openxmlformats.org/drawingml/2006/main" cx="3848100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ae2237754e404d"/>
          </a:graphicData>
        </a:graphic>
      </p:graphicFrame>
    </p:spTree>
    <p:extLst>
      <p:ext uri="{BB962C8B-B14F-4D97-AF65-F5344CB8AC3E}">
        <p14:creationId xmlns:p14="http://schemas.microsoft.com/office/powerpoint/2010/main" val="20951625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17">
            <a:extLst xmlns:a="http://schemas.openxmlformats.org/drawingml/2006/main">
              <a:ext uri="{FF2B5EF4-FFF2-40B4-BE49-F238E27FC236}">
                <a16:creationId xmlns:a16="http://schemas.microsoft.com/office/drawing/2014/main" id="{2894EE9D-45BE-429F-A567-DC462402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线性任务的最小记忆</a:t>
            </a:r>
          </a:p>
        </p:txBody>
      </p:sp>
      <p:sp>
        <p:nvSpPr>
          <p:cNvPr id="2" name="text-18">
            <a:extLst xmlns:a="http://schemas.openxmlformats.org/drawingml/2006/main">
              <a:ext uri="{FF2B5EF4-FFF2-40B4-BE49-F238E27FC236}">
                <a16:creationId xmlns:a16="http://schemas.microsoft.com/office/drawing/2014/main" id="{61908429-7E76-4683-9B57-B02F22F2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text-19">
            <a:extLst xmlns:a="http://schemas.openxmlformats.org/drawingml/2006/main">
              <a:ext uri="{FF2B5EF4-FFF2-40B4-BE49-F238E27FC236}">
                <a16:creationId xmlns:a16="http://schemas.microsoft.com/office/drawing/2014/main" id="{ECBA978F-2820-4543-84B0-DF3ED81A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390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阶段列表</a:t>
            </a:r>
          </a:p>
        </p:txBody>
      </p:sp>
      <p:sp>
        <p:nvSpPr>
          <p:cNvPr id="4" name="text-20">
            <a:extLst xmlns:a="http://schemas.openxmlformats.org/drawingml/2006/main">
              <a:ext uri="{FF2B5EF4-FFF2-40B4-BE49-F238E27FC236}">
                <a16:creationId xmlns:a16="http://schemas.microsoft.com/office/drawing/2014/main" id="{B2FB0279-3959-45AC-B745-1466D3FA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390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链式自动机</a:t>
            </a:r>
          </a:p>
        </p:txBody>
      </p:sp>
      <p:sp>
        <p:nvSpPr>
          <p:cNvPr id="5" name="text-21">
            <a:extLst xmlns:a="http://schemas.openxmlformats.org/drawingml/2006/main">
              <a:ext uri="{FF2B5EF4-FFF2-40B4-BE49-F238E27FC236}">
                <a16:creationId xmlns:a16="http://schemas.microsoft.com/office/drawing/2014/main" id="{B5CE8A50-3B78-4CB8-B93E-30B52595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145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progress</a:t>
            </a:r>
          </a:p>
        </p:txBody>
      </p:sp>
      <p:sp>
        <p:nvSpPr>
          <p:cNvPr id="6" name="text-22">
            <a:extLst xmlns:a="http://schemas.openxmlformats.org/drawingml/2006/main">
              <a:ext uri="{FF2B5EF4-FFF2-40B4-BE49-F238E27FC236}">
                <a16:creationId xmlns:a16="http://schemas.microsoft.com/office/drawing/2014/main" id="{BAA1F200-EE69-4B1E-B808-73245B9F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145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36CD8-B769-4E3D-A4BB-E0B3EB67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8" name="text-23">
            <a:extLst xmlns:a="http://schemas.openxmlformats.org/drawingml/2006/main">
              <a:ext uri="{FF2B5EF4-FFF2-40B4-BE49-F238E27FC236}">
                <a16:creationId xmlns:a16="http://schemas.microsoft.com/office/drawing/2014/main" id="{CD0C912F-1E43-4F88-9EA7-29B026E6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860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9" name="text-24">
            <a:extLst xmlns:a="http://schemas.openxmlformats.org/drawingml/2006/main">
              <a:ext uri="{FF2B5EF4-FFF2-40B4-BE49-F238E27FC236}">
                <a16:creationId xmlns:a16="http://schemas.microsoft.com/office/drawing/2014/main" id="{8F0BE9EF-96D8-4AFF-B2BD-2ADFD16E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860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EBD45-3687-4E15-BFE3-7962E4C9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1" name="text-25">
            <a:extLst xmlns:a="http://schemas.openxmlformats.org/drawingml/2006/main">
              <a:ext uri="{FF2B5EF4-FFF2-40B4-BE49-F238E27FC236}">
                <a16:creationId xmlns:a16="http://schemas.microsoft.com/office/drawing/2014/main" id="{413696C8-F889-4D9D-A69C-FC5B7271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528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text-26">
            <a:extLst xmlns:a="http://schemas.openxmlformats.org/drawingml/2006/main">
              <a:ext uri="{FF2B5EF4-FFF2-40B4-BE49-F238E27FC236}">
                <a16:creationId xmlns:a16="http://schemas.microsoft.com/office/drawing/2014/main" id="{7668AF92-7D16-479E-A73D-27C9546F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528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89A87-E9CE-4260-9644-5E2D02DB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27">
            <a:extLst xmlns:a="http://schemas.openxmlformats.org/drawingml/2006/main">
              <a:ext uri="{FF2B5EF4-FFF2-40B4-BE49-F238E27FC236}">
                <a16:creationId xmlns:a16="http://schemas.microsoft.com/office/drawing/2014/main" id="{3CDDC348-6386-403F-B832-33097716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195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5" name="text-28">
            <a:extLst xmlns:a="http://schemas.openxmlformats.org/drawingml/2006/main">
              <a:ext uri="{FF2B5EF4-FFF2-40B4-BE49-F238E27FC236}">
                <a16:creationId xmlns:a16="http://schemas.microsoft.com/office/drawing/2014/main" id="{08A38909-9CCA-4E4E-96AA-A3423E05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0195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D0832-081E-4199-8AEF-D63A3220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29">
            <a:extLst xmlns:a="http://schemas.openxmlformats.org/drawingml/2006/main">
              <a:ext uri="{FF2B5EF4-FFF2-40B4-BE49-F238E27FC236}">
                <a16:creationId xmlns:a16="http://schemas.microsoft.com/office/drawing/2014/main" id="{14C8E559-4909-413B-A7D8-AEA449F1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863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8" name="text-30">
            <a:extLst xmlns:a="http://schemas.openxmlformats.org/drawingml/2006/main">
              <a:ext uri="{FF2B5EF4-FFF2-40B4-BE49-F238E27FC236}">
                <a16:creationId xmlns:a16="http://schemas.microsoft.com/office/drawing/2014/main" id="{3FF3078B-313B-44C5-AED7-3B669A66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6863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sp>
        <p:nvSpPr>
          <p:cNvPr id="19" name="text-31">
            <a:extLst xmlns:a="http://schemas.openxmlformats.org/drawingml/2006/main">
              <a:ext uri="{FF2B5EF4-FFF2-40B4-BE49-F238E27FC236}">
                <a16:creationId xmlns:a16="http://schemas.microsoft.com/office/drawing/2014/main" id="{4196EA2B-C691-4BC4-9F08-F0FDCDB9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90900"/>
            <a:ext cx="66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6332F8-C1DB-4FDB-A197-CA5ECA7B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955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13D6D0-B1A3-4946-8912-E2FC538A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955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8107F8-3B45-4425-B9FD-BD2D5835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386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123E75-73BB-4E64-B13D-68B5927A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386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87780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q₃</a:t>
            </a:r>
          </a:p>
        </p:txBody>
      </p:sp>
      <p:cxnSp>
        <p:nvCxnSpPr>
          <p:cNvPr id="5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858125" y="28194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167938" y="3143250"/>
            <a:ext cx="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7858125" y="47625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7" name="text-32">
            <a:extLst xmlns:a="http://schemas.openxmlformats.org/drawingml/2006/main">
              <a:ext uri="{FF2B5EF4-FFF2-40B4-BE49-F238E27FC236}">
                <a16:creationId xmlns:a16="http://schemas.microsoft.com/office/drawing/2014/main" id="{FCE1B419-2F6A-4C20-BD91-8956BECA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28" name="text-33">
            <a:extLst xmlns:a="http://schemas.openxmlformats.org/drawingml/2006/main">
              <a:ext uri="{FF2B5EF4-FFF2-40B4-BE49-F238E27FC236}">
                <a16:creationId xmlns:a16="http://schemas.microsoft.com/office/drawing/2014/main" id="{7CE26DA5-C13D-4986-8C40-DE233C80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052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29" name="text-34">
            <a:extLst xmlns:a="http://schemas.openxmlformats.org/drawingml/2006/main">
              <a:ext uri="{FF2B5EF4-FFF2-40B4-BE49-F238E27FC236}">
                <a16:creationId xmlns:a16="http://schemas.microsoft.com/office/drawing/2014/main" id="{23D04F92-3262-4042-AB8F-EC6CAA23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577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5626714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35">
            <a:extLst xmlns:a="http://schemas.openxmlformats.org/drawingml/2006/main">
              <a:ext uri="{FF2B5EF4-FFF2-40B4-BE49-F238E27FC236}">
                <a16:creationId xmlns:a16="http://schemas.microsoft.com/office/drawing/2014/main" id="{F8A5AA1A-7211-4016-982F-91A33458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分支任务：相同进度，不同未来</a:t>
            </a:r>
          </a:p>
        </p:txBody>
      </p:sp>
      <p:sp>
        <p:nvSpPr>
          <p:cNvPr id="2" name="text-36">
            <a:extLst xmlns:a="http://schemas.openxmlformats.org/drawingml/2006/main">
              <a:ext uri="{FF2B5EF4-FFF2-40B4-BE49-F238E27FC236}">
                <a16:creationId xmlns:a16="http://schemas.microsoft.com/office/drawing/2014/main" id="{53508EA4-2CE0-46AB-AD53-D48839C9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两条历史进度相同（都做了 2 步）、刚完成的动作也相同（都是冲粉），但下一步完全不同 —— 只看进度和当前位置分不出来</a:t>
            </a:r>
          </a:p>
        </p:txBody>
      </p:sp>
      <p:sp>
        <p:nvSpPr>
          <p:cNvPr id="3" name="text-37">
            <a:extLst xmlns:a="http://schemas.openxmlformats.org/drawingml/2006/main">
              <a:ext uri="{FF2B5EF4-FFF2-40B4-BE49-F238E27FC236}">
                <a16:creationId xmlns:a16="http://schemas.microsoft.com/office/drawing/2014/main" id="{AFD8270A-F675-4BD6-B4B6-FE238DAA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" name="text-38">
            <a:extLst xmlns:a="http://schemas.openxmlformats.org/drawingml/2006/main">
              <a:ext uri="{FF2B5EF4-FFF2-40B4-BE49-F238E27FC236}">
                <a16:creationId xmlns:a16="http://schemas.microsoft.com/office/drawing/2014/main" id="{FC2FF849-D23D-4791-9D89-02EAB38B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382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已发生的历史</a:t>
            </a:r>
          </a:p>
        </p:txBody>
      </p:sp>
      <p:sp>
        <p:nvSpPr>
          <p:cNvPr id="5" name="text-39">
            <a:extLst xmlns:a="http://schemas.openxmlformats.org/drawingml/2006/main">
              <a:ext uri="{FF2B5EF4-FFF2-40B4-BE49-F238E27FC236}">
                <a16:creationId xmlns:a16="http://schemas.microsoft.com/office/drawing/2014/main" id="{357DA105-A5FF-46BA-B33D-E4D0D383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4382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相同物理位置 E</a:t>
            </a:r>
          </a:p>
        </p:txBody>
      </p:sp>
      <p:sp>
        <p:nvSpPr>
          <p:cNvPr id="6" name="text-40">
            <a:extLst xmlns:a="http://schemas.openxmlformats.org/drawingml/2006/main">
              <a:ext uri="{FF2B5EF4-FFF2-40B4-BE49-F238E27FC236}">
                <a16:creationId xmlns:a16="http://schemas.microsoft.com/office/drawing/2014/main" id="{61E95337-B8AC-45C2-A0AD-6F4D40C5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4382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DDA98-5AC2-4CAC-A8BE-20F817D6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3BD33-6EB5-4087-98A4-EC6929A6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09269-2E39-4BBE-82C5-83824E6A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15341-48C8-41A0-9166-3DA4F0AB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7DE42-5A4D-47C2-9D84-FC28A93B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BC21A-5D0D-46B9-9033-628F7821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39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343150" y="2867025"/>
            <a:ext cx="3571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43150" y="4686300"/>
            <a:ext cx="3571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829425" y="2867025"/>
            <a:ext cx="3076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829425" y="4686300"/>
            <a:ext cx="3076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7" name="text-41">
            <a:extLst xmlns:a="http://schemas.openxmlformats.org/drawingml/2006/main">
              <a:ext uri="{FF2B5EF4-FFF2-40B4-BE49-F238E27FC236}">
                <a16:creationId xmlns:a16="http://schemas.microsoft.com/office/drawing/2014/main" id="{A0794082-4AC6-4886-AB9F-1AD2F4E8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52825"/>
            <a:ext cx="2733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progress = 2</a:t>
            </a:r>
          </a:p>
        </p:txBody>
      </p:sp>
      <p:sp>
        <p:nvSpPr>
          <p:cNvPr id="18" name="text-42">
            <a:extLst xmlns:a="http://schemas.openxmlformats.org/drawingml/2006/main">
              <a:ext uri="{FF2B5EF4-FFF2-40B4-BE49-F238E27FC236}">
                <a16:creationId xmlns:a16="http://schemas.microsoft.com/office/drawing/2014/main" id="{E6DC3482-0BB2-4EC8-9DA2-1D889097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383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A, E</a:t>
            </a:r>
          </a:p>
        </p:txBody>
      </p:sp>
      <p:sp>
        <p:nvSpPr>
          <p:cNvPr id="19" name="text-43">
            <a:extLst xmlns:a="http://schemas.openxmlformats.org/drawingml/2006/main">
              <a:ext uri="{FF2B5EF4-FFF2-40B4-BE49-F238E27FC236}">
                <a16:creationId xmlns:a16="http://schemas.microsoft.com/office/drawing/2014/main" id="{B6A6D8E5-D98B-4DE0-B3EC-E160C124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576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B, E</a:t>
            </a:r>
          </a:p>
        </p:txBody>
      </p:sp>
      <p:sp>
        <p:nvSpPr>
          <p:cNvPr id="20" name="text-44">
            <a:extLst xmlns:a="http://schemas.openxmlformats.org/drawingml/2006/main">
              <a:ext uri="{FF2B5EF4-FFF2-40B4-BE49-F238E27FC236}">
                <a16:creationId xmlns:a16="http://schemas.microsoft.com/office/drawing/2014/main" id="{5F8441DE-A5A7-4CB9-AB3D-673C89EB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8612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先烧开水</a:t>
            </a:r>
          </a:p>
        </p:txBody>
      </p:sp>
      <p:sp>
        <p:nvSpPr>
          <p:cNvPr id="21" name="text-45">
            <a:extLst xmlns:a="http://schemas.openxmlformats.org/drawingml/2006/main">
              <a:ext uri="{FF2B5EF4-FFF2-40B4-BE49-F238E27FC236}">
                <a16:creationId xmlns:a16="http://schemas.microsoft.com/office/drawing/2014/main" id="{C082EE33-3415-49D6-AB9D-C7545F0A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28612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冲入咖啡粉</a:t>
            </a:r>
          </a:p>
        </p:txBody>
      </p:sp>
      <p:sp>
        <p:nvSpPr>
          <p:cNvPr id="22" name="text-46">
            <a:extLst xmlns:a="http://schemas.openxmlformats.org/drawingml/2006/main">
              <a:ext uri="{FF2B5EF4-FFF2-40B4-BE49-F238E27FC236}">
                <a16:creationId xmlns:a16="http://schemas.microsoft.com/office/drawing/2014/main" id="{1CBF6016-562F-4D5A-99AB-732EC19E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8612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3 分钟后过滤 = 热泡</a:t>
            </a:r>
          </a:p>
        </p:txBody>
      </p:sp>
      <p:sp>
        <p:nvSpPr>
          <p:cNvPr id="23" name="text-47">
            <a:extLst xmlns:a="http://schemas.openxmlformats.org/drawingml/2006/main">
              <a:ext uri="{FF2B5EF4-FFF2-40B4-BE49-F238E27FC236}">
                <a16:creationId xmlns:a16="http://schemas.microsoft.com/office/drawing/2014/main" id="{104F3195-E37D-451A-8196-87B2ABCB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054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先取冷水</a:t>
            </a:r>
          </a:p>
        </p:txBody>
      </p:sp>
      <p:sp>
        <p:nvSpPr>
          <p:cNvPr id="24" name="text-48">
            <a:extLst xmlns:a="http://schemas.openxmlformats.org/drawingml/2006/main">
              <a:ext uri="{FF2B5EF4-FFF2-40B4-BE49-F238E27FC236}">
                <a16:creationId xmlns:a16="http://schemas.microsoft.com/office/drawing/2014/main" id="{FF7D141D-EBCB-4E62-AD04-2DCD8F28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1054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冲入咖啡粉</a:t>
            </a:r>
          </a:p>
        </p:txBody>
      </p:sp>
      <p:sp>
        <p:nvSpPr>
          <p:cNvPr id="25" name="text-49">
            <a:extLst xmlns:a="http://schemas.openxmlformats.org/drawingml/2006/main">
              <a:ext uri="{FF2B5EF4-FFF2-40B4-BE49-F238E27FC236}">
                <a16:creationId xmlns:a16="http://schemas.microsoft.com/office/drawing/2014/main" id="{80A90D3F-9608-449D-BA93-232FCDC3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054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冷藏 12 小时 = 冷萃</a:t>
            </a:r>
          </a:p>
        </p:txBody>
      </p:sp>
      <p:sp>
        <p:nvSpPr>
          <p:cNvPr id="26" name="text-50">
            <a:extLst xmlns:a="http://schemas.openxmlformats.org/drawingml/2006/main">
              <a:ext uri="{FF2B5EF4-FFF2-40B4-BE49-F238E27FC236}">
                <a16:creationId xmlns:a16="http://schemas.microsoft.com/office/drawing/2014/main" id="{23CC1ADE-1FD3-4315-B6F9-AB0B9FDD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71500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同一个「冲粉」动作，之前不同，之后就完全不同</a:t>
            </a:r>
          </a:p>
        </p:txBody>
      </p:sp>
    </p:spTree>
    <p:extLst>
      <p:ext uri="{BB962C8B-B14F-4D97-AF65-F5344CB8AC3E}">
        <p14:creationId xmlns:p14="http://schemas.microsoft.com/office/powerpoint/2010/main" val="20343137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51">
            <a:extLst xmlns:a="http://schemas.openxmlformats.org/drawingml/2006/main">
              <a:ext uri="{FF2B5EF4-FFF2-40B4-BE49-F238E27FC236}">
                <a16:creationId xmlns:a16="http://schemas.microsoft.com/office/drawing/2014/main" id="{AB55F25B-3C59-4CA7-8A2B-73AE8569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同一份历史的两种表示</a:t>
            </a:r>
          </a:p>
        </p:txBody>
      </p:sp>
      <p:sp>
        <p:nvSpPr>
          <p:cNvPr id="2" name="text-52">
            <a:extLst xmlns:a="http://schemas.openxmlformats.org/drawingml/2006/main">
              <a:ext uri="{FF2B5EF4-FFF2-40B4-BE49-F238E27FC236}">
                <a16:creationId xmlns:a16="http://schemas.microsoft.com/office/drawing/2014/main" id="{DD14D333-0FA0-4636-BD42-159F7809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text-53">
            <a:extLst xmlns:a="http://schemas.openxmlformats.org/drawingml/2006/main">
              <a:ext uri="{FF2B5EF4-FFF2-40B4-BE49-F238E27FC236}">
                <a16:creationId xmlns:a16="http://schemas.microsoft.com/office/drawing/2014/main" id="{A83082C6-030C-416C-AC4D-74D0074C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Prefix tree</a:t>
            </a:r>
          </a:p>
        </p:txBody>
      </p:sp>
      <p:sp>
        <p:nvSpPr>
          <p:cNvPr id="4" name="text-54">
            <a:extLst xmlns:a="http://schemas.openxmlformats.org/drawingml/2006/main">
              <a:ext uri="{FF2B5EF4-FFF2-40B4-BE49-F238E27FC236}">
                <a16:creationId xmlns:a16="http://schemas.microsoft.com/office/drawing/2014/main" id="{D772C2D4-215E-4072-B78E-699C800E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History dictionary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85B7C-D69B-4D4B-B279-4F96E916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419D2-0DEA-40AA-907C-73C911F6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791D3-39F2-4153-9C0A-88031169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393C2-C0CD-4F39-BD45-8EF44B5E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4AB74-C073-403F-9A8A-E45F717D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FE339-C5CF-4C4D-B3F5-5A196A2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5F165-8DF2-4599-8137-B4EE942B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1562100" y="2790825"/>
            <a:ext cx="790575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71800" y="27908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448175" y="279082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562100" y="3657600"/>
            <a:ext cx="7905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71800" y="46482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48175" y="46482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8" name="text-55">
            <a:extLst xmlns:a="http://schemas.openxmlformats.org/drawingml/2006/main">
              <a:ext uri="{FF2B5EF4-FFF2-40B4-BE49-F238E27FC236}">
                <a16:creationId xmlns:a16="http://schemas.microsoft.com/office/drawing/2014/main" id="{4E502755-F0D2-4011-BDA0-418EEF7D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67075"/>
            <a:ext cx="85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19" name="text-56">
            <a:extLst xmlns:a="http://schemas.openxmlformats.org/drawingml/2006/main">
              <a:ext uri="{FF2B5EF4-FFF2-40B4-BE49-F238E27FC236}">
                <a16:creationId xmlns:a16="http://schemas.microsoft.com/office/drawing/2014/main" id="{38997B1B-647A-4E2B-A2EC-FDEC441A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52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历史</a:t>
            </a:r>
          </a:p>
        </p:txBody>
      </p:sp>
      <p:sp>
        <p:nvSpPr>
          <p:cNvPr id="20" name="text-57">
            <a:extLst xmlns:a="http://schemas.openxmlformats.org/drawingml/2006/main">
              <a:ext uri="{FF2B5EF4-FFF2-40B4-BE49-F238E27FC236}">
                <a16:creationId xmlns:a16="http://schemas.microsoft.com/office/drawing/2014/main" id="{41EEF143-2DD3-4E1D-A60D-48B71854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526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92759A-F079-499E-8000-E6784E0B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479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2" name="text-58">
            <a:extLst xmlns:a="http://schemas.openxmlformats.org/drawingml/2006/main">
              <a:ext uri="{FF2B5EF4-FFF2-40B4-BE49-F238E27FC236}">
                <a16:creationId xmlns:a16="http://schemas.microsoft.com/office/drawing/2014/main" id="{C0A6A321-CD4B-4F2F-84A2-26A93B6B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146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(A, E)</a:t>
            </a:r>
          </a:p>
        </p:txBody>
      </p:sp>
      <p:sp>
        <p:nvSpPr>
          <p:cNvPr id="23" name="text-59">
            <a:extLst xmlns:a="http://schemas.openxmlformats.org/drawingml/2006/main">
              <a:ext uri="{FF2B5EF4-FFF2-40B4-BE49-F238E27FC236}">
                <a16:creationId xmlns:a16="http://schemas.microsoft.com/office/drawing/2014/main" id="{63F1D62C-100C-4568-80E1-8325C83E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14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24" name="text-60">
            <a:extLst xmlns:a="http://schemas.openxmlformats.org/drawingml/2006/main">
              <a:ext uri="{FF2B5EF4-FFF2-40B4-BE49-F238E27FC236}">
                <a16:creationId xmlns:a16="http://schemas.microsoft.com/office/drawing/2014/main" id="{3708D2C0-CE89-4BAA-A8D1-533918F5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3862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(B, E)</a:t>
            </a:r>
          </a:p>
        </p:txBody>
      </p:sp>
      <p:sp>
        <p:nvSpPr>
          <p:cNvPr id="25" name="text-61">
            <a:extLst xmlns:a="http://schemas.openxmlformats.org/drawingml/2006/main">
              <a:ext uri="{FF2B5EF4-FFF2-40B4-BE49-F238E27FC236}">
                <a16:creationId xmlns:a16="http://schemas.microsoft.com/office/drawing/2014/main" id="{163B6535-1784-4519-85E3-ACE1B479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2386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26" name="text-62">
            <a:extLst xmlns:a="http://schemas.openxmlformats.org/drawingml/2006/main">
              <a:ext uri="{FF2B5EF4-FFF2-40B4-BE49-F238E27FC236}">
                <a16:creationId xmlns:a16="http://schemas.microsoft.com/office/drawing/2014/main" id="{3221C1A3-1FA9-4977-A7B1-1D630267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60070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逐动作一致</a:t>
            </a:r>
          </a:p>
        </p:txBody>
      </p:sp>
    </p:spTree>
    <p:extLst>
      <p:ext uri="{BB962C8B-B14F-4D97-AF65-F5344CB8AC3E}">
        <p14:creationId xmlns:p14="http://schemas.microsoft.com/office/powerpoint/2010/main" val="10966646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63">
            <a:extLst xmlns:a="http://schemas.openxmlformats.org/drawingml/2006/main">
              <a:ext uri="{FF2B5EF4-FFF2-40B4-BE49-F238E27FC236}">
                <a16:creationId xmlns:a16="http://schemas.microsoft.com/office/drawing/2014/main" id="{02473069-7115-41D4-9DA4-B5B68422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状态抽象：合并未来等价的历史</a:t>
            </a:r>
          </a:p>
        </p:txBody>
      </p:sp>
      <p:sp>
        <p:nvSpPr>
          <p:cNvPr id="2" name="text-64">
            <a:extLst xmlns:a="http://schemas.openxmlformats.org/drawingml/2006/main">
              <a:ext uri="{FF2B5EF4-FFF2-40B4-BE49-F238E27FC236}">
                <a16:creationId xmlns:a16="http://schemas.microsoft.com/office/drawing/2014/main" id="{7036FE4B-E235-4683-9A0D-E9FB3497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咖啡：磨豆、称粉、拿杯子的先后都不影响结果 —— 这些历史可以合并；只有决定热泡还是冷萃的那一步必须单独记 —— 这些不能合并</a:t>
            </a:r>
          </a:p>
        </p:txBody>
      </p:sp>
      <p:sp>
        <p:nvSpPr>
          <p:cNvPr id="3" name="text-65">
            <a:extLst xmlns:a="http://schemas.openxmlformats.org/drawingml/2006/main">
              <a:ext uri="{FF2B5EF4-FFF2-40B4-BE49-F238E27FC236}">
                <a16:creationId xmlns:a16="http://schemas.microsoft.com/office/drawing/2014/main" id="{D26FEC2D-37ED-4F5A-936E-8E8966CE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text-66">
            <a:extLst xmlns:a="http://schemas.openxmlformats.org/drawingml/2006/main">
              <a:ext uri="{FF2B5EF4-FFF2-40B4-BE49-F238E27FC236}">
                <a16:creationId xmlns:a16="http://schemas.microsoft.com/office/drawing/2014/main" id="{AE0CEE05-7A11-439A-9D76-66BE7E2B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954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完整历史</a:t>
            </a:r>
          </a:p>
        </p:txBody>
      </p:sp>
      <p:sp>
        <p:nvSpPr>
          <p:cNvPr id="5" name="text-67">
            <a:extLst xmlns:a="http://schemas.openxmlformats.org/drawingml/2006/main">
              <a:ext uri="{FF2B5EF4-FFF2-40B4-BE49-F238E27FC236}">
                <a16:creationId xmlns:a16="http://schemas.microsoft.com/office/drawing/2014/main" id="{94C26AEA-2960-4A3D-95D9-23153022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2954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最终任务状态</a:t>
            </a:r>
          </a:p>
        </p:txBody>
      </p:sp>
      <p:sp>
        <p:nvSpPr>
          <p:cNvPr id="6" name="text-68">
            <a:extLst xmlns:a="http://schemas.openxmlformats.org/drawingml/2006/main">
              <a:ext uri="{FF2B5EF4-FFF2-40B4-BE49-F238E27FC236}">
                <a16:creationId xmlns:a16="http://schemas.microsoft.com/office/drawing/2014/main" id="{0F64799F-B670-490E-8D06-3177C8F3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2954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共享动作价值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C4746-21E1-4292-B5A2-EF03E58F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1460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 先于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39267-88C0-4BDE-8AF1-7DF2F493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529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 先于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78AF0-EB80-458E-A9C4-2F6BF2D4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66950" y="224790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8BB8F6-A3B6-4176-AE12-EC0AE054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5A2EB-411B-4789-8E7A-3927768F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04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cxnSp>
        <p:nvCxnSpPr>
          <p:cNvPr id="38" name=""/>
          <p:cNvCxnSpPr>
            <a:stCxn xmlns:a="http://schemas.openxmlformats.org/drawingml/2006/main" id="1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02BC75-A42B-424F-8855-D899AA6A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BAC</a:t>
            </a:r>
          </a:p>
        </p:txBody>
      </p:sp>
      <p:cxnSp>
        <p:nvCxnSpPr>
          <p:cNvPr id="40" name=""/>
          <p:cNvCxnSpPr>
            <a:stCxn xmlns:a="http://schemas.openxmlformats.org/drawingml/2006/main" id="1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66950" y="428625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B0AF9-4637-4D06-975A-CCFB36D2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BCA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52ECF0-2CB6-42C1-9D0B-1E208D08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38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CBA</a:t>
            </a:r>
          </a:p>
        </p:txBody>
      </p:sp>
      <p:cxnSp>
        <p:nvCxnSpPr>
          <p:cNvPr id="44" name=""/>
          <p:cNvCxnSpPr>
            <a:stCxn xmlns:a="http://schemas.openxmlformats.org/drawingml/2006/main" id="19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3FD70A-6F97-4A0C-B1CD-EE7C0589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EF2F39-9F00-4AD3-A959-B2D049C0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529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334250" y="28956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334250" y="49339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4569435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69">
            <a:extLst xmlns:a="http://schemas.openxmlformats.org/drawingml/2006/main">
              <a:ext uri="{FF2B5EF4-FFF2-40B4-BE49-F238E27FC236}">
                <a16:creationId xmlns:a16="http://schemas.microsoft.com/office/drawing/2014/main" id="{7195072E-1D79-452A-9C68-003C0C07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正确压缩与逐条历史学习</a:t>
            </a:r>
          </a:p>
        </p:txBody>
      </p:sp>
      <p:sp>
        <p:nvSpPr>
          <p:cNvPr id="2" name="text-70">
            <a:extLst xmlns:a="http://schemas.openxmlformats.org/drawingml/2006/main">
              <a:ext uri="{FF2B5EF4-FFF2-40B4-BE49-F238E27FC236}">
                <a16:creationId xmlns:a16="http://schemas.microsoft.com/office/drawing/2014/main" id="{53809248-E265-4C8D-842B-EC44CCD7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正确等价关系已知；每规模 400 个配对种子（不是 400 个任务：候选族只有 6 / 12 / 20 条规则）</a:t>
            </a:r>
          </a:p>
        </p:txBody>
      </p:sp>
      <p:sp>
        <p:nvSpPr>
          <p:cNvPr id="3" name="text-71">
            <a:extLst xmlns:a="http://schemas.openxmlformats.org/drawingml/2006/main">
              <a:ext uri="{FF2B5EF4-FFF2-40B4-BE49-F238E27FC236}">
                <a16:creationId xmlns:a16="http://schemas.microsoft.com/office/drawing/2014/main" id="{2903154D-1E32-41DB-A9D9-AC962D05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14375" y="1419225"/>
          <a:ext xmlns:a="http://schemas.openxmlformats.org/drawingml/2006/main" cx="106680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d4ee202a2541ee"/>
          </a:graphicData>
        </a:graphic>
      </p:graphicFrame>
      <p:sp>
        <p:nvSpPr>
          <p:cNvPr id="5" name="text-72">
            <a:extLst xmlns:a="http://schemas.openxmlformats.org/drawingml/2006/main">
              <a:ext uri="{FF2B5EF4-FFF2-40B4-BE49-F238E27FC236}">
                <a16:creationId xmlns:a16="http://schemas.microsoft.com/office/drawing/2014/main" id="{589515D7-09FB-45E4-9EBB-184CAB3D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4.67×</a:t>
            </a:r>
          </a:p>
        </p:txBody>
      </p:sp>
      <p:sp>
        <p:nvSpPr>
          <p:cNvPr id="6" name="text-73">
            <a:extLst xmlns:a="http://schemas.openxmlformats.org/drawingml/2006/main">
              <a:ext uri="{FF2B5EF4-FFF2-40B4-BE49-F238E27FC236}">
                <a16:creationId xmlns:a16="http://schemas.microsoft.com/office/drawing/2014/main" id="{C4EDA653-59BC-4BB1-8C84-17B5EDD6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18.55×</a:t>
            </a:r>
          </a:p>
        </p:txBody>
      </p:sp>
      <p:sp>
        <p:nvSpPr>
          <p:cNvPr id="7" name="text-74">
            <a:extLst xmlns:a="http://schemas.openxmlformats.org/drawingml/2006/main">
              <a:ext uri="{FF2B5EF4-FFF2-40B4-BE49-F238E27FC236}">
                <a16:creationId xmlns:a16="http://schemas.microsoft.com/office/drawing/2014/main" id="{48A2B731-8893-4D76-B3F8-2C87DE79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89.75×</a:t>
            </a:r>
          </a:p>
        </p:txBody>
      </p:sp>
      <p:sp>
        <p:nvSpPr>
          <p:cNvPr id="8" name="text-75">
            <a:extLst xmlns:a="http://schemas.openxmlformats.org/drawingml/2006/main">
              <a:ext uri="{FF2B5EF4-FFF2-40B4-BE49-F238E27FC236}">
                <a16:creationId xmlns:a16="http://schemas.microsoft.com/office/drawing/2014/main" id="{508BA202-7018-4F5A-81B6-491A70E0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闭式解 Σ 2H/(H-i)，H = n! = 6 / 24 / 120 → 理论 29.4 / 109.2 / 543.8 幕，与观测一致</a:t>
            </a:r>
          </a:p>
        </p:txBody>
      </p:sp>
    </p:spTree>
    <p:extLst>
      <p:ext uri="{BB962C8B-B14F-4D97-AF65-F5344CB8AC3E}">
        <p14:creationId xmlns:p14="http://schemas.microsoft.com/office/powerpoint/2010/main" val="8772800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76">
            <a:extLst xmlns:a="http://schemas.openxmlformats.org/drawingml/2006/main">
              <a:ext uri="{FF2B5EF4-FFF2-40B4-BE49-F238E27FC236}">
                <a16:creationId xmlns:a16="http://schemas.microsoft.com/office/drawing/2014/main" id="{CCE06224-7BC2-437C-8CBB-AF158D2A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有限证据下的合并判断</a:t>
            </a:r>
          </a:p>
        </p:txBody>
      </p:sp>
      <p:sp>
        <p:nvSpPr>
          <p:cNvPr id="2" name="text-77">
            <a:extLst xmlns:a="http://schemas.openxmlformats.org/drawingml/2006/main">
              <a:ext uri="{FF2B5EF4-FFF2-40B4-BE49-F238E27FC236}">
                <a16:creationId xmlns:a16="http://schemas.microsoft.com/office/drawing/2014/main" id="{967B7C31-D976-4981-B336-60E539FD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咖啡：两条历史现在都「刚冲完粉」，但一条 3 分钟后要过滤、一条要冷藏 12 小时 —— 现在合并，就是把冷萃的步骤用到热泡上</a:t>
            </a:r>
          </a:p>
        </p:txBody>
      </p:sp>
      <p:sp>
        <p:nvSpPr>
          <p:cNvPr id="3" name="text-78">
            <a:extLst xmlns:a="http://schemas.openxmlformats.org/drawingml/2006/main">
              <a:ext uri="{FF2B5EF4-FFF2-40B4-BE49-F238E27FC236}">
                <a16:creationId xmlns:a16="http://schemas.microsoft.com/office/drawing/2014/main" id="{18CC23B9-BD9A-49CF-AA2A-936613CD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text-79">
            <a:extLst xmlns:a="http://schemas.openxmlformats.org/drawingml/2006/main">
              <a:ext uri="{FF2B5EF4-FFF2-40B4-BE49-F238E27FC236}">
                <a16:creationId xmlns:a16="http://schemas.microsoft.com/office/drawing/2014/main" id="{2B78ED9C-EF11-4A8F-AECF-0607B140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8587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过早合并</a:t>
            </a:r>
          </a:p>
        </p:txBody>
      </p:sp>
      <p:sp>
        <p:nvSpPr>
          <p:cNvPr id="5" name="text-80">
            <a:extLst xmlns:a="http://schemas.openxmlformats.org/drawingml/2006/main">
              <a:ext uri="{FF2B5EF4-FFF2-40B4-BE49-F238E27FC236}">
                <a16:creationId xmlns:a16="http://schemas.microsoft.com/office/drawing/2014/main" id="{B8E2FF6D-ED64-48A6-B7C0-1658304C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858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保守不合并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16DCD-91CB-40E2-9FC2-5B9EB560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33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27FF1-DBA5-4E83-B350-644CEC06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1333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0CF34-B7C4-40CB-BB83-952CE585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76625"/>
            <a:ext cx="1476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E514B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同一状态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43125" y="2881313"/>
            <a:ext cx="1162050" cy="9286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143125" y="3810000"/>
            <a:ext cx="1162050" cy="9096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sp>
        <p:nvSpPr>
          <p:cNvPr id="11" name="text-81">
            <a:extLst xmlns:a="http://schemas.openxmlformats.org/drawingml/2006/main">
              <a:ext uri="{FF2B5EF4-FFF2-40B4-BE49-F238E27FC236}">
                <a16:creationId xmlns:a16="http://schemas.microsoft.com/office/drawing/2014/main" id="{BA48D7AA-DD42-4784-84C5-B55D2585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8600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过滤？</a:t>
            </a:r>
          </a:p>
        </p:txBody>
      </p:sp>
      <p:sp>
        <p:nvSpPr>
          <p:cNvPr id="12" name="text-82">
            <a:extLst xmlns:a="http://schemas.openxmlformats.org/drawingml/2006/main">
              <a:ext uri="{FF2B5EF4-FFF2-40B4-BE49-F238E27FC236}">
                <a16:creationId xmlns:a16="http://schemas.microsoft.com/office/drawing/2014/main" id="{37A81500-EEBE-486E-B732-AD00315B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196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冷藏？</a:t>
            </a:r>
          </a:p>
        </p:txBody>
      </p:sp>
      <p:sp>
        <p:nvSpPr>
          <p:cNvPr id="13" name="text-83">
            <a:extLst xmlns:a="http://schemas.openxmlformats.org/drawingml/2006/main">
              <a:ext uri="{FF2B5EF4-FFF2-40B4-BE49-F238E27FC236}">
                <a16:creationId xmlns:a16="http://schemas.microsoft.com/office/drawing/2014/main" id="{964499B1-69CA-46F9-8BA9-196D7CB5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00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未见后缀可能不同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CFBA74-644A-49EF-BCE1-A9754785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3050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4066F-C710-45F2-A363-7939E1F3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050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39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277225" y="26193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475DA-A9A0-43CF-A3F6-94B774F7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46710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0882FD-6EBB-46B3-B600-F56349C0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671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277225" y="378142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EDD513-FDCD-45CB-8F28-9B87BDFD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6291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F9C96C-CBBD-4280-A5DD-7FF4D6A9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291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45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277225" y="49434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3" name="text-84">
            <a:extLst xmlns:a="http://schemas.openxmlformats.org/drawingml/2006/main">
              <a:ext uri="{FF2B5EF4-FFF2-40B4-BE49-F238E27FC236}">
                <a16:creationId xmlns:a16="http://schemas.microsoft.com/office/drawing/2014/main" id="{2501FCCC-C709-4816-B674-9CA35550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600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等价历史分别学习</a:t>
            </a:r>
          </a:p>
        </p:txBody>
      </p:sp>
    </p:spTree>
    <p:extLst>
      <p:ext uri="{BB962C8B-B14F-4D97-AF65-F5344CB8AC3E}">
        <p14:creationId xmlns:p14="http://schemas.microsoft.com/office/powerpoint/2010/main" val="17720883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85">
            <a:extLst xmlns:a="http://schemas.openxmlformats.org/drawingml/2006/main">
              <a:ext uri="{FF2B5EF4-FFF2-40B4-BE49-F238E27FC236}">
                <a16:creationId xmlns:a16="http://schemas.microsoft.com/office/drawing/2014/main" id="{9A9A5C76-4114-4B14-920C-D479129D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合并审计：正确性与查询节省</a:t>
            </a:r>
          </a:p>
        </p:txBody>
      </p:sp>
      <p:sp>
        <p:nvSpPr>
          <p:cNvPr id="2" name="text-86">
            <a:extLst xmlns:a="http://schemas.openxmlformats.org/drawingml/2006/main">
              <a:ext uri="{FF2B5EF4-FFF2-40B4-BE49-F238E27FC236}">
                <a16:creationId xmlns:a16="http://schemas.microsoft.com/office/drawing/2014/main" id="{5CEBE34A-3643-4EB0-85B2-88599331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查询节省 16.9% &lt; 20%；错误裁决 47 次；错误归属 140 次；把 53 次求解超时全判给 Occam，节省上界 23.6% 仍不达标</a:t>
            </a:r>
          </a:p>
        </p:txBody>
      </p:sp>
      <p:sp>
        <p:nvSpPr>
          <p:cNvPr id="3" name="text-87">
            <a:extLst xmlns:a="http://schemas.openxmlformats.org/drawingml/2006/main">
              <a:ext uri="{FF2B5EF4-FFF2-40B4-BE49-F238E27FC236}">
                <a16:creationId xmlns:a16="http://schemas.microsoft.com/office/drawing/2014/main" id="{C4E91BB2-400E-461E-ABEE-11FFBBF8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4" name="text-88">
            <a:extLst xmlns:a="http://schemas.openxmlformats.org/drawingml/2006/main">
              <a:ext uri="{FF2B5EF4-FFF2-40B4-BE49-F238E27FC236}">
                <a16:creationId xmlns:a16="http://schemas.microsoft.com/office/drawing/2014/main" id="{2DC360E5-045B-4C90-9404-53D3D583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裁决正确率</a:t>
            </a:r>
          </a:p>
        </p:txBody>
      </p:sp>
      <p:sp>
        <p:nvSpPr>
          <p:cNvPr id="5" name="text-89">
            <a:extLst xmlns:a="http://schemas.openxmlformats.org/drawingml/2006/main">
              <a:ext uri="{FF2B5EF4-FFF2-40B4-BE49-F238E27FC236}">
                <a16:creationId xmlns:a16="http://schemas.microsoft.com/office/drawing/2014/main" id="{BBFA6920-CEB0-41A9-B74C-2174C179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状态归属正确率</a:t>
            </a:r>
          </a:p>
        </p:txBody>
      </p:sp>
      <p:sp>
        <p:nvSpPr>
          <p:cNvPr id="6" name="text-90">
            <a:extLst xmlns:a="http://schemas.openxmlformats.org/drawingml/2006/main">
              <a:ext uri="{FF2B5EF4-FFF2-40B4-BE49-F238E27FC236}">
                <a16:creationId xmlns:a16="http://schemas.microsoft.com/office/drawing/2014/main" id="{6B47A427-032B-4F51-BB4F-79BCC8C8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可省查询比例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9055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842c64651d4ae6"/>
          </a:graphicData>
        </a:graphic>
      </p:graphicFrame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41960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8f31a01fad4d16"/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824865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49d4b1cfc84745"/>
          </a:graphicData>
        </a:graphic>
      </p:graphicFrame>
      <p:sp>
        <p:nvSpPr>
          <p:cNvPr id="10" name="text-91">
            <a:extLst xmlns:a="http://schemas.openxmlformats.org/drawingml/2006/main">
              <a:ext uri="{FF2B5EF4-FFF2-40B4-BE49-F238E27FC236}">
                <a16:creationId xmlns:a16="http://schemas.microsoft.com/office/drawing/2014/main" id="{9EF50BB1-62A5-4999-A24F-9D090697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预注册判据 3 / 3 不达标 —— 这条线因此关闭</a:t>
            </a:r>
          </a:p>
        </p:txBody>
      </p:sp>
    </p:spTree>
    <p:extLst>
      <p:ext uri="{BB962C8B-B14F-4D97-AF65-F5344CB8AC3E}">
        <p14:creationId xmlns:p14="http://schemas.microsoft.com/office/powerpoint/2010/main" val="8880529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92">
            <a:extLst xmlns:a="http://schemas.openxmlformats.org/drawingml/2006/main">
              <a:ext uri="{FF2B5EF4-FFF2-40B4-BE49-F238E27FC236}">
                <a16:creationId xmlns:a16="http://schemas.microsoft.com/office/drawing/2014/main" id="{5E72806B-F05A-40A0-B798-8802075A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可靠任务反馈的预算</a:t>
            </a:r>
          </a:p>
        </p:txBody>
      </p:sp>
      <p:sp>
        <p:nvSpPr>
          <p:cNvPr id="2" name="text-93">
            <a:extLst xmlns:a="http://schemas.openxmlformats.org/drawingml/2006/main">
              <a:ext uri="{FF2B5EF4-FFF2-40B4-BE49-F238E27FC236}">
                <a16:creationId xmlns:a16="http://schemas.microsoft.com/office/drawing/2014/main" id="{656A9594-12DF-48EE-9CDA-C2CB8845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24 个任务族 × 6 个种子；200,000 环境步内曾达到 90%</a:t>
            </a:r>
          </a:p>
        </p:txBody>
      </p:sp>
      <p:sp>
        <p:nvSpPr>
          <p:cNvPr id="3" name="text-94">
            <a:extLst xmlns:a="http://schemas.openxmlformats.org/drawingml/2006/main">
              <a:ext uri="{FF2B5EF4-FFF2-40B4-BE49-F238E27FC236}">
                <a16:creationId xmlns:a16="http://schemas.microsoft.com/office/drawing/2014/main" id="{FC90C3AE-11BC-4CB3-8BBB-70E314C9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1000125" y="1438275"/>
          <a:ext xmlns:a="http://schemas.openxmlformats.org/drawingml/2006/main" cx="1028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e4b0f2b7d8454c"/>
          </a:graphicData>
        </a:graphic>
      </p:graphicFrame>
      <p:sp>
        <p:nvSpPr>
          <p:cNvPr id="5" name="text-95">
            <a:extLst xmlns:a="http://schemas.openxmlformats.org/drawingml/2006/main">
              <a:ext uri="{FF2B5EF4-FFF2-40B4-BE49-F238E27FC236}">
                <a16:creationId xmlns:a16="http://schemas.microsoft.com/office/drawing/2014/main" id="{ECFBDA23-7069-47FB-A281-90F110FA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 / 144</a:t>
            </a:r>
          </a:p>
        </p:txBody>
      </p:sp>
      <p:sp>
        <p:nvSpPr>
          <p:cNvPr id="6" name="text-96">
            <a:extLst xmlns:a="http://schemas.openxmlformats.org/drawingml/2006/main">
              <a:ext uri="{FF2B5EF4-FFF2-40B4-BE49-F238E27FC236}">
                <a16:creationId xmlns:a16="http://schemas.microsoft.com/office/drawing/2014/main" id="{54920A87-7A8F-4122-B3F6-AEF0C808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61 / 144</a:t>
            </a:r>
          </a:p>
        </p:txBody>
      </p:sp>
      <p:sp>
        <p:nvSpPr>
          <p:cNvPr id="7" name="text-97">
            <a:extLst xmlns:a="http://schemas.openxmlformats.org/drawingml/2006/main">
              <a:ext uri="{FF2B5EF4-FFF2-40B4-BE49-F238E27FC236}">
                <a16:creationId xmlns:a16="http://schemas.microsoft.com/office/drawing/2014/main" id="{C8838035-0185-42F2-8B30-A19EF0E9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131 / 144</a:t>
            </a:r>
          </a:p>
        </p:txBody>
      </p:sp>
      <p:sp>
        <p:nvSpPr>
          <p:cNvPr id="8" name="text-98">
            <a:extLst xmlns:a="http://schemas.openxmlformats.org/drawingml/2006/main">
              <a:ext uri="{FF2B5EF4-FFF2-40B4-BE49-F238E27FC236}">
                <a16:creationId xmlns:a16="http://schemas.microsoft.com/office/drawing/2014/main" id="{9B2F1706-9576-4B00-9E6D-E84B2DD8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144 / 144</a:t>
            </a:r>
          </a:p>
        </p:txBody>
      </p:sp>
    </p:spTree>
    <p:extLst>
      <p:ext uri="{BB962C8B-B14F-4D97-AF65-F5344CB8AC3E}">
        <p14:creationId xmlns:p14="http://schemas.microsoft.com/office/powerpoint/2010/main" val="12436119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99">
            <a:extLst xmlns:a="http://schemas.openxmlformats.org/drawingml/2006/main">
              <a:ext uri="{FF2B5EF4-FFF2-40B4-BE49-F238E27FC236}">
                <a16:creationId xmlns:a16="http://schemas.microsoft.com/office/drawing/2014/main" id="{D649557D-9334-4345-B2BE-8977427F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提前使用：主动探索与被动证据</a:t>
            </a:r>
          </a:p>
        </p:txBody>
      </p:sp>
      <p:sp>
        <p:nvSpPr>
          <p:cNvPr id="2" name="text-100">
            <a:extLst xmlns:a="http://schemas.openxmlformats.org/drawingml/2006/main">
              <a:ext uri="{FF2B5EF4-FFF2-40B4-BE49-F238E27FC236}">
                <a16:creationId xmlns:a16="http://schemas.microsoft.com/office/drawing/2014/main" id="{9181C742-DE9B-4760-8D76-B6BA430B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零件实验：识别前未达 95%，识别后策略相同，因此 T95 相同</a:t>
            </a:r>
          </a:p>
        </p:txBody>
      </p:sp>
      <p:sp>
        <p:nvSpPr>
          <p:cNvPr id="3" name="text-101">
            <a:extLst xmlns:a="http://schemas.openxmlformats.org/drawingml/2006/main">
              <a:ext uri="{FF2B5EF4-FFF2-40B4-BE49-F238E27FC236}">
                <a16:creationId xmlns:a16="http://schemas.microsoft.com/office/drawing/2014/main" id="{C8182DF4-FAE9-436E-9208-F7C151F4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4" name="text-102">
            <a:extLst xmlns:a="http://schemas.openxmlformats.org/drawingml/2006/main">
              <a:ext uri="{FF2B5EF4-FFF2-40B4-BE49-F238E27FC236}">
                <a16:creationId xmlns:a16="http://schemas.microsoft.com/office/drawing/2014/main" id="{4438941F-7542-49AB-8E5D-7EA86C4E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早期导航任务</a:t>
            </a:r>
          </a:p>
        </p:txBody>
      </p:sp>
      <p:sp>
        <p:nvSpPr>
          <p:cNvPr id="5" name="text-103">
            <a:extLst xmlns:a="http://schemas.openxmlformats.org/drawingml/2006/main">
              <a:ext uri="{FF2B5EF4-FFF2-40B4-BE49-F238E27FC236}">
                <a16:creationId xmlns:a16="http://schemas.microsoft.com/office/drawing/2014/main" id="{353B5801-03C8-4750-9BCD-A41B1C6B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3335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最新零件实验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F07A6-277A-4FC7-B2A3-DDC8A96C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53731-FF23-44E9-9616-71C637A8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执行前缀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DF64D-532C-4562-9E58-B5F11C5F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81375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后缀证据</a:t>
            </a:r>
          </a:p>
        </p:txBody>
      </p: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86025" y="23907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2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905250" y="2686050"/>
            <a:ext cx="5238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1666875" y="2686050"/>
            <a:ext cx="6000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8A6E8-7ABA-4545-9418-C68AFAD2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95500"/>
            <a:ext cx="1981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环境给出排列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6B4B84-8217-4F73-B507-8E8F4597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0955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选择 X / Y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820150" y="23907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5" name="text-104">
            <a:extLst xmlns:a="http://schemas.openxmlformats.org/drawingml/2006/main">
              <a:ext uri="{FF2B5EF4-FFF2-40B4-BE49-F238E27FC236}">
                <a16:creationId xmlns:a16="http://schemas.microsoft.com/office/drawing/2014/main" id="{0608E6AA-3B67-4D66-89D1-6AAE07F3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956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下一幕仍由环境独立抽样</a:t>
            </a:r>
          </a:p>
        </p:txBody>
      </p:sp>
      <p:sp>
        <p:nvSpPr>
          <p:cNvPr id="16" name="text-105">
            <a:extLst xmlns:a="http://schemas.openxmlformats.org/drawingml/2006/main">
              <a:ext uri="{FF2B5EF4-FFF2-40B4-BE49-F238E27FC236}">
                <a16:creationId xmlns:a16="http://schemas.microsoft.com/office/drawing/2014/main" id="{9366D0B5-17E7-43F6-B875-0A0BE87B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434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识别前实际额外成功 / 次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6515100" y="4000500"/>
          <a:ext xmlns:a="http://schemas.openxmlformats.org/drawingml/2006/main" cx="502920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d77abaa2c84ee8"/>
          </a:graphicData>
        </a:graphic>
      </p:graphicFrame>
      <p:sp>
        <p:nvSpPr>
          <p:cNvPr id="18" name="text-106">
            <a:extLst xmlns:a="http://schemas.openxmlformats.org/drawingml/2006/main">
              <a:ext uri="{FF2B5EF4-FFF2-40B4-BE49-F238E27FC236}">
                <a16:creationId xmlns:a16="http://schemas.microsoft.com/office/drawing/2014/main" id="{65D443A0-7D59-4202-885B-23EDF068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每规模 400 个配对种子</a:t>
            </a:r>
          </a:p>
        </p:txBody>
      </p:sp>
    </p:spTree>
    <p:extLst>
      <p:ext uri="{BB962C8B-B14F-4D97-AF65-F5344CB8AC3E}">
        <p14:creationId xmlns:p14="http://schemas.microsoft.com/office/powerpoint/2010/main" val="10602645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07">
            <a:extLst xmlns:a="http://schemas.openxmlformats.org/drawingml/2006/main">
              <a:ext uri="{FF2B5EF4-FFF2-40B4-BE49-F238E27FC236}">
                <a16:creationId xmlns:a16="http://schemas.microsoft.com/office/drawing/2014/main" id="{415BA726-9B30-491A-AA88-5066561F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结构利用：任务路由与技能复用</a:t>
            </a:r>
          </a:p>
        </p:txBody>
      </p:sp>
      <p:sp>
        <p:nvSpPr>
          <p:cNvPr id="2" name="text-108">
            <a:extLst xmlns:a="http://schemas.openxmlformats.org/drawingml/2006/main">
              <a:ext uri="{FF2B5EF4-FFF2-40B4-BE49-F238E27FC236}">
                <a16:creationId xmlns:a16="http://schemas.microsoft.com/office/drawing/2014/main" id="{3965C832-E71A-4A86-B683-C8D9B4CB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已知规则的控制消融；AUC 接近天花板，不能据此排序机制强弱</a:t>
            </a:r>
          </a:p>
        </p:txBody>
      </p:sp>
      <p:sp>
        <p:nvSpPr>
          <p:cNvPr id="3" name="text-109">
            <a:extLst xmlns:a="http://schemas.openxmlformats.org/drawingml/2006/main">
              <a:ext uri="{FF2B5EF4-FFF2-40B4-BE49-F238E27FC236}">
                <a16:creationId xmlns:a16="http://schemas.microsoft.com/office/drawing/2014/main" id="{C4631CE5-221F-41FB-B0B3-24706A24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4" name="text-110">
            <a:extLst xmlns:a="http://schemas.openxmlformats.org/drawingml/2006/main">
              <a:ext uri="{FF2B5EF4-FFF2-40B4-BE49-F238E27FC236}">
                <a16:creationId xmlns:a16="http://schemas.microsoft.com/office/drawing/2014/main" id="{E1B1E304-41F2-46D0-BDDD-84F97BCA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无复用</a:t>
            </a:r>
          </a:p>
        </p:txBody>
      </p:sp>
      <p:sp>
        <p:nvSpPr>
          <p:cNvPr id="5" name="text-111">
            <a:extLst xmlns:a="http://schemas.openxmlformats.org/drawingml/2006/main">
              <a:ext uri="{FF2B5EF4-FFF2-40B4-BE49-F238E27FC236}">
                <a16:creationId xmlns:a16="http://schemas.microsoft.com/office/drawing/2014/main" id="{ADFDEFF4-A6C6-4A67-AA4F-FAEFC5E2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有复用</a:t>
            </a:r>
          </a:p>
        </p:txBody>
      </p:sp>
      <p:sp>
        <p:nvSpPr>
          <p:cNvPr id="6" name="text-112">
            <a:extLst xmlns:a="http://schemas.openxmlformats.org/drawingml/2006/main">
              <a:ext uri="{FF2B5EF4-FFF2-40B4-BE49-F238E27FC236}">
                <a16:creationId xmlns:a16="http://schemas.microsoft.com/office/drawing/2014/main" id="{28403AC8-5206-4632-802C-E3600683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765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无路由</a:t>
            </a:r>
          </a:p>
        </p:txBody>
      </p:sp>
      <p:sp>
        <p:nvSpPr>
          <p:cNvPr id="7" name="text-113">
            <a:extLst xmlns:a="http://schemas.openxmlformats.org/drawingml/2006/main">
              <a:ext uri="{FF2B5EF4-FFF2-40B4-BE49-F238E27FC236}">
                <a16:creationId xmlns:a16="http://schemas.microsoft.com/office/drawing/2014/main" id="{D554A5FC-AB6C-4B35-8AC4-C6807C12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100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有路由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AE061-D36F-41D3-92F5-5D9EF987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9" name="text-114">
            <a:extLst xmlns:a="http://schemas.openxmlformats.org/drawingml/2006/main">
              <a:ext uri="{FF2B5EF4-FFF2-40B4-BE49-F238E27FC236}">
                <a16:creationId xmlns:a16="http://schemas.microsoft.com/office/drawing/2014/main" id="{67D1356B-580E-4D5E-A1D0-9D169C45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Y00</a:t>
            </a:r>
          </a:p>
        </p:txBody>
      </p:sp>
      <p:sp>
        <p:nvSpPr>
          <p:cNvPr id="10" name="text-115">
            <a:extLst xmlns:a="http://schemas.openxmlformats.org/drawingml/2006/main">
              <a:ext uri="{FF2B5EF4-FFF2-40B4-BE49-F238E27FC236}">
                <a16:creationId xmlns:a16="http://schemas.microsoft.com/office/drawing/2014/main" id="{492838E3-8A1D-44E9-9887-C10EA3D3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平坦历史</a:t>
            </a:r>
          </a:p>
        </p:txBody>
      </p:sp>
      <p:sp>
        <p:nvSpPr>
          <p:cNvPr id="11" name="text-116">
            <a:extLst xmlns:a="http://schemas.openxmlformats.org/drawingml/2006/main">
              <a:ext uri="{FF2B5EF4-FFF2-40B4-BE49-F238E27FC236}">
                <a16:creationId xmlns:a16="http://schemas.microsoft.com/office/drawing/2014/main" id="{8389B068-9C18-48AB-92B7-38F22C10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BB624-997C-4D36-B7EB-5A76BF37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3" name="text-117">
            <a:extLst xmlns:a="http://schemas.openxmlformats.org/drawingml/2006/main">
              <a:ext uri="{FF2B5EF4-FFF2-40B4-BE49-F238E27FC236}">
                <a16:creationId xmlns:a16="http://schemas.microsoft.com/office/drawing/2014/main" id="{F12BE554-A33B-4870-A2E5-3E9A709C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Y01</a:t>
            </a:r>
          </a:p>
        </p:txBody>
      </p:sp>
      <p:sp>
        <p:nvSpPr>
          <p:cNvPr id="14" name="text-118">
            <a:extLst xmlns:a="http://schemas.openxmlformats.org/drawingml/2006/main">
              <a:ext uri="{FF2B5EF4-FFF2-40B4-BE49-F238E27FC236}">
                <a16:creationId xmlns:a16="http://schemas.microsoft.com/office/drawing/2014/main" id="{6CFEAAB3-A01B-441F-993B-1D55B1A7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学习型元控制</a:t>
            </a:r>
          </a:p>
        </p:txBody>
      </p:sp>
      <p:sp>
        <p:nvSpPr>
          <p:cNvPr id="15" name="text-119">
            <a:extLst xmlns:a="http://schemas.openxmlformats.org/drawingml/2006/main">
              <a:ext uri="{FF2B5EF4-FFF2-40B4-BE49-F238E27FC236}">
                <a16:creationId xmlns:a16="http://schemas.microsoft.com/office/drawing/2014/main" id="{BE1F61CE-CC2B-488A-8681-4E5BC825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.883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20D894-E48A-4162-AB26-2FE1EC1B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120">
            <a:extLst xmlns:a="http://schemas.openxmlformats.org/drawingml/2006/main">
              <a:ext uri="{FF2B5EF4-FFF2-40B4-BE49-F238E27FC236}">
                <a16:creationId xmlns:a16="http://schemas.microsoft.com/office/drawing/2014/main" id="{8EC117A7-068B-4006-A768-F16DA735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Y10</a:t>
            </a:r>
          </a:p>
        </p:txBody>
      </p:sp>
      <p:sp>
        <p:nvSpPr>
          <p:cNvPr id="18" name="text-121">
            <a:extLst xmlns:a="http://schemas.openxmlformats.org/drawingml/2006/main">
              <a:ext uri="{FF2B5EF4-FFF2-40B4-BE49-F238E27FC236}">
                <a16:creationId xmlns:a16="http://schemas.microsoft.com/office/drawing/2014/main" id="{B99CE1F5-F8D0-4CB5-8955-4B0EBFAB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分阶段技能</a:t>
            </a:r>
          </a:p>
        </p:txBody>
      </p:sp>
      <p:sp>
        <p:nvSpPr>
          <p:cNvPr id="19" name="text-122">
            <a:extLst xmlns:a="http://schemas.openxmlformats.org/drawingml/2006/main">
              <a:ext uri="{FF2B5EF4-FFF2-40B4-BE49-F238E27FC236}">
                <a16:creationId xmlns:a16="http://schemas.microsoft.com/office/drawing/2014/main" id="{37E1A624-EE12-41D7-AB31-C8ABE08C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.988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94C84-DEB7-4C53-B9C6-6EAE7168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1" name="text-123">
            <a:extLst xmlns:a="http://schemas.openxmlformats.org/drawingml/2006/main">
              <a:ext uri="{FF2B5EF4-FFF2-40B4-BE49-F238E27FC236}">
                <a16:creationId xmlns:a16="http://schemas.microsoft.com/office/drawing/2014/main" id="{4656E9C4-0A19-483D-B7F2-0AB7CFD2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Y11</a:t>
            </a:r>
          </a:p>
        </p:txBody>
      </p:sp>
      <p:sp>
        <p:nvSpPr>
          <p:cNvPr id="22" name="text-124">
            <a:extLst xmlns:a="http://schemas.openxmlformats.org/drawingml/2006/main">
              <a:ext uri="{FF2B5EF4-FFF2-40B4-BE49-F238E27FC236}">
                <a16:creationId xmlns:a16="http://schemas.microsoft.com/office/drawing/2014/main" id="{7DF545AC-ABE0-4200-B4B9-8560D846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共享技能</a:t>
            </a:r>
          </a:p>
        </p:txBody>
      </p:sp>
      <p:sp>
        <p:nvSpPr>
          <p:cNvPr id="23" name="text-125">
            <a:extLst xmlns:a="http://schemas.openxmlformats.org/drawingml/2006/main">
              <a:ext uri="{FF2B5EF4-FFF2-40B4-BE49-F238E27FC236}">
                <a16:creationId xmlns:a16="http://schemas.microsoft.com/office/drawing/2014/main" id="{B5BC56E5-68C6-4FA4-B43D-650698A2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.997</a:t>
            </a:r>
          </a:p>
        </p:txBody>
      </p:sp>
      <p:sp>
        <p:nvSpPr>
          <p:cNvPr id="24" name="text-126">
            <a:extLst xmlns:a="http://schemas.openxmlformats.org/drawingml/2006/main">
              <a:ext uri="{FF2B5EF4-FFF2-40B4-BE49-F238E27FC236}">
                <a16:creationId xmlns:a16="http://schemas.microsoft.com/office/drawing/2014/main" id="{48D8CB7B-4D27-43FA-AB0E-CF3C9D04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335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first90 中位 / 环境步</a:t>
            </a:r>
          </a:p>
        </p:txBody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6610350" y="2095500"/>
          <a:ext xmlns:a="http://schemas.openxmlformats.org/drawingml/2006/main" cx="50006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d6dd8fde654ddd"/>
          </a:graphicData>
        </a:graphic>
      </p:graphicFrame>
      <p:sp>
        <p:nvSpPr>
          <p:cNvPr id="26" name="text-127">
            <a:extLst xmlns:a="http://schemas.openxmlformats.org/drawingml/2006/main">
              <a:ext uri="{FF2B5EF4-FFF2-40B4-BE49-F238E27FC236}">
                <a16:creationId xmlns:a16="http://schemas.microsoft.com/office/drawing/2014/main" id="{88E1C76F-A5A0-42E7-BE07-56C6A825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007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QRM  AUC .972</a:t>
            </a:r>
          </a:p>
        </p:txBody>
      </p:sp>
      <p:sp>
        <p:nvSpPr>
          <p:cNvPr id="27" name="text-128">
            <a:extLst xmlns:a="http://schemas.openxmlformats.org/drawingml/2006/main">
              <a:ext uri="{FF2B5EF4-FFF2-40B4-BE49-F238E27FC236}">
                <a16:creationId xmlns:a16="http://schemas.microsoft.com/office/drawing/2014/main" id="{2F161CE6-4216-49E2-9E21-4EEC7A2C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删失：Y00 有 30/720、Y01 有 10/720 次从未达标，中位数按达标者计</a:t>
            </a:r>
          </a:p>
        </p:txBody>
      </p:sp>
    </p:spTree>
    <p:extLst>
      <p:ext uri="{BB962C8B-B14F-4D97-AF65-F5344CB8AC3E}">
        <p14:creationId xmlns:p14="http://schemas.microsoft.com/office/powerpoint/2010/main" val="3847715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29">
            <a:extLst xmlns:a="http://schemas.openxmlformats.org/drawingml/2006/main">
              <a:ext uri="{FF2B5EF4-FFF2-40B4-BE49-F238E27FC236}">
                <a16:creationId xmlns:a16="http://schemas.microsoft.com/office/drawing/2014/main" id="{CC286326-FFEA-4358-86BB-D7153A2D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危险格数量与达标率</a:t>
            </a:r>
          </a:p>
        </p:txBody>
      </p:sp>
      <p:sp>
        <p:nvSpPr>
          <p:cNvPr id="2" name="text-130">
            <a:extLst xmlns:a="http://schemas.openxmlformats.org/drawingml/2006/main">
              <a:ext uri="{FF2B5EF4-FFF2-40B4-BE49-F238E27FC236}">
                <a16:creationId xmlns:a16="http://schemas.microsoft.com/office/drawing/2014/main" id="{5891B7AD-DDC7-4D38-BB85-9ED7A617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已知规则；固定步费协议；100 万步预算；该扫描逐种子记录已缺失，不能重算区间</a:t>
            </a:r>
          </a:p>
        </p:txBody>
      </p:sp>
      <p:sp>
        <p:nvSpPr>
          <p:cNvPr id="3" name="text-131">
            <a:extLst xmlns:a="http://schemas.openxmlformats.org/drawingml/2006/main">
              <a:ext uri="{FF2B5EF4-FFF2-40B4-BE49-F238E27FC236}">
                <a16:creationId xmlns:a16="http://schemas.microsoft.com/office/drawing/2014/main" id="{02AABE44-8CB0-4290-A45D-C23BAA75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66775" y="1371600"/>
          <a:ext xmlns:a="http://schemas.openxmlformats.org/drawingml/2006/main" cx="10525125" cy="4038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edf8d5a5634f4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EDFD1-8A82-4B19-8BCC-46EE65D8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6" name="text-132">
            <a:extLst xmlns:a="http://schemas.openxmlformats.org/drawingml/2006/main">
              <a:ext uri="{FF2B5EF4-FFF2-40B4-BE49-F238E27FC236}">
                <a16:creationId xmlns:a16="http://schemas.microsoft.com/office/drawing/2014/main" id="{08E5250E-95BD-4D40-B25B-C9C98DE7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有技能无路由 0.882　≫　有路由无技能 0.106</a:t>
            </a:r>
          </a:p>
        </p:txBody>
      </p:sp>
      <p:sp>
        <p:nvSpPr>
          <p:cNvPr id="7" name="text-133">
            <a:extLst xmlns:a="http://schemas.openxmlformats.org/drawingml/2006/main">
              <a:ext uri="{FF2B5EF4-FFF2-40B4-BE49-F238E27FC236}">
                <a16:creationId xmlns:a16="http://schemas.microsoft.com/office/drawing/2014/main" id="{5FD2488D-5BCF-4099-9934-6DE30353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不可逆性放大的是复用，不是路由（无危险格时两臂同为 100%）</a:t>
            </a:r>
          </a:p>
        </p:txBody>
      </p:sp>
    </p:spTree>
    <p:extLst>
      <p:ext uri="{BB962C8B-B14F-4D97-AF65-F5344CB8AC3E}">
        <p14:creationId xmlns:p14="http://schemas.microsoft.com/office/powerpoint/2010/main" val="8197304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34">
            <a:extLst xmlns:a="http://schemas.openxmlformats.org/drawingml/2006/main">
              <a:ext uri="{FF2B5EF4-FFF2-40B4-BE49-F238E27FC236}">
                <a16:creationId xmlns:a16="http://schemas.microsoft.com/office/drawing/2014/main" id="{2A0068C6-448B-42D0-BD33-7C4570D3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三层研究关系</a:t>
            </a:r>
          </a:p>
        </p:txBody>
      </p:sp>
      <p:sp>
        <p:nvSpPr>
          <p:cNvPr id="2" name="text-135">
            <a:extLst xmlns:a="http://schemas.openxmlformats.org/drawingml/2006/main">
              <a:ext uri="{FF2B5EF4-FFF2-40B4-BE49-F238E27FC236}">
                <a16:creationId xmlns:a16="http://schemas.microsoft.com/office/drawing/2014/main" id="{25DA979A-EDBD-4158-95F6-CB4AA5D4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3" name="text-136">
            <a:extLst xmlns:a="http://schemas.openxmlformats.org/drawingml/2006/main">
              <a:ext uri="{FF2B5EF4-FFF2-40B4-BE49-F238E27FC236}">
                <a16:creationId xmlns:a16="http://schemas.microsoft.com/office/drawing/2014/main" id="{2B9F8C16-8473-441B-BDAD-346E4873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已验证</a:t>
            </a:r>
          </a:p>
        </p:txBody>
      </p:sp>
      <p:sp>
        <p:nvSpPr>
          <p:cNvPr id="4" name="text-137">
            <a:extLst xmlns:a="http://schemas.openxmlformats.org/drawingml/2006/main">
              <a:ext uri="{FF2B5EF4-FFF2-40B4-BE49-F238E27FC236}">
                <a16:creationId xmlns:a16="http://schemas.microsoft.com/office/drawing/2014/main" id="{B4761B7F-D6F5-4A10-BBF8-590FFCC0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尚未解决</a:t>
            </a:r>
          </a:p>
        </p:txBody>
      </p:sp>
      <p:sp>
        <p:nvSpPr>
          <p:cNvPr id="5" name="text-138">
            <a:extLst xmlns:a="http://schemas.openxmlformats.org/drawingml/2006/main">
              <a:ext uri="{FF2B5EF4-FFF2-40B4-BE49-F238E27FC236}">
                <a16:creationId xmlns:a16="http://schemas.microsoft.com/office/drawing/2014/main" id="{9A5C5148-C151-4C4B-AD14-9B95F61F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574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结构发现</a:t>
            </a:r>
          </a:p>
        </p:txBody>
      </p:sp>
      <p:sp>
        <p:nvSpPr>
          <p:cNvPr id="6" name="text-139">
            <a:extLst xmlns:a="http://schemas.openxmlformats.org/drawingml/2006/main">
              <a:ext uri="{FF2B5EF4-FFF2-40B4-BE49-F238E27FC236}">
                <a16:creationId xmlns:a16="http://schemas.microsoft.com/office/drawing/2014/main" id="{6E58B031-23A0-4AD4-93C5-CC975531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31457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受限在线闭环</a:t>
            </a:r>
          </a:p>
        </p:txBody>
      </p:sp>
      <p:sp>
        <p:nvSpPr>
          <p:cNvPr id="7" name="text-140">
            <a:extLst xmlns:a="http://schemas.openxmlformats.org/drawingml/2006/main">
              <a:ext uri="{FF2B5EF4-FFF2-40B4-BE49-F238E27FC236}">
                <a16:creationId xmlns:a16="http://schemas.microsoft.com/office/drawing/2014/main" id="{3FA58078-115C-4B5E-8E9A-3ED5ED74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1457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一般规则发现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DA649-1FD4-490D-A09E-69F49AA5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9E01C-1189-4B08-BBA6-B715EE0A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ECEE6-87B9-47E5-9D0A-823D4DC5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814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1911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dash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39D99-65E0-4410-9598-DE2A55D4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141">
            <a:extLst xmlns:a="http://schemas.openxmlformats.org/drawingml/2006/main">
              <a:ext uri="{FF2B5EF4-FFF2-40B4-BE49-F238E27FC236}">
                <a16:creationId xmlns:a16="http://schemas.microsoft.com/office/drawing/2014/main" id="{595BCEBA-29B2-43B3-B629-024E2957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19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</a:t>
            </a:r>
          </a:p>
        </p:txBody>
      </p:sp>
      <p:sp>
        <p:nvSpPr>
          <p:cNvPr id="15" name="text-142">
            <a:extLst xmlns:a="http://schemas.openxmlformats.org/drawingml/2006/main">
              <a:ext uri="{FF2B5EF4-FFF2-40B4-BE49-F238E27FC236}">
                <a16:creationId xmlns:a16="http://schemas.microsoft.com/office/drawing/2014/main" id="{8B9941C5-D3B2-4101-9E7C-CB9FC012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76650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正确压缩收益</a:t>
            </a:r>
          </a:p>
        </p:txBody>
      </p:sp>
      <p:sp>
        <p:nvSpPr>
          <p:cNvPr id="16" name="text-143">
            <a:extLst xmlns:a="http://schemas.openxmlformats.org/drawingml/2006/main">
              <a:ext uri="{FF2B5EF4-FFF2-40B4-BE49-F238E27FC236}">
                <a16:creationId xmlns:a16="http://schemas.microsoft.com/office/drawing/2014/main" id="{B0474A4D-8AD1-4773-80E0-DCF97926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76650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可靠在线合并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FDA20C-6E50-40C7-B25F-B254E53B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09950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785FF-740D-4654-983F-53251122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48125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4681EF-7A1A-4B00-881E-F523A16E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7147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cxnSp>
        <p:nvCxnSpPr>
          <p:cNvPr id="50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067175" y="3643313"/>
            <a:ext cx="1466850" cy="3476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067175" y="3990975"/>
            <a:ext cx="1466850" cy="290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94D5A0-5957-46F2-B6A1-1800999E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3" name="text-144">
            <a:extLst xmlns:a="http://schemas.openxmlformats.org/drawingml/2006/main">
              <a:ext uri="{FF2B5EF4-FFF2-40B4-BE49-F238E27FC236}">
                <a16:creationId xmlns:a16="http://schemas.microsoft.com/office/drawing/2014/main" id="{324D8143-C90C-4972-890B-7603005B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815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</a:t>
            </a:r>
          </a:p>
        </p:txBody>
      </p:sp>
      <p:sp>
        <p:nvSpPr>
          <p:cNvPr id="24" name="text-145">
            <a:extLst xmlns:a="http://schemas.openxmlformats.org/drawingml/2006/main">
              <a:ext uri="{FF2B5EF4-FFF2-40B4-BE49-F238E27FC236}">
                <a16:creationId xmlns:a16="http://schemas.microsoft.com/office/drawing/2014/main" id="{D969F04A-723C-4350-BFE6-4BF2DE99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03872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条件性控制收益</a:t>
            </a:r>
          </a:p>
        </p:txBody>
      </p:sp>
      <p:sp>
        <p:nvSpPr>
          <p:cNvPr id="25" name="text-146">
            <a:extLst xmlns:a="http://schemas.openxmlformats.org/drawingml/2006/main">
              <a:ext uri="{FF2B5EF4-FFF2-40B4-BE49-F238E27FC236}">
                <a16:creationId xmlns:a16="http://schemas.microsoft.com/office/drawing/2014/main" id="{0C02FE1D-03AE-4353-85C2-9034FCF8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03872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机制归因与边界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EABC69-DC4E-498B-8CD0-B5052D4B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93395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95F949-20EB-47B3-8FD7-3928AE94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3395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5123F4-7BA2-47BB-BC30-872CC46F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933950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技能</a:t>
            </a:r>
          </a:p>
        </p:txBody>
      </p:sp>
      <p:cxnSp>
        <p:nvCxnSpPr>
          <p:cNvPr id="5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781425" y="52292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362575" y="52292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7210492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2026-09-16T04:45:48.2970000Z</dcterms:created>
  <dcterms:modified xsi:type="dcterms:W3CDTF">2026-09-16T04:45:48.2970000Z</dcterms:modified>
</coreProperties>
</file>