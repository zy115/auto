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9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0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3ee483f5b34b1c" /><Relationship Type="http://schemas.openxmlformats.org/officeDocument/2006/relationships/extended-properties" Target="/docProps/app.xml" Id="R13ed0643a4cc4087" /><Relationship Type="http://schemas.openxmlformats.org/officeDocument/2006/relationships/officeDocument" Target="/ppt/presentation.xml" Id="Rb1dda42524ed4c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c3df81756c469b"/>
  </p:sldMasterIdLst>
  <p:notesMasterIdLst>
    <p:notesMasterId xmlns:r="http://schemas.openxmlformats.org/officeDocument/2006/relationships" r:id="R3813967311694a00"/>
  </p:notesMasterIdLst>
  <p:sldIdLst>
    <p:sldId xmlns:r="http://schemas.openxmlformats.org/officeDocument/2006/relationships" id="256" r:id="Ra46caba186a74515"/>
    <p:sldId xmlns:r="http://schemas.openxmlformats.org/officeDocument/2006/relationships" id="257" r:id="Rd12e3b793cfe4401"/>
    <p:sldId xmlns:r="http://schemas.openxmlformats.org/officeDocument/2006/relationships" id="258" r:id="Red5bff53971143e1"/>
    <p:sldId xmlns:r="http://schemas.openxmlformats.org/officeDocument/2006/relationships" id="259" r:id="R9e42140af78a4af9"/>
    <p:sldId xmlns:r="http://schemas.openxmlformats.org/officeDocument/2006/relationships" id="260" r:id="R00e60053f12d4902"/>
    <p:sldId xmlns:r="http://schemas.openxmlformats.org/officeDocument/2006/relationships" id="261" r:id="R57ff02ad7dff457e"/>
    <p:sldId xmlns:r="http://schemas.openxmlformats.org/officeDocument/2006/relationships" id="262" r:id="Rcf0beb21ecfe42eb"/>
    <p:sldId xmlns:r="http://schemas.openxmlformats.org/officeDocument/2006/relationships" id="263" r:id="R6add6cc7b05b4462"/>
    <p:sldId xmlns:r="http://schemas.openxmlformats.org/officeDocument/2006/relationships" id="264" r:id="R361f411eff2e48fa"/>
    <p:sldId xmlns:r="http://schemas.openxmlformats.org/officeDocument/2006/relationships" id="265" r:id="R4c7402dd79e94faf"/>
    <p:sldId xmlns:r="http://schemas.openxmlformats.org/officeDocument/2006/relationships" id="266" r:id="R87793c795e0342ef"/>
    <p:sldId xmlns:r="http://schemas.openxmlformats.org/officeDocument/2006/relationships" id="267" r:id="R20d2be26c4334935"/>
    <p:sldId xmlns:r="http://schemas.openxmlformats.org/officeDocument/2006/relationships" id="268" r:id="R408bfbd247d74c83"/>
    <p:sldId xmlns:r="http://schemas.openxmlformats.org/officeDocument/2006/relationships" id="269" r:id="Rf9203230caf74a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a9c6d81dc744f5" /><Relationship Type="http://schemas.openxmlformats.org/officeDocument/2006/relationships/slideMaster" Target="/ppt/slideMasters/slideMaster1.xml" Id="Rb0c3df81756c469b" /><Relationship Type="http://schemas.openxmlformats.org/officeDocument/2006/relationships/notesMaster" Target="/ppt/notesMasters/notesMaster1.xml" Id="R3813967311694a00" /><Relationship Type="http://schemas.openxmlformats.org/officeDocument/2006/relationships/presProps" Target="/ppt/presProps.xml" Id="R7ec6b5b815114566" /><Relationship Type="http://schemas.openxmlformats.org/officeDocument/2006/relationships/tableStyles" Target="/ppt/tableStyles.xml" Id="Rdec5fd5c5bcf4a4e" /><Relationship Type="http://schemas.openxmlformats.org/officeDocument/2006/relationships/slide" Target="/ppt/slides/slide1.xml" Id="Ra46caba186a74515" /><Relationship Type="http://schemas.openxmlformats.org/officeDocument/2006/relationships/slide" Target="/ppt/slides/slide2.xml" Id="Rd12e3b793cfe4401" /><Relationship Type="http://schemas.openxmlformats.org/officeDocument/2006/relationships/slide" Target="/ppt/slides/slide3.xml" Id="Red5bff53971143e1" /><Relationship Type="http://schemas.openxmlformats.org/officeDocument/2006/relationships/slide" Target="/ppt/slides/slide4.xml" Id="R9e42140af78a4af9" /><Relationship Type="http://schemas.openxmlformats.org/officeDocument/2006/relationships/slide" Target="/ppt/slides/slide5.xml" Id="R00e60053f12d4902" /><Relationship Type="http://schemas.openxmlformats.org/officeDocument/2006/relationships/slide" Target="/ppt/slides/slide6.xml" Id="R57ff02ad7dff457e" /><Relationship Type="http://schemas.openxmlformats.org/officeDocument/2006/relationships/slide" Target="/ppt/slides/slide7.xml" Id="Rcf0beb21ecfe42eb" /><Relationship Type="http://schemas.openxmlformats.org/officeDocument/2006/relationships/slide" Target="/ppt/slides/slide8.xml" Id="R6add6cc7b05b4462" /><Relationship Type="http://schemas.openxmlformats.org/officeDocument/2006/relationships/slide" Target="/ppt/slides/slide9.xml" Id="R361f411eff2e48fa" /><Relationship Type="http://schemas.openxmlformats.org/officeDocument/2006/relationships/slide" Target="/ppt/slides/slide10.xml" Id="R4c7402dd79e94faf" /><Relationship Type="http://schemas.openxmlformats.org/officeDocument/2006/relationships/slide" Target="/ppt/slides/slide11.xml" Id="R87793c795e0342ef" /><Relationship Type="http://schemas.openxmlformats.org/officeDocument/2006/relationships/slide" Target="/ppt/slides/slide12.xml" Id="R20d2be26c4334935" /><Relationship Type="http://schemas.openxmlformats.org/officeDocument/2006/relationships/slide" Target="/ppt/slides/slide13.xml" Id="R408bfbd247d74c83" /><Relationship Type="http://schemas.openxmlformats.org/officeDocument/2006/relationships/slide" Target="/ppt/slides/slide14.xml" Id="Rf9203230caf74a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ef3cf3cc1d4a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c51de463584dae" /><Relationship Type="http://schemas.openxmlformats.org/officeDocument/2006/relationships/notesMaster" Target="/ppt/notesMasters/notesMaster1.xml" Id="Rf9e3460a5bb64a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16e465cdea4c29" /><Relationship Type="http://schemas.openxmlformats.org/officeDocument/2006/relationships/notesMaster" Target="/ppt/notesMasters/notesMaster1.xml" Id="R2344377412e34f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27251439174b10" /><Relationship Type="http://schemas.openxmlformats.org/officeDocument/2006/relationships/notesMaster" Target="/ppt/notesMasters/notesMaster1.xml" Id="R6edca6cf183147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6fa671f8a24d2d" /><Relationship Type="http://schemas.openxmlformats.org/officeDocument/2006/relationships/notesMaster" Target="/ppt/notesMasters/notesMaster1.xml" Id="R1a03713c267f45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5eb6f00cbb4d67" /><Relationship Type="http://schemas.openxmlformats.org/officeDocument/2006/relationships/notesMaster" Target="/ppt/notesMasters/notesMaster1.xml" Id="R88693aadc79b45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93123d016b41f9" /><Relationship Type="http://schemas.openxmlformats.org/officeDocument/2006/relationships/notesMaster" Target="/ppt/notesMasters/notesMaster1.xml" Id="R1330cae628dc4a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b84b6cdbb04167" /><Relationship Type="http://schemas.openxmlformats.org/officeDocument/2006/relationships/notesMaster" Target="/ppt/notesMasters/notesMaster1.xml" Id="R0553447dbe2c41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75f099f3234833" /><Relationship Type="http://schemas.openxmlformats.org/officeDocument/2006/relationships/notesMaster" Target="/ppt/notesMasters/notesMaster1.xml" Id="Rcfdb0fa552e14c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47c245039f4026" /><Relationship Type="http://schemas.openxmlformats.org/officeDocument/2006/relationships/notesMaster" Target="/ppt/notesMasters/notesMaster1.xml" Id="R5132d18106104f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8a3f8d577943f4" /><Relationship Type="http://schemas.openxmlformats.org/officeDocument/2006/relationships/notesMaster" Target="/ppt/notesMasters/notesMaster1.xml" Id="R9f8e62063baa4f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a28de1fe1b446f" /><Relationship Type="http://schemas.openxmlformats.org/officeDocument/2006/relationships/notesMaster" Target="/ppt/notesMasters/notesMaster1.xml" Id="Rcd970edab77440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a49407997f44bb" /><Relationship Type="http://schemas.openxmlformats.org/officeDocument/2006/relationships/notesMaster" Target="/ppt/notesMasters/notesMaster1.xml" Id="R39e38eb8a63c4c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ed0723105142a3" /><Relationship Type="http://schemas.openxmlformats.org/officeDocument/2006/relationships/notesMaster" Target="/ppt/notesMasters/notesMaster1.xml" Id="R234830f563fe4a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fd3a437b7a4934" /><Relationship Type="http://schemas.openxmlformats.org/officeDocument/2006/relationships/notesMaster" Target="/ppt/notesMasters/notesMaster1.xml" Id="Rb26ac206fcf34a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问题是隐藏任务顺序/逻辑的发现，不是完全没有任务信号的目标发现。事件可识别，早期实验提供可靠的逐步推进反馈。格子图仅为机制示意，不对应具体实验地图。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6：长度16，动作噪声，第二批32个新种子。左图为首次成功率达到90%的平均环境步。右图为第一次完整成功之前，在已知目标前缀中累计执行的平均步数，两者观察区间不同，不应当相减或当成总成本的精确分解。三方法每步9次Bellman更新；立即/延迟epsilon均为0.005，普通replay为0.05（开发集选择）。未声称超过ISA等既有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在线性任务与可靠进度反馈条件下，进度唯一标记任务阶段。列表是链式自动机的等价表示；结果不证明图形式本身的优势。未知项由试错逐步填入。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A→E与B→E汇入同一物理位置，进度均为2、末事件均为E，但后继要求不同。图中两个E表示不同历史下的任务状态，不是两个物理位置。充分历史可以解决这个任务。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前缀树与完整成功事件历史dictionary在匹配输入与随机数时逐动作一致。字典包含足够历史，并非只存进度或最后事件。这里比较表示形式，不涉及合并不同历史。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件任务规则：A先于B则选X，否则选Y，其他零件位置无关。完整顺序由环境提供；末端只做一次二选一。此图表示末端决策等价，不声称每个中间前缀在环境状态上都等价。正确自动机与等价手写程序使用同一状态划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TL/AUTO/docs/MEMORY_COMPRESSION_PILOT.md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规模400个配对种子，每方法5000幕。T95为首次达到并在后续记录点保持至少95%准确率的幕数，本批主要对照无删失，因此RMST等于平均T95。压缩等价关系由设计者提供。完整历史与正确压缩使用同样Q-learning。自动机与等价手写程序逐种子逐评估点一致。比值来自未取整均值，不应以显示取整值要求精确相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TL/AUTO/results/runs/memory_compression_pilot_5k.md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机制示意。左侧：暂时具有相同观测的历史可能在未见后缀上要求不同操作；合并会错用经验。右侧：等价历史始终分开会重复学习。示意不是本次审计的原始自动机，不把当前裁决相同视为全后缀等价。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。固定基线轨迹，逐查询只使用当时证据进行回放审计；未将这些合并接入控制器，也没有相应学习曲线。k_min是当时证据所容许的最小机器状态数，+1放松该上界。节省只计审计识别的可安全节省部分，不是实际训练付费减少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归档AUTO/discovery/results/verify.jsonl.gz：预算40/80/160/320，first90&lt;200000的运行分别1/61/131/144，共144。图中百分比按用户口播四舍五入为1/42/91/100。160预算时最终仍&gt;=90%的只有127/144；本图量的是曾经达标，不是最终成功比例。控制器按历史节点读取局部证据，未启用合并。不能由最终树节点数推断必须完整结构才能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TL/AUTO/discovery/src/run_verify.py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族×30种子×5臂，预算200000步。first90是报告中的中位数，AUC为成功率曲线面积。Y00没有两种机制，Y01用学习型元控制器调用共享技能，Y10真规则路由但技能按任务状态独立，Y11真规则路由且跨状态共享技能；QRM单列。Y01并未被给定正确目标顺序，结构化臂用真规则而不是在线学规则。原报告关于路由压倒性强于复用的AUC解释已在Step38撤回，因天花板影响；不能用本页做该推断。后续C-full审计指出Y10/Y11差异不只来自参数共享，还涉及经验传播、采样和探索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38.5剂量扫描，昂贵导航，自有导出模拟器，任务规则已给定，训练预算1000000环境步。达标率为预算内达到90%成功率的运行比例。Y10/Y11数据按历史报告提供。此扫描的逐种子原始数据后来确认遗失，因此不能重算置信区间。Step40新网格逐运行归档：步费改变QRM排序，并使风险交互效应缩小；不能将此页视为协议不变的效应大小。无论存在何种图论路径，危险格可能迫使成功轨迹绕行。这里不声明几何难度完全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TL/progressive_task_discovery/stage8_compression/REPORT_STEP38_5.md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零件pilot每规模400种子。训练期间、规则唯一识别前立即法相比延迟法实际额外成功均值为0.1225、0.4525、0.635，图显示口播取整0.123/0.453/0.635。不是贪心评估累计期望0.137/0.533/0.696。规则识别前准确率不足95%；识别后两臂在该实现中相同，因此T95没有分辨能力。该必然性只针对这个规则族、确定反馈、更新与阈值设置。主动任务早期调用技能改变到达后缀的行为，被动任务每幕独立给出排列，动作不影响下一份证据。不能据此断言所有边学边用收益都必须依赖主动取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层不是全都已集成的一套通用算法。结构发现的受限未知顺序闭环有正结果；状态抽象的已知正确压缩有明确收益，可靠在线合并尚未解决；结构利用的路由/共享实现具有条件性收益，但一般机制归因、协议与任务边界未定。未建立超过ISA等的通用新方法，不声称自动机语法优于等价手写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1d1903353943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33add2e1334663" /><Relationship Type="http://schemas.openxmlformats.org/officeDocument/2006/relationships/slideLayout" Target="/ppt/slideLayouts/slideLayout1.xml" Id="R52e16e32bc684f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e16e32bc684f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25a05536a4ff0" /><Relationship Type="http://schemas.openxmlformats.org/officeDocument/2006/relationships/notesSlide" Target="/ppt/notesSlides/notesSlide1.xml" Id="R3e1fb3c0b1e042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627b149924287" /><Relationship Type="http://schemas.openxmlformats.org/officeDocument/2006/relationships/chart" Target="/ppt/slides/charts/chart1.xml" Id="R1112f53ad1b34c04" /><Relationship Type="http://schemas.openxmlformats.org/officeDocument/2006/relationships/chart" Target="/ppt/slides/charts/chart2.xml" Id="R40a190c8e2ad4e30" /><Relationship Type="http://schemas.openxmlformats.org/officeDocument/2006/relationships/notesSlide" Target="/ppt/notesSlides/notesSlide2.xml" Id="R26074625d85e42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bdaba5de6402a" /><Relationship Type="http://schemas.openxmlformats.org/officeDocument/2006/relationships/notesSlide" Target="/ppt/notesSlides/notesSlide3.xml" Id="Rea02afe6ffda43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da77c11bd4fc6" /><Relationship Type="http://schemas.openxmlformats.org/officeDocument/2006/relationships/notesSlide" Target="/ppt/notesSlides/notesSlide4.xml" Id="Rd3bce13baa0a43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23491672549bf" /><Relationship Type="http://schemas.openxmlformats.org/officeDocument/2006/relationships/notesSlide" Target="/ppt/notesSlides/notesSlide5.xml" Id="R1dd78233d90e4f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a98df318746c9" /><Relationship Type="http://schemas.openxmlformats.org/officeDocument/2006/relationships/notesSlide" Target="/ppt/notesSlides/notesSlide6.xml" Id="R6c8841d75b3149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fc93ac2124a6f" /><Relationship Type="http://schemas.openxmlformats.org/officeDocument/2006/relationships/chart" Target="/ppt/slides/charts/chart3.xml" Id="Re9952cae44c544a6" /><Relationship Type="http://schemas.openxmlformats.org/officeDocument/2006/relationships/notesSlide" Target="/ppt/notesSlides/notesSlide7.xml" Id="R73af8454b0164f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6400f806544ff" /><Relationship Type="http://schemas.openxmlformats.org/officeDocument/2006/relationships/notesSlide" Target="/ppt/notesSlides/notesSlide8.xml" Id="R0e37a916aa4042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ceb1afd444f35" /><Relationship Type="http://schemas.openxmlformats.org/officeDocument/2006/relationships/chart" Target="/ppt/slides/charts/chart4.xml" Id="R932bb9ad87cc4af8" /><Relationship Type="http://schemas.openxmlformats.org/officeDocument/2006/relationships/chart" Target="/ppt/slides/charts/chart5.xml" Id="Rdeec9438f1ff40aa" /><Relationship Type="http://schemas.openxmlformats.org/officeDocument/2006/relationships/chart" Target="/ppt/slides/charts/chart6.xml" Id="Rc3da77cb455044e8" /><Relationship Type="http://schemas.openxmlformats.org/officeDocument/2006/relationships/notesSlide" Target="/ppt/notesSlides/notesSlide9.xml" Id="Re36d38cd8a284e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59ea40fdf45f0" /><Relationship Type="http://schemas.openxmlformats.org/officeDocument/2006/relationships/chart" Target="/ppt/slides/charts/chart7.xml" Id="R320f739254474b25" /><Relationship Type="http://schemas.openxmlformats.org/officeDocument/2006/relationships/notesSlide" Target="/ppt/notesSlides/notesSlide10.xml" Id="Rc83cb1c4cb1441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13b7afbdb4c2e" /><Relationship Type="http://schemas.openxmlformats.org/officeDocument/2006/relationships/chart" Target="/ppt/slides/charts/chart8.xml" Id="Rb6b659f419754a69" /><Relationship Type="http://schemas.openxmlformats.org/officeDocument/2006/relationships/notesSlide" Target="/ppt/notesSlides/notesSlide11.xml" Id="R8e381c5255ca40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a725c4dfd4a99" /><Relationship Type="http://schemas.openxmlformats.org/officeDocument/2006/relationships/chart" Target="/ppt/slides/charts/chart9.xml" Id="R823c3eced3744e00" /><Relationship Type="http://schemas.openxmlformats.org/officeDocument/2006/relationships/notesSlide" Target="/ppt/notesSlides/notesSlide12.xml" Id="R0860ef47f9204a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8bd92e4fd45f4" /><Relationship Type="http://schemas.openxmlformats.org/officeDocument/2006/relationships/chart" Target="/ppt/slides/charts/chart10.xml" Id="R758a57ef3fb34788" /><Relationship Type="http://schemas.openxmlformats.org/officeDocument/2006/relationships/notesSlide" Target="/ppt/notesSlides/notesSlide13.xml" Id="R551178e1cd9a49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9dbc2f4e44b0c" /><Relationship Type="http://schemas.openxmlformats.org/officeDocument/2006/relationships/notesSlide" Target="/ppt/notesSlides/notesSlide14.xml" Id="R83837d5f5b3648c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 first90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A1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Lit>
              <c:ptCount val="3"/>
              <c:pt idx="0">
                <c:v>普通 replay</c:v>
              </c:pt>
              <c:pt idx="1">
                <c:v>延迟使用</c:v>
              </c:pt>
              <c:pt idx="2">
                <c:v>立即使用</c:v>
              </c:pt>
            </c:strLit>
          </c:cat>
          <c:val>
            <c:numLit>
              <c:formatCode>#,##0</c:formatCode>
              <c:ptCount val="3"/>
              <c:pt idx="0">
                <c:v>18594</c:v>
              </c:pt>
              <c:pt idx="1">
                <c:v>37938</c:v>
              </c:pt>
              <c:pt idx="2">
                <c:v>6906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已知前缀执行步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Lit>
              <c:ptCount val="2"/>
              <c:pt idx="0">
                <c:v>延迟</c:v>
              </c:pt>
              <c:pt idx="1">
                <c:v>立即</c:v>
              </c:pt>
            </c:strLit>
          </c:cat>
          <c:val>
            <c:numLit>
              <c:formatCode>#,##0</c:formatCode>
              <c:ptCount val="2"/>
              <c:pt idx="0">
                <c:v>33194</c:v>
              </c:pt>
              <c:pt idx="1">
                <c:v>2566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完整历史</c:v>
          </c:tx>
          <c:spPr>
            <a:solidFill xmlns:a="http://schemas.openxmlformats.org/drawingml/2006/main">
              <a:srgbClr val="94A1AA"/>
            </a:solidFill>
          </c:spPr>
          <c:cat>
            <c:strLit>
              <c:ptCount val="3"/>
              <c:pt idx="0">
                <c:v>3 个零件</c:v>
              </c:pt>
              <c:pt idx="1">
                <c:v>4 个零件</c:v>
              </c:pt>
              <c:pt idx="2">
                <c:v>5 个零件</c:v>
              </c:pt>
            </c:strLit>
          </c:cat>
          <c:val>
            <c:numLit>
              <c:formatCode>0.00</c:formatCode>
              <c:ptCount val="3"/>
              <c:pt idx="0">
                <c:v>28.28</c:v>
              </c:pt>
              <c:pt idx="1">
                <c:v>109.15</c:v>
              </c:pt>
              <c:pt idx="2">
                <c:v>547.23</c:v>
              </c:pt>
            </c:numLit>
          </c:val>
        </c:ser>
        <c:ser>
          <c:idx val="1"/>
          <c:order val="1"/>
          <c:tx>
            <c:v>正确压缩</c:v>
          </c:tx>
          <c:spPr>
            <a:solidFill xmlns:a="http://schemas.openxmlformats.org/drawingml/2006/main">
              <a:srgbClr val="2176AD"/>
            </a:solidFill>
          </c:spPr>
          <c:cat>
            <c:strLit>
              <c:ptCount val="3"/>
              <c:pt idx="0">
                <c:v>3 个零件</c:v>
              </c:pt>
              <c:pt idx="1">
                <c:v>4 个零件</c:v>
              </c:pt>
              <c:pt idx="2">
                <c:v>5 个零件</c:v>
              </c:pt>
            </c:strLit>
          </c:cat>
          <c:val>
            <c:numLit>
              <c:formatCode>0.00</c:formatCode>
              <c:ptCount val="3"/>
              <c:pt idx="0">
                <c:v>6.05</c:v>
              </c:pt>
              <c:pt idx="1">
                <c:v>5.89</c:v>
              </c:pt>
              <c:pt idx="2">
                <c:v>6.1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Lit>
              <c:ptCount val="2"/>
              <c:pt idx="0">
                <c:v>k_min</c:v>
              </c:pt>
              <c:pt idx="1">
                <c:v>k_min+1</c:v>
              </c:pt>
            </c:strLit>
          </c:cat>
          <c:val>
            <c:numLit>
              <c:formatCode>0.0%</c:formatCode>
              <c:ptCount val="2"/>
              <c:pt idx="0">
                <c:v>0.801</c:v>
              </c:pt>
              <c:pt idx="1">
                <c:v>0.773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Lit>
              <c:ptCount val="2"/>
              <c:pt idx="0">
                <c:v>k_min</c:v>
              </c:pt>
              <c:pt idx="1">
                <c:v>k_min+1</c:v>
              </c:pt>
            </c:strLit>
          </c:cat>
          <c:val>
            <c:numLit>
              <c:formatCode>0.0%</c:formatCode>
              <c:ptCount val="2"/>
              <c:pt idx="0">
                <c:v>0.407</c:v>
              </c:pt>
              <c:pt idx="1">
                <c:v>0.636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Lit>
              <c:ptCount val="2"/>
              <c:pt idx="0">
                <c:v>k_min</c:v>
              </c:pt>
              <c:pt idx="1">
                <c:v>k_min+1</c:v>
              </c:pt>
            </c:strLit>
          </c:cat>
          <c:val>
            <c:numLit>
              <c:formatCode>0.0%</c:formatCode>
              <c:ptCount val="2"/>
              <c:pt idx="0">
                <c:v>0.169</c:v>
              </c:pt>
              <c:pt idx="1">
                <c:v>0.018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达标运行比例</c:v>
          </c:tx>
          <c:spPr>
            <a:solidFill xmlns:a="http://schemas.openxmlformats.org/drawingml/2006/main">
              <a:srgbClr val="2176AD"/>
            </a:solidFill>
          </c:spPr>
          <c:cat>
            <c:numLit>
              <c:formatCode>General</c:formatCode>
              <c:ptCount val="4"/>
              <c:pt idx="0">
                <c:v>40</c:v>
              </c:pt>
              <c:pt idx="1">
                <c:v>80</c:v>
              </c:pt>
              <c:pt idx="2">
                <c:v>160</c:v>
              </c:pt>
              <c:pt idx="3">
                <c:v>320</c:v>
              </c:pt>
            </c:numLit>
          </c:cat>
          <c:val>
            <c:numLit>
              <c:formatCode>0%</c:formatCode>
              <c:ptCount val="4"/>
              <c:pt idx="0">
                <c:v>0.006944444444444444</c:v>
              </c:pt>
              <c:pt idx="1">
                <c:v>0.4236111111111111</c:v>
              </c:pt>
              <c:pt idx="2">
                <c:v>0.9097222222222222</c:v>
              </c:pt>
              <c:pt idx="3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提问预算 / 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first90</c:v>
          </c:tx>
          <c:spPr>
            <a:solidFill xmlns:a="http://schemas.openxmlformats.org/drawingml/2006/main">
              <a:srgbClr val="94A1A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2A0B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Lit>
              <c:ptCount val="5"/>
              <c:pt idx="0">
                <c:v>Y00</c:v>
              </c:pt>
              <c:pt idx="1">
                <c:v>Y01</c:v>
              </c:pt>
              <c:pt idx="2">
                <c:v>Y10</c:v>
              </c:pt>
              <c:pt idx="3">
                <c:v>Y11</c:v>
              </c:pt>
              <c:pt idx="4">
                <c:v>QRM</c:v>
              </c:pt>
            </c:strLit>
          </c:cat>
          <c:val>
            <c:numLit>
              <c:formatCode>#,##0</c:formatCode>
              <c:ptCount val="5"/>
              <c:pt idx="0">
                <c:v>38500</c:v>
              </c:pt>
              <c:pt idx="1">
                <c:v>4000</c:v>
              </c:pt>
              <c:pt idx="2">
                <c:v>3750</c:v>
              </c:pt>
              <c:pt idx="3">
                <c:v>1000</c:v>
              </c:pt>
              <c:pt idx="4">
                <c:v>7000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C47A35"/>
              </a:solidFill>
            </c:spPr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</c:numLit>
          </c:cat>
          <c:val>
            <c:numLit>
              <c:formatCode>0%</c:formatCode>
              <c:ptCount val="5"/>
              <c:pt idx="0">
                <c:v>1</c:v>
              </c:pt>
              <c:pt idx="1">
                <c:v>0.32</c:v>
              </c:pt>
              <c:pt idx="2">
                <c:v>0.16</c:v>
              </c:pt>
              <c:pt idx="3">
                <c:v>0.11</c:v>
              </c:pt>
              <c:pt idx="4">
                <c:v>0.1</c:v>
              </c:pt>
            </c:numLit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176AD"/>
              </a:solidFill>
            </c:spPr>
          </c:marker>
          <c:cat>
            <c:numLit>
              <c:formatCode>General</c:formatCode>
              <c:ptCount val="5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</c:numLit>
          </c:cat>
          <c:val>
            <c:numLit>
              <c:formatCode>0%</c:formatCode>
              <c:ptCount val="5"/>
              <c:pt idx="0">
                <c:v>1</c:v>
              </c:pt>
              <c:pt idx="1">
                <c:v>1</c:v>
              </c:pt>
              <c:pt idx="2">
                <c:v>0.99</c:v>
              </c:pt>
              <c:pt idx="3">
                <c:v>0.95</c:v>
              </c:pt>
              <c:pt idx="4">
                <c:v>0.91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立即减延迟</c:v>
          </c:tx>
          <c:spPr>
            <a:solidFill xmlns:a="http://schemas.openxmlformats.org/drawingml/2006/main">
              <a:srgbClr val="2176AD"/>
            </a:solidFill>
          </c:spPr>
          <c:cat>
            <c:strLit>
              <c:ptCount val="3"/>
              <c:pt idx="0">
                <c:v>3 个</c:v>
              </c:pt>
              <c:pt idx="1">
                <c:v>4 个</c:v>
              </c:pt>
              <c:pt idx="2">
                <c:v>5 个</c:v>
              </c:pt>
            </c:strLit>
          </c:cat>
          <c:val>
            <c:numLit>
              <c:formatCode>0.000</c:formatCode>
              <c:ptCount val="3"/>
              <c:pt idx="0">
                <c:v>0.123</c:v>
              </c:pt>
              <c:pt idx="1">
                <c:v>0.453</c:v>
              </c:pt>
              <c:pt idx="2">
                <c:v>0.635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text-1">
            <a:extLst xmlns:a="http://schemas.openxmlformats.org/drawingml/2006/main">
              <a:ext uri="{FF2B5EF4-FFF2-40B4-BE49-F238E27FC236}">
                <a16:creationId xmlns:a16="http://schemas.microsoft.com/office/drawing/2014/main" id="{131073C8-1EE2-4155-BDCD-90163167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未知任务中的在线发现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1EFBA42-7007-4AD1-A588-D76E2EFB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B1BA624-484E-4766-82E1-479402A6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事件可见，进度反馈可靠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A526B-0ABE-42CD-B621-022BDC72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56AA2-15F1-4D2C-8653-63806FB5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A9CF8-F09F-4A11-BC32-4463E653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05F52-2141-4E25-BC35-70634336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B28DB-D0EF-44F9-99AF-E6A246EE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FF365-4E73-4041-8A21-5EF178D9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70E4A-160F-45C1-A341-BA271841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75F63-C81E-4A16-ACD0-1BF51B81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F084F-06FB-4B42-836C-4EB6A753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137C4-3E2B-442B-92DF-30574BE6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81969-325F-4A11-A8E0-36403A92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A48B9-E0F5-4FA8-8D97-8C0D3808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C16C2-140F-41E2-952A-3436FA6B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D8DE5-3EE3-4AF7-844C-896A0B78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A82B0-5B36-4EE1-8BC5-AA8992F5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10794D-964D-4F9E-8C18-FFF8493A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87201-CA0E-4A7A-90C6-4CE7318E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9C3D37-3045-4C11-A5BB-BBA317AB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0E57F5-A6D2-45AD-B178-A049F9CE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FB9F78-191F-452C-BAE0-66EF8AB4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2AEE60-DBE3-4DDE-8EDD-2410A13E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9F67CE-0A82-469D-8BDC-6D4BD385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CAF945-A650-4F5F-94BB-8D7A27EE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E32533-A2CF-4415-B517-0D0D1D0A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312E5C-5438-4F1E-BAAD-2BC63A56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389CB1-4D94-4D9C-9264-5CCE63AA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DEE62B-5327-4F2D-B3DF-3B288438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79CCF6-32E5-4A83-A36A-7799B23D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FC420C-8679-406A-9B7B-42ACC818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DA371B-B7A9-4B13-822E-2BA77AAF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D4DBC2-347F-448E-933A-E9FE1BC2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382BDC-5706-45EE-8C69-00D8B48F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714FF4-BF14-4618-9DD4-E733AEAB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7507F0-DA59-4E96-9FD7-C61131C4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4F857F-6A0C-40BD-89D2-1AECC6A5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CAC6D3-7F95-4AF2-A726-09689A05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0" name="text-4">
            <a:extLst xmlns:a="http://schemas.openxmlformats.org/drawingml/2006/main">
              <a:ext uri="{FF2B5EF4-FFF2-40B4-BE49-F238E27FC236}">
                <a16:creationId xmlns:a16="http://schemas.microsoft.com/office/drawing/2014/main" id="{51A054C3-CFA2-4D11-975E-B1E0FCD4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41" name="text-5">
            <a:extLst xmlns:a="http://schemas.openxmlformats.org/drawingml/2006/main">
              <a:ext uri="{FF2B5EF4-FFF2-40B4-BE49-F238E27FC236}">
                <a16:creationId xmlns:a16="http://schemas.microsoft.com/office/drawing/2014/main" id="{C0B5F5AB-51C5-4CB0-B7BE-DD634CB1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42" name="text-6">
            <a:extLst xmlns:a="http://schemas.openxmlformats.org/drawingml/2006/main">
              <a:ext uri="{FF2B5EF4-FFF2-40B4-BE49-F238E27FC236}">
                <a16:creationId xmlns:a16="http://schemas.microsoft.com/office/drawing/2014/main" id="{BF786B3F-9BE5-4253-82F5-45824559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43" name="text-7">
            <a:extLst xmlns:a="http://schemas.openxmlformats.org/drawingml/2006/main">
              <a:ext uri="{FF2B5EF4-FFF2-40B4-BE49-F238E27FC236}">
                <a16:creationId xmlns:a16="http://schemas.microsoft.com/office/drawing/2014/main" id="{8F957ACA-997C-4548-9CC2-A2F6F356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44" name="text-8">
            <a:extLst xmlns:a="http://schemas.openxmlformats.org/drawingml/2006/main">
              <a:ext uri="{FF2B5EF4-FFF2-40B4-BE49-F238E27FC236}">
                <a16:creationId xmlns:a16="http://schemas.microsoft.com/office/drawing/2014/main" id="{0A5AD44D-E123-49E9-8A6A-22BB5427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45" name="text-9">
            <a:extLst xmlns:a="http://schemas.openxmlformats.org/drawingml/2006/main">
              <a:ext uri="{FF2B5EF4-FFF2-40B4-BE49-F238E27FC236}">
                <a16:creationId xmlns:a16="http://schemas.microsoft.com/office/drawing/2014/main" id="{ED742D2F-5D00-4B46-8606-1F44AA51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   ?   B   ?   C   ?   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800350-9DE0-452A-A3FE-57917F4F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交互反馈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CB9F21-4573-42E5-803B-A00AA39C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局部任务结构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23C4D9-C6B4-470D-B105-C8784474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继续探索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CA483C-A95D-4195-AFB0-2DCA39D5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调用已学技能</a:t>
            </a:r>
          </a:p>
        </p:txBody>
      </p:sp>
      <p:cxnSp>
        <p:nvCxnSpPr>
          <p:cNvPr id="105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7953375" y="23145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9953625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9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7953375" y="45053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8" idx="0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6858000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54" name="text-10">
            <a:extLst xmlns:a="http://schemas.openxmlformats.org/drawingml/2006/main">
              <a:ext uri="{FF2B5EF4-FFF2-40B4-BE49-F238E27FC236}">
                <a16:creationId xmlns:a16="http://schemas.microsoft.com/office/drawing/2014/main" id="{9819252B-3BD1-468F-BA2E-011E3153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未知部分</a:t>
            </a:r>
          </a:p>
        </p:txBody>
      </p:sp>
      <p:sp>
        <p:nvSpPr>
          <p:cNvPr id="55" name="text-11">
            <a:extLst xmlns:a="http://schemas.openxmlformats.org/drawingml/2006/main">
              <a:ext uri="{FF2B5EF4-FFF2-40B4-BE49-F238E27FC236}">
                <a16:creationId xmlns:a16="http://schemas.microsoft.com/office/drawing/2014/main" id="{0B659EE4-F082-46A6-891F-42F05A0A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已知前缀</a:t>
            </a:r>
          </a:p>
        </p:txBody>
      </p:sp>
    </p:spTree>
    <p:extLst>
      <p:ext uri="{BB962C8B-B14F-4D97-AF65-F5344CB8AC3E}">
        <p14:creationId xmlns:p14="http://schemas.microsoft.com/office/powerpoint/2010/main" val="16184099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ED1B40E7-8D9A-4C7F-9B34-9B997A9F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线性任务：立即使用已发现的前缀</a:t>
            </a:r>
          </a:p>
        </p:txBody>
      </p:sp>
      <p:sp>
        <p:nvSpPr>
          <p:cNvPr id="2" name="text-13">
            <a:extLst xmlns:a="http://schemas.openxmlformats.org/drawingml/2006/main">
              <a:ext uri="{FF2B5EF4-FFF2-40B4-BE49-F238E27FC236}">
                <a16:creationId xmlns:a16="http://schemas.microsoft.com/office/drawing/2014/main" id="{EBCC1A83-A40D-4B84-A78B-ACC6670B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长度 16，32 个种子；环境步越少越好</a:t>
            </a:r>
          </a:p>
        </p:txBody>
      </p:sp>
      <p:sp>
        <p:nvSpPr>
          <p:cNvPr id="3" name="text-14">
            <a:extLst xmlns:a="http://schemas.openxmlformats.org/drawingml/2006/main">
              <a:ext uri="{FF2B5EF4-FFF2-40B4-BE49-F238E27FC236}">
                <a16:creationId xmlns:a16="http://schemas.microsoft.com/office/drawing/2014/main" id="{079C8935-715C-4E69-9781-C59F37BF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text-15">
            <a:extLst xmlns:a="http://schemas.openxmlformats.org/drawingml/2006/main">
              <a:ext uri="{FF2B5EF4-FFF2-40B4-BE49-F238E27FC236}">
                <a16:creationId xmlns:a16="http://schemas.microsoft.com/office/drawing/2014/main" id="{81421E4E-D0CE-4C27-86BC-F76071C6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首次达到 90%</a:t>
            </a:r>
          </a:p>
        </p:txBody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38F4A64C-2365-4BE7-8756-974D72A7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049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首次完整成功前：已知前缀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6715125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12f53ad1b34c04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734300" y="1885950"/>
          <a:ext xmlns:a="http://schemas.openxmlformats.org/drawingml/2006/main" cx="3848100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a190c8e2ad4e30"/>
          </a:graphicData>
        </a:graphic>
      </p:graphicFrame>
    </p:spTree>
    <p:extLst>
      <p:ext uri="{BB962C8B-B14F-4D97-AF65-F5344CB8AC3E}">
        <p14:creationId xmlns:p14="http://schemas.microsoft.com/office/powerpoint/2010/main" val="10537579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7">
            <a:extLst xmlns:a="http://schemas.openxmlformats.org/drawingml/2006/main">
              <a:ext uri="{FF2B5EF4-FFF2-40B4-BE49-F238E27FC236}">
                <a16:creationId xmlns:a16="http://schemas.microsoft.com/office/drawing/2014/main" id="{5598537E-86B1-42D6-A199-FBCD4353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线性任务的最小记忆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C423C71B-B65E-4556-B910-A11C2BAC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text-19">
            <a:extLst xmlns:a="http://schemas.openxmlformats.org/drawingml/2006/main">
              <a:ext uri="{FF2B5EF4-FFF2-40B4-BE49-F238E27FC236}">
                <a16:creationId xmlns:a16="http://schemas.microsoft.com/office/drawing/2014/main" id="{A75937F6-307D-4F84-B46A-039EC782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阶段列表</a:t>
            </a:r>
          </a:p>
        </p:txBody>
      </p:sp>
      <p:sp>
        <p:nvSpPr>
          <p:cNvPr id="4" name="text-20">
            <a:extLst xmlns:a="http://schemas.openxmlformats.org/drawingml/2006/main">
              <a:ext uri="{FF2B5EF4-FFF2-40B4-BE49-F238E27FC236}">
                <a16:creationId xmlns:a16="http://schemas.microsoft.com/office/drawing/2014/main" id="{322B3ACC-A7E5-4D60-9A6B-D84D6B18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链式自动机</a:t>
            </a:r>
          </a:p>
        </p:txBody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2ACB6D22-2EB8-4962-BD67-A3CE6E9E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4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progress</a:t>
            </a:r>
          </a:p>
        </p:txBody>
      </p:sp>
      <p:sp>
        <p:nvSpPr>
          <p:cNvPr id="6" name="text-22">
            <a:extLst xmlns:a="http://schemas.openxmlformats.org/drawingml/2006/main">
              <a:ext uri="{FF2B5EF4-FFF2-40B4-BE49-F238E27FC236}">
                <a16:creationId xmlns:a16="http://schemas.microsoft.com/office/drawing/2014/main" id="{70AFA640-6916-4BDA-B1A1-93F336B3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14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CDB40-5722-474D-95E4-78FDC7B0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8" name="text-23">
            <a:extLst xmlns:a="http://schemas.openxmlformats.org/drawingml/2006/main">
              <a:ext uri="{FF2B5EF4-FFF2-40B4-BE49-F238E27FC236}">
                <a16:creationId xmlns:a16="http://schemas.microsoft.com/office/drawing/2014/main" id="{A75B214D-1E43-4BD2-91E5-52D1ACB5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9" name="text-24">
            <a:extLst xmlns:a="http://schemas.openxmlformats.org/drawingml/2006/main">
              <a:ext uri="{FF2B5EF4-FFF2-40B4-BE49-F238E27FC236}">
                <a16:creationId xmlns:a16="http://schemas.microsoft.com/office/drawing/2014/main" id="{A4704553-0141-429B-AEAD-23456FFD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1AE31-5F47-46F6-B4A3-0BB50981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5153BA51-6125-4610-9CD6-0A344CF6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text-26">
            <a:extLst xmlns:a="http://schemas.openxmlformats.org/drawingml/2006/main">
              <a:ext uri="{FF2B5EF4-FFF2-40B4-BE49-F238E27FC236}">
                <a16:creationId xmlns:a16="http://schemas.microsoft.com/office/drawing/2014/main" id="{54815E2F-88A3-4A56-813B-0832CDFB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93DF0-2A85-4C0D-9E96-D7A3E9AD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27">
            <a:extLst xmlns:a="http://schemas.openxmlformats.org/drawingml/2006/main">
              <a:ext uri="{FF2B5EF4-FFF2-40B4-BE49-F238E27FC236}">
                <a16:creationId xmlns:a16="http://schemas.microsoft.com/office/drawing/2014/main" id="{D56E41FF-8E0C-41AE-8D3F-2F3C9321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5" name="text-28">
            <a:extLst xmlns:a="http://schemas.openxmlformats.org/drawingml/2006/main">
              <a:ext uri="{FF2B5EF4-FFF2-40B4-BE49-F238E27FC236}">
                <a16:creationId xmlns:a16="http://schemas.microsoft.com/office/drawing/2014/main" id="{38FEF504-91C1-425B-B4EE-F005876E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9D7DC4-4CCC-40BF-8F98-612F5979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BA3CE4D0-84E0-4FB8-832B-B0C63609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text-30">
            <a:extLst xmlns:a="http://schemas.openxmlformats.org/drawingml/2006/main">
              <a:ext uri="{FF2B5EF4-FFF2-40B4-BE49-F238E27FC236}">
                <a16:creationId xmlns:a16="http://schemas.microsoft.com/office/drawing/2014/main" id="{D88DE3BB-48C7-476D-9AE2-162BF61B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sp>
        <p:nvSpPr>
          <p:cNvPr id="19" name="text-31">
            <a:extLst xmlns:a="http://schemas.openxmlformats.org/drawingml/2006/main">
              <a:ext uri="{FF2B5EF4-FFF2-40B4-BE49-F238E27FC236}">
                <a16:creationId xmlns:a16="http://schemas.microsoft.com/office/drawing/2014/main" id="{2109845B-FC91-4260-9E2D-F87C4F96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90900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2ECD3-2096-48E1-9DBB-864A8467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96EBB0-99E8-4FDE-91DA-7E5AAEF4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ABF19-4E89-4A05-B082-14A335BB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55EE65-3BDC-435A-B3D0-4BB20076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87780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q₃</a:t>
            </a:r>
          </a:p>
        </p:txBody>
      </p:sp>
      <p:cxnSp>
        <p:nvCxnSpPr>
          <p:cNvPr id="5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858125" y="28194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167938" y="3143250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858125" y="47625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7" name="text-32">
            <a:extLst xmlns:a="http://schemas.openxmlformats.org/drawingml/2006/main">
              <a:ext uri="{FF2B5EF4-FFF2-40B4-BE49-F238E27FC236}">
                <a16:creationId xmlns:a16="http://schemas.microsoft.com/office/drawing/2014/main" id="{776D4202-9C74-43A4-8AFD-2F7C463E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8" name="text-33">
            <a:extLst xmlns:a="http://schemas.openxmlformats.org/drawingml/2006/main">
              <a:ext uri="{FF2B5EF4-FFF2-40B4-BE49-F238E27FC236}">
                <a16:creationId xmlns:a16="http://schemas.microsoft.com/office/drawing/2014/main" id="{38F179FF-94CB-486A-9ECC-25A99DE8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05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9" name="text-34">
            <a:extLst xmlns:a="http://schemas.openxmlformats.org/drawingml/2006/main">
              <a:ext uri="{FF2B5EF4-FFF2-40B4-BE49-F238E27FC236}">
                <a16:creationId xmlns:a16="http://schemas.microsoft.com/office/drawing/2014/main" id="{25305A04-0526-4E18-9ECA-5D64E9BD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027734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35">
            <a:extLst xmlns:a="http://schemas.openxmlformats.org/drawingml/2006/main">
              <a:ext uri="{FF2B5EF4-FFF2-40B4-BE49-F238E27FC236}">
                <a16:creationId xmlns:a16="http://schemas.microsoft.com/office/drawing/2014/main" id="{DAF06E4A-468B-42FC-8FC2-C3FFF040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分支任务：相同进度，不同未来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2BCCC8AE-8945-44D0-8AA0-AC029E5C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21462D89-E8A0-471E-A567-C377CA67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382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已发生的历史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97C3BA97-C6C3-4CB5-9488-92C53A19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4382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相同物理位置 E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C8BAA8E4-1982-4E46-9836-C7E4D7D1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4382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8DEA0-B048-4891-BF34-E0A18436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4ABE6-F070-4420-801D-E9D1C87C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8BA62-2290-4D04-9EE0-2B8F9DBC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69A5B-3123-4C4D-A642-4A63E19B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431C0-9294-40E5-B009-171133B6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75127-A205-4C1F-9282-CB866F09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43150" y="2867025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43150" y="4686300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829425" y="2867025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829425" y="4686300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6" name="text-40">
            <a:extLst xmlns:a="http://schemas.openxmlformats.org/drawingml/2006/main">
              <a:ext uri="{FF2B5EF4-FFF2-40B4-BE49-F238E27FC236}">
                <a16:creationId xmlns:a16="http://schemas.microsoft.com/office/drawing/2014/main" id="{085A7A64-700C-48C8-A246-C4006708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52825"/>
            <a:ext cx="2733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progress = 2</a:t>
            </a:r>
          </a:p>
        </p:txBody>
      </p:sp>
      <p:sp>
        <p:nvSpPr>
          <p:cNvPr id="17" name="text-41">
            <a:extLst xmlns:a="http://schemas.openxmlformats.org/drawingml/2006/main">
              <a:ext uri="{FF2B5EF4-FFF2-40B4-BE49-F238E27FC236}">
                <a16:creationId xmlns:a16="http://schemas.microsoft.com/office/drawing/2014/main" id="{3D07C55E-6C6D-416F-BB9D-86C62F91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383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A, E</a:t>
            </a:r>
          </a:p>
        </p:txBody>
      </p:sp>
      <p:sp>
        <p:nvSpPr>
          <p:cNvPr id="18" name="text-42">
            <a:extLst xmlns:a="http://schemas.openxmlformats.org/drawingml/2006/main">
              <a:ext uri="{FF2B5EF4-FFF2-40B4-BE49-F238E27FC236}">
                <a16:creationId xmlns:a16="http://schemas.microsoft.com/office/drawing/2014/main" id="{1E954B08-7523-45FC-8370-D47D50E2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576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B, E</a:t>
            </a:r>
          </a:p>
        </p:txBody>
      </p:sp>
    </p:spTree>
    <p:extLst>
      <p:ext uri="{BB962C8B-B14F-4D97-AF65-F5344CB8AC3E}">
        <p14:creationId xmlns:p14="http://schemas.microsoft.com/office/powerpoint/2010/main" val="804593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43">
            <a:extLst xmlns:a="http://schemas.openxmlformats.org/drawingml/2006/main">
              <a:ext uri="{FF2B5EF4-FFF2-40B4-BE49-F238E27FC236}">
                <a16:creationId xmlns:a16="http://schemas.microsoft.com/office/drawing/2014/main" id="{24455435-422C-4D7E-BE44-766F3A3D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同一份历史的两种表示</a:t>
            </a:r>
          </a:p>
        </p:txBody>
      </p:sp>
      <p:sp>
        <p:nvSpPr>
          <p:cNvPr id="2" name="text-44">
            <a:extLst xmlns:a="http://schemas.openxmlformats.org/drawingml/2006/main">
              <a:ext uri="{FF2B5EF4-FFF2-40B4-BE49-F238E27FC236}">
                <a16:creationId xmlns:a16="http://schemas.microsoft.com/office/drawing/2014/main" id="{702F2C73-E457-4C40-8DAB-83BF44C4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text-45">
            <a:extLst xmlns:a="http://schemas.openxmlformats.org/drawingml/2006/main">
              <a:ext uri="{FF2B5EF4-FFF2-40B4-BE49-F238E27FC236}">
                <a16:creationId xmlns:a16="http://schemas.microsoft.com/office/drawing/2014/main" id="{8DB72AAB-2F5B-4952-B669-CE54C411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Prefix tree</a:t>
            </a:r>
          </a:p>
        </p:txBody>
      </p:sp>
      <p:sp>
        <p:nvSpPr>
          <p:cNvPr id="4" name="text-46">
            <a:extLst xmlns:a="http://schemas.openxmlformats.org/drawingml/2006/main">
              <a:ext uri="{FF2B5EF4-FFF2-40B4-BE49-F238E27FC236}">
                <a16:creationId xmlns:a16="http://schemas.microsoft.com/office/drawing/2014/main" id="{E353DE55-C923-489C-A5A0-515CEDD7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History dictionary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ECF6D-BAE0-49BC-80AC-1A394530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097DA-9B7F-404F-9660-58BA20F2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748CE-E980-4FF5-B6BA-4FA01306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D3AE1-AE91-4688-B618-ECE5A75D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3172E-E4EC-4B0C-9A3E-A5C72F46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9BD02-5E9E-4C6B-BB51-14941F7D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F9ABF-9A4A-4508-90DC-9D5A8F5A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562100" y="2790825"/>
            <a:ext cx="79057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71800" y="279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448175" y="27908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562100" y="3657600"/>
            <a:ext cx="7905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4648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48175" y="4648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8" name="text-47">
            <a:extLst xmlns:a="http://schemas.openxmlformats.org/drawingml/2006/main">
              <a:ext uri="{FF2B5EF4-FFF2-40B4-BE49-F238E27FC236}">
                <a16:creationId xmlns:a16="http://schemas.microsoft.com/office/drawing/2014/main" id="{048D7A52-B944-43D1-9DF6-8F9FE243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67075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19" name="text-48">
            <a:extLst xmlns:a="http://schemas.openxmlformats.org/drawingml/2006/main">
              <a:ext uri="{FF2B5EF4-FFF2-40B4-BE49-F238E27FC236}">
                <a16:creationId xmlns:a16="http://schemas.microsoft.com/office/drawing/2014/main" id="{2C30E1F3-7C88-46E6-9D0B-4391E33D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52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</a:t>
            </a:r>
          </a:p>
        </p:txBody>
      </p:sp>
      <p:sp>
        <p:nvSpPr>
          <p:cNvPr id="20" name="text-49">
            <a:extLst xmlns:a="http://schemas.openxmlformats.org/drawingml/2006/main">
              <a:ext uri="{FF2B5EF4-FFF2-40B4-BE49-F238E27FC236}">
                <a16:creationId xmlns:a16="http://schemas.microsoft.com/office/drawing/2014/main" id="{BF8942F9-75FB-4DD1-B498-92A10E41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8C7D0F-8FC4-49AB-BF58-D9709BF6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2" name="text-50">
            <a:extLst xmlns:a="http://schemas.openxmlformats.org/drawingml/2006/main">
              <a:ext uri="{FF2B5EF4-FFF2-40B4-BE49-F238E27FC236}">
                <a16:creationId xmlns:a16="http://schemas.microsoft.com/office/drawing/2014/main" id="{653359B4-7B58-44BD-8A0B-A000C169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(A, E)</a:t>
            </a:r>
          </a:p>
        </p:txBody>
      </p:sp>
      <p:sp>
        <p:nvSpPr>
          <p:cNvPr id="23" name="text-51">
            <a:extLst xmlns:a="http://schemas.openxmlformats.org/drawingml/2006/main">
              <a:ext uri="{FF2B5EF4-FFF2-40B4-BE49-F238E27FC236}">
                <a16:creationId xmlns:a16="http://schemas.microsoft.com/office/drawing/2014/main" id="{53C83E96-DDEA-4329-801B-793EE86E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14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4" name="text-52">
            <a:extLst xmlns:a="http://schemas.openxmlformats.org/drawingml/2006/main">
              <a:ext uri="{FF2B5EF4-FFF2-40B4-BE49-F238E27FC236}">
                <a16:creationId xmlns:a16="http://schemas.microsoft.com/office/drawing/2014/main" id="{DE065822-BFA0-4425-9F94-82D3A055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(B, E)</a:t>
            </a:r>
          </a:p>
        </p:txBody>
      </p:sp>
      <p:sp>
        <p:nvSpPr>
          <p:cNvPr id="25" name="text-53">
            <a:extLst xmlns:a="http://schemas.openxmlformats.org/drawingml/2006/main">
              <a:ext uri="{FF2B5EF4-FFF2-40B4-BE49-F238E27FC236}">
                <a16:creationId xmlns:a16="http://schemas.microsoft.com/office/drawing/2014/main" id="{8D831478-6AE8-47E3-899F-47A7E320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38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6" name="text-54">
            <a:extLst xmlns:a="http://schemas.openxmlformats.org/drawingml/2006/main">
              <a:ext uri="{FF2B5EF4-FFF2-40B4-BE49-F238E27FC236}">
                <a16:creationId xmlns:a16="http://schemas.microsoft.com/office/drawing/2014/main" id="{37B312B8-C793-451A-9B89-243465FD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0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逐动作一致</a:t>
            </a:r>
          </a:p>
        </p:txBody>
      </p:sp>
    </p:spTree>
    <p:extLst>
      <p:ext uri="{BB962C8B-B14F-4D97-AF65-F5344CB8AC3E}">
        <p14:creationId xmlns:p14="http://schemas.microsoft.com/office/powerpoint/2010/main" val="16209356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55">
            <a:extLst xmlns:a="http://schemas.openxmlformats.org/drawingml/2006/main">
              <a:ext uri="{FF2B5EF4-FFF2-40B4-BE49-F238E27FC236}">
                <a16:creationId xmlns:a16="http://schemas.microsoft.com/office/drawing/2014/main" id="{C3F79AF6-0492-4607-8025-71EC6BE5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状态抽象：合并未来等价的历史</a:t>
            </a:r>
          </a:p>
        </p:txBody>
      </p:sp>
      <p:sp>
        <p:nvSpPr>
          <p:cNvPr id="2" name="text-56">
            <a:extLst xmlns:a="http://schemas.openxmlformats.org/drawingml/2006/main">
              <a:ext uri="{FF2B5EF4-FFF2-40B4-BE49-F238E27FC236}">
                <a16:creationId xmlns:a16="http://schemas.microsoft.com/office/drawing/2014/main" id="{457637C4-AF70-40DD-B0A6-B2076010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3" name="text-57">
            <a:extLst xmlns:a="http://schemas.openxmlformats.org/drawingml/2006/main">
              <a:ext uri="{FF2B5EF4-FFF2-40B4-BE49-F238E27FC236}">
                <a16:creationId xmlns:a16="http://schemas.microsoft.com/office/drawing/2014/main" id="{A3EF338D-D6A2-415B-BE33-E3456233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95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完整历史</a:t>
            </a:r>
          </a:p>
        </p:txBody>
      </p:sp>
      <p:sp>
        <p:nvSpPr>
          <p:cNvPr id="4" name="text-58">
            <a:extLst xmlns:a="http://schemas.openxmlformats.org/drawingml/2006/main">
              <a:ext uri="{FF2B5EF4-FFF2-40B4-BE49-F238E27FC236}">
                <a16:creationId xmlns:a16="http://schemas.microsoft.com/office/drawing/2014/main" id="{638DE1B0-2752-4C48-9051-2A408CBF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95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最终任务状态</a:t>
            </a:r>
          </a:p>
        </p:txBody>
      </p:sp>
      <p:sp>
        <p:nvSpPr>
          <p:cNvPr id="5" name="text-59">
            <a:extLst xmlns:a="http://schemas.openxmlformats.org/drawingml/2006/main">
              <a:ext uri="{FF2B5EF4-FFF2-40B4-BE49-F238E27FC236}">
                <a16:creationId xmlns:a16="http://schemas.microsoft.com/office/drawing/2014/main" id="{D7C9B394-25A8-484B-BEA2-4347F10C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954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共享动作价值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04EDF-98E8-42DD-B47E-1D627118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 先于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25CD6-A4A6-44C3-8F83-93B9852E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 先于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0B90B-C381-4898-8A79-1AFB1FBB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66950" y="224790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87D5D-8F94-4E0D-BEA7-CF4C6D99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cxnSp>
        <p:nvCxnSpPr>
          <p:cNvPr id="34" name=""/>
          <p:cNvCxnSpPr>
            <a:stCxn xmlns:a="http://schemas.openxmlformats.org/drawingml/2006/main" id="10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266950" y="289560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46967-AC97-4307-AE49-E515D3ED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cxnSp>
        <p:nvCxnSpPr>
          <p:cNvPr id="36" name=""/>
          <p:cNvCxnSpPr>
            <a:stCxn xmlns:a="http://schemas.openxmlformats.org/drawingml/2006/main" id="12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266950" y="289560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B3E0F-8E7B-4B52-8CB0-B14506CC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BAC</a:t>
            </a:r>
          </a:p>
        </p:txBody>
      </p:sp>
      <p:cxnSp>
        <p:nvCxnSpPr>
          <p:cNvPr id="38" name=""/>
          <p:cNvCxnSpPr>
            <a:stCxn xmlns:a="http://schemas.openxmlformats.org/drawingml/2006/main" id="1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428625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C9CE9-04BB-40E9-8E71-2161D418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BCA</a:t>
            </a:r>
          </a:p>
        </p:txBody>
      </p:sp>
      <p:cxnSp>
        <p:nvCxnSpPr>
          <p:cNvPr id="40" name=""/>
          <p:cNvCxnSpPr>
            <a:stCxn xmlns:a="http://schemas.openxmlformats.org/drawingml/2006/main" id="1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493395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795ECF-39EB-4D44-B97F-5C0D82BC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CBA</a:t>
            </a:r>
          </a:p>
        </p:txBody>
      </p:sp>
      <p:cxnSp>
        <p:nvCxnSpPr>
          <p:cNvPr id="42" name=""/>
          <p:cNvCxnSpPr>
            <a:stCxn xmlns:a="http://schemas.openxmlformats.org/drawingml/2006/main" id="1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493395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888B0-C20E-4FE6-AF06-250974A0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DC6BC-F559-4E31-977A-BAFCDB28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334250" y="2895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49339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4640422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60">
            <a:extLst xmlns:a="http://schemas.openxmlformats.org/drawingml/2006/main">
              <a:ext uri="{FF2B5EF4-FFF2-40B4-BE49-F238E27FC236}">
                <a16:creationId xmlns:a16="http://schemas.microsoft.com/office/drawing/2014/main" id="{93DF5705-491A-47D6-B062-B181C691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正确压缩与逐条历史学习</a:t>
            </a:r>
          </a:p>
        </p:txBody>
      </p:sp>
      <p:sp>
        <p:nvSpPr>
          <p:cNvPr id="2" name="text-61">
            <a:extLst xmlns:a="http://schemas.openxmlformats.org/drawingml/2006/main">
              <a:ext uri="{FF2B5EF4-FFF2-40B4-BE49-F238E27FC236}">
                <a16:creationId xmlns:a16="http://schemas.microsoft.com/office/drawing/2014/main" id="{D28F83FF-4D5D-4A13-9A45-049908E8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正确等价关系已知；每规模 400 个配对种子</a:t>
            </a:r>
          </a:p>
        </p:txBody>
      </p:sp>
      <p:sp>
        <p:nvSpPr>
          <p:cNvPr id="3" name="text-62">
            <a:extLst xmlns:a="http://schemas.openxmlformats.org/drawingml/2006/main">
              <a:ext uri="{FF2B5EF4-FFF2-40B4-BE49-F238E27FC236}">
                <a16:creationId xmlns:a16="http://schemas.microsoft.com/office/drawing/2014/main" id="{8D70D42F-B3EA-4CBF-BFC9-642DCE76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714375" y="1419225"/>
          <a:ext xmlns:a="http://schemas.openxmlformats.org/drawingml/2006/main" cx="10668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952cae44c544a6"/>
          </a:graphicData>
        </a:graphic>
      </p:graphicFrame>
      <p:sp>
        <p:nvSpPr>
          <p:cNvPr id="5" name="text-63">
            <a:extLst xmlns:a="http://schemas.openxmlformats.org/drawingml/2006/main">
              <a:ext uri="{FF2B5EF4-FFF2-40B4-BE49-F238E27FC236}">
                <a16:creationId xmlns:a16="http://schemas.microsoft.com/office/drawing/2014/main" id="{07D8AFAA-6ADC-488E-8D7C-F077644D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5435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4.67×</a:t>
            </a:r>
          </a:p>
        </p:txBody>
      </p:sp>
      <p:sp>
        <p:nvSpPr>
          <p:cNvPr id="6" name="text-64">
            <a:extLst xmlns:a="http://schemas.openxmlformats.org/drawingml/2006/main">
              <a:ext uri="{FF2B5EF4-FFF2-40B4-BE49-F238E27FC236}">
                <a16:creationId xmlns:a16="http://schemas.microsoft.com/office/drawing/2014/main" id="{27C1182F-E414-4BFB-ADA4-80F524D8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5435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18.55×</a:t>
            </a:r>
          </a:p>
        </p:txBody>
      </p:sp>
      <p:sp>
        <p:nvSpPr>
          <p:cNvPr id="7" name="text-65">
            <a:extLst xmlns:a="http://schemas.openxmlformats.org/drawingml/2006/main">
              <a:ext uri="{FF2B5EF4-FFF2-40B4-BE49-F238E27FC236}">
                <a16:creationId xmlns:a16="http://schemas.microsoft.com/office/drawing/2014/main" id="{B572A6DB-0F34-44C0-AAAB-0ABE402B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5435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89.75×</a:t>
            </a:r>
          </a:p>
        </p:txBody>
      </p:sp>
    </p:spTree>
    <p:extLst>
      <p:ext uri="{BB962C8B-B14F-4D97-AF65-F5344CB8AC3E}">
        <p14:creationId xmlns:p14="http://schemas.microsoft.com/office/powerpoint/2010/main" val="1291364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66">
            <a:extLst xmlns:a="http://schemas.openxmlformats.org/drawingml/2006/main">
              <a:ext uri="{FF2B5EF4-FFF2-40B4-BE49-F238E27FC236}">
                <a16:creationId xmlns:a16="http://schemas.microsoft.com/office/drawing/2014/main" id="{E9F89E2B-9D89-4A7C-815F-91B91645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有限证据下的合并判断</a:t>
            </a:r>
          </a:p>
        </p:txBody>
      </p:sp>
      <p:sp>
        <p:nvSpPr>
          <p:cNvPr id="2" name="text-67">
            <a:extLst xmlns:a="http://schemas.openxmlformats.org/drawingml/2006/main">
              <a:ext uri="{FF2B5EF4-FFF2-40B4-BE49-F238E27FC236}">
                <a16:creationId xmlns:a16="http://schemas.microsoft.com/office/drawing/2014/main" id="{11CBC963-437F-4C2B-8307-96A82506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text-68">
            <a:extLst xmlns:a="http://schemas.openxmlformats.org/drawingml/2006/main">
              <a:ext uri="{FF2B5EF4-FFF2-40B4-BE49-F238E27FC236}">
                <a16:creationId xmlns:a16="http://schemas.microsoft.com/office/drawing/2014/main" id="{86217B6D-40DB-49DB-935B-92D301F1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858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过早合并</a:t>
            </a:r>
          </a:p>
        </p:txBody>
      </p:sp>
      <p:sp>
        <p:nvSpPr>
          <p:cNvPr id="4" name="text-69">
            <a:extLst xmlns:a="http://schemas.openxmlformats.org/drawingml/2006/main">
              <a:ext uri="{FF2B5EF4-FFF2-40B4-BE49-F238E27FC236}">
                <a16:creationId xmlns:a16="http://schemas.microsoft.com/office/drawing/2014/main" id="{E0A7BE61-E60A-49F0-9F98-2BC805B2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858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保守不合并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28131-9695-431F-9B18-07DDD0A9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C4357-E7DC-4FBF-A256-B2FC072A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80B25-AFC5-40C4-9587-18B665FC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1476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514B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同一状态</a:t>
            </a:r>
          </a:p>
        </p:txBody>
      </p: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143125" y="2881313"/>
            <a:ext cx="1162050" cy="928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143125" y="3810000"/>
            <a:ext cx="1162050" cy="909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sp>
        <p:nvSpPr>
          <p:cNvPr id="10" name="text-70">
            <a:extLst xmlns:a="http://schemas.openxmlformats.org/drawingml/2006/main">
              <a:ext uri="{FF2B5EF4-FFF2-40B4-BE49-F238E27FC236}">
                <a16:creationId xmlns:a16="http://schemas.microsoft.com/office/drawing/2014/main" id="{7CFF1EB2-1497-4FD9-8923-649E5473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860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加热？</a:t>
            </a:r>
          </a:p>
        </p:txBody>
      </p:sp>
      <p:sp>
        <p:nvSpPr>
          <p:cNvPr id="11" name="text-71">
            <a:extLst xmlns:a="http://schemas.openxmlformats.org/drawingml/2006/main">
              <a:ext uri="{FF2B5EF4-FFF2-40B4-BE49-F238E27FC236}">
                <a16:creationId xmlns:a16="http://schemas.microsoft.com/office/drawing/2014/main" id="{609AF8D7-42B6-4F54-A33E-CF17C83E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196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冷却？</a:t>
            </a:r>
          </a:p>
        </p:txBody>
      </p:sp>
      <p:sp>
        <p:nvSpPr>
          <p:cNvPr id="12" name="text-72">
            <a:extLst xmlns:a="http://schemas.openxmlformats.org/drawingml/2006/main">
              <a:ext uri="{FF2B5EF4-FFF2-40B4-BE49-F238E27FC236}">
                <a16:creationId xmlns:a16="http://schemas.microsoft.com/office/drawing/2014/main" id="{0C9CD842-39EF-4EA0-9562-F20F3849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未见后缀可能不同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36676-95C8-4EA7-B2DC-D9B7E030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3050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79278-702E-46F7-B00B-0D2DF42B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050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3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277225" y="26193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C0AA5-DA77-4BB5-AF8B-452786D8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6710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7EDB9A-5905-4A6C-8507-2191EC68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671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0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277225" y="378142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D1B49-CC68-4DFC-8547-4BB11C5E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291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C3903-9661-4A20-AB2A-B1BA7DB2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291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3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277225" y="49434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text-73">
            <a:extLst xmlns:a="http://schemas.openxmlformats.org/drawingml/2006/main">
              <a:ext uri="{FF2B5EF4-FFF2-40B4-BE49-F238E27FC236}">
                <a16:creationId xmlns:a16="http://schemas.microsoft.com/office/drawing/2014/main" id="{758EA3AC-5C86-4D81-8867-7B4125E6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等价历史分别学习</a:t>
            </a:r>
          </a:p>
        </p:txBody>
      </p:sp>
    </p:spTree>
    <p:extLst>
      <p:ext uri="{BB962C8B-B14F-4D97-AF65-F5344CB8AC3E}">
        <p14:creationId xmlns:p14="http://schemas.microsoft.com/office/powerpoint/2010/main" val="3384741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74">
            <a:extLst xmlns:a="http://schemas.openxmlformats.org/drawingml/2006/main">
              <a:ext uri="{FF2B5EF4-FFF2-40B4-BE49-F238E27FC236}">
                <a16:creationId xmlns:a16="http://schemas.microsoft.com/office/drawing/2014/main" id="{5E0FE8B7-2D41-44CA-A7E1-6BBB2B69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合并审计：正确性与查询节省</a:t>
            </a:r>
          </a:p>
        </p:txBody>
      </p:sp>
      <p:sp>
        <p:nvSpPr>
          <p:cNvPr id="2" name="text-75">
            <a:extLst xmlns:a="http://schemas.openxmlformats.org/drawingml/2006/main">
              <a:ext uri="{FF2B5EF4-FFF2-40B4-BE49-F238E27FC236}">
                <a16:creationId xmlns:a16="http://schemas.microsoft.com/office/drawing/2014/main" id="{C0967E84-6EE6-42B7-BC9A-07018EC9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固定轨迹回放审计；未运行合并后的学习策略</a:t>
            </a:r>
          </a:p>
        </p:txBody>
      </p:sp>
      <p:sp>
        <p:nvSpPr>
          <p:cNvPr id="3" name="text-76">
            <a:extLst xmlns:a="http://schemas.openxmlformats.org/drawingml/2006/main">
              <a:ext uri="{FF2B5EF4-FFF2-40B4-BE49-F238E27FC236}">
                <a16:creationId xmlns:a16="http://schemas.microsoft.com/office/drawing/2014/main" id="{D3345493-7045-42F6-8C00-96ABE7A4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4" name="text-77">
            <a:extLst xmlns:a="http://schemas.openxmlformats.org/drawingml/2006/main">
              <a:ext uri="{FF2B5EF4-FFF2-40B4-BE49-F238E27FC236}">
                <a16:creationId xmlns:a16="http://schemas.microsoft.com/office/drawing/2014/main" id="{3C73431D-8067-409D-B432-D1AE7995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裁决正确率</a:t>
            </a:r>
          </a:p>
        </p:txBody>
      </p:sp>
      <p:sp>
        <p:nvSpPr>
          <p:cNvPr id="5" name="text-78">
            <a:extLst xmlns:a="http://schemas.openxmlformats.org/drawingml/2006/main">
              <a:ext uri="{FF2B5EF4-FFF2-40B4-BE49-F238E27FC236}">
                <a16:creationId xmlns:a16="http://schemas.microsoft.com/office/drawing/2014/main" id="{40147F2D-06E8-4B8A-A1A9-E8B54ACA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状态归属正确率</a:t>
            </a:r>
          </a:p>
        </p:txBody>
      </p:sp>
      <p:sp>
        <p:nvSpPr>
          <p:cNvPr id="6" name="text-79">
            <a:extLst xmlns:a="http://schemas.openxmlformats.org/drawingml/2006/main">
              <a:ext uri="{FF2B5EF4-FFF2-40B4-BE49-F238E27FC236}">
                <a16:creationId xmlns:a16="http://schemas.microsoft.com/office/drawing/2014/main" id="{57415974-34AC-480E-BDC1-A8DD7EB1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可省查询比例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905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2bb9ad87cc4af8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41960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ec9438f1ff40aa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2486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da77cb455044e8"/>
          </a:graphicData>
        </a:graphic>
      </p:graphicFrame>
    </p:spTree>
    <p:extLst>
      <p:ext uri="{BB962C8B-B14F-4D97-AF65-F5344CB8AC3E}">
        <p14:creationId xmlns:p14="http://schemas.microsoft.com/office/powerpoint/2010/main" val="10036535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80">
            <a:extLst xmlns:a="http://schemas.openxmlformats.org/drawingml/2006/main">
              <a:ext uri="{FF2B5EF4-FFF2-40B4-BE49-F238E27FC236}">
                <a16:creationId xmlns:a16="http://schemas.microsoft.com/office/drawing/2014/main" id="{889F994E-F4A5-4879-9A9B-255BAF7E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可靠任务反馈的预算</a:t>
            </a:r>
          </a:p>
        </p:txBody>
      </p:sp>
      <p:sp>
        <p:nvSpPr>
          <p:cNvPr id="2" name="text-81">
            <a:extLst xmlns:a="http://schemas.openxmlformats.org/drawingml/2006/main">
              <a:ext uri="{FF2B5EF4-FFF2-40B4-BE49-F238E27FC236}">
                <a16:creationId xmlns:a16="http://schemas.microsoft.com/office/drawing/2014/main" id="{C191CE31-391F-41E0-B036-415E5226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24 个任务族 × 6 个种子；200,000 环境步内曾达到 90%</a:t>
            </a:r>
          </a:p>
        </p:txBody>
      </p:sp>
      <p:sp>
        <p:nvSpPr>
          <p:cNvPr id="3" name="text-82">
            <a:extLst xmlns:a="http://schemas.openxmlformats.org/drawingml/2006/main">
              <a:ext uri="{FF2B5EF4-FFF2-40B4-BE49-F238E27FC236}">
                <a16:creationId xmlns:a16="http://schemas.microsoft.com/office/drawing/2014/main" id="{27395E95-6DC3-411D-B85B-5371801C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1000125" y="1438275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0f739254474b25"/>
          </a:graphicData>
        </a:graphic>
      </p:graphicFrame>
      <p:sp>
        <p:nvSpPr>
          <p:cNvPr id="5" name="text-83">
            <a:extLst xmlns:a="http://schemas.openxmlformats.org/drawingml/2006/main">
              <a:ext uri="{FF2B5EF4-FFF2-40B4-BE49-F238E27FC236}">
                <a16:creationId xmlns:a16="http://schemas.microsoft.com/office/drawing/2014/main" id="{CC8A39B6-5EFE-4841-AE68-058327F3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 / 144</a:t>
            </a:r>
          </a:p>
        </p:txBody>
      </p:sp>
      <p:sp>
        <p:nvSpPr>
          <p:cNvPr id="6" name="text-84">
            <a:extLst xmlns:a="http://schemas.openxmlformats.org/drawingml/2006/main">
              <a:ext uri="{FF2B5EF4-FFF2-40B4-BE49-F238E27FC236}">
                <a16:creationId xmlns:a16="http://schemas.microsoft.com/office/drawing/2014/main" id="{10364A53-F204-467C-BF01-EA85A86F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61 / 144</a:t>
            </a:r>
          </a:p>
        </p:txBody>
      </p:sp>
      <p:sp>
        <p:nvSpPr>
          <p:cNvPr id="7" name="text-85">
            <a:extLst xmlns:a="http://schemas.openxmlformats.org/drawingml/2006/main">
              <a:ext uri="{FF2B5EF4-FFF2-40B4-BE49-F238E27FC236}">
                <a16:creationId xmlns:a16="http://schemas.microsoft.com/office/drawing/2014/main" id="{1EBDD22F-B16F-4F52-A4AC-1866C77B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131 / 144</a:t>
            </a:r>
          </a:p>
        </p:txBody>
      </p:sp>
      <p:sp>
        <p:nvSpPr>
          <p:cNvPr id="8" name="text-86">
            <a:extLst xmlns:a="http://schemas.openxmlformats.org/drawingml/2006/main">
              <a:ext uri="{FF2B5EF4-FFF2-40B4-BE49-F238E27FC236}">
                <a16:creationId xmlns:a16="http://schemas.microsoft.com/office/drawing/2014/main" id="{360541F7-C05C-4466-8A81-DC22D2C8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144 / 144</a:t>
            </a:r>
          </a:p>
        </p:txBody>
      </p:sp>
    </p:spTree>
    <p:extLst>
      <p:ext uri="{BB962C8B-B14F-4D97-AF65-F5344CB8AC3E}">
        <p14:creationId xmlns:p14="http://schemas.microsoft.com/office/powerpoint/2010/main" val="10615933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87">
            <a:extLst xmlns:a="http://schemas.openxmlformats.org/drawingml/2006/main">
              <a:ext uri="{FF2B5EF4-FFF2-40B4-BE49-F238E27FC236}">
                <a16:creationId xmlns:a16="http://schemas.microsoft.com/office/drawing/2014/main" id="{F12331A3-AB65-49FE-8091-5C2769FC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结构利用：任务路由与技能复用</a:t>
            </a:r>
          </a:p>
        </p:txBody>
      </p:sp>
      <p:sp>
        <p:nvSpPr>
          <p:cNvPr id="2" name="text-88">
            <a:extLst xmlns:a="http://schemas.openxmlformats.org/drawingml/2006/main">
              <a:ext uri="{FF2B5EF4-FFF2-40B4-BE49-F238E27FC236}">
                <a16:creationId xmlns:a16="http://schemas.microsoft.com/office/drawing/2014/main" id="{CAB0A385-BA27-4818-A2A6-A10F3421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已知规则的控制消融；AUC 接近天花板，不能据此排序机制强弱</a:t>
            </a:r>
          </a:p>
        </p:txBody>
      </p:sp>
      <p:sp>
        <p:nvSpPr>
          <p:cNvPr id="3" name="text-89">
            <a:extLst xmlns:a="http://schemas.openxmlformats.org/drawingml/2006/main">
              <a:ext uri="{FF2B5EF4-FFF2-40B4-BE49-F238E27FC236}">
                <a16:creationId xmlns:a16="http://schemas.microsoft.com/office/drawing/2014/main" id="{85FC50DD-00C8-4F73-A735-F58F4258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text-90">
            <a:extLst xmlns:a="http://schemas.openxmlformats.org/drawingml/2006/main">
              <a:ext uri="{FF2B5EF4-FFF2-40B4-BE49-F238E27FC236}">
                <a16:creationId xmlns:a16="http://schemas.microsoft.com/office/drawing/2014/main" id="{D590CBA1-0A31-4BA9-B04E-A1420A07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5" name="text-91">
            <a:extLst xmlns:a="http://schemas.openxmlformats.org/drawingml/2006/main">
              <a:ext uri="{FF2B5EF4-FFF2-40B4-BE49-F238E27FC236}">
                <a16:creationId xmlns:a16="http://schemas.microsoft.com/office/drawing/2014/main" id="{987A19E1-818E-4C7F-A246-AA11D631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6" name="text-92">
            <a:extLst xmlns:a="http://schemas.openxmlformats.org/drawingml/2006/main">
              <a:ext uri="{FF2B5EF4-FFF2-40B4-BE49-F238E27FC236}">
                <a16:creationId xmlns:a16="http://schemas.microsoft.com/office/drawing/2014/main" id="{1890D7F6-1A1F-4FD0-9AA4-EB4228EA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7" name="text-93">
            <a:extLst xmlns:a="http://schemas.openxmlformats.org/drawingml/2006/main">
              <a:ext uri="{FF2B5EF4-FFF2-40B4-BE49-F238E27FC236}">
                <a16:creationId xmlns:a16="http://schemas.microsoft.com/office/drawing/2014/main" id="{6FCEB1EF-0693-4EE2-B36C-90E22F5F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100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CA4DD-7803-435E-AD09-E971AACA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94">
            <a:extLst xmlns:a="http://schemas.openxmlformats.org/drawingml/2006/main">
              <a:ext uri="{FF2B5EF4-FFF2-40B4-BE49-F238E27FC236}">
                <a16:creationId xmlns:a16="http://schemas.microsoft.com/office/drawing/2014/main" id="{C074B88D-6E18-426B-B960-77151FCD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0" name="text-95">
            <a:extLst xmlns:a="http://schemas.openxmlformats.org/drawingml/2006/main">
              <a:ext uri="{FF2B5EF4-FFF2-40B4-BE49-F238E27FC236}">
                <a16:creationId xmlns:a16="http://schemas.microsoft.com/office/drawing/2014/main" id="{79F1E9BB-8B2D-4813-ABF8-D3A99D19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平坦历史</a:t>
            </a:r>
          </a:p>
        </p:txBody>
      </p:sp>
      <p:sp>
        <p:nvSpPr>
          <p:cNvPr id="11" name="text-96">
            <a:extLst xmlns:a="http://schemas.openxmlformats.org/drawingml/2006/main">
              <a:ext uri="{FF2B5EF4-FFF2-40B4-BE49-F238E27FC236}">
                <a16:creationId xmlns:a16="http://schemas.microsoft.com/office/drawing/2014/main" id="{A43ADD7E-F19B-4F53-BE1A-6BE932D9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C9AF9-8167-41A6-B39B-332BEEBC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3" name="text-97">
            <a:extLst xmlns:a="http://schemas.openxmlformats.org/drawingml/2006/main">
              <a:ext uri="{FF2B5EF4-FFF2-40B4-BE49-F238E27FC236}">
                <a16:creationId xmlns:a16="http://schemas.microsoft.com/office/drawing/2014/main" id="{445E72BE-646F-4F90-B9EE-A85A6F0E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4" name="text-98">
            <a:extLst xmlns:a="http://schemas.openxmlformats.org/drawingml/2006/main">
              <a:ext uri="{FF2B5EF4-FFF2-40B4-BE49-F238E27FC236}">
                <a16:creationId xmlns:a16="http://schemas.microsoft.com/office/drawing/2014/main" id="{4B9EFF43-3696-45FD-9F73-951C2309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学习型元控制</a:t>
            </a:r>
          </a:p>
        </p:txBody>
      </p:sp>
      <p:sp>
        <p:nvSpPr>
          <p:cNvPr id="15" name="text-99">
            <a:extLst xmlns:a="http://schemas.openxmlformats.org/drawingml/2006/main">
              <a:ext uri="{FF2B5EF4-FFF2-40B4-BE49-F238E27FC236}">
                <a16:creationId xmlns:a16="http://schemas.microsoft.com/office/drawing/2014/main" id="{782C67AC-5C46-4DEC-ACA0-563A782C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76244-F2E7-4CB0-A346-83420BCB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100">
            <a:extLst xmlns:a="http://schemas.openxmlformats.org/drawingml/2006/main">
              <a:ext uri="{FF2B5EF4-FFF2-40B4-BE49-F238E27FC236}">
                <a16:creationId xmlns:a16="http://schemas.microsoft.com/office/drawing/2014/main" id="{2EA4A293-7E48-4C41-9FF3-39AFF3B6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8" name="text-101">
            <a:extLst xmlns:a="http://schemas.openxmlformats.org/drawingml/2006/main">
              <a:ext uri="{FF2B5EF4-FFF2-40B4-BE49-F238E27FC236}">
                <a16:creationId xmlns:a16="http://schemas.microsoft.com/office/drawing/2014/main" id="{D2F2F899-EBFE-4ED6-AEB0-A46F199A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分阶段技能</a:t>
            </a:r>
          </a:p>
        </p:txBody>
      </p:sp>
      <p:sp>
        <p:nvSpPr>
          <p:cNvPr id="19" name="text-102">
            <a:extLst xmlns:a="http://schemas.openxmlformats.org/drawingml/2006/main">
              <a:ext uri="{FF2B5EF4-FFF2-40B4-BE49-F238E27FC236}">
                <a16:creationId xmlns:a16="http://schemas.microsoft.com/office/drawing/2014/main" id="{35ED08EB-370C-4980-B4EC-407BE69D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CF2C92-1254-41A6-9F52-28DE7ADE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1" name="text-103">
            <a:extLst xmlns:a="http://schemas.openxmlformats.org/drawingml/2006/main">
              <a:ext uri="{FF2B5EF4-FFF2-40B4-BE49-F238E27FC236}">
                <a16:creationId xmlns:a16="http://schemas.microsoft.com/office/drawing/2014/main" id="{F5B21B23-AAD7-4573-B565-371F6B58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22" name="text-104">
            <a:extLst xmlns:a="http://schemas.openxmlformats.org/drawingml/2006/main">
              <a:ext uri="{FF2B5EF4-FFF2-40B4-BE49-F238E27FC236}">
                <a16:creationId xmlns:a16="http://schemas.microsoft.com/office/drawing/2014/main" id="{70B8C7B2-D905-4C0C-AC0D-55F36E8F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共享技能</a:t>
            </a:r>
          </a:p>
        </p:txBody>
      </p:sp>
      <p:sp>
        <p:nvSpPr>
          <p:cNvPr id="23" name="text-105">
            <a:extLst xmlns:a="http://schemas.openxmlformats.org/drawingml/2006/main">
              <a:ext uri="{FF2B5EF4-FFF2-40B4-BE49-F238E27FC236}">
                <a16:creationId xmlns:a16="http://schemas.microsoft.com/office/drawing/2014/main" id="{A0C52070-CA80-47FD-B0F0-27FAFA74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.997</a:t>
            </a:r>
          </a:p>
        </p:txBody>
      </p:sp>
      <p:sp>
        <p:nvSpPr>
          <p:cNvPr id="24" name="text-106">
            <a:extLst xmlns:a="http://schemas.openxmlformats.org/drawingml/2006/main">
              <a:ext uri="{FF2B5EF4-FFF2-40B4-BE49-F238E27FC236}">
                <a16:creationId xmlns:a16="http://schemas.microsoft.com/office/drawing/2014/main" id="{946C22E5-4E05-4D5E-BD61-6D8113C3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33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first90 中位 / 环境步</a:t>
            </a:r>
          </a:p>
        </p:txBody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6610350" y="2095500"/>
          <a:ext xmlns:a="http://schemas.openxmlformats.org/drawingml/2006/main" cx="5000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b659f419754a69"/>
          </a:graphicData>
        </a:graphic>
      </p:graphicFrame>
      <p:sp>
        <p:nvSpPr>
          <p:cNvPr id="26" name="text-107">
            <a:extLst xmlns:a="http://schemas.openxmlformats.org/drawingml/2006/main">
              <a:ext uri="{FF2B5EF4-FFF2-40B4-BE49-F238E27FC236}">
                <a16:creationId xmlns:a16="http://schemas.microsoft.com/office/drawing/2014/main" id="{2FC6312E-64CC-4F06-85F4-3B956D75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769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QRM  AUC .972</a:t>
            </a:r>
          </a:p>
        </p:txBody>
      </p:sp>
    </p:spTree>
    <p:extLst>
      <p:ext uri="{BB962C8B-B14F-4D97-AF65-F5344CB8AC3E}">
        <p14:creationId xmlns:p14="http://schemas.microsoft.com/office/powerpoint/2010/main" val="20258846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08">
            <a:extLst xmlns:a="http://schemas.openxmlformats.org/drawingml/2006/main">
              <a:ext uri="{FF2B5EF4-FFF2-40B4-BE49-F238E27FC236}">
                <a16:creationId xmlns:a16="http://schemas.microsoft.com/office/drawing/2014/main" id="{4770A769-C4BF-4C8B-B7A1-7D66D84B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危险格数量与达标率</a:t>
            </a:r>
          </a:p>
        </p:txBody>
      </p:sp>
      <p:sp>
        <p:nvSpPr>
          <p:cNvPr id="2" name="text-109">
            <a:extLst xmlns:a="http://schemas.openxmlformats.org/drawingml/2006/main">
              <a:ext uri="{FF2B5EF4-FFF2-40B4-BE49-F238E27FC236}">
                <a16:creationId xmlns:a16="http://schemas.microsoft.com/office/drawing/2014/main" id="{2CB33E31-C0AB-49E4-954F-46A9D25B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已知规则；固定步费协议；100 万步预算；该扫描逐种子记录已缺失</a:t>
            </a:r>
          </a:p>
        </p:txBody>
      </p:sp>
      <p:sp>
        <p:nvSpPr>
          <p:cNvPr id="3" name="text-110">
            <a:extLst xmlns:a="http://schemas.openxmlformats.org/drawingml/2006/main">
              <a:ext uri="{FF2B5EF4-FFF2-40B4-BE49-F238E27FC236}">
                <a16:creationId xmlns:a16="http://schemas.microsoft.com/office/drawing/2014/main" id="{5A716F32-1803-4173-BF6D-3E29BAB7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866775" y="1371600"/>
          <a:ext xmlns:a="http://schemas.openxmlformats.org/drawingml/2006/main" cx="10525125" cy="4600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3c3eced3744e00"/>
          </a:graphicData>
        </a:graphic>
      </p:graphicFrame>
    </p:spTree>
    <p:extLst>
      <p:ext uri="{BB962C8B-B14F-4D97-AF65-F5344CB8AC3E}">
        <p14:creationId xmlns:p14="http://schemas.microsoft.com/office/powerpoint/2010/main" val="481657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11">
            <a:extLst xmlns:a="http://schemas.openxmlformats.org/drawingml/2006/main">
              <a:ext uri="{FF2B5EF4-FFF2-40B4-BE49-F238E27FC236}">
                <a16:creationId xmlns:a16="http://schemas.microsoft.com/office/drawing/2014/main" id="{EFEA489B-AAEC-4D52-A804-F4D27939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提前使用：主动探索与被动证据</a:t>
            </a:r>
          </a:p>
        </p:txBody>
      </p:sp>
      <p:sp>
        <p:nvSpPr>
          <p:cNvPr id="2" name="text-112">
            <a:extLst xmlns:a="http://schemas.openxmlformats.org/drawingml/2006/main">
              <a:ext uri="{FF2B5EF4-FFF2-40B4-BE49-F238E27FC236}">
                <a16:creationId xmlns:a16="http://schemas.microsoft.com/office/drawing/2014/main" id="{F61C49E9-3E76-4515-9706-6EC453D1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零件实验：识别前未达 95%，识别后策略相同，因此 T95 相同</a:t>
            </a:r>
          </a:p>
        </p:txBody>
      </p:sp>
      <p:sp>
        <p:nvSpPr>
          <p:cNvPr id="3" name="text-113">
            <a:extLst xmlns:a="http://schemas.openxmlformats.org/drawingml/2006/main">
              <a:ext uri="{FF2B5EF4-FFF2-40B4-BE49-F238E27FC236}">
                <a16:creationId xmlns:a16="http://schemas.microsoft.com/office/drawing/2014/main" id="{90F6A567-CD9B-42AB-A950-EB8FBFE8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A2737566-6732-4878-B318-9632A8AB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早期导航任务</a:t>
            </a: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5C399B02-59C5-49FB-9416-E42C8627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335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最新零件实验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B5693-22CB-4E15-A0F2-6CC55C93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88F02-1AC7-4FD8-9D5E-A8F719C1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执行前缀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530C8-27D8-4E60-9A8D-D8B01534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后缀证据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86025" y="2390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05250" y="2686050"/>
            <a:ext cx="5238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666875" y="2686050"/>
            <a:ext cx="6000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E5230-D8DF-462E-9220-8544EBD7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环境给出排列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0C66D-649B-42E5-9012-B3441CA7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955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选择 X / Y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20150" y="23907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5" name="text-116">
            <a:extLst xmlns:a="http://schemas.openxmlformats.org/drawingml/2006/main">
              <a:ext uri="{FF2B5EF4-FFF2-40B4-BE49-F238E27FC236}">
                <a16:creationId xmlns:a16="http://schemas.microsoft.com/office/drawing/2014/main" id="{733E39EF-9E13-471A-8CDB-D434AEE2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95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下一幕仍由环境独立抽样</a:t>
            </a:r>
          </a:p>
        </p:txBody>
      </p:sp>
      <p:sp>
        <p:nvSpPr>
          <p:cNvPr id="16" name="text-117">
            <a:extLst xmlns:a="http://schemas.openxmlformats.org/drawingml/2006/main">
              <a:ext uri="{FF2B5EF4-FFF2-40B4-BE49-F238E27FC236}">
                <a16:creationId xmlns:a16="http://schemas.microsoft.com/office/drawing/2014/main" id="{589AF72B-14D0-4CDE-BCC4-81A13E3F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434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识别前实际额外成功 / 次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515100" y="4000500"/>
          <a:ext xmlns:a="http://schemas.openxmlformats.org/drawingml/2006/main" cx="502920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8a57ef3fb34788"/>
          </a:graphicData>
        </a:graphic>
      </p:graphicFrame>
      <p:sp>
        <p:nvSpPr>
          <p:cNvPr id="18" name="text-118">
            <a:extLst xmlns:a="http://schemas.openxmlformats.org/drawingml/2006/main">
              <a:ext uri="{FF2B5EF4-FFF2-40B4-BE49-F238E27FC236}">
                <a16:creationId xmlns:a16="http://schemas.microsoft.com/office/drawing/2014/main" id="{E29BEAB8-87DE-4C5C-9408-92AE0944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每规模 400 个配对种子</a:t>
            </a:r>
          </a:p>
        </p:txBody>
      </p:sp>
    </p:spTree>
    <p:extLst>
      <p:ext uri="{BB962C8B-B14F-4D97-AF65-F5344CB8AC3E}">
        <p14:creationId xmlns:p14="http://schemas.microsoft.com/office/powerpoint/2010/main" val="6692126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19">
            <a:extLst xmlns:a="http://schemas.openxmlformats.org/drawingml/2006/main">
              <a:ext uri="{FF2B5EF4-FFF2-40B4-BE49-F238E27FC236}">
                <a16:creationId xmlns:a16="http://schemas.microsoft.com/office/drawing/2014/main" id="{CA8362DF-310B-4DA1-8842-D05511F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三层研究关系</a:t>
            </a:r>
          </a:p>
        </p:txBody>
      </p:sp>
      <p:sp>
        <p:nvSpPr>
          <p:cNvPr id="2" name="text-120">
            <a:extLst xmlns:a="http://schemas.openxmlformats.org/drawingml/2006/main">
              <a:ext uri="{FF2B5EF4-FFF2-40B4-BE49-F238E27FC236}">
                <a16:creationId xmlns:a16="http://schemas.microsoft.com/office/drawing/2014/main" id="{7BDDB257-CF61-48BE-A899-E66BE6A8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text-121">
            <a:extLst xmlns:a="http://schemas.openxmlformats.org/drawingml/2006/main">
              <a:ext uri="{FF2B5EF4-FFF2-40B4-BE49-F238E27FC236}">
                <a16:creationId xmlns:a16="http://schemas.microsoft.com/office/drawing/2014/main" id="{E3F20614-6919-4D39-888D-3DDCCF32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4" name="text-122">
            <a:extLst xmlns:a="http://schemas.openxmlformats.org/drawingml/2006/main">
              <a:ext uri="{FF2B5EF4-FFF2-40B4-BE49-F238E27FC236}">
                <a16:creationId xmlns:a16="http://schemas.microsoft.com/office/drawing/2014/main" id="{FEF923AA-2F38-4452-8919-C181494E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尚未解决</a:t>
            </a:r>
          </a:p>
        </p:txBody>
      </p:sp>
      <p:sp>
        <p:nvSpPr>
          <p:cNvPr id="5" name="text-123">
            <a:extLst xmlns:a="http://schemas.openxmlformats.org/drawingml/2006/main">
              <a:ext uri="{FF2B5EF4-FFF2-40B4-BE49-F238E27FC236}">
                <a16:creationId xmlns:a16="http://schemas.microsoft.com/office/drawing/2014/main" id="{87D1030D-823C-43BF-9741-44873931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结构发现</a:t>
            </a:r>
          </a:p>
        </p:txBody>
      </p:sp>
      <p:sp>
        <p:nvSpPr>
          <p:cNvPr id="6" name="text-124">
            <a:extLst xmlns:a="http://schemas.openxmlformats.org/drawingml/2006/main">
              <a:ext uri="{FF2B5EF4-FFF2-40B4-BE49-F238E27FC236}">
                <a16:creationId xmlns:a16="http://schemas.microsoft.com/office/drawing/2014/main" id="{55B1BCC0-FD76-47CB-8EE9-FB294611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1457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受限在线闭环</a:t>
            </a:r>
          </a:p>
        </p:txBody>
      </p:sp>
      <p:sp>
        <p:nvSpPr>
          <p:cNvPr id="7" name="text-125">
            <a:extLst xmlns:a="http://schemas.openxmlformats.org/drawingml/2006/main">
              <a:ext uri="{FF2B5EF4-FFF2-40B4-BE49-F238E27FC236}">
                <a16:creationId xmlns:a16="http://schemas.microsoft.com/office/drawing/2014/main" id="{7BCDF8AC-24C1-4908-BA4E-7F700D75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14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一般规则发现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9E3C8-751D-4452-AE37-25073883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23E70-1147-489C-9857-4FE63196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19D04-EE89-4A0A-9C31-4E5A3339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814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911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dash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1A2D4-D023-406A-A35A-F86FFA65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126">
            <a:extLst xmlns:a="http://schemas.openxmlformats.org/drawingml/2006/main">
              <a:ext uri="{FF2B5EF4-FFF2-40B4-BE49-F238E27FC236}">
                <a16:creationId xmlns:a16="http://schemas.microsoft.com/office/drawing/2014/main" id="{0254144D-AE93-4E31-B38C-E2605B2C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</a:t>
            </a:r>
          </a:p>
        </p:txBody>
      </p:sp>
      <p:sp>
        <p:nvSpPr>
          <p:cNvPr id="15" name="text-127">
            <a:extLst xmlns:a="http://schemas.openxmlformats.org/drawingml/2006/main">
              <a:ext uri="{FF2B5EF4-FFF2-40B4-BE49-F238E27FC236}">
                <a16:creationId xmlns:a16="http://schemas.microsoft.com/office/drawing/2014/main" id="{A11DE24A-6821-4035-9FDC-564100CC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76650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正确压缩收益</a:t>
            </a:r>
          </a:p>
        </p:txBody>
      </p:sp>
      <p:sp>
        <p:nvSpPr>
          <p:cNvPr id="16" name="text-128">
            <a:extLst xmlns:a="http://schemas.openxmlformats.org/drawingml/2006/main">
              <a:ext uri="{FF2B5EF4-FFF2-40B4-BE49-F238E27FC236}">
                <a16:creationId xmlns:a16="http://schemas.microsoft.com/office/drawing/2014/main" id="{F2268068-F4C9-451D-88D2-516852E9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76650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可靠在线合并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0E54F-D8F3-4141-B702-A8982B67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0995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DEE07C-D171-4D40-AF8C-2FE05C55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481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3935E-C996-4D59-961D-3E24B0DE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14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67175" y="3643313"/>
            <a:ext cx="1466850" cy="347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67175" y="3990975"/>
            <a:ext cx="1466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C20B54-92D5-482D-90CD-DA79C960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129">
            <a:extLst xmlns:a="http://schemas.openxmlformats.org/drawingml/2006/main">
              <a:ext uri="{FF2B5EF4-FFF2-40B4-BE49-F238E27FC236}">
                <a16:creationId xmlns:a16="http://schemas.microsoft.com/office/drawing/2014/main" id="{B3CD00BB-91CA-44AA-8EB8-DB244B27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815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</a:t>
            </a:r>
          </a:p>
        </p:txBody>
      </p:sp>
      <p:sp>
        <p:nvSpPr>
          <p:cNvPr id="24" name="text-130">
            <a:extLst xmlns:a="http://schemas.openxmlformats.org/drawingml/2006/main">
              <a:ext uri="{FF2B5EF4-FFF2-40B4-BE49-F238E27FC236}">
                <a16:creationId xmlns:a16="http://schemas.microsoft.com/office/drawing/2014/main" id="{52A185BE-4FF9-4020-AF68-7876C806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3872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条件性控制收益</a:t>
            </a:r>
          </a:p>
        </p:txBody>
      </p:sp>
      <p:sp>
        <p:nvSpPr>
          <p:cNvPr id="25" name="text-131">
            <a:extLst xmlns:a="http://schemas.openxmlformats.org/drawingml/2006/main">
              <a:ext uri="{FF2B5EF4-FFF2-40B4-BE49-F238E27FC236}">
                <a16:creationId xmlns:a16="http://schemas.microsoft.com/office/drawing/2014/main" id="{351658A7-E21C-436E-8F8E-AF641F89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3872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机制归因与边界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E60F34-E5A5-4337-B5D6-4FE28DD3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339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0BFC15-AD67-4800-96AF-51091123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982FEB-5B3F-4BB8-86BD-9C68227C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技能</a:t>
            </a:r>
          </a:p>
        </p:txBody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781425" y="52292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62575" y="52292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680473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2026-09-16T04:04:49.6710000Z</dcterms:created>
  <dcterms:modified xsi:type="dcterms:W3CDTF">2026-09-16T04:04:49.6710000Z</dcterms:modified>
</coreProperties>
</file>