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3.xml" ContentType="application/vnd.openxmlformats-officedocument.drawingml.chart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6183bd3104728" /><Relationship Type="http://schemas.openxmlformats.org/officeDocument/2006/relationships/extended-properties" Target="/docProps/app.xml" Id="R9750d469e8784dbb" /><Relationship Type="http://schemas.openxmlformats.org/officeDocument/2006/relationships/officeDocument" Target="/ppt/presentation.xml" Id="Rb0480ef2fed4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04cd4d56e469e"/>
  </p:sldMasterIdLst>
  <p:notesMasterIdLst>
    <p:notesMasterId xmlns:r="http://schemas.openxmlformats.org/officeDocument/2006/relationships" r:id="R234761cfbe0e48c3"/>
  </p:notesMasterIdLst>
  <p:sldIdLst>
    <p:sldId xmlns:r="http://schemas.openxmlformats.org/officeDocument/2006/relationships" id="256" r:id="R5481cf7c0a05442f"/>
    <p:sldId xmlns:r="http://schemas.openxmlformats.org/officeDocument/2006/relationships" id="257" r:id="R158538ccdf0d4b1e"/>
    <p:sldId xmlns:r="http://schemas.openxmlformats.org/officeDocument/2006/relationships" id="258" r:id="R447bf72ab0314486"/>
    <p:sldId xmlns:r="http://schemas.openxmlformats.org/officeDocument/2006/relationships" id="259" r:id="Rb387e3d2bb1d4230"/>
    <p:sldId xmlns:r="http://schemas.openxmlformats.org/officeDocument/2006/relationships" id="260" r:id="R50b11e930f044ed2"/>
    <p:sldId xmlns:r="http://schemas.openxmlformats.org/officeDocument/2006/relationships" id="261" r:id="R39a5995c8a7a4ae5"/>
    <p:sldId xmlns:r="http://schemas.openxmlformats.org/officeDocument/2006/relationships" id="262" r:id="R20fa8aff05014e0b"/>
    <p:sldId xmlns:r="http://schemas.openxmlformats.org/officeDocument/2006/relationships" id="263" r:id="R3e1a75b0a527458b"/>
    <p:sldId xmlns:r="http://schemas.openxmlformats.org/officeDocument/2006/relationships" id="264" r:id="Rc0331f80c2d04f20"/>
    <p:sldId xmlns:r="http://schemas.openxmlformats.org/officeDocument/2006/relationships" id="265" r:id="R03741250f5564ef8"/>
    <p:sldId xmlns:r="http://schemas.openxmlformats.org/officeDocument/2006/relationships" id="266" r:id="Rc339314bca9b4065"/>
    <p:sldId xmlns:r="http://schemas.openxmlformats.org/officeDocument/2006/relationships" id="267" r:id="R89244438ad9e463d"/>
    <p:sldId xmlns:r="http://schemas.openxmlformats.org/officeDocument/2006/relationships" id="268" r:id="R8558c9f9e60b4ef2"/>
    <p:sldId xmlns:r="http://schemas.openxmlformats.org/officeDocument/2006/relationships" id="269" r:id="Rd2c52b509cbc466d"/>
    <p:sldId xmlns:r="http://schemas.openxmlformats.org/officeDocument/2006/relationships" id="270" r:id="R3a6bc49deed14952"/>
    <p:sldId xmlns:r="http://schemas.openxmlformats.org/officeDocument/2006/relationships" id="271" r:id="R1560af5717f1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10ddab641c431c" /><Relationship Type="http://schemas.openxmlformats.org/officeDocument/2006/relationships/slideMaster" Target="/ppt/slideMasters/slideMaster1.xml" Id="Ra7804cd4d56e469e" /><Relationship Type="http://schemas.openxmlformats.org/officeDocument/2006/relationships/notesMaster" Target="/ppt/notesMasters/notesMaster1.xml" Id="R234761cfbe0e48c3" /><Relationship Type="http://schemas.openxmlformats.org/officeDocument/2006/relationships/presProps" Target="/ppt/presProps.xml" Id="R10697941f3ca4500" /><Relationship Type="http://schemas.openxmlformats.org/officeDocument/2006/relationships/tableStyles" Target="/ppt/tableStyles.xml" Id="R2f606362a85142e2" /><Relationship Type="http://schemas.openxmlformats.org/officeDocument/2006/relationships/slide" Target="/ppt/slides/slide1.xml" Id="R5481cf7c0a05442f" /><Relationship Type="http://schemas.openxmlformats.org/officeDocument/2006/relationships/slide" Target="/ppt/slides/slide2.xml" Id="R158538ccdf0d4b1e" /><Relationship Type="http://schemas.openxmlformats.org/officeDocument/2006/relationships/slide" Target="/ppt/slides/slide3.xml" Id="R447bf72ab0314486" /><Relationship Type="http://schemas.openxmlformats.org/officeDocument/2006/relationships/slide" Target="/ppt/slides/slide4.xml" Id="Rb387e3d2bb1d4230" /><Relationship Type="http://schemas.openxmlformats.org/officeDocument/2006/relationships/slide" Target="/ppt/slides/slide5.xml" Id="R50b11e930f044ed2" /><Relationship Type="http://schemas.openxmlformats.org/officeDocument/2006/relationships/slide" Target="/ppt/slides/slide6.xml" Id="R39a5995c8a7a4ae5" /><Relationship Type="http://schemas.openxmlformats.org/officeDocument/2006/relationships/slide" Target="/ppt/slides/slide7.xml" Id="R20fa8aff05014e0b" /><Relationship Type="http://schemas.openxmlformats.org/officeDocument/2006/relationships/slide" Target="/ppt/slides/slide8.xml" Id="R3e1a75b0a527458b" /><Relationship Type="http://schemas.openxmlformats.org/officeDocument/2006/relationships/slide" Target="/ppt/slides/slide9.xml" Id="Rc0331f80c2d04f20" /><Relationship Type="http://schemas.openxmlformats.org/officeDocument/2006/relationships/slide" Target="/ppt/slides/slide10.xml" Id="R03741250f5564ef8" /><Relationship Type="http://schemas.openxmlformats.org/officeDocument/2006/relationships/slide" Target="/ppt/slides/slide11.xml" Id="Rc339314bca9b4065" /><Relationship Type="http://schemas.openxmlformats.org/officeDocument/2006/relationships/slide" Target="/ppt/slides/slide12.xml" Id="R89244438ad9e463d" /><Relationship Type="http://schemas.openxmlformats.org/officeDocument/2006/relationships/slide" Target="/ppt/slides/slide13.xml" Id="R8558c9f9e60b4ef2" /><Relationship Type="http://schemas.openxmlformats.org/officeDocument/2006/relationships/slide" Target="/ppt/slides/slide14.xml" Id="Rd2c52b509cbc466d" /><Relationship Type="http://schemas.openxmlformats.org/officeDocument/2006/relationships/slide" Target="/ppt/slides/slide15.xml" Id="R3a6bc49deed14952" /><Relationship Type="http://schemas.openxmlformats.org/officeDocument/2006/relationships/slide" Target="/ppt/slides/slide16.xml" Id="R1560af5717f1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cf35d42a4a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c807a587a47a5" /><Relationship Type="http://schemas.openxmlformats.org/officeDocument/2006/relationships/notesMaster" Target="/ppt/notesMasters/notesMaster1.xml" Id="Rc9d85e5167834e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7417d2a4a43e7" /><Relationship Type="http://schemas.openxmlformats.org/officeDocument/2006/relationships/notesMaster" Target="/ppt/notesMasters/notesMaster1.xml" Id="R1d8f33eabe364a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dcf96078e497f" /><Relationship Type="http://schemas.openxmlformats.org/officeDocument/2006/relationships/notesMaster" Target="/ppt/notesMasters/notesMaster1.xml" Id="R62aafc2bd50342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8ddf8dd104eab" /><Relationship Type="http://schemas.openxmlformats.org/officeDocument/2006/relationships/notesMaster" Target="/ppt/notesMasters/notesMaster1.xml" Id="R4a02580672f5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8cea71266342ee" /><Relationship Type="http://schemas.openxmlformats.org/officeDocument/2006/relationships/notesMaster" Target="/ppt/notesMasters/notesMaster1.xml" Id="R03f4845ec6b143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aaebda509431a" /><Relationship Type="http://schemas.openxmlformats.org/officeDocument/2006/relationships/notesMaster" Target="/ppt/notesMasters/notesMaster1.xml" Id="R4eecd6b9cdba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1bed5e8d747b9" /><Relationship Type="http://schemas.openxmlformats.org/officeDocument/2006/relationships/notesMaster" Target="/ppt/notesMasters/notesMaster1.xml" Id="Ra0d6f4a2e64a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4949b7d5094a39" /><Relationship Type="http://schemas.openxmlformats.org/officeDocument/2006/relationships/notesMaster" Target="/ppt/notesMasters/notesMaster1.xml" Id="R15043440906145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027ad5bb14a65" /><Relationship Type="http://schemas.openxmlformats.org/officeDocument/2006/relationships/notesMaster" Target="/ppt/notesMasters/notesMaster1.xml" Id="R5cca61e0f342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63338ecd394340" /><Relationship Type="http://schemas.openxmlformats.org/officeDocument/2006/relationships/notesMaster" Target="/ppt/notesMasters/notesMaster1.xml" Id="R82e0c62ad7b342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a61676a15f439c" /><Relationship Type="http://schemas.openxmlformats.org/officeDocument/2006/relationships/notesMaster" Target="/ppt/notesMasters/notesMaster1.xml" Id="R859811052a9f4b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727f09689140c3" /><Relationship Type="http://schemas.openxmlformats.org/officeDocument/2006/relationships/notesMaster" Target="/ppt/notesMasters/notesMaster1.xml" Id="R6d3fdb5c91874f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505fe3013b4866" /><Relationship Type="http://schemas.openxmlformats.org/officeDocument/2006/relationships/notesMaster" Target="/ppt/notesMasters/notesMaster1.xml" Id="Rd7422c5431914c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0ed8a1b5e54d7a" /><Relationship Type="http://schemas.openxmlformats.org/officeDocument/2006/relationships/notesMaster" Target="/ppt/notesMasters/notesMaster1.xml" Id="R0d0f21307e584a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d994f292744c46" /><Relationship Type="http://schemas.openxmlformats.org/officeDocument/2006/relationships/notesMaster" Target="/ppt/notesMasters/notesMaster1.xml" Id="R619c6c2f3ea34c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cf7e3046014bf6" /><Relationship Type="http://schemas.openxmlformats.org/officeDocument/2006/relationships/notesMaster" Target="/ppt/notesMasters/notesMaster1.xml" Id="Re7a24d467fd143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节省几乎全部来自不再反复执行已知前缀，而不是探索本身变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：线性序列中进度次数已能表示当前阶段，一个「阶段到下一目标」的列表就足够，所以第一个正结果不能证明一般自动机学习的价值。右：A→E与B→E汇入同一物理位置，进度均为2、末事件均为E，但后继要求不同；两个E表示不同历史下的任务状态，不是两个物理位置。底行：前缀树与充分历史dictionary在匹配输入与随机数时逐动作一致，所以价值不来自图这种形式。咖啡只是同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真正要学的不是「记住流程」，而是「哪些历史可以共享未来经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省下只计冗余部分（134/792），另有102次复用落在必要查询上，那不是节省而是替换。预注册判据在跑之前写定：查询节省&gt;=20%且错误共享约等于0，三项全不达标；把53次求解超时全判给Occam，节省上界23.6%仍不达标。在线k_min是8-12而真状态数是19-27，证据少时最小机器严重过度合并，这是离线97.6%精确率无法在线复现的全部原因。裁决正确率80.1%/77.3%见附录：它高于归属正确率，是因为大量错误归属碰巧给出相同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。不是贪心评估累计期望0.137/0.533/0.696。规则识别前准确率不足95%；识别后两臂在该实现中相同，因此T95没有分辨能力，该必然性只针对这个规则族、确定反馈、更新与阈值设置。主动任务早期调用技能改变到达后缀的行为，被动任务每幕独立给出排列，动作不影响下一份证据。不能据此断言所有边学边用收益都必须依赖主动取证，也不能用它否定第2页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播：有了结构以后还有第二个问题——它只是告诉我当前目标，还是还能让不同阶段共享控制经验？这一组全部是「任务规则已给定」，不涉及边学边建。左侧2x2：Y00两种机制都没有，Y01用学习型元控制器调用共享技能（有复用无路由），Y10真规则路由但技能按任务状态独立（有路由无复用），Y11两者都有。24族×30种子×5臂，预算200000步。原报告关于路由压倒性强于复用的AUC解释已在Step38撤回，因天花板影响；本页不作机制排序，完整AUC与first90见附录。右侧为Step38.5剂量扫描：昂贵导航，任务规则已给定，训练预算1000000环境步，达标率为预算内达到90%成功率的运行比例；该扫描逐种子原始数据后来确认遗失，不能重算区间。Step40新网格显示步费会改变QRM排序并使风险交互缩小，不能视为协议不变的效应大小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主线到此结束。后面六页分别对应：反馈预算、前缀树与历史字典的等价、压缩倍数的闭式解释、合并审计的完整口径、五臂完整数值、危险格完整剂量曲线。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160预算时最终仍&gt;=90%的只有127/144；本图量的是曾经达标，不是最终成功比例。控制器按历史节点读取局部证据，未启用合并。不能由最终树节点数推断必须完整结构才能使用：nodes字段记录的是历史前缀树大小而非压缩状态数，且在运行结束时输出；真正的压缩状态数classes未被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因此自动机的价值不来自「画成图」这件事本身，而来自后面能不能合并等价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纯净状态内错误动作Q恒为0，正确动作一旦得到一次正奖励便变成1，此后贪心评估就答对该状态；未获正奖励的状态仍随机并列。若完整历史数为H，准确率=(H+c)/2H，要达95%需覆盖c&gt;=ceil(0.9H)。在iid均匀排列与当前初始化下，已覆盖i格时新覆盖一格的概率为(H-i)/(2H)，期望等待2H/(H-i)，累加得 sum(2H/(H-i), i=0..ceil(0.9H)-1)。H=6/24/120时为29.40/109.25/543.76幕；压缩后H=2给出6.0幕。理论倍数90.63x，实测89.75x。正式T95按检查点记录，可能比逐幕精确时刻稍晚。这说明大倍数可以由明确的重复建表机制解释，不需要额外假设。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，其中冗余313次（39.5%）。k_min下被强制的合并236次：裁决错47次故裁决正确率80.1%，归属错140次故归属正确率40.7%，省下134/792=16.9%。k_min+1下复用22次：裁决错5、归属错8，省下14/792=1.8%。裁决正确率高于归属正确率，是因为大量错误归属碰巧给出相同裁决，这种运气撑不过下一个事件。另有102次复用落在必要查询上，是替换不是节省，未计入16.9%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中位数，AUC为成功率曲线面积。原报告关于路由压倒性强于复用的AUC解释已在Step38撤回，因天花板影响。删失：原始归档results/factorial.json中first90=-1共40次，全部落在Y00（30/720）与Y01（10/720），Y10/Y11/QRM为0；页面中位数按达标者计，Y00若把-1记作预算200000则中位为41000而非38500，该丢弃使Y00/Y01显得偏好，因此对比是保守的。报告曾给出样本复杂度主效应路由6.39x、复用5.34x，本次未能从归档复现（把-1记作预算得9.03x/4.50x），故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，这里不声明几何难度完全不变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84e29b065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fdd96490a4ee3" /><Relationship Type="http://schemas.openxmlformats.org/officeDocument/2006/relationships/slideLayout" Target="/ppt/slideLayouts/slideLayout1.xml" Id="R301893e9a631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1893e9a631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b90eff7c64003" /><Relationship Type="http://schemas.openxmlformats.org/officeDocument/2006/relationships/notesSlide" Target="/ppt/notesSlides/notesSlide1.xml" Id="Ra850056a64dd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ddd900ce04151" /><Relationship Type="http://schemas.openxmlformats.org/officeDocument/2006/relationships/chart" Target="/ppt/slides/charts/chart1.xml" Id="R68b3d7ee88674348" /><Relationship Type="http://schemas.openxmlformats.org/officeDocument/2006/relationships/chart" Target="/ppt/slides/charts/chart2.xml" Id="Re875970ca13a40fb" /><Relationship Type="http://schemas.openxmlformats.org/officeDocument/2006/relationships/notesSlide" Target="/ppt/notesSlides/notesSlide2.xml" Id="Rd69d68902dd0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a325adb9e4041" /><Relationship Type="http://schemas.openxmlformats.org/officeDocument/2006/relationships/notesSlide" Target="/ppt/notesSlides/notesSlide3.xml" Id="R9520c9f7654e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640cfa1414cf8" /><Relationship Type="http://schemas.openxmlformats.org/officeDocument/2006/relationships/notesSlide" Target="/ppt/notesSlides/notesSlide4.xml" Id="R1b54934668fd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ebd135d1b4324" /><Relationship Type="http://schemas.openxmlformats.org/officeDocument/2006/relationships/chart" Target="/ppt/slides/charts/chart3.xml" Id="R53a2ed07d8af48da" /><Relationship Type="http://schemas.openxmlformats.org/officeDocument/2006/relationships/notesSlide" Target="/ppt/notesSlides/notesSlide5.xml" Id="Rc9900645df40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ddad430aa4c5c" /><Relationship Type="http://schemas.openxmlformats.org/officeDocument/2006/relationships/chart" Target="/ppt/slides/charts/chart4.xml" Id="R4d1989146bf7429c" /><Relationship Type="http://schemas.openxmlformats.org/officeDocument/2006/relationships/notesSlide" Target="/ppt/notesSlides/notesSlide6.xml" Id="R4e45719daf714b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355358d7943ba" /><Relationship Type="http://schemas.openxmlformats.org/officeDocument/2006/relationships/chart" Target="/ppt/slides/charts/chart5.xml" Id="Rdc80ab5be6924736" /><Relationship Type="http://schemas.openxmlformats.org/officeDocument/2006/relationships/notesSlide" Target="/ppt/notesSlides/notesSlide7.xml" Id="Reeed4eaa6c514f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67152405049e9" /><Relationship Type="http://schemas.openxmlformats.org/officeDocument/2006/relationships/chart" Target="/ppt/slides/charts/chart6.xml" Id="Rb104655ce4544f8d" /><Relationship Type="http://schemas.openxmlformats.org/officeDocument/2006/relationships/notesSlide" Target="/ppt/notesSlides/notesSlide8.xml" Id="R31f56e48d542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28fc5564c4bd6" /><Relationship Type="http://schemas.openxmlformats.org/officeDocument/2006/relationships/notesSlide" Target="/ppt/notesSlides/notesSlide9.xml" Id="R2a1750d43386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6368c03c84fcb" /><Relationship Type="http://schemas.openxmlformats.org/officeDocument/2006/relationships/notesSlide" Target="/ppt/notesSlides/notesSlide10.xml" Id="R13c567b837104e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b30164e484043" /><Relationship Type="http://schemas.openxmlformats.org/officeDocument/2006/relationships/chart" Target="/ppt/slides/charts/chart7.xml" Id="R6c884d9e43e047c2" /><Relationship Type="http://schemas.openxmlformats.org/officeDocument/2006/relationships/notesSlide" Target="/ppt/notesSlides/notesSlide11.xml" Id="Re14afcc6b40544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ce60eba834d74" /><Relationship Type="http://schemas.openxmlformats.org/officeDocument/2006/relationships/notesSlide" Target="/ppt/notesSlides/notesSlide12.xml" Id="R86abb5a468474e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37e936b547e2" /><Relationship Type="http://schemas.openxmlformats.org/officeDocument/2006/relationships/chart" Target="/ppt/slides/charts/chart8.xml" Id="R1f88e518e59d4649" /><Relationship Type="http://schemas.openxmlformats.org/officeDocument/2006/relationships/notesSlide" Target="/ppt/notesSlides/notesSlide13.xml" Id="R60d3979d8a2740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25a4bdc9a4d08" /><Relationship Type="http://schemas.openxmlformats.org/officeDocument/2006/relationships/chart" Target="/ppt/slides/charts/chart9.xml" Id="Re96b2034a0af4116" /><Relationship Type="http://schemas.openxmlformats.org/officeDocument/2006/relationships/chart" Target="/ppt/slides/charts/chart10.xml" Id="R702b27459c544a51" /><Relationship Type="http://schemas.openxmlformats.org/officeDocument/2006/relationships/chart" Target="/ppt/slides/charts/chart11.xml" Id="Re0091f5f40384489" /><Relationship Type="http://schemas.openxmlformats.org/officeDocument/2006/relationships/notesSlide" Target="/ppt/notesSlides/notesSlide14.xml" Id="R54c1af32398246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c7dc1fbb74003" /><Relationship Type="http://schemas.openxmlformats.org/officeDocument/2006/relationships/chart" Target="/ppt/slides/charts/chart12.xml" Id="Rc367667048e14249" /><Relationship Type="http://schemas.openxmlformats.org/officeDocument/2006/relationships/notesSlide" Target="/ppt/notesSlides/notesSlide15.xml" Id="Re1c6b465237c44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f3a92769a4c91" /><Relationship Type="http://schemas.openxmlformats.org/officeDocument/2006/relationships/chart" Target="/ppt/slides/charts/chart13.xml" Id="R3dc87cfb413940c0" /><Relationship Type="http://schemas.openxmlformats.org/officeDocument/2006/relationships/notesSlide" Target="/ppt/notesSlides/notesSlide16.xml" Id="R061450391642481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Lit>
              <c:ptCount val="3"/>
              <c:pt idx="0">
                <c:v>普通 replay</c:v>
              </c:pt>
              <c:pt idx="1">
                <c:v>延迟使用</c:v>
              </c:pt>
              <c:pt idx="2">
                <c:v>立即使用</c:v>
              </c:pt>
            </c:strLit>
          </c:cat>
          <c:val>
            <c:numLit>
              <c:formatCode>#,##0</c:formatCode>
              <c:ptCount val="3"/>
              <c:pt idx="0">
                <c:v>18594</c:v>
              </c:pt>
              <c:pt idx="1">
                <c:v>37938</c:v>
              </c:pt>
              <c:pt idx="2">
                <c:v>6906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延迟</c:v>
              </c:pt>
              <c:pt idx="1">
                <c:v>立即</c:v>
              </c:pt>
            </c:strLit>
          </c:cat>
          <c:val>
            <c:numLit>
              <c:formatCode>#,##0</c:formatCode>
              <c:ptCount val="2"/>
              <c:pt idx="0">
                <c:v>33194</c:v>
              </c:pt>
              <c:pt idx="1">
                <c:v>2566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28.28</c:v>
              </c:pt>
              <c:pt idx="1">
                <c:v>109.15</c:v>
              </c:pt>
              <c:pt idx="2">
                <c:v>547.23</c:v>
              </c:pt>
            </c:numLit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6.05</c:v>
              </c:pt>
              <c:pt idx="1">
                <c:v>5.89</c:v>
              </c:pt>
              <c:pt idx="2">
                <c:v>6.1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状态归属正确率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2"/>
              <c:pt idx="0">
                <c:v>k_min　判断更激进</c:v>
              </c:pt>
              <c:pt idx="1">
                <c:v>k_min+1　判断更保守</c:v>
              </c:pt>
            </c:strLit>
          </c:cat>
          <c:val>
            <c:numLit>
              <c:formatCode>0.0%</c:formatCode>
              <c:ptCount val="2"/>
              <c:pt idx="0">
                <c:v>0.407</c:v>
              </c:pt>
              <c:pt idx="1">
                <c:v>0.636</c:v>
              </c:pt>
            </c:numLit>
          </c:val>
        </c:ser>
        <c:ser>
          <c:idx val="1"/>
          <c:order val="1"/>
          <c:tx>
            <c:v>可省查询比例</c:v>
          </c:tx>
          <c:spPr>
            <a:solidFill xmlns:a="http://schemas.openxmlformats.org/drawingml/2006/main">
              <a:srgbClr val="C47A35"/>
            </a:solidFill>
          </c:spPr>
          <c:cat>
            <c:strLit>
              <c:ptCount val="2"/>
              <c:pt idx="0">
                <c:v>k_min　判断更激进</c:v>
              </c:pt>
              <c:pt idx="1">
                <c:v>k_min+1　判断更保守</c:v>
              </c:pt>
            </c:strLit>
          </c:cat>
          <c:val>
            <c:numLit>
              <c:formatCode>0.0%</c:formatCode>
              <c:ptCount val="2"/>
              <c:pt idx="0">
                <c:v>0.169</c:v>
              </c:pt>
              <c:pt idx="1">
                <c:v>0.018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</c:v>
              </c:pt>
              <c:pt idx="1">
                <c:v>4 个</c:v>
              </c:pt>
              <c:pt idx="2">
                <c:v>5 个</c:v>
              </c:pt>
            </c:strLit>
          </c:cat>
          <c:val>
            <c:numLit>
              <c:formatCode>0.000</c:formatCode>
              <c:ptCount val="3"/>
              <c:pt idx="0">
                <c:v>0.123</c:v>
              </c:pt>
              <c:pt idx="1">
                <c:v>0.453</c:v>
              </c:pt>
              <c:pt idx="2">
                <c:v>0.635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47A35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0.32</c:v>
              </c:pt>
              <c:pt idx="2">
                <c:v>0.16</c:v>
              </c:pt>
              <c:pt idx="3">
                <c:v>0.11</c:v>
              </c:pt>
              <c:pt idx="4">
                <c:v>0.1</c:v>
              </c:pt>
            </c:numLit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76AD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1</c:v>
              </c:pt>
              <c:pt idx="2">
                <c:v>0.99</c:v>
              </c:pt>
              <c:pt idx="3">
                <c:v>0.95</c:v>
              </c:pt>
              <c:pt idx="4">
                <c:v>0.91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Lit>
              <c:formatCode>General</c:formatCode>
              <c:ptCount val="4"/>
              <c:pt idx="0">
                <c:v>40</c:v>
              </c:pt>
              <c:pt idx="1">
                <c:v>80</c:v>
              </c:pt>
              <c:pt idx="2">
                <c:v>160</c:v>
              </c:pt>
              <c:pt idx="3">
                <c:v>320</c:v>
              </c:pt>
            </c:numLit>
          </c:cat>
          <c:val>
            <c:numLit>
              <c:formatCode>0%</c:formatCode>
              <c:ptCount val="4"/>
              <c:pt idx="0">
                <c:v>0.006944444444</c:v>
              </c:pt>
              <c:pt idx="1">
                <c:v>0.423611111111</c:v>
              </c:pt>
              <c:pt idx="2">
                <c:v>0.909722222222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闭式理论</c:v>
          </c:tx>
          <c:spPr>
            <a:solidFill xmlns:a="http://schemas.openxmlformats.org/drawingml/2006/main">
              <a:srgbClr val="94A1AA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29.4</c:v>
              </c:pt>
              <c:pt idx="1">
                <c:v>109.25</c:v>
              </c:pt>
              <c:pt idx="2">
                <c:v>543.76</c:v>
              </c:pt>
            </c:numLit>
          </c:val>
        </c:ser>
        <c:ser>
          <c:idx val="1"/>
          <c:order val="1"/>
          <c:tx>
            <c:v>实测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28.28</c:v>
              </c:pt>
              <c:pt idx="1">
                <c:v>109.15</c:v>
              </c:pt>
              <c:pt idx="2">
                <c:v>547.23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0.801</c:v>
              </c:pt>
              <c:pt idx="1">
                <c:v>0.773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0.407</c:v>
              </c:pt>
              <c:pt idx="1">
                <c:v>0.636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0.169</c:v>
              </c:pt>
              <c:pt idx="1">
                <c:v>0.018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Lit>
              <c:ptCount val="5"/>
              <c:pt idx="0">
                <c:v>Y00</c:v>
              </c:pt>
              <c:pt idx="1">
                <c:v>Y01</c:v>
              </c:pt>
              <c:pt idx="2">
                <c:v>Y10</c:v>
              </c:pt>
              <c:pt idx="3">
                <c:v>Y11</c:v>
              </c:pt>
              <c:pt idx="4">
                <c:v>QRM</c:v>
              </c:pt>
            </c:strLit>
          </c:cat>
          <c:val>
            <c:numLit>
              <c:formatCode>#,##0</c:formatCode>
              <c:ptCount val="5"/>
              <c:pt idx="0">
                <c:v>38500</c:v>
              </c:pt>
              <c:pt idx="1">
                <c:v>4000</c:v>
              </c:pt>
              <c:pt idx="2">
                <c:v>3750</c:v>
              </c:pt>
              <c:pt idx="3">
                <c:v>1000</c:v>
              </c:pt>
              <c:pt idx="4">
                <c:v>7000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0.32</c:v>
              </c:pt>
              <c:pt idx="2">
                <c:v>0.16</c:v>
              </c:pt>
              <c:pt idx="3">
                <c:v>0.11</c:v>
              </c:pt>
              <c:pt idx="4">
                <c:v>0.1</c:v>
              </c:pt>
            </c:numLit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1</c:v>
              </c:pt>
              <c:pt idx="2">
                <c:v>0.99</c:v>
              </c:pt>
              <c:pt idx="3">
                <c:v>0.95</c:v>
              </c:pt>
              <c:pt idx="4">
                <c:v>0.91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81D82EC7-68BD-4BD1-A343-0EC5647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6E0971A-B700-4193-95CA-D037131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智能体能识别事件，也能得到「这一步推进了吗」的反馈；但不知道正确顺序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520E7C2-6215-4201-826A-20C27A76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49678AC-B646-4001-B4F5-A9F6C81B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86364-6DDB-42FC-AE1F-EC95B2B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8E929-8748-44D8-910E-3A8CAC04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28263-3983-4AFE-9DF0-463BC9CD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62A91-886A-41E7-851D-41A9FB3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6A0A7-C542-436F-A22C-C212410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57DE7-CB72-40B0-8E03-DA37F094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40C53-A39B-41C8-AF53-3B5EAFC1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A1D0E-3E40-430D-81A8-2DA5CF7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554D-9C4C-4937-8983-3A149EC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7FA89-5F21-4FA8-955B-25F5F771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C7FE1-9CF0-41F5-91E3-4007A24A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04A85-A9E8-4487-B918-4C7596FD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A1DE9-451F-4DA4-AF83-B2C3AEF3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3B3DF-32F4-4D4F-9A78-75FFCFB8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6221-24B1-488B-8188-2AEA9EF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18193-C3E3-47FE-8736-E28449F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9395A-BD1F-4EE6-9E15-3E6CFEF9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E7759-1C80-4556-A753-59DA65B1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6A6BA-A409-44E0-8158-C0316047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DA4A8-87A2-43EF-BD8B-682040A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93120-CDB1-4A8D-AB84-A9B2163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DB013-4262-4E6B-957E-EC1E045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D27C9-07F3-4F3D-81F4-46D97C6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10B62-AF10-4EC8-96F4-FDD90065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BCD9F1-B735-49E1-A2EA-6CA1BFA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86FF2-2C08-4ED4-9815-F8AE726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B069D-4C5F-41A3-98B9-3C3C9CA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E7A2B-A4E5-4D8F-94C8-420D7034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9F5B4-D0DC-489B-8D1C-6067A9D9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67A62-2A48-419C-93F2-874E85F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1C5CD5-4568-4A49-B699-EFB884E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329354-BCB2-488B-AEFA-5A188D73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EAD3A-F627-4421-98F5-F09D7E7B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4932C5-5517-4BFA-813E-C738799F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67753-6F49-4BD8-9C06-6E462A44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B5FDC-01EF-41B6-99AE-BAEC755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996D1BC3-0B00-4A20-A790-F658D89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3F8BA983-3946-4127-9865-0D658CF1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BD995F83-1167-495A-94E6-6B01CCD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63D33155-2111-4E3B-A05E-F558ACC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3114A27A-DFED-4744-91A5-BFF0CD4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6" name="text-10">
            <a:extLst xmlns:a="http://schemas.openxmlformats.org/drawingml/2006/main">
              <a:ext uri="{FF2B5EF4-FFF2-40B4-BE49-F238E27FC236}">
                <a16:creationId xmlns:a16="http://schemas.microsoft.com/office/drawing/2014/main" id="{402C6E44-69FA-4002-93D3-30CCFD8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879A4A-2EA9-4D3D-BAE2-A45132E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F2122F-1F10-4F86-BD49-47F202D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9C835E-4A1B-4575-961C-59D93C7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A9977C-819C-4353-A438-1F250F1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50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9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390A3B4A-DE88-4737-B60D-4EBA537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6" name="text-12">
            <a:extLst xmlns:a="http://schemas.openxmlformats.org/drawingml/2006/main">
              <a:ext uri="{FF2B5EF4-FFF2-40B4-BE49-F238E27FC236}">
                <a16:creationId xmlns:a16="http://schemas.microsoft.com/office/drawing/2014/main" id="{F1C8BB8F-62B0-48A3-9041-6D31A54C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471904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E4B10091-A408-41C6-927B-9046BD9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边发现边使用：第一个闭环结果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E88DD3E7-FFE1-4791-8B83-C478898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FE8C50AD-5A09-4165-A94A-F2A659EA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362EC04A-685F-4604-8EF5-9A464D0A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47DCA2AC-4F3D-4E13-B0C5-95E8B89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b3d7ee88674348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75970ca13a40fb"/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7ED253F9-164C-4477-9245-7EAF09B4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省下来的几乎全是「重走已知前缀」的路费，不是探索本身变聪明</a:t>
            </a:r>
          </a:p>
        </p:txBody>
      </p:sp>
    </p:spTree>
    <p:extLst>
      <p:ext uri="{BB962C8B-B14F-4D97-AF65-F5344CB8AC3E}">
        <p14:creationId xmlns:p14="http://schemas.microsoft.com/office/powerpoint/2010/main" val="1830925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A6753110-52D3-4A45-BFD4-4009500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线性任务够用，分支任务不够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54D0C2BC-105E-4D74-9EC4-7BBBB34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热泡 / 冷萃：同一个「冲粉」，前史不同 → 后续不同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C42C628E-8CCC-429F-A6FF-1E05C3E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22943-A85B-4831-8C23-DB1F3540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3C728DB6-2894-436A-B9C5-067B8DE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线性任务：进度就够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BF6FD8C0-2775-4F94-9D6C-96CE43F2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3EC3D81F-A050-4A20-8094-C9B7D359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6BFA0-BCE1-4D93-BDCA-47DF6F3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ADDA34D7-1BBD-4BCD-9413-886F99B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text-26">
            <a:extLst xmlns:a="http://schemas.openxmlformats.org/drawingml/2006/main">
              <a:ext uri="{FF2B5EF4-FFF2-40B4-BE49-F238E27FC236}">
                <a16:creationId xmlns:a16="http://schemas.microsoft.com/office/drawing/2014/main" id="{624FED70-AC5D-4C0D-AFC9-A85CEA6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CDD891F9-3BC2-4891-B614-1A8E9550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4A2997A6-4978-4C92-AAF0-77173A2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75B017D5-7DE8-4FC1-9F43-FA70223E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EAE6C42D-4AEA-44DF-827A-FF9990C8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F8AA0F04-4FDB-41FB-B84A-D0E4123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1636EA58-E155-4798-B417-C6C61CCA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8C1E8B6F-4B3F-4D50-9181-E8F036C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进度唯一标记阶段 —— 不需要真正的结构学习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029D5706-068E-4321-AC8E-669BA512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分支任务：进度不够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2F45-68EB-4A1D-A8F3-677E121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B466D-139B-45A3-A381-17F35EE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8139E-279B-41B2-BFD1-03D6767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3D8B7-264E-4C74-BBA2-39DCF8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3D34A-2BF0-4C9B-8806-FD6B700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4B742-4F6B-4799-9B64-68CF0D3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1520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1545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520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1545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9" name="text-35">
            <a:extLst xmlns:a="http://schemas.openxmlformats.org/drawingml/2006/main">
              <a:ext uri="{FF2B5EF4-FFF2-40B4-BE49-F238E27FC236}">
                <a16:creationId xmlns:a16="http://schemas.microsoft.com/office/drawing/2014/main" id="{3F033871-EE61-46CA-8510-40F59A4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进度都 = 2，位置都是 E，下一步却不同</a:t>
            </a:r>
          </a:p>
        </p:txBody>
      </p:sp>
      <p:sp>
        <p:nvSpPr>
          <p:cNvPr id="30" name="text-36">
            <a:extLst xmlns:a="http://schemas.openxmlformats.org/drawingml/2006/main">
              <a:ext uri="{FF2B5EF4-FFF2-40B4-BE49-F238E27FC236}">
                <a16:creationId xmlns:a16="http://schemas.microsoft.com/office/drawing/2014/main" id="{D5A8BB23-5988-452F-A157-1A23BF9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Prefix tree  ≡  充分历史字典 —— 价值不在画成一张图</a:t>
            </a:r>
          </a:p>
        </p:txBody>
      </p:sp>
    </p:spTree>
    <p:extLst>
      <p:ext uri="{BB962C8B-B14F-4D97-AF65-F5344CB8AC3E}">
        <p14:creationId xmlns:p14="http://schemas.microsoft.com/office/powerpoint/2010/main" val="2017979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7">
            <a:extLst xmlns:a="http://schemas.openxmlformats.org/drawingml/2006/main">
              <a:ext uri="{FF2B5EF4-FFF2-40B4-BE49-F238E27FC236}">
                <a16:creationId xmlns:a16="http://schemas.microsoft.com/office/drawing/2014/main" id="{3197854A-544D-4173-A5AE-611E24A6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于是问题变成状态抽象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0A7E3CB7-4CBB-40C0-898E-7621F68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历史不同 ≠ 任务状态不同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ABF6AD0E-70B1-4D96-A82C-23DD472D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F8853DCE-7F85-45EE-8A04-F8CCD66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08B08331-3A71-4C3A-8ECC-356EF3A4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F68DCCCF-A00E-4983-B26C-EAAF721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3D5F6-DC8E-4B57-9BFB-F577112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74ECD-FA85-4553-AC48-FE828D3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6DDEC-A5F4-4BE8-890E-CDC28832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F8B80-3108-46FE-9C93-168E67BB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9614E-67FD-4D9D-BCFE-02F4A21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3074F-7D1A-4A71-9559-845DDEE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E2873-2DAA-4795-8E2C-A9263A8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DC2D7-D692-4F73-A109-4D43B2D2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F5A51-E3C1-4450-A59E-9DED499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32936-88A4-49ED-A470-5BAB21B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49468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7B07CAA3-C93A-4E1E-8D13-572EEBE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正确压缩确实值钱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2CE271A1-8C8A-4157-B950-AA6DC207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E880D271-3A44-41BE-A171-60F0722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a2ed07d8af48da"/>
          </a:graphicData>
        </a:graphic>
      </p:graphicFrame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BB167B48-3043-4265-BA70-802F9C68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71A952E7-DB25-48FC-BBDD-BED30BC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86A62D94-BC37-4384-A7DF-03BD4CA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76537EB3-A76E-4C48-9FE8-5798A2CC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完整历史的条数随 n! 增长；正确压缩始终只有两类</a:t>
            </a:r>
          </a:p>
        </p:txBody>
      </p:sp>
    </p:spTree>
    <p:extLst>
      <p:ext uri="{BB962C8B-B14F-4D97-AF65-F5344CB8AC3E}">
        <p14:creationId xmlns:p14="http://schemas.microsoft.com/office/powerpoint/2010/main" val="2092415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8A171A3A-9FAC-480F-BB23-0E1F5984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真正的难点：在线判断哪些历史能合并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A0F20929-1F03-420A-B0E4-0EDB5B85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固定轨迹回放审计，未把这些合并接进控制器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C4C83D7D-1FD5-4ECA-884B-BC2CBCCC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D4E6CC7F-0ECF-49AF-AEE6-49DB88F9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过早合并的代价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5AFBE-ED07-4F10-B15E-1B4A0DB4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26CE4-4636-4C1F-B7DA-B482096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0DBAF-3E63-4F38-9435-5D3AB61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2695575"/>
            <a:ext cx="89535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47900" y="3581400"/>
            <a:ext cx="895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22A8597B-6BD2-4775-92D4-7ED859A9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C682D190-51DE-4AED-9480-3290D71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619A8EF1-C0AB-47D5-932C-E3A58EE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 —— 合并就会错用经验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F4A39-BE4C-41A2-86C7-E29C090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F70D2392-5B11-4E7E-8CD0-ACC6FBC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当前方法出现明显 trade-off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3911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1989146bf7429c"/>
          </a:graphicData>
        </a:graphic>
      </p:graphicFrame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B3AB93AA-319C-47D3-A74D-393580CD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</a:t>
            </a:r>
          </a:p>
        </p:txBody>
      </p:sp>
    </p:spTree>
    <p:extLst>
      <p:ext uri="{BB962C8B-B14F-4D97-AF65-F5344CB8AC3E}">
        <p14:creationId xmlns:p14="http://schemas.microsoft.com/office/powerpoint/2010/main" val="391306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59">
            <a:extLst xmlns:a="http://schemas.openxmlformats.org/drawingml/2006/main">
              <a:ext uri="{FF2B5EF4-FFF2-40B4-BE49-F238E27FC236}">
                <a16:creationId xmlns:a16="http://schemas.microsoft.com/office/drawing/2014/main" id="{2601C8C8-A44D-400B-A52F-1142322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为什么最近的「提前压缩」没复现早期大收益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A9DF897F-1831-4815-AE7B-82CAD22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两种「立即使用」不是一回事：早期实验里行为会改变下一份证据，零件实验里不会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713C5084-2B9C-4E31-96F0-01540880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706AADEE-6AD8-4C66-A653-15FB628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早期导航任务：行为改变证据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AB9B6C79-E29A-4E03-9814-C0D09546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最新零件实验：证据与行为无关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A2BDB-A432-4FC2-8D1D-BCE4BF5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57CB0-F261-4A0D-A31E-9F105A3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FDCCC-A1B9-48A8-AA9A-99F414C7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20DF9-F209-41D0-98ED-928CA6C3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5A836-FD51-4C6E-B12E-8AAF7B2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BBFA234C-2321-4CDE-9315-7A559C9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FFEF8AE4-5C6A-4567-AF15-8D8A740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400550"/>
          <a:ext xmlns:a="http://schemas.openxmlformats.org/drawingml/2006/main" cx="5029200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80ab5be6924736"/>
          </a:graphicData>
        </a:graphic>
      </p:graphicFrame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68A4AA89-274B-4361-AE17-BF290E4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当行为会改变后续证据时，提前使用才能形成真正的闭环</a:t>
            </a:r>
          </a:p>
        </p:txBody>
      </p:sp>
    </p:spTree>
    <p:extLst>
      <p:ext uri="{BB962C8B-B14F-4D97-AF65-F5344CB8AC3E}">
        <p14:creationId xmlns:p14="http://schemas.microsoft.com/office/powerpoint/2010/main" val="752653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67">
            <a:extLst xmlns:a="http://schemas.openxmlformats.org/drawingml/2006/main">
              <a:ext uri="{FF2B5EF4-FFF2-40B4-BE49-F238E27FC236}">
                <a16:creationId xmlns:a16="http://schemas.microsoft.com/office/drawing/2014/main" id="{F4BC17EC-7493-4D17-AFF7-544C2E96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结构拿到以后，还有第二个独立问题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D80E3106-6B96-4677-823A-FB9CC01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任务规则已给定；危险格扫描的逐种子记录已缺失，不能重算区间</a:t>
            </a:r>
          </a:p>
        </p:txBody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12A74AF4-8F2A-4944-8787-83FC6C7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838CD944-6BA6-452B-872F-0ACEFFF5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普通环境：都贴着天花板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1091BC95-D8BB-4F74-BB29-9814200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D772D62B-B140-459F-AE16-8F3ABE97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15B190D9-C443-4EBC-95F8-0213A5F0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4C2BACD6-A58D-4A0A-85A6-4B6FDD7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793C-2699-438E-9DEF-A7C1D04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69D0B151-110D-4A46-9569-F180A83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989F7-7712-4641-9164-0266B5A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66223692-D676-443A-B167-2047C5B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2507E-4CAB-42E9-9FA9-1F80373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77">
            <a:extLst xmlns:a="http://schemas.openxmlformats.org/drawingml/2006/main">
              <a:ext uri="{FF2B5EF4-FFF2-40B4-BE49-F238E27FC236}">
                <a16:creationId xmlns:a16="http://schemas.microsoft.com/office/drawing/2014/main" id="{94B2E8C5-03AE-448C-AA0B-CCAEBA0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C49F5-2E07-4830-B77A-B13FA6FD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2012D1FA-B484-4C04-8FAE-5793103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6D64830E-D293-4E11-82ED-0AC53005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四臂差距很小，不能据此排机制强弱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3E4B7-63A4-469B-A3BA-03053BCC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9" name="text-80">
            <a:extLst xmlns:a="http://schemas.openxmlformats.org/drawingml/2006/main">
              <a:ext uri="{FF2B5EF4-FFF2-40B4-BE49-F238E27FC236}">
                <a16:creationId xmlns:a16="http://schemas.microsoft.com/office/drawing/2014/main" id="{B5D96812-D2EC-47F4-A523-112F4DF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3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 / 不可逆环境：差异被放大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096000" y="177165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04655ce4544f8d"/>
          </a:graphicData>
        </a:graphic>
      </p:graphicFrame>
      <p:sp>
        <p:nvSpPr>
          <p:cNvPr id="21" name="text-81">
            <a:extLst xmlns:a="http://schemas.openxmlformats.org/drawingml/2006/main">
              <a:ext uri="{FF2B5EF4-FFF2-40B4-BE49-F238E27FC236}">
                <a16:creationId xmlns:a16="http://schemas.microsoft.com/office/drawing/2014/main" id="{452DA82A-14A9-4685-9638-D8FC98E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22" name="text-82">
            <a:extLst xmlns:a="http://schemas.openxmlformats.org/drawingml/2006/main">
              <a:ext uri="{FF2B5EF4-FFF2-40B4-BE49-F238E27FC236}">
                <a16:creationId xmlns:a16="http://schemas.microsoft.com/office/drawing/2014/main" id="{3B6AAA07-18A9-4341-9E73-AF4BBB2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该协议下，复用相关的差异被明显放大</a:t>
            </a:r>
          </a:p>
        </p:txBody>
      </p:sp>
    </p:spTree>
    <p:extLst>
      <p:ext uri="{BB962C8B-B14F-4D97-AF65-F5344CB8AC3E}">
        <p14:creationId xmlns:p14="http://schemas.microsoft.com/office/powerpoint/2010/main" val="111149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35EE3105-E1F3-45E5-8F7E-9D8A3E8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三层研究地图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91BD91DA-DAA3-4CB3-9400-65CCE5D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3682D4B8-7B39-4B4A-9451-A4214DBB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46AA6F9D-E2EF-4269-B8B4-87EE0D37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A7353168-32E8-467B-9CE1-F6B1FC3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13185AA8-C02A-41C7-AD2B-09F2B53B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956F254E-E4F6-4632-A35C-4180C85D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AFE86-E60B-4029-93E9-013B627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67907-19DF-4259-A6AD-D7BD541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014BE-0DC0-4523-83B4-78ABB8F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A6361-32F1-426D-A9B9-85CF34C5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B7354DED-F54F-4D64-B9DA-81DB634F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FC0C9B90-A462-4036-9957-7427F110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92">
            <a:extLst xmlns:a="http://schemas.openxmlformats.org/drawingml/2006/main">
              <a:ext uri="{FF2B5EF4-FFF2-40B4-BE49-F238E27FC236}">
                <a16:creationId xmlns:a16="http://schemas.microsoft.com/office/drawing/2014/main" id="{BDE69126-2267-4060-918E-7F592331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948FF-F077-4C67-BFA1-0AA9D34E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C1E02-4484-46C3-8D46-869A52F8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94CBB-5592-4E1D-B541-5913171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6F9B8-C08F-4CBA-802F-4479995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A7866903-0463-4BDE-B38E-AEFA91A4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F06F3543-5912-454E-A2E3-AFC336A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61FB57EE-12A6-45E2-9FC2-052CC8A8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24D01-C0DD-4259-BCEE-473D65DC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1DDF7-3591-4230-8397-6B99751F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47F18-FDAB-4151-ACE9-D835B3D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854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2041E167-6CBF-41ED-8B7B-1F46FA0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Backup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66BBB6E3-63D0-483F-94EA-5053FA41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以下六页不在主线里，用于回答具体提问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E15CA391-FCF8-4606-99E7-1BFCC373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8577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5DE793EE-E54B-4935-8E63-E9CA73A8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可靠任务反馈的预算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0FDCB0DE-AA8C-4693-A4FD-B5CA7D3F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90%；未启用合并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E2DDC0AA-257E-4554-B733-1F67CB51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884d9e43e047c2"/>
          </a:graphicData>
        </a:graphic>
      </p:graphicFrame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21FE244C-60F0-4B8A-9D2B-076A217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6C85A821-46AC-4C01-9F12-A9FACD5A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78D07834-4146-4A33-B421-2BBCD03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BE4D267F-4357-49C3-AF2E-320784B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CFE50378-E5FE-4BE6-B24A-27F683DC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只说明反馈越多越容易学会；不能推出「结构必须接近完整才能使用」</a:t>
            </a:r>
          </a:p>
        </p:txBody>
      </p:sp>
    </p:spTree>
    <p:extLst>
      <p:ext uri="{BB962C8B-B14F-4D97-AF65-F5344CB8AC3E}">
        <p14:creationId xmlns:p14="http://schemas.microsoft.com/office/powerpoint/2010/main" val="19101035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7CBF5788-8583-4B7D-8E19-FE2FD8E1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同一份历史的两种表示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28CCBFD9-326C-4C21-B947-4FC7F1FF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同样的信息量，两种写法逐动作一致 —— 所以价值不在图这种形式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562D2829-E7B6-4518-AD71-ABB1D34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75FD3509-692B-43E7-A844-DB60727D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E39F2234-D576-40F7-83AA-37E0240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C25A7-4632-475C-9572-0A73666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48FBB-B2DD-48A2-B300-23C3A9C2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1B433-481D-4A23-89DB-50429638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73F40-2041-4357-AC62-02D41B8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B782-555D-4906-89F7-602A578A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8620F-F43E-4AF7-AC58-86AC1298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69212-496E-4706-AD4D-AFD1FC79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text-112">
            <a:extLst xmlns:a="http://schemas.openxmlformats.org/drawingml/2006/main">
              <a:ext uri="{FF2B5EF4-FFF2-40B4-BE49-F238E27FC236}">
                <a16:creationId xmlns:a16="http://schemas.microsoft.com/office/drawing/2014/main" id="{C985BF3C-112A-4AB0-8442-6AFD1E4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text-113">
            <a:extLst xmlns:a="http://schemas.openxmlformats.org/drawingml/2006/main">
              <a:ext uri="{FF2B5EF4-FFF2-40B4-BE49-F238E27FC236}">
                <a16:creationId xmlns:a16="http://schemas.microsoft.com/office/drawing/2014/main" id="{39983CAA-4D97-42A2-A52D-DD2F15E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1" name="text-114">
            <a:extLst xmlns:a="http://schemas.openxmlformats.org/drawingml/2006/main">
              <a:ext uri="{FF2B5EF4-FFF2-40B4-BE49-F238E27FC236}">
                <a16:creationId xmlns:a16="http://schemas.microsoft.com/office/drawing/2014/main" id="{FBAB9561-3469-4776-B0A3-91640B3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A6FDE-ED20-4320-BBD3-803F9A27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463FA3BC-F0FA-487B-9EAD-7A4C8FF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801BF9D4-C7DB-4704-9FFE-4C25F7B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5" name="text-117">
            <a:extLst xmlns:a="http://schemas.openxmlformats.org/drawingml/2006/main">
              <a:ext uri="{FF2B5EF4-FFF2-40B4-BE49-F238E27FC236}">
                <a16:creationId xmlns:a16="http://schemas.microsoft.com/office/drawing/2014/main" id="{913D064B-C842-4BBE-A903-209FCF7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62EEA7C0-C78B-43B0-9EF0-EC7F7D4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D29E252E-28C5-461F-ACF1-1E0C5ED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745608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20">
            <a:extLst xmlns:a="http://schemas.openxmlformats.org/drawingml/2006/main">
              <a:ext uri="{FF2B5EF4-FFF2-40B4-BE49-F238E27FC236}">
                <a16:creationId xmlns:a16="http://schemas.microsoft.com/office/drawing/2014/main" id="{D587B7C0-BDFF-4D16-8398-E7E3F180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压缩倍数的闭式解释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1C7AA395-1AA6-4EC7-92A1-25C0292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大倍数来自要填多少张表，不需要额外的机制假设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64D8F02C-72DA-40AB-8150-6221238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C631E2CA-6D63-47CB-B98E-4948CA5E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为什么是这个量级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E69FB22F-9DA4-499B-B08D-926706C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错误动作 Q 恒为 0；正确动作首次拿到正奖励后 Q = 1，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3592FAF4-231F-4261-A812-B44AC26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此后这个状态永远答对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C3A0F125-CBD9-4560-94B3-6F2DC46A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未覆盖的状态随机并列，答对一半</a:t>
            </a:r>
          </a:p>
        </p:txBody>
      </p:sp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2A4A2DF4-5CD2-48A7-864C-B62EC5A7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→ 准确率 = (H + c) / 2H，要达 95% 需覆盖 c ≥ 0.9H</a:t>
            </a:r>
          </a:p>
        </p:txBody>
      </p: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E9A5429E-B009-44F5-BB24-015BBCD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已覆盖 i 格时新覆盖一格的概率 = (H − i) / 2H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29615AD3-6332-4D0B-B16E-E5E8FBA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→ 期望等待 2H / (H − i)</a:t>
            </a:r>
          </a:p>
        </p:txBody>
      </p:sp>
      <p:sp>
        <p:nvSpPr>
          <p:cNvPr id="11" name="text-130">
            <a:extLst xmlns:a="http://schemas.openxmlformats.org/drawingml/2006/main">
              <a:ext uri="{FF2B5EF4-FFF2-40B4-BE49-F238E27FC236}">
                <a16:creationId xmlns:a16="http://schemas.microsoft.com/office/drawing/2014/main" id="{8E17D539-F51C-4C9D-A7BF-AB8CC419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T95 = Σ 2H/(H − i)，i = 0 … ⌈0.9H⌉ − 1</a:t>
            </a:r>
          </a:p>
        </p:txBody>
      </p: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4E8BB673-FD82-452D-A83E-525205A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H = n! = 6 / 24 / 120；压缩后 H = 2 → 6.0 幕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53911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8e518e59d4649"/>
          </a:graphicData>
        </a:graphic>
      </p:graphicFrame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742EAD5C-02B1-4B88-969C-8ADBE445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理论倍数 90.63×　　实测 89.75×</a:t>
            </a:r>
          </a:p>
        </p:txBody>
      </p:sp>
    </p:spTree>
    <p:extLst>
      <p:ext uri="{BB962C8B-B14F-4D97-AF65-F5344CB8AC3E}">
        <p14:creationId xmlns:p14="http://schemas.microsoft.com/office/powerpoint/2010/main" val="7296317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3">
            <a:extLst xmlns:a="http://schemas.openxmlformats.org/drawingml/2006/main">
              <a:ext uri="{FF2B5EF4-FFF2-40B4-BE49-F238E27FC236}">
                <a16:creationId xmlns:a16="http://schemas.microsoft.com/office/drawing/2014/main" id="{EDE61573-A339-4756-8E94-378D120A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合并审计的完整口径</a:t>
            </a:r>
          </a:p>
        </p:txBody>
      </p:sp>
      <p:sp>
        <p:nvSpPr>
          <p:cNvPr id="2" name="text-134">
            <a:extLst xmlns:a="http://schemas.openxmlformats.org/drawingml/2006/main">
              <a:ext uri="{FF2B5EF4-FFF2-40B4-BE49-F238E27FC236}">
                <a16:creationId xmlns:a16="http://schemas.microsoft.com/office/drawing/2014/main" id="{089CB401-272D-4CC4-8014-BCC5E08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裁决正确 = 借来的答案与真裁决一致；归属正确 = 被合并的伙伴确实是同一任务状态</a:t>
            </a:r>
          </a:p>
        </p:txBody>
      </p:sp>
      <p:sp>
        <p:nvSpPr>
          <p:cNvPr id="3" name="text-135">
            <a:extLst xmlns:a="http://schemas.openxmlformats.org/drawingml/2006/main">
              <a:ext uri="{FF2B5EF4-FFF2-40B4-BE49-F238E27FC236}">
                <a16:creationId xmlns:a16="http://schemas.microsoft.com/office/drawing/2014/main" id="{0FE6653B-7B10-453F-A45C-6298E8C4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F26BDAE6-CF04-4AEC-91F3-2E73144D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137">
            <a:extLst xmlns:a="http://schemas.openxmlformats.org/drawingml/2006/main">
              <a:ext uri="{FF2B5EF4-FFF2-40B4-BE49-F238E27FC236}">
                <a16:creationId xmlns:a16="http://schemas.microsoft.com/office/drawing/2014/main" id="{916D15E7-DD07-4F7D-B342-342E4D3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138">
            <a:extLst xmlns:a="http://schemas.openxmlformats.org/drawingml/2006/main">
              <a:ext uri="{FF2B5EF4-FFF2-40B4-BE49-F238E27FC236}">
                <a16:creationId xmlns:a16="http://schemas.microsoft.com/office/drawing/2014/main" id="{8E809626-0991-4694-866C-C4DC737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6b2034a0af4116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41960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2b27459c544a51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486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091f5f40384489"/>
          </a:graphicData>
        </a:graphic>
      </p:graphicFrame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51A2F52C-6EF5-4340-92ED-5F6EEA2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236 次强制合并中 140 次把真状态不同的历史证成同态；在线 k_min 为 8–12，真状态数 19–27</a:t>
            </a:r>
          </a:p>
        </p:txBody>
      </p:sp>
      <p:sp>
        <p:nvSpPr>
          <p:cNvPr id="11" name="text-140">
            <a:extLst xmlns:a="http://schemas.openxmlformats.org/drawingml/2006/main">
              <a:ext uri="{FF2B5EF4-FFF2-40B4-BE49-F238E27FC236}">
                <a16:creationId xmlns:a16="http://schemas.microsoft.com/office/drawing/2014/main" id="{88531FD9-1827-4991-BEE5-EBB4E528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不达标：节省 16.9% &lt; 20%；错误裁决 47；错误归属 140；敏感性上界 23.6% 仍不达标</a:t>
            </a:r>
          </a:p>
        </p:txBody>
      </p:sp>
    </p:spTree>
    <p:extLst>
      <p:ext uri="{BB962C8B-B14F-4D97-AF65-F5344CB8AC3E}">
        <p14:creationId xmlns:p14="http://schemas.microsoft.com/office/powerpoint/2010/main" val="20164764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41">
            <a:extLst xmlns:a="http://schemas.openxmlformats.org/drawingml/2006/main">
              <a:ext uri="{FF2B5EF4-FFF2-40B4-BE49-F238E27FC236}">
                <a16:creationId xmlns:a16="http://schemas.microsoft.com/office/drawing/2014/main" id="{BA4A8A70-0BB2-48BB-B1E0-7DDF3B8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结构利用五臂完整数值</a:t>
            </a:r>
          </a:p>
        </p:txBody>
      </p:sp>
      <p:sp>
        <p:nvSpPr>
          <p:cNvPr id="2" name="text-142">
            <a:extLst xmlns:a="http://schemas.openxmlformats.org/drawingml/2006/main">
              <a:ext uri="{FF2B5EF4-FFF2-40B4-BE49-F238E27FC236}">
                <a16:creationId xmlns:a16="http://schemas.microsoft.com/office/drawing/2014/main" id="{A23C8571-9055-4DB3-9232-2524936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AUC 接近天花板，不能据此排序机制强弱</a:t>
            </a:r>
          </a:p>
        </p:txBody>
      </p:sp>
      <p:sp>
        <p:nvSpPr>
          <p:cNvPr id="3" name="text-143">
            <a:extLst xmlns:a="http://schemas.openxmlformats.org/drawingml/2006/main">
              <a:ext uri="{FF2B5EF4-FFF2-40B4-BE49-F238E27FC236}">
                <a16:creationId xmlns:a16="http://schemas.microsoft.com/office/drawing/2014/main" id="{04F9D4F0-2776-4A38-B158-D43D4E5E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4" name="text-144">
            <a:extLst xmlns:a="http://schemas.openxmlformats.org/drawingml/2006/main">
              <a:ext uri="{FF2B5EF4-FFF2-40B4-BE49-F238E27FC236}">
                <a16:creationId xmlns:a16="http://schemas.microsoft.com/office/drawing/2014/main" id="{58F8A80B-0600-4B54-91F3-D3DC42C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45">
            <a:extLst xmlns:a="http://schemas.openxmlformats.org/drawingml/2006/main">
              <a:ext uri="{FF2B5EF4-FFF2-40B4-BE49-F238E27FC236}">
                <a16:creationId xmlns:a16="http://schemas.microsoft.com/office/drawing/2014/main" id="{2D48206A-2063-4D41-B0D9-4BCD4A7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59E74CBF-2DE2-4AD0-8274-ACDCA13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50CF5155-E437-4935-AD21-32EAB3F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8C49A-6D0F-414E-A3D2-623D6276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0D3796A9-B640-4078-AF93-3CBD7073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49">
            <a:extLst xmlns:a="http://schemas.openxmlformats.org/drawingml/2006/main">
              <a:ext uri="{FF2B5EF4-FFF2-40B4-BE49-F238E27FC236}">
                <a16:creationId xmlns:a16="http://schemas.microsoft.com/office/drawing/2014/main" id="{B52F41DC-3BE5-43B5-8994-92C72DE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50">
            <a:extLst xmlns:a="http://schemas.openxmlformats.org/drawingml/2006/main">
              <a:ext uri="{FF2B5EF4-FFF2-40B4-BE49-F238E27FC236}">
                <a16:creationId xmlns:a16="http://schemas.microsoft.com/office/drawing/2014/main" id="{55EAF984-8B18-406A-BBDB-D29279DF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E0859-9E76-44E0-AE6D-F21C6C4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F18A9F02-91E1-41B9-9D71-39BB7539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133AE20E-26D1-413E-98F2-D82937B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53">
            <a:extLst xmlns:a="http://schemas.openxmlformats.org/drawingml/2006/main">
              <a:ext uri="{FF2B5EF4-FFF2-40B4-BE49-F238E27FC236}">
                <a16:creationId xmlns:a16="http://schemas.microsoft.com/office/drawing/2014/main" id="{61A7C9DA-84EF-46B9-B33B-2432A64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81450-ADC1-41D6-B119-8FAEB18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91C3E436-46E9-4AF2-864A-6E5EC6E4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9090C479-B463-4DF7-B307-6F8F92B2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533DC540-04B0-4720-932A-2F55855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9D5FD-9D1A-499D-8BEB-537FD0F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0207FB61-D209-4690-AD38-9F196069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A3A0DA40-7F60-4516-AABB-F2689F32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59">
            <a:extLst xmlns:a="http://schemas.openxmlformats.org/drawingml/2006/main">
              <a:ext uri="{FF2B5EF4-FFF2-40B4-BE49-F238E27FC236}">
                <a16:creationId xmlns:a16="http://schemas.microsoft.com/office/drawing/2014/main" id="{25428AE5-6C1A-4AE3-B0A2-89E3DAD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60">
            <a:extLst xmlns:a="http://schemas.openxmlformats.org/drawingml/2006/main">
              <a:ext uri="{FF2B5EF4-FFF2-40B4-BE49-F238E27FC236}">
                <a16:creationId xmlns:a16="http://schemas.microsoft.com/office/drawing/2014/main" id="{D6071AEB-3779-4B84-8EDF-CFF175E0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67667048e14249"/>
          </a:graphicData>
        </a:graphic>
      </p:graphicFrame>
      <p:sp>
        <p:nvSpPr>
          <p:cNvPr id="26" name="text-161">
            <a:extLst xmlns:a="http://schemas.openxmlformats.org/drawingml/2006/main">
              <a:ext uri="{FF2B5EF4-FFF2-40B4-BE49-F238E27FC236}">
                <a16:creationId xmlns:a16="http://schemas.microsoft.com/office/drawing/2014/main" id="{8FA72001-57B6-4D09-9C33-3F3F9BBE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62">
            <a:extLst xmlns:a="http://schemas.openxmlformats.org/drawingml/2006/main">
              <a:ext uri="{FF2B5EF4-FFF2-40B4-BE49-F238E27FC236}">
                <a16:creationId xmlns:a16="http://schemas.microsoft.com/office/drawing/2014/main" id="{6C6160EA-7C72-48AF-814A-CD7DB0C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3815033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BEFAE596-6A39-4687-A2D4-4A9E7F1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危险格剂量扫描</a:t>
            </a:r>
          </a:p>
        </p:txBody>
      </p:sp>
      <p:sp>
        <p:nvSpPr>
          <p:cNvPr id="2" name="text-164">
            <a:extLst xmlns:a="http://schemas.openxmlformats.org/drawingml/2006/main">
              <a:ext uri="{FF2B5EF4-FFF2-40B4-BE49-F238E27FC236}">
                <a16:creationId xmlns:a16="http://schemas.microsoft.com/office/drawing/2014/main" id="{36E33E62-B704-4D88-B58C-9D7D6CF1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万步预算；逐种子记录已缺失，不能重算区间</a:t>
            </a:r>
          </a:p>
        </p:txBody>
      </p:sp>
      <p:sp>
        <p:nvSpPr>
          <p:cNvPr id="3" name="text-165">
            <a:extLst xmlns:a="http://schemas.openxmlformats.org/drawingml/2006/main">
              <a:ext uri="{FF2B5EF4-FFF2-40B4-BE49-F238E27FC236}">
                <a16:creationId xmlns:a16="http://schemas.microsoft.com/office/drawing/2014/main" id="{22AE20B4-9B3F-402C-9AD3-DF187D9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c87cfb413940c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DAE8D-ED97-42EB-95EE-824D4B9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66">
            <a:extLst xmlns:a="http://schemas.openxmlformats.org/drawingml/2006/main">
              <a:ext uri="{FF2B5EF4-FFF2-40B4-BE49-F238E27FC236}">
                <a16:creationId xmlns:a16="http://schemas.microsoft.com/office/drawing/2014/main" id="{5E2581DA-F79F-4782-8C0F-10C430E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67">
            <a:extLst xmlns:a="http://schemas.openxmlformats.org/drawingml/2006/main">
              <a:ext uri="{FF2B5EF4-FFF2-40B4-BE49-F238E27FC236}">
                <a16:creationId xmlns:a16="http://schemas.microsoft.com/office/drawing/2014/main" id="{706A450E-A658-4A6A-8116-28B79C7E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1351362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2026-09-16T05:20:18.6570000Z</dcterms:created>
  <dcterms:modified xsi:type="dcterms:W3CDTF">2026-09-16T05:20:18.6570000Z</dcterms:modified>
</coreProperties>
</file>