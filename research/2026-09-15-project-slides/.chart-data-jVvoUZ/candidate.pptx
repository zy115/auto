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3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7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8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9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0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8aca2bf68a4f46" /><Relationship Type="http://schemas.openxmlformats.org/officeDocument/2006/relationships/extended-properties" Target="/docProps/app.xml" Id="R36e07667bf204285" /><Relationship Type="http://schemas.openxmlformats.org/officeDocument/2006/relationships/officeDocument" Target="/ppt/presentation.xml" Id="R158c8679d4ba47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46e49536fe410a"/>
  </p:sldMasterIdLst>
  <p:notesMasterIdLst>
    <p:notesMasterId xmlns:r="http://schemas.openxmlformats.org/officeDocument/2006/relationships" r:id="R10e98fab53e6453b"/>
  </p:notesMasterIdLst>
  <p:sldIdLst>
    <p:sldId xmlns:r="http://schemas.openxmlformats.org/officeDocument/2006/relationships" id="256" r:id="R1a5093b3ed224dbe"/>
    <p:sldId xmlns:r="http://schemas.openxmlformats.org/officeDocument/2006/relationships" id="257" r:id="Rf6f567274e124ea2"/>
    <p:sldId xmlns:r="http://schemas.openxmlformats.org/officeDocument/2006/relationships" id="258" r:id="R3ba790fdfaaa4c4b"/>
    <p:sldId xmlns:r="http://schemas.openxmlformats.org/officeDocument/2006/relationships" id="259" r:id="Re4554b7264fb4a3f"/>
    <p:sldId xmlns:r="http://schemas.openxmlformats.org/officeDocument/2006/relationships" id="260" r:id="R5ae814cdcb1d413e"/>
    <p:sldId xmlns:r="http://schemas.openxmlformats.org/officeDocument/2006/relationships" id="261" r:id="R87c4d8e6b89a4017"/>
    <p:sldId xmlns:r="http://schemas.openxmlformats.org/officeDocument/2006/relationships" id="262" r:id="Raaf1ae4b923b4239"/>
    <p:sldId xmlns:r="http://schemas.openxmlformats.org/officeDocument/2006/relationships" id="263" r:id="R556bae99560c48e1"/>
    <p:sldId xmlns:r="http://schemas.openxmlformats.org/officeDocument/2006/relationships" id="264" r:id="R96f5364ae25746b3"/>
    <p:sldId xmlns:r="http://schemas.openxmlformats.org/officeDocument/2006/relationships" id="265" r:id="Rf846c4ce5d1e4ed9"/>
    <p:sldId xmlns:r="http://schemas.openxmlformats.org/officeDocument/2006/relationships" id="266" r:id="Rfe19f63263924671"/>
    <p:sldId xmlns:r="http://schemas.openxmlformats.org/officeDocument/2006/relationships" id="267" r:id="Ra458c1fbdf3c4d14"/>
    <p:sldId xmlns:r="http://schemas.openxmlformats.org/officeDocument/2006/relationships" id="268" r:id="Rce23238f2cf64c13"/>
    <p:sldId xmlns:r="http://schemas.openxmlformats.org/officeDocument/2006/relationships" id="269" r:id="Re244e16625314c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4903f75c1e4d2e" /><Relationship Type="http://schemas.openxmlformats.org/officeDocument/2006/relationships/slideMaster" Target="/ppt/slideMasters/slideMaster1.xml" Id="R9146e49536fe410a" /><Relationship Type="http://schemas.openxmlformats.org/officeDocument/2006/relationships/notesMaster" Target="/ppt/notesMasters/notesMaster1.xml" Id="R10e98fab53e6453b" /><Relationship Type="http://schemas.openxmlformats.org/officeDocument/2006/relationships/presProps" Target="/ppt/presProps.xml" Id="Re6e73aee15104320" /><Relationship Type="http://schemas.openxmlformats.org/officeDocument/2006/relationships/tableStyles" Target="/ppt/tableStyles.xml" Id="R56a1f0dd216a4f96" /><Relationship Type="http://schemas.openxmlformats.org/officeDocument/2006/relationships/slide" Target="/ppt/slides/slide1.xml" Id="R1a5093b3ed224dbe" /><Relationship Type="http://schemas.openxmlformats.org/officeDocument/2006/relationships/slide" Target="/ppt/slides/slide2.xml" Id="Rf6f567274e124ea2" /><Relationship Type="http://schemas.openxmlformats.org/officeDocument/2006/relationships/slide" Target="/ppt/slides/slide3.xml" Id="R3ba790fdfaaa4c4b" /><Relationship Type="http://schemas.openxmlformats.org/officeDocument/2006/relationships/slide" Target="/ppt/slides/slide4.xml" Id="Re4554b7264fb4a3f" /><Relationship Type="http://schemas.openxmlformats.org/officeDocument/2006/relationships/slide" Target="/ppt/slides/slide5.xml" Id="R5ae814cdcb1d413e" /><Relationship Type="http://schemas.openxmlformats.org/officeDocument/2006/relationships/slide" Target="/ppt/slides/slide6.xml" Id="R87c4d8e6b89a4017" /><Relationship Type="http://schemas.openxmlformats.org/officeDocument/2006/relationships/slide" Target="/ppt/slides/slide7.xml" Id="Raaf1ae4b923b4239" /><Relationship Type="http://schemas.openxmlformats.org/officeDocument/2006/relationships/slide" Target="/ppt/slides/slide8.xml" Id="R556bae99560c48e1" /><Relationship Type="http://schemas.openxmlformats.org/officeDocument/2006/relationships/slide" Target="/ppt/slides/slide9.xml" Id="R96f5364ae25746b3" /><Relationship Type="http://schemas.openxmlformats.org/officeDocument/2006/relationships/slide" Target="/ppt/slides/slide10.xml" Id="Rf846c4ce5d1e4ed9" /><Relationship Type="http://schemas.openxmlformats.org/officeDocument/2006/relationships/slide" Target="/ppt/slides/slide11.xml" Id="Rfe19f63263924671" /><Relationship Type="http://schemas.openxmlformats.org/officeDocument/2006/relationships/slide" Target="/ppt/slides/slide12.xml" Id="Ra458c1fbdf3c4d14" /><Relationship Type="http://schemas.openxmlformats.org/officeDocument/2006/relationships/slide" Target="/ppt/slides/slide13.xml" Id="Rce23238f2cf64c13" /><Relationship Type="http://schemas.openxmlformats.org/officeDocument/2006/relationships/slide" Target="/ppt/slides/slide14.xml" Id="Re244e16625314c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2a15d8b00f41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4ab6dd267a410a" /><Relationship Type="http://schemas.openxmlformats.org/officeDocument/2006/relationships/notesMaster" Target="/ppt/notesMasters/notesMaster1.xml" Id="Re7baaa2f3ffd4b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3ec8f6e0844f0e" /><Relationship Type="http://schemas.openxmlformats.org/officeDocument/2006/relationships/notesMaster" Target="/ppt/notesMasters/notesMaster1.xml" Id="R25ca3bec987b49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2a0e0c90154d58" /><Relationship Type="http://schemas.openxmlformats.org/officeDocument/2006/relationships/notesMaster" Target="/ppt/notesMasters/notesMaster1.xml" Id="Rd7bb68344c9641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9e573beb484893" /><Relationship Type="http://schemas.openxmlformats.org/officeDocument/2006/relationships/notesMaster" Target="/ppt/notesMasters/notesMaster1.xml" Id="Re41cc4a5b59643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6299870e7b4160" /><Relationship Type="http://schemas.openxmlformats.org/officeDocument/2006/relationships/notesMaster" Target="/ppt/notesMasters/notesMaster1.xml" Id="R8e8175582be544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2383adefe64c16" /><Relationship Type="http://schemas.openxmlformats.org/officeDocument/2006/relationships/notesMaster" Target="/ppt/notesMasters/notesMaster1.xml" Id="R91e3477bb0fb42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a033a03378463b" /><Relationship Type="http://schemas.openxmlformats.org/officeDocument/2006/relationships/notesMaster" Target="/ppt/notesMasters/notesMaster1.xml" Id="Rb65159d701f842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00fc29b9e7465f" /><Relationship Type="http://schemas.openxmlformats.org/officeDocument/2006/relationships/notesMaster" Target="/ppt/notesMasters/notesMaster1.xml" Id="R4a689801e2f0450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14661f1eea34fc1" /><Relationship Type="http://schemas.openxmlformats.org/officeDocument/2006/relationships/notesMaster" Target="/ppt/notesMasters/notesMaster1.xml" Id="R7ab157fce59d47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0f0e1a4b7745c8" /><Relationship Type="http://schemas.openxmlformats.org/officeDocument/2006/relationships/notesMaster" Target="/ppt/notesMasters/notesMaster1.xml" Id="R2b109f8dffd943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4571ac53644ba1" /><Relationship Type="http://schemas.openxmlformats.org/officeDocument/2006/relationships/notesMaster" Target="/ppt/notesMasters/notesMaster1.xml" Id="R12f232a3a7f14c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c29806623047d3" /><Relationship Type="http://schemas.openxmlformats.org/officeDocument/2006/relationships/notesMaster" Target="/ppt/notesMasters/notesMaster1.xml" Id="R0c32dd50f5204c9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de76c797034f3b" /><Relationship Type="http://schemas.openxmlformats.org/officeDocument/2006/relationships/notesMaster" Target="/ppt/notesMasters/notesMaster1.xml" Id="R4c7ce7be5c9347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c2689032a941c5" /><Relationship Type="http://schemas.openxmlformats.org/officeDocument/2006/relationships/notesMaster" Target="/ppt/notesMasters/notesMaster1.xml" Id="R1beabe7db4eb47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问题是隐藏任务顺序/逻辑的发现，不是完全没有任务信号的目标发现。事件可识别，早期实验提供可靠的逐步推进反馈。格子图仅为机制示意，不对应具体实验地图。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6：长度16，动作噪声，第二批32个新种子。左图为首次成功率达到90%的平均环境步。右图为第一次完整成功之前，在已知目标前缀中累计执行的平均步数，两者观察区间不同，不应当相减或当成总成本的精确分解。三方法每步9次Bellman更新；立即/延迟epsilon均为0.005，普通replay为0.05（开发集选择）。未声称超过ISA等既有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在线性任务与可靠进度反馈条件下，进度唯一标记任务阶段。列表是链式自动机的等价表示；结果不证明图形式本身的优势。未知项由试错逐步填入。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→E与B→E汇入同一物理位置，进度均为2、末事件均为E，但后继要求不同。图中两个E表示不同历史下的任务状态，不是两个物理位置。充分历史可以解决这个任务。咖啡例子只是同构的直觉说明，不是实验中的任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前缀树与完整成功事件历史dictionary在匹配输入与随机数时逐动作一致。字典包含足够历史，并非只存进度或最后事件。这里比较表示形式，不涉及合并不同历史。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TL/progressive_task_discovery/stage7_branching/REPORT.md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零件任务规则：A先于B则选X，否则选Y，其他零件位置无关。完整顺序由环境提供；末端只做一次二选一。此图表示末端决策等价，不声称每个中间前缀在环境状态上都等价。正确自动机与等价手写程序使用同一状态划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TL/AUTO/docs/MEMORY_COMPRESSION_PILOT.md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规模400个配对种子，每方法5000幕。T95为首次达到并在后续记录点保持至少95%准确率的幕数，本批主要对照无删失，因此RMST等于平均T95。压缩等价关系由设计者提供。完整历史与正确压缩使用同样Q-learning。自动机与等价手写程序逐种子逐评估点一致。比值来自未取整均值，不应以显示取整值要求精确相除。该量级有闭式解释：错误动作Q恒为0，正确动作首次获正奖励后Q=1，此后该状态永远答对；未覆盖状态随机并列答对一半，故准确率=(H+c)/2H，要达95%需覆盖c&gt;=0.9H。已覆盖i格时新覆盖一格的概率为(H-i)/(2H)，期望等待2H/(H-i)，累加得 sum(2H/(H-i), i=0..ceil(0.9H)-1)。H=6/24/120给出29.40/109.25/543.76幕，压缩后H=2给出6.0幕，理论倍数90.63x，实测89.75x。大倍数来自填表次数，不需要额外机制假设。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TL/AUTO/results/runs/memory_compression_pilot_5k.md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机制示意。左侧：暂时具有相同观测的历史可能在未见后缀上要求不同操作；合并会错用经验。右侧：等价历史始终分开会重复学习。示意不是本次审计的原始自动机，不把当前裁决相同视为全后缀等价。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35：n=3的8个任务族，792次查询。固定基线轨迹，逐查询只使用当时证据进行回放审计；未将这些合并接入控制器，也没有相应学习曲线。k_min是当时证据所容许的最小机器状态数，+1放松该上界。节省只计审计识别的可安全节省部分（134/792），那102次落在必要查询上的复用不计入节省，它是另一种危害：把真正需要买的答案用别人的答案替掉。判据在跑之前写定：节省&gt;=20%且错误共享约等于0。在线k_min是8-12而真状态数是19-27，证据少时最小机器严重过度合并，这是离线97.6%精确率无法在线复现的全部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归档AUTO/discovery/results/verify.jsonl.gz：预算40/80/160/320，first90&lt;200000的运行分别1/61/131/144，共144。图中百分比按用户口播四舍五入为1/42/91/100。嵌入图表数据保留12位小数，分子分母在页面与备注中保留精确计数。160预算时最终仍&gt;=90%的只有127/144；本图量的是曾经达标，不是最终成功比例。控制器按历史节点读取局部证据，未启用合并。不能由最终树节点数推断必须完整结构才能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TL/AUTO/discovery/src/run_verify.py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新零件pilot每规模400种子。训练期间、规则唯一识别前立即法相比延迟法实际额外成功均值为0.1225、0.4525、0.635，图显示口播取整0.123/0.453/0.635。不是贪心评估累计期望0.137/0.533/0.696。规则识别前准确率不足95%；识别后两臂在该实现中相同，因此T95没有分辨能力。该必然性只针对这个规则族、确定反馈、更新与阈值设置。主动任务早期调用技能改变到达后缀的行为，被动任务每幕独立给出排列，动作不影响下一份证据。不能据此断言所有边学边用收益都必须依赖主动取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TL/research/2026-09-15-memory-compression-audit/REVIEW.md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24族×30种子×5臂，预算200000步。first90是报告中的中位数，AUC为成功率曲线面积。Y00没有两种机制，Y01用学习型元控制器调用共享技能，Y10真规则路由但技能按任务状态独立，Y11真规则路由且跨状态共享技能；QRM单列。Y01并未被给定正确目标顺序，结构化臂用真规则而不是在线学规则。原报告关于路由压倒性强于复用的AUC解释已在Step38撤回，因天花板影响；不能用本页做该推断。后续C-full审计指出Y10/Y11差异不只来自参数共享，还涉及经验传播、采样和探索计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ep38.5剂量扫描，昂贵导航，自有导出模拟器，任务规则已给定，训练预算1000000环境步。达标率为预算内达到90%成功率的运行比例。Y10/Y11数据按历史报告提供。此扫描的逐种子原始数据后来确认遗失，因此不能重算置信区间。Step40新网格逐运行归档：步费改变QRM排序，并使风险交互效应缩小；不能将此页视为协议不变的效应大小。无论存在何种图论路径，危险格可能迫使成功轨迹绕行。这里不声明几何难度完全不变。页底两行取自REPORT_STEP38_5第125-126行：昂贵地图加岩浆时「有技能无路由」0.882远胜「有路由无技能」0.106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TL/progressive_task_discovery/stage8_compression/REPORT_STEP38_5.md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层不是全都已集成的一套通用算法。结构发现的受限未知顺序闭环有正结果；状态抽象的已知正确压缩有明确收益，可靠在线合并尚未解决；结构利用的路由/共享实现具有条件性收益，但一般机制归因、协议与任务边界未定。未建立超过ISA等的通用新方法，不声称自动机语法优于等价手写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资料来源：/Users/yuhang/Downloads/why TL/research/2026-09-15-memory-compression-audit/PROJECT_STATUS.md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b96856a07446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57276188fa40a7" /><Relationship Type="http://schemas.openxmlformats.org/officeDocument/2006/relationships/slideLayout" Target="/ppt/slideLayouts/slideLayout1.xml" Id="R59e28bea6089434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e28bea6089434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538d8840d4659" /><Relationship Type="http://schemas.openxmlformats.org/officeDocument/2006/relationships/notesSlide" Target="/ppt/notesSlides/notesSlide1.xml" Id="Refce15f565d1462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9309dc23f4bc9" /><Relationship Type="http://schemas.openxmlformats.org/officeDocument/2006/relationships/chart" Target="/ppt/slides/charts/chart1.xml" Id="Rf872c6ab12c946b4" /><Relationship Type="http://schemas.openxmlformats.org/officeDocument/2006/relationships/chart" Target="/ppt/slides/charts/chart2.xml" Id="R7729a88772374e04" /><Relationship Type="http://schemas.openxmlformats.org/officeDocument/2006/relationships/notesSlide" Target="/ppt/notesSlides/notesSlide2.xml" Id="R3a1fe454b9884b9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d478a179b94b84" /><Relationship Type="http://schemas.openxmlformats.org/officeDocument/2006/relationships/notesSlide" Target="/ppt/notesSlides/notesSlide3.xml" Id="Reddb956196e142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0dcab39c44d30" /><Relationship Type="http://schemas.openxmlformats.org/officeDocument/2006/relationships/notesSlide" Target="/ppt/notesSlides/notesSlide4.xml" Id="Re502ff97fcc74d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337f89fe7456c" /><Relationship Type="http://schemas.openxmlformats.org/officeDocument/2006/relationships/notesSlide" Target="/ppt/notesSlides/notesSlide5.xml" Id="R75f2a918222540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7cd10a6d74fa0" /><Relationship Type="http://schemas.openxmlformats.org/officeDocument/2006/relationships/notesSlide" Target="/ppt/notesSlides/notesSlide6.xml" Id="R2adcfc40e7c546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26091ba254990" /><Relationship Type="http://schemas.openxmlformats.org/officeDocument/2006/relationships/chart" Target="/ppt/slides/charts/chart3.xml" Id="Rbbccc522fb9f4383" /><Relationship Type="http://schemas.openxmlformats.org/officeDocument/2006/relationships/notesSlide" Target="/ppt/notesSlides/notesSlide7.xml" Id="R27055e08f33343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8088b77f74956" /><Relationship Type="http://schemas.openxmlformats.org/officeDocument/2006/relationships/notesSlide" Target="/ppt/notesSlides/notesSlide8.xml" Id="R591ba6625a9547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af9b7db5c4e26" /><Relationship Type="http://schemas.openxmlformats.org/officeDocument/2006/relationships/chart" Target="/ppt/slides/charts/chart4.xml" Id="R2b5ec889da0e40e8" /><Relationship Type="http://schemas.openxmlformats.org/officeDocument/2006/relationships/chart" Target="/ppt/slides/charts/chart5.xml" Id="R2e883d83326347a1" /><Relationship Type="http://schemas.openxmlformats.org/officeDocument/2006/relationships/chart" Target="/ppt/slides/charts/chart6.xml" Id="R3c57e4454687473b" /><Relationship Type="http://schemas.openxmlformats.org/officeDocument/2006/relationships/notesSlide" Target="/ppt/notesSlides/notesSlide9.xml" Id="R7fd06e25dab84b3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c706f454404e47" /><Relationship Type="http://schemas.openxmlformats.org/officeDocument/2006/relationships/chart" Target="/ppt/slides/charts/chart7.xml" Id="R94b9a3965cd549c7" /><Relationship Type="http://schemas.openxmlformats.org/officeDocument/2006/relationships/notesSlide" Target="/ppt/notesSlides/notesSlide10.xml" Id="R3b8a89c7b68c49c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92ebb45364f3f" /><Relationship Type="http://schemas.openxmlformats.org/officeDocument/2006/relationships/chart" Target="/ppt/slides/charts/chart8.xml" Id="Rddec196686f34948" /><Relationship Type="http://schemas.openxmlformats.org/officeDocument/2006/relationships/notesSlide" Target="/ppt/notesSlides/notesSlide11.xml" Id="R4e142a16039a46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c7b46cedc4473" /><Relationship Type="http://schemas.openxmlformats.org/officeDocument/2006/relationships/chart" Target="/ppt/slides/charts/chart9.xml" Id="R8c9f00da20284fed" /><Relationship Type="http://schemas.openxmlformats.org/officeDocument/2006/relationships/notesSlide" Target="/ppt/notesSlides/notesSlide12.xml" Id="Red145d40e13f4b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8f6f7e229e4f84" /><Relationship Type="http://schemas.openxmlformats.org/officeDocument/2006/relationships/chart" Target="/ppt/slides/charts/chart10.xml" Id="R598d7e55389f4343" /><Relationship Type="http://schemas.openxmlformats.org/officeDocument/2006/relationships/notesSlide" Target="/ppt/notesSlides/notesSlide13.xml" Id="Rc1f6cde82de648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41aa1e6cb4ecf" /><Relationship Type="http://schemas.openxmlformats.org/officeDocument/2006/relationships/notesSlide" Target="/ppt/notesSlides/notesSlide14.xml" Id="Rf92f9343bd86411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 first90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4A1AA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普通 replay</c:v>
                </c:pt>
                <c:pt idx="1">
                  <c:v>延迟使用</c:v>
                </c:pt>
                <c:pt idx="2">
                  <c:v>立即使用</c:v>
                </c:pt>
              </c:strCache>
            </c:strRef>
          </c:cat>
          <c:val>
            <c:numRef>
              <c:f>'Chart Data'!$B$2:$B$4</c:f>
              <c:numCache>
                <c:formatCode>#,##0</c:formatCode>
                <c:ptCount val="3"/>
                <c:pt idx="0">
                  <c:v>18594</c:v>
                </c:pt>
                <c:pt idx="1">
                  <c:v>37938</c:v>
                </c:pt>
                <c:pt idx="2">
                  <c:v>6906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已知前缀执行步</c:v>
          </c:tx>
          <c:spPr>
            <a:solidFill xmlns:a="http://schemas.openxmlformats.org/drawingml/2006/main">
              <a:srgbClr val="2176AD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延迟</c:v>
                </c:pt>
                <c:pt idx="1">
                  <c:v>立即</c:v>
                </c:pt>
              </c:strCache>
            </c:strRef>
          </c:cat>
          <c:val>
            <c:numRef>
              <c:f>'Chart Data'!$B$2:$B$3</c:f>
              <c:numCache>
                <c:formatCode>#,##0</c:formatCode>
                <c:ptCount val="2"/>
                <c:pt idx="0">
                  <c:v>33194</c:v>
                </c:pt>
                <c:pt idx="1">
                  <c:v>2566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完整历史</c:v>
          </c:tx>
          <c:spPr>
            <a:solidFill xmlns:a="http://schemas.openxmlformats.org/drawingml/2006/main">
              <a:srgbClr val="94A1AA"/>
            </a:solidFill>
          </c:spPr>
          <c:cat>
            <c:strRef>
              <c:f>'Chart Data'!$A$2:$A$4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Data'!$B$2:$B$4</c:f>
              <c:numCache>
                <c:formatCode>0.00</c:formatCode>
                <c:ptCount val="3"/>
                <c:pt idx="0">
                  <c:v>28.28</c:v>
                </c:pt>
                <c:pt idx="1">
                  <c:v>109.15</c:v>
                </c:pt>
                <c:pt idx="2">
                  <c:v>547.23</c:v>
                </c:pt>
              </c:numCache>
            </c:numRef>
          </c:val>
        </c:ser>
        <c:ser>
          <c:idx val="1"/>
          <c:order val="1"/>
          <c:tx>
            <c:v>正确压缩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Data'!$C$2:$C$4</c:f>
              <c:strCache>
                <c:ptCount val="3"/>
                <c:pt idx="0">
                  <c:v>3 个零件</c:v>
                </c:pt>
                <c:pt idx="1">
                  <c:v>4 个零件</c:v>
                </c:pt>
                <c:pt idx="2">
                  <c:v>5 个零件</c:v>
                </c:pt>
              </c:strCache>
            </c:strRef>
          </c:cat>
          <c:val>
            <c:numRef>
              <c:f>'Chart Data'!$D$2:$D$4</c:f>
              <c:numCache>
                <c:formatCode>0.00</c:formatCode>
                <c:ptCount val="3"/>
                <c:pt idx="0">
                  <c:v>6.05</c:v>
                </c:pt>
                <c:pt idx="1">
                  <c:v>5.89</c:v>
                </c:pt>
                <c:pt idx="2">
                  <c:v>6.1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6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平均 T95 / 幕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2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0.801</c:v>
                </c:pt>
                <c:pt idx="1">
                  <c:v>0.773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0.407</c:v>
                </c:pt>
                <c:pt idx="1">
                  <c:v>0.636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比例</c:v>
          </c:tx>
          <c:spPr>
            <a:solidFill xmlns:a="http://schemas.openxmlformats.org/drawingml/2006/main">
              <a:srgbClr val="2176AD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k_min</c:v>
                </c:pt>
                <c:pt idx="1">
                  <c:v>k_min+1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0.169</c:v>
                </c:pt>
                <c:pt idx="1">
                  <c:v>0.018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达标运行比例</c:v>
          </c:tx>
          <c:spPr>
            <a:solidFill xmlns:a="http://schemas.openxmlformats.org/drawingml/2006/main">
              <a:srgbClr val="2176AD"/>
            </a:solidFill>
          </c:spPr>
          <c:cat>
            <c:numRef>
              <c:f>'Chart Data'!$A$2:$A$5</c:f>
              <c:numCache>
                <c:formatCode>General</c:formatCode>
                <c:ptCount val="4"/>
                <c:pt idx="0">
                  <c:v>40</c:v>
                </c:pt>
                <c:pt idx="1">
                  <c:v>80</c:v>
                </c:pt>
                <c:pt idx="2">
                  <c:v>160</c:v>
                </c:pt>
                <c:pt idx="3">
                  <c:v>320</c:v>
                </c:pt>
              </c:numCache>
            </c:num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0.006944444444</c:v>
                </c:pt>
                <c:pt idx="1">
                  <c:v>0.423611111111</c:v>
                </c:pt>
                <c:pt idx="2">
                  <c:v>0.909722222222</c:v>
                </c:pt>
                <c:pt idx="3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提问预算 / 次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立即减延迟</c:v>
          </c:tx>
          <c:spPr>
            <a:solidFill xmlns:a="http://schemas.openxmlformats.org/drawingml/2006/main">
              <a:srgbClr val="2176AD"/>
            </a:solidFill>
          </c:spPr>
          <c:cat>
            <c:strRef>
              <c:f>'Chart Data'!$A$2:$A$4</c:f>
              <c:strCache>
                <c:ptCount val="3"/>
                <c:pt idx="0">
                  <c:v>3 个</c:v>
                </c:pt>
                <c:pt idx="1">
                  <c:v>4 个</c:v>
                </c:pt>
                <c:pt idx="2">
                  <c:v>5 个</c:v>
                </c:pt>
              </c:strCache>
            </c:strRef>
          </c:cat>
          <c:val>
            <c:numRef>
              <c:f>'Chart Data'!$B$2:$B$4</c:f>
              <c:numCache>
                <c:formatCode>0.000</c:formatCode>
                <c:ptCount val="3"/>
                <c:pt idx="0">
                  <c:v>0.123</c:v>
                </c:pt>
                <c:pt idx="1">
                  <c:v>0.453</c:v>
                </c:pt>
                <c:pt idx="2">
                  <c:v>0.635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0.8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first90</c:v>
          </c:tx>
          <c:spPr>
            <a:solidFill xmlns:a="http://schemas.openxmlformats.org/drawingml/2006/main">
              <a:srgbClr val="94A1AA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C47A3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72A0B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2176AD"/>
              </a:solidFill>
            </c:spPr>
          </c:dPt>
          <c:cat>
            <c:strRef>
              <c:f>'Chart Data'!$A$2:$A$6</c:f>
              <c:strCache>
                <c:ptCount val="5"/>
                <c:pt idx="0">
                  <c:v>Y00</c:v>
                </c:pt>
                <c:pt idx="1">
                  <c:v>Y01</c:v>
                </c:pt>
                <c:pt idx="2">
                  <c:v>Y10</c:v>
                </c:pt>
                <c:pt idx="3">
                  <c:v>Y11</c:v>
                </c:pt>
                <c:pt idx="4">
                  <c:v>QRM</c:v>
                </c:pt>
              </c:strCache>
            </c:strRef>
          </c:cat>
          <c:val>
            <c:numRef>
              <c:f>'Chart Data'!$B$2:$B$6</c:f>
              <c:numCache>
                <c:formatCode>#,##0</c:formatCode>
                <c:ptCount val="5"/>
                <c:pt idx="0">
                  <c:v>38500</c:v>
                </c:pt>
                <c:pt idx="1">
                  <c:v>4000</c:v>
                </c:pt>
                <c:pt idx="2">
                  <c:v>3750</c:v>
                </c:pt>
                <c:pt idx="3">
                  <c:v>1000</c:v>
                </c:pt>
                <c:pt idx="4">
                  <c:v>7000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45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15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Y10  分阶段技能</c:v>
          </c:tx>
          <c:spPr>
            <a:ln xmlns:a="http://schemas.openxmlformats.org/drawingml/2006/main" w="28575">
              <a:solidFill>
                <a:srgbClr val="C47A35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C47A35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Data'!$B$2:$B$6</c:f>
              <c:numCache>
                <c:formatCode>0%</c:formatCode>
                <c:ptCount val="5"/>
                <c:pt idx="0">
                  <c:v>1</c:v>
                </c:pt>
                <c:pt idx="1">
                  <c:v>0.32</c:v>
                </c:pt>
                <c:pt idx="2">
                  <c:v>0.16</c:v>
                </c:pt>
                <c:pt idx="3">
                  <c:v>0.11</c:v>
                </c:pt>
                <c:pt idx="4">
                  <c:v>0.1</c:v>
                </c:pt>
              </c:numCache>
            </c:numRef>
          </c:val>
          <c:smooth val="0"/>
        </c:ser>
        <c:ser>
          <c:idx val="1"/>
          <c:order val="1"/>
          <c:tx>
            <c:v>Y11  共享技能</c:v>
          </c:tx>
          <c:spPr>
            <a:ln xmlns:a="http://schemas.openxmlformats.org/drawingml/2006/main" w="28575">
              <a:solidFill>
                <a:srgbClr val="2176AD"/>
              </a:solidFill>
            </a:ln>
          </c:spPr>
          <c:marker>
            <c:symbol val="circle"/>
            <c:size val="8"/>
            <c:spPr>
              <a:solidFill xmlns:a="http://schemas.openxmlformats.org/drawingml/2006/main">
                <a:srgbClr val="2176AD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'Chart Data'!$D$2:$D$6</c:f>
              <c:numCache>
                <c:formatCode>0%</c:formatCode>
                <c:ptCount val="5"/>
                <c:pt idx="0">
                  <c:v>1</c:v>
                </c:pt>
                <c:pt idx="1">
                  <c:v>1</c:v>
                </c:pt>
                <c:pt idx="2">
                  <c:v>0.99</c:v>
                </c:pt>
                <c:pt idx="3">
                  <c:v>0.95</c:v>
                </c:pt>
                <c:pt idx="4">
                  <c:v>0.91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202B33"/>
                  </a:solidFill>
                  <a:latin typeface="Arial Unicode MS"/>
                  <a:ea typeface="Arial Unicode MS"/>
                  <a:cs typeface="Arial Unicode M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 Unicode MS"/>
                    <a:ea typeface="Arial Unicode MS"/>
                    <a:cs typeface="Arial Unicode MS"/>
                  </a:rPr>
                  <a:t>危险格 / 个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 Unicode MS"/>
                  <a:ea typeface="Arial Unicode MS"/>
                  <a:cs typeface="Arial Unicode M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0E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72768"/>
      </c:catAx>
      <c:valAx>
        <c:axId val="48672768"/>
        <c:scaling>
          <c:orientation val="minMax"/>
          <c:max val="1.1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1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</a:p>
        </c:txPr>
        <c:crossAx val="48650112"/>
        <c:crossBetween val="between"/>
        <c:majorUnit val="0.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202B33"/>
              </a:solidFill>
              <a:latin typeface="Arial Unicode MS"/>
              <a:ea typeface="Arial Unicode MS"/>
              <a:cs typeface="Arial Unicode M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text-1">
            <a:extLst xmlns:a="http://schemas.openxmlformats.org/drawingml/2006/main">
              <a:ext uri="{FF2B5EF4-FFF2-40B4-BE49-F238E27FC236}">
                <a16:creationId xmlns:a16="http://schemas.microsoft.com/office/drawing/2014/main" id="{9D0C9E7D-E53B-4841-B2F2-967F2C58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未知任务中的在线发现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628B445E-E531-4EA9-8549-EED4566C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F22374C1-34C1-4FFA-A100-40CD8B67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4619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事件可见，进度反馈可靠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3F51E-10D2-4481-95BD-E182302E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1DDBD5-61ED-46D3-8F1E-9516801C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6B8DC-9DB6-4C3C-9D3D-CDE3D78F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2EA94-E445-4E39-AA22-5A464742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BB5DA-E2FA-4A41-914F-4988666A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5E425-78AD-44C7-A1BF-07AC398C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954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A0D63-096E-4A92-B6B4-37CC25DE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D1D39B-1404-4EC3-B5B5-44AA4894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B2023B-337F-4B6F-B504-31F49056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2D4DBC-E413-4F21-8726-68793639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3656D0-987F-4EE2-B8B0-6DDC2B02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C5BF87-D9AC-4DC0-AFF7-674C8E0F3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479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C4E25-03FD-478E-A755-F8725328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1E275-30A6-4A7D-8D9F-51FD1705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625D5B-50C2-4274-87DE-68764BA9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B2541-7B2F-4206-9C88-EAD16868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7A1A91-E996-4A35-B97A-E918464C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DE9B78-4DBE-4AD6-9F4D-F506DF10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003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6393F1-BB56-4FAF-818A-346E74AC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A73708-3C69-4A6E-B90A-61152F62F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0090B-D941-4598-932C-434960AD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2F9610-FE0D-4B2B-B0A7-4238A0F1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F35C17-63DE-48D7-B39D-0D82DAD7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215567-A825-4659-BD55-5207AFF8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528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903C1B-EF7E-48FB-A786-C136404A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215D6-E717-4D95-A160-1CADDDDE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2943EE-C9F4-4534-BFC6-BA935008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340124-8189-4346-9325-052D6FA43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F16B57-D40F-4F9D-B7C7-A7CB58CE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1EA62-2B1D-414A-B53F-A63F4D5C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0527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8D81FA-1DB8-4189-A7BB-9B801A12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F5519A-1D25-4302-996B-9F8E9D93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9AA5EA-2599-4D7E-A995-D84B04D7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D6C36A-A9A1-471B-8FBE-7D9E65EFB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ADA57E-CCDD-413D-860A-DE3AA81F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2EC9F2-9FB5-4178-98CA-BB711B7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77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E2E7EA"/>
            </a:solidFill>
          </a:ln>
        </p:spPr>
      </p:sp>
      <p:sp>
        <p:nvSpPr>
          <p:cNvPr id="40" name="text-4">
            <a:extLst xmlns:a="http://schemas.openxmlformats.org/drawingml/2006/main">
              <a:ext uri="{FF2B5EF4-FFF2-40B4-BE49-F238E27FC236}">
                <a16:creationId xmlns:a16="http://schemas.microsoft.com/office/drawing/2014/main" id="{F3072A43-FDBB-4C86-95D0-1834FBF3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577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agent</a:t>
            </a:r>
          </a:p>
        </p:txBody>
      </p:sp>
      <p:sp>
        <p:nvSpPr>
          <p:cNvPr id="41" name="text-5">
            <a:extLst xmlns:a="http://schemas.openxmlformats.org/drawingml/2006/main">
              <a:ext uri="{FF2B5EF4-FFF2-40B4-BE49-F238E27FC236}">
                <a16:creationId xmlns:a16="http://schemas.microsoft.com/office/drawing/2014/main" id="{912FD28A-A065-43C5-8085-282D98CC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4479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42" name="text-6">
            <a:extLst xmlns:a="http://schemas.openxmlformats.org/drawingml/2006/main">
              <a:ext uri="{FF2B5EF4-FFF2-40B4-BE49-F238E27FC236}">
                <a16:creationId xmlns:a16="http://schemas.microsoft.com/office/drawing/2014/main" id="{D04FBEA0-4C3C-41E8-B245-D82D0093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954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43" name="text-7">
            <a:extLst xmlns:a="http://schemas.openxmlformats.org/drawingml/2006/main">
              <a:ext uri="{FF2B5EF4-FFF2-40B4-BE49-F238E27FC236}">
                <a16:creationId xmlns:a16="http://schemas.microsoft.com/office/drawing/2014/main" id="{094CC094-3350-44D3-AE4C-E43764C7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10527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44" name="text-8">
            <a:extLst xmlns:a="http://schemas.openxmlformats.org/drawingml/2006/main">
              <a:ext uri="{FF2B5EF4-FFF2-40B4-BE49-F238E27FC236}">
                <a16:creationId xmlns:a16="http://schemas.microsoft.com/office/drawing/2014/main" id="{0470C768-0700-4BB5-B00A-19093262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2825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45" name="text-9">
            <a:extLst xmlns:a="http://schemas.openxmlformats.org/drawingml/2006/main">
              <a:ext uri="{FF2B5EF4-FFF2-40B4-BE49-F238E27FC236}">
                <a16:creationId xmlns:a16="http://schemas.microsoft.com/office/drawing/2014/main" id="{AA81FC50-E344-4E89-B37E-C8164853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054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A   ?   B   ?   C   ?   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8273BE-41EC-4BDD-A1AD-75BE7EE7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交互反馈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9322A3-114B-46D7-8136-468E0875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局部任务结构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37C025-DB78-4358-A26D-972FF9D0E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继续探索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8CF3DD-62E8-4111-A529-66E8E4AE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2190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调用已学技能</a:t>
            </a:r>
          </a:p>
        </p:txBody>
      </p:sp>
      <p:cxnSp>
        <p:nvCxnSpPr>
          <p:cNvPr id="105" name="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7953375" y="231457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106" name=""/>
          <p:cNvCxnSpPr>
            <a:stCxn xmlns:a="http://schemas.openxmlformats.org/drawingml/2006/main" id="47" idx="2"/>
            <a:endCxn xmlns:a="http://schemas.openxmlformats.org/drawingml/2006/main" id="49" idx="0"/>
          </p:cNvCxnSpPr>
          <p:nvPr/>
        </p:nvCxnSpPr>
        <p:spPr>
          <a:xfrm xmlns:a="http://schemas.openxmlformats.org/drawingml/2006/main">
            <a:off x="9953625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9" idx="1"/>
            <a:endCxn xmlns:a="http://schemas.openxmlformats.org/drawingml/2006/main" id="48" idx="3"/>
          </p:cNvCxnSpPr>
          <p:nvPr/>
        </p:nvCxnSpPr>
        <p:spPr>
          <a:xfrm xmlns:a="http://schemas.openxmlformats.org/drawingml/2006/main" flipH="1">
            <a:off x="7953375" y="45053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108" name=""/>
          <p:cNvCxnSpPr>
            <a:stCxn xmlns:a="http://schemas.openxmlformats.org/drawingml/2006/main" id="48" idx="0"/>
            <a:endCxn xmlns:a="http://schemas.openxmlformats.org/drawingml/2006/main" id="46" idx="2"/>
          </p:cNvCxnSpPr>
          <p:nvPr/>
        </p:nvCxnSpPr>
        <p:spPr>
          <a:xfrm xmlns:a="http://schemas.openxmlformats.org/drawingml/2006/main" flipV="1">
            <a:off x="6858000" y="2676525"/>
            <a:ext cx="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54" name="text-10">
            <a:extLst xmlns:a="http://schemas.openxmlformats.org/drawingml/2006/main">
              <a:ext uri="{FF2B5EF4-FFF2-40B4-BE49-F238E27FC236}">
                <a16:creationId xmlns:a16="http://schemas.microsoft.com/office/drawing/2014/main" id="{72430272-674A-4576-8B84-37574491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9530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未知部分</a:t>
            </a:r>
          </a:p>
        </p:txBody>
      </p:sp>
      <p:sp>
        <p:nvSpPr>
          <p:cNvPr id="55" name="text-11">
            <a:extLst xmlns:a="http://schemas.openxmlformats.org/drawingml/2006/main">
              <a:ext uri="{FF2B5EF4-FFF2-40B4-BE49-F238E27FC236}">
                <a16:creationId xmlns:a16="http://schemas.microsoft.com/office/drawing/2014/main" id="{EF3570E6-BD08-426D-A31D-5C325526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53000"/>
            <a:ext cx="1762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已知前缀</a:t>
            </a:r>
          </a:p>
        </p:txBody>
      </p:sp>
    </p:spTree>
    <p:extLst>
      <p:ext uri="{BB962C8B-B14F-4D97-AF65-F5344CB8AC3E}">
        <p14:creationId xmlns:p14="http://schemas.microsoft.com/office/powerpoint/2010/main" val="2932174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">
            <a:extLst xmlns:a="http://schemas.openxmlformats.org/drawingml/2006/main">
              <a:ext uri="{FF2B5EF4-FFF2-40B4-BE49-F238E27FC236}">
                <a16:creationId xmlns:a16="http://schemas.microsoft.com/office/drawing/2014/main" id="{673CB93D-C535-4F2D-A980-46B76718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线性任务：立即使用已发现的前缀</a:t>
            </a:r>
          </a:p>
        </p:txBody>
      </p:sp>
      <p:sp>
        <p:nvSpPr>
          <p:cNvPr id="2" name="text-13">
            <a:extLst xmlns:a="http://schemas.openxmlformats.org/drawingml/2006/main">
              <a:ext uri="{FF2B5EF4-FFF2-40B4-BE49-F238E27FC236}">
                <a16:creationId xmlns:a16="http://schemas.microsoft.com/office/drawing/2014/main" id="{00B80819-876E-4C57-990E-B13830873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长度 16，32 个种子；环境步越少越好</a:t>
            </a:r>
          </a:p>
        </p:txBody>
      </p:sp>
      <p:sp>
        <p:nvSpPr>
          <p:cNvPr id="3" name="text-14">
            <a:extLst xmlns:a="http://schemas.openxmlformats.org/drawingml/2006/main">
              <a:ext uri="{FF2B5EF4-FFF2-40B4-BE49-F238E27FC236}">
                <a16:creationId xmlns:a16="http://schemas.microsoft.com/office/drawing/2014/main" id="{37F71E81-B03A-4BAC-A0BC-6DFF6120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4" name="text-15">
            <a:extLst xmlns:a="http://schemas.openxmlformats.org/drawingml/2006/main">
              <a:ext uri="{FF2B5EF4-FFF2-40B4-BE49-F238E27FC236}">
                <a16:creationId xmlns:a16="http://schemas.microsoft.com/office/drawing/2014/main" id="{CAAB4F71-FB17-4B11-87BF-0CFF039B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925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首次达到 90%</a:t>
            </a:r>
          </a:p>
        </p:txBody>
      </p:sp>
      <p:sp>
        <p:nvSpPr>
          <p:cNvPr id="5" name="text-16">
            <a:extLst xmlns:a="http://schemas.openxmlformats.org/drawingml/2006/main">
              <a:ext uri="{FF2B5EF4-FFF2-40B4-BE49-F238E27FC236}">
                <a16:creationId xmlns:a16="http://schemas.microsoft.com/office/drawing/2014/main" id="{64D7471E-875F-4C8A-9254-355234D8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049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首次完整成功前：已知前缀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6715125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872c6ab12c946b4"/>
          </a:graphicData>
        </a:graphic>
      </p:graphicFrame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734300" y="1885950"/>
          <a:ext xmlns:a="http://schemas.openxmlformats.org/drawingml/2006/main" cx="3848100" cy="3933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729a88772374e04"/>
          </a:graphicData>
        </a:graphic>
      </p:graphicFrame>
    </p:spTree>
    <p:extLst>
      <p:ext uri="{BB962C8B-B14F-4D97-AF65-F5344CB8AC3E}">
        <p14:creationId xmlns:p14="http://schemas.microsoft.com/office/powerpoint/2010/main" val="82255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ext-17">
            <a:extLst xmlns:a="http://schemas.openxmlformats.org/drawingml/2006/main">
              <a:ext uri="{FF2B5EF4-FFF2-40B4-BE49-F238E27FC236}">
                <a16:creationId xmlns:a16="http://schemas.microsoft.com/office/drawing/2014/main" id="{D3A2EF24-AF3D-48A4-8AD3-24A58399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线性任务的最小记忆</a:t>
            </a:r>
          </a:p>
        </p:txBody>
      </p:sp>
      <p:sp>
        <p:nvSpPr>
          <p:cNvPr id="2" name="text-18">
            <a:extLst xmlns:a="http://schemas.openxmlformats.org/drawingml/2006/main">
              <a:ext uri="{FF2B5EF4-FFF2-40B4-BE49-F238E27FC236}">
                <a16:creationId xmlns:a16="http://schemas.microsoft.com/office/drawing/2014/main" id="{2F461173-AC64-46DF-9112-14BD34178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3" name="text-19">
            <a:extLst xmlns:a="http://schemas.openxmlformats.org/drawingml/2006/main">
              <a:ext uri="{FF2B5EF4-FFF2-40B4-BE49-F238E27FC236}">
                <a16:creationId xmlns:a16="http://schemas.microsoft.com/office/drawing/2014/main" id="{9728FFCE-13F5-4C3A-80DC-8BEEE6A16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阶段列表</a:t>
            </a:r>
          </a:p>
        </p:txBody>
      </p:sp>
      <p:sp>
        <p:nvSpPr>
          <p:cNvPr id="4" name="text-20">
            <a:extLst xmlns:a="http://schemas.openxmlformats.org/drawingml/2006/main">
              <a:ext uri="{FF2B5EF4-FFF2-40B4-BE49-F238E27FC236}">
                <a16:creationId xmlns:a16="http://schemas.microsoft.com/office/drawing/2014/main" id="{9BA28D4B-008C-47F7-84C7-8CD5B6CC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3906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链式自动机</a:t>
            </a:r>
          </a:p>
        </p:txBody>
      </p:sp>
      <p:sp>
        <p:nvSpPr>
          <p:cNvPr id="5" name="text-21">
            <a:extLst xmlns:a="http://schemas.openxmlformats.org/drawingml/2006/main">
              <a:ext uri="{FF2B5EF4-FFF2-40B4-BE49-F238E27FC236}">
                <a16:creationId xmlns:a16="http://schemas.microsoft.com/office/drawing/2014/main" id="{8804E5FA-CFB9-414A-A948-F5782CFA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45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progress</a:t>
            </a:r>
          </a:p>
        </p:txBody>
      </p:sp>
      <p:sp>
        <p:nvSpPr>
          <p:cNvPr id="6" name="text-22">
            <a:extLst xmlns:a="http://schemas.openxmlformats.org/drawingml/2006/main">
              <a:ext uri="{FF2B5EF4-FFF2-40B4-BE49-F238E27FC236}">
                <a16:creationId xmlns:a16="http://schemas.microsoft.com/office/drawing/2014/main" id="{2222D8F7-3170-4F60-8C77-9E44DC71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11455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6922E-ED5C-4D1A-9401-D9B2B880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8" name="text-23">
            <a:extLst xmlns:a="http://schemas.openxmlformats.org/drawingml/2006/main">
              <a:ext uri="{FF2B5EF4-FFF2-40B4-BE49-F238E27FC236}">
                <a16:creationId xmlns:a16="http://schemas.microsoft.com/office/drawing/2014/main" id="{9C1F39B6-05BD-4221-973B-669FCDB8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0</a:t>
            </a:r>
          </a:p>
        </p:txBody>
      </p:sp>
      <p:sp>
        <p:nvSpPr>
          <p:cNvPr id="9" name="text-24">
            <a:extLst xmlns:a="http://schemas.openxmlformats.org/drawingml/2006/main">
              <a:ext uri="{FF2B5EF4-FFF2-40B4-BE49-F238E27FC236}">
                <a16:creationId xmlns:a16="http://schemas.microsoft.com/office/drawing/2014/main" id="{3CEAD334-8002-4725-889F-E4BFB3DE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F850C1-8AA7-451E-8E1B-D9AB520D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1" name="text-25">
            <a:extLst xmlns:a="http://schemas.openxmlformats.org/drawingml/2006/main">
              <a:ext uri="{FF2B5EF4-FFF2-40B4-BE49-F238E27FC236}">
                <a16:creationId xmlns:a16="http://schemas.microsoft.com/office/drawing/2014/main" id="{105C7EDD-7B33-439B-84F1-6EF8B75F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text-26">
            <a:extLst xmlns:a="http://schemas.openxmlformats.org/drawingml/2006/main">
              <a:ext uri="{FF2B5EF4-FFF2-40B4-BE49-F238E27FC236}">
                <a16:creationId xmlns:a16="http://schemas.microsoft.com/office/drawing/2014/main" id="{6227E5AA-DE20-4E87-8E0C-3080F60A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528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692F04-6BD3-4D49-A565-A20C156C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5295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27">
            <a:extLst xmlns:a="http://schemas.openxmlformats.org/drawingml/2006/main">
              <a:ext uri="{FF2B5EF4-FFF2-40B4-BE49-F238E27FC236}">
                <a16:creationId xmlns:a16="http://schemas.microsoft.com/office/drawing/2014/main" id="{536315FC-5C89-43FB-9601-19D21B95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5" name="text-28">
            <a:extLst xmlns:a="http://schemas.openxmlformats.org/drawingml/2006/main">
              <a:ext uri="{FF2B5EF4-FFF2-40B4-BE49-F238E27FC236}">
                <a16:creationId xmlns:a16="http://schemas.microsoft.com/office/drawing/2014/main" id="{C2D118D8-367E-441B-9004-FEE36D96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01955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349585-0351-4262-A30D-0F52A15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667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29">
            <a:extLst xmlns:a="http://schemas.openxmlformats.org/drawingml/2006/main">
              <a:ext uri="{FF2B5EF4-FFF2-40B4-BE49-F238E27FC236}">
                <a16:creationId xmlns:a16="http://schemas.microsoft.com/office/drawing/2014/main" id="{319C1072-2340-4725-84AA-A106621F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8" name="text-30">
            <a:extLst xmlns:a="http://schemas.openxmlformats.org/drawingml/2006/main">
              <a:ext uri="{FF2B5EF4-FFF2-40B4-BE49-F238E27FC236}">
                <a16:creationId xmlns:a16="http://schemas.microsoft.com/office/drawing/2014/main" id="{1603738B-E76B-4A01-9F0A-EAF6D63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686300"/>
            <a:ext cx="85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sp>
        <p:nvSpPr>
          <p:cNvPr id="19" name="text-31">
            <a:extLst xmlns:a="http://schemas.openxmlformats.org/drawingml/2006/main">
              <a:ext uri="{FF2B5EF4-FFF2-40B4-BE49-F238E27FC236}">
                <a16:creationId xmlns:a16="http://schemas.microsoft.com/office/drawing/2014/main" id="{5BE3E21E-B3E7-460B-8F3C-1ADFC709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90900"/>
            <a:ext cx="66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C766B-5664-49B4-991D-5ED1B28E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E0411-7CA6-4B9E-BEF2-7E9CEA24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955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B3D834-1478-411B-A340-3565F9FE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387BC-F0D5-4FDF-84A8-3D78AB1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38650"/>
            <a:ext cx="9048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687780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q₃</a:t>
            </a:r>
          </a:p>
        </p:txBody>
      </p:sp>
      <p:cxnSp>
        <p:nvCxnSpPr>
          <p:cNvPr id="53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858125" y="28194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67938" y="3143250"/>
            <a:ext cx="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858125" y="47625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7" name="text-32">
            <a:extLst xmlns:a="http://schemas.openxmlformats.org/drawingml/2006/main">
              <a:ext uri="{FF2B5EF4-FFF2-40B4-BE49-F238E27FC236}">
                <a16:creationId xmlns:a16="http://schemas.microsoft.com/office/drawing/2014/main" id="{C831E0AD-6858-40DD-BA2F-F60E448C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28" name="text-33">
            <a:extLst xmlns:a="http://schemas.openxmlformats.org/drawingml/2006/main">
              <a:ext uri="{FF2B5EF4-FFF2-40B4-BE49-F238E27FC236}">
                <a16:creationId xmlns:a16="http://schemas.microsoft.com/office/drawing/2014/main" id="{6BF189EB-E0EA-4E5B-B09B-439C9FBD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50520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29" name="text-34">
            <a:extLst xmlns:a="http://schemas.openxmlformats.org/drawingml/2006/main">
              <a:ext uri="{FF2B5EF4-FFF2-40B4-BE49-F238E27FC236}">
                <a16:creationId xmlns:a16="http://schemas.microsoft.com/office/drawing/2014/main" id="{A725C096-5CD7-404A-A1D7-7E9D3621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849141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35">
            <a:extLst xmlns:a="http://schemas.openxmlformats.org/drawingml/2006/main">
              <a:ext uri="{FF2B5EF4-FFF2-40B4-BE49-F238E27FC236}">
                <a16:creationId xmlns:a16="http://schemas.microsoft.com/office/drawing/2014/main" id="{FEE99102-B695-4AEF-90EC-8FA74046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分支任务：相同进度，不同未来</a:t>
            </a:r>
          </a:p>
        </p:txBody>
      </p:sp>
      <p:sp>
        <p:nvSpPr>
          <p:cNvPr id="2" name="text-36">
            <a:extLst xmlns:a="http://schemas.openxmlformats.org/drawingml/2006/main">
              <a:ext uri="{FF2B5EF4-FFF2-40B4-BE49-F238E27FC236}">
                <a16:creationId xmlns:a16="http://schemas.microsoft.com/office/drawing/2014/main" id="{8787D71C-A99A-4956-908B-585C8D20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咖啡：A = 先倒热水，B = 先放粉，E = 倒水。两边都做了 2 步、刚倒完水，下一步却是热泡过滤 vs 冷萃等 12 小时</a:t>
            </a:r>
          </a:p>
        </p:txBody>
      </p:sp>
      <p:sp>
        <p:nvSpPr>
          <p:cNvPr id="3" name="text-37">
            <a:extLst xmlns:a="http://schemas.openxmlformats.org/drawingml/2006/main">
              <a:ext uri="{FF2B5EF4-FFF2-40B4-BE49-F238E27FC236}">
                <a16:creationId xmlns:a16="http://schemas.microsoft.com/office/drawing/2014/main" id="{AC2CA94F-4852-4963-8920-182B760C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4" name="text-38">
            <a:extLst xmlns:a="http://schemas.openxmlformats.org/drawingml/2006/main">
              <a:ext uri="{FF2B5EF4-FFF2-40B4-BE49-F238E27FC236}">
                <a16:creationId xmlns:a16="http://schemas.microsoft.com/office/drawing/2014/main" id="{B991D468-2157-45A4-A254-30CABE1B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4382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已发生的历史</a:t>
            </a:r>
          </a:p>
        </p:txBody>
      </p:sp>
      <p:sp>
        <p:nvSpPr>
          <p:cNvPr id="5" name="text-39">
            <a:extLst xmlns:a="http://schemas.openxmlformats.org/drawingml/2006/main">
              <a:ext uri="{FF2B5EF4-FFF2-40B4-BE49-F238E27FC236}">
                <a16:creationId xmlns:a16="http://schemas.microsoft.com/office/drawing/2014/main" id="{1F4CB0BB-7A86-4C8C-90CC-10CA2B80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1438275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相同物理位置 E</a:t>
            </a:r>
          </a:p>
        </p:txBody>
      </p:sp>
      <p:sp>
        <p:nvSpPr>
          <p:cNvPr id="6" name="text-40">
            <a:extLst xmlns:a="http://schemas.openxmlformats.org/drawingml/2006/main">
              <a:ext uri="{FF2B5EF4-FFF2-40B4-BE49-F238E27FC236}">
                <a16:creationId xmlns:a16="http://schemas.microsoft.com/office/drawing/2014/main" id="{B53637E1-17C5-4999-A90D-EEAC99AF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438275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38732-B18F-46E1-9DE6-E47759EE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E9AA6D-1472-4675-9B70-E4D43E93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6106EF-A03D-497A-89F9-2FE68BDA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1F44D-90B8-4DE5-B330-21CB8D9C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8EA438-53B6-46D3-A188-ECD54C24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43175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0102C9-DB02-4A1E-90B2-6819E628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362450"/>
            <a:ext cx="9144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343150" y="2867025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343150" y="4686300"/>
            <a:ext cx="3571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829425" y="2867025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829425" y="4686300"/>
            <a:ext cx="3076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text-41">
            <a:extLst xmlns:a="http://schemas.openxmlformats.org/drawingml/2006/main">
              <a:ext uri="{FF2B5EF4-FFF2-40B4-BE49-F238E27FC236}">
                <a16:creationId xmlns:a16="http://schemas.microsoft.com/office/drawing/2014/main" id="{0A0B4821-845A-4271-B76A-BE5ECA93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552825"/>
            <a:ext cx="2733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progress = 2</a:t>
            </a:r>
          </a:p>
        </p:txBody>
      </p:sp>
      <p:sp>
        <p:nvSpPr>
          <p:cNvPr id="18" name="text-42">
            <a:extLst xmlns:a="http://schemas.openxmlformats.org/drawingml/2006/main">
              <a:ext uri="{FF2B5EF4-FFF2-40B4-BE49-F238E27FC236}">
                <a16:creationId xmlns:a16="http://schemas.microsoft.com/office/drawing/2014/main" id="{0F1F6A1D-7DFB-46B3-810D-FC9A5C39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2383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A, E</a:t>
            </a:r>
          </a:p>
        </p:txBody>
      </p:sp>
      <p:sp>
        <p:nvSpPr>
          <p:cNvPr id="19" name="text-43">
            <a:extLst xmlns:a="http://schemas.openxmlformats.org/drawingml/2006/main">
              <a:ext uri="{FF2B5EF4-FFF2-40B4-BE49-F238E27FC236}">
                <a16:creationId xmlns:a16="http://schemas.microsoft.com/office/drawing/2014/main" id="{6D737C15-A0B4-4386-B1BC-45DD98C5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57650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B, E</a:t>
            </a:r>
          </a:p>
        </p:txBody>
      </p:sp>
    </p:spTree>
    <p:extLst>
      <p:ext uri="{BB962C8B-B14F-4D97-AF65-F5344CB8AC3E}">
        <p14:creationId xmlns:p14="http://schemas.microsoft.com/office/powerpoint/2010/main" val="11524056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3ABF7731-520D-4683-8B29-D8DC42AF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同一份历史的两种表示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60AF3816-C848-4E66-924D-AE0CF3AD6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3" name="text-46">
            <a:extLst xmlns:a="http://schemas.openxmlformats.org/drawingml/2006/main">
              <a:ext uri="{FF2B5EF4-FFF2-40B4-BE49-F238E27FC236}">
                <a16:creationId xmlns:a16="http://schemas.microsoft.com/office/drawing/2014/main" id="{D0B76C9C-24ED-491A-B69B-D04CD263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81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Prefix tree</a:t>
            </a:r>
          </a:p>
        </p:txBody>
      </p:sp>
      <p:sp>
        <p:nvSpPr>
          <p:cNvPr id="4" name="text-47">
            <a:extLst xmlns:a="http://schemas.openxmlformats.org/drawingml/2006/main">
              <a:ext uri="{FF2B5EF4-FFF2-40B4-BE49-F238E27FC236}">
                <a16:creationId xmlns:a16="http://schemas.microsoft.com/office/drawing/2014/main" id="{8B12C61A-514C-4CCF-B617-249997DA4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8112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History dictionary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4C6620-4D2D-45C2-A389-467F823A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62325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0872D6-0C5F-4164-8D75-2957BF3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F0A9BC-F471-46E1-BC5C-BF15F36BC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DC7D8-6F22-4F65-BFAA-F545127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547A69-241C-4C72-A202-61F0FC95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7B9E1-0179-4530-97F7-85D200A1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95550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8F514-297A-41CE-BCCF-67F4DD0B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52925"/>
            <a:ext cx="619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562100" y="2790825"/>
            <a:ext cx="790575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971800" y="27908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48175" y="2790825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562100" y="3657600"/>
            <a:ext cx="7905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971800" y="46482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448175" y="46482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8" name="text-48">
            <a:extLst xmlns:a="http://schemas.openxmlformats.org/drawingml/2006/main">
              <a:ext uri="{FF2B5EF4-FFF2-40B4-BE49-F238E27FC236}">
                <a16:creationId xmlns:a16="http://schemas.microsoft.com/office/drawing/2014/main" id="{30871E20-C63F-48C1-ADDA-DF22A1C4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67075"/>
            <a:ext cx="857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≡</a:t>
            </a:r>
          </a:p>
        </p:txBody>
      </p:sp>
      <p:sp>
        <p:nvSpPr>
          <p:cNvPr id="19" name="text-49">
            <a:extLst xmlns:a="http://schemas.openxmlformats.org/drawingml/2006/main">
              <a:ext uri="{FF2B5EF4-FFF2-40B4-BE49-F238E27FC236}">
                <a16:creationId xmlns:a16="http://schemas.microsoft.com/office/drawing/2014/main" id="{C8F966F6-2B4D-4C5B-A973-2FD15BD7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5267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历史</a:t>
            </a:r>
          </a:p>
        </p:txBody>
      </p:sp>
      <p:sp>
        <p:nvSpPr>
          <p:cNvPr id="20" name="text-50">
            <a:extLst xmlns:a="http://schemas.openxmlformats.org/drawingml/2006/main">
              <a:ext uri="{FF2B5EF4-FFF2-40B4-BE49-F238E27FC236}">
                <a16:creationId xmlns:a16="http://schemas.microsoft.com/office/drawing/2014/main" id="{2751ADD1-23ED-4F7F-84A2-D9FA4E4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5267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下一目标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4BAC9-E22F-4490-97A8-BEE9FFA9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84797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2" name="text-51">
            <a:extLst xmlns:a="http://schemas.openxmlformats.org/drawingml/2006/main">
              <a:ext uri="{FF2B5EF4-FFF2-40B4-BE49-F238E27FC236}">
                <a16:creationId xmlns:a16="http://schemas.microsoft.com/office/drawing/2014/main" id="{FAE8E1D6-D7E7-480F-BCC6-A7807CEA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1467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(A, E)</a:t>
            </a:r>
          </a:p>
        </p:txBody>
      </p:sp>
      <p:sp>
        <p:nvSpPr>
          <p:cNvPr id="23" name="text-52">
            <a:extLst xmlns:a="http://schemas.openxmlformats.org/drawingml/2006/main">
              <a:ext uri="{FF2B5EF4-FFF2-40B4-BE49-F238E27FC236}">
                <a16:creationId xmlns:a16="http://schemas.microsoft.com/office/drawing/2014/main" id="{83250070-1D00-47D7-8D78-8AE6BC3A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146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D</a:t>
            </a:r>
          </a:p>
        </p:txBody>
      </p:sp>
      <p:sp>
        <p:nvSpPr>
          <p:cNvPr id="24" name="text-53">
            <a:extLst xmlns:a="http://schemas.openxmlformats.org/drawingml/2006/main">
              <a:ext uri="{FF2B5EF4-FFF2-40B4-BE49-F238E27FC236}">
                <a16:creationId xmlns:a16="http://schemas.microsoft.com/office/drawing/2014/main" id="{001F6EC2-3716-4408-A981-32EDE356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238625"/>
            <a:ext cx="171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(B, E)</a:t>
            </a:r>
          </a:p>
        </p:txBody>
      </p:sp>
      <p:sp>
        <p:nvSpPr>
          <p:cNvPr id="25" name="text-54">
            <a:extLst xmlns:a="http://schemas.openxmlformats.org/drawingml/2006/main">
              <a:ext uri="{FF2B5EF4-FFF2-40B4-BE49-F238E27FC236}">
                <a16:creationId xmlns:a16="http://schemas.microsoft.com/office/drawing/2014/main" id="{0E0205D7-D378-495C-9F42-6825CB28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2386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</a:t>
            </a:r>
          </a:p>
        </p:txBody>
      </p:sp>
      <p:sp>
        <p:nvSpPr>
          <p:cNvPr id="26" name="text-55">
            <a:extLst xmlns:a="http://schemas.openxmlformats.org/drawingml/2006/main">
              <a:ext uri="{FF2B5EF4-FFF2-40B4-BE49-F238E27FC236}">
                <a16:creationId xmlns:a16="http://schemas.microsoft.com/office/drawing/2014/main" id="{D5BDA899-BF0E-4499-ACE9-CE74A00E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00700"/>
            <a:ext cx="2619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逐动作一致</a:t>
            </a:r>
          </a:p>
        </p:txBody>
      </p:sp>
    </p:spTree>
    <p:extLst>
      <p:ext uri="{BB962C8B-B14F-4D97-AF65-F5344CB8AC3E}">
        <p14:creationId xmlns:p14="http://schemas.microsoft.com/office/powerpoint/2010/main" val="5836272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56">
            <a:extLst xmlns:a="http://schemas.openxmlformats.org/drawingml/2006/main">
              <a:ext uri="{FF2B5EF4-FFF2-40B4-BE49-F238E27FC236}">
                <a16:creationId xmlns:a16="http://schemas.microsoft.com/office/drawing/2014/main" id="{766D9C5D-2FEF-4A96-83E7-14D32B53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状态抽象：合并未来等价的历史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1A8E61E6-7C28-4D9F-B658-5215D97D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咖啡：磨豆、烧水、拿杯子谁先谁后都行；只有「先热水还是先放粉」决定结果 —— 前者不必分开记，后者必须分开记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D09B05BC-FF5B-4762-86AF-AB191C7A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50F04502-FCBF-4236-9380-57886B90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9540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完整历史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B4D741ED-3971-4864-9155-74A6F70E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954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最终任务状态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A13FF541-4E6B-4997-A69C-368B24A2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29540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共享动作价值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EDA2D-75B0-49E7-AB31-EBE26170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1460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 先于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A76479-42A1-4894-ADF7-33830250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52950"/>
            <a:ext cx="2190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 先于 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CF64AC-1337-4C8D-B71C-4865F682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9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266950" y="224790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243F9-E89C-41C8-9737-C843579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cxnSp>
        <p:nvCxnSpPr>
          <p:cNvPr id="36" name=""/>
          <p:cNvCxnSpPr>
            <a:stCxn xmlns:a="http://schemas.openxmlformats.org/drawingml/2006/main" id="11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E5EF4-356D-44F6-B32E-2B6EA5EB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04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cxnSp>
        <p:nvCxnSpPr>
          <p:cNvPr id="38" name=""/>
          <p:cNvCxnSpPr>
            <a:stCxn xmlns:a="http://schemas.openxmlformats.org/drawingml/2006/main" id="1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266950" y="289560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3A0AC-4939-4A3B-AB2A-31F100432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4812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BAC</a:t>
            </a:r>
          </a:p>
        </p:txBody>
      </p:sp>
      <p:cxnSp>
        <p:nvCxnSpPr>
          <p:cNvPr id="40" name=""/>
          <p:cNvCxnSpPr>
            <a:stCxn xmlns:a="http://schemas.openxmlformats.org/drawingml/2006/main" id="1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66950" y="4286250"/>
            <a:ext cx="28765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616290-323B-4693-AF5E-4F9AD9F9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BCA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47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BBCC22-38BF-4C58-8279-84CF31EE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38775"/>
            <a:ext cx="1200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CBA</a:t>
            </a:r>
          </a:p>
        </p:txBody>
      </p:sp>
      <p:cxnSp>
        <p:nvCxnSpPr>
          <p:cNvPr id="44" name=""/>
          <p:cNvCxnSpPr>
            <a:stCxn xmlns:a="http://schemas.openxmlformats.org/drawingml/2006/main" id="19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266950" y="4933950"/>
            <a:ext cx="28765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9C1919-1577-4417-BC92-E477DCB4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370C30-1719-4846-B2B2-16AA2054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52950"/>
            <a:ext cx="2286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47A35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Q(状态, X/Y)</a:t>
            </a:r>
          </a:p>
        </p:txBody>
      </p: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334250" y="289560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48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334250" y="49339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47A35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153740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2">
            <a:extLst xmlns:a="http://schemas.openxmlformats.org/drawingml/2006/main">
              <a:ext uri="{FF2B5EF4-FFF2-40B4-BE49-F238E27FC236}">
                <a16:creationId xmlns:a16="http://schemas.microsoft.com/office/drawing/2014/main" id="{5C316D47-1594-44FE-8ABC-37D83DA3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正确压缩与逐条历史学习</a:t>
            </a:r>
          </a:p>
        </p:txBody>
      </p:sp>
      <p:sp>
        <p:nvSpPr>
          <p:cNvPr id="2" name="text-63">
            <a:extLst xmlns:a="http://schemas.openxmlformats.org/drawingml/2006/main">
              <a:ext uri="{FF2B5EF4-FFF2-40B4-BE49-F238E27FC236}">
                <a16:creationId xmlns:a16="http://schemas.microsoft.com/office/drawing/2014/main" id="{692ED328-7A89-4358-8FB5-862C59A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正确等价关系已知；每规模 400 个配对种子（不是 400 个任务：候选族只有 6 / 12 / 20 条规则）</a:t>
            </a:r>
          </a:p>
        </p:txBody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BCA3013E-6D6E-426B-891B-F5704E51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714375" y="1419225"/>
          <a:ext xmlns:a="http://schemas.openxmlformats.org/drawingml/2006/main" cx="106680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ccc522fb9f4383"/>
          </a:graphicData>
        </a:graphic>
      </p:graphicFrame>
      <p:sp>
        <p:nvSpPr>
          <p:cNvPr id="5" name="text-65">
            <a:extLst xmlns:a="http://schemas.openxmlformats.org/drawingml/2006/main">
              <a:ext uri="{FF2B5EF4-FFF2-40B4-BE49-F238E27FC236}">
                <a16:creationId xmlns:a16="http://schemas.microsoft.com/office/drawing/2014/main" id="{6ABA0C6B-7EAE-4117-8711-6F47E258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4.67×</a:t>
            </a:r>
          </a:p>
        </p:txBody>
      </p:sp>
      <p:sp>
        <p:nvSpPr>
          <p:cNvPr id="6" name="text-66">
            <a:extLst xmlns:a="http://schemas.openxmlformats.org/drawingml/2006/main">
              <a:ext uri="{FF2B5EF4-FFF2-40B4-BE49-F238E27FC236}">
                <a16:creationId xmlns:a16="http://schemas.microsoft.com/office/drawing/2014/main" id="{E65F5BF8-F0C6-46E0-A676-A87A55FD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18.55×</a:t>
            </a:r>
          </a:p>
        </p:txBody>
      </p:sp>
      <p:sp>
        <p:nvSpPr>
          <p:cNvPr id="7" name="text-67">
            <a:extLst xmlns:a="http://schemas.openxmlformats.org/drawingml/2006/main">
              <a:ext uri="{FF2B5EF4-FFF2-40B4-BE49-F238E27FC236}">
                <a16:creationId xmlns:a16="http://schemas.microsoft.com/office/drawing/2014/main" id="{97F395E9-F49D-4CB0-A910-259ED12B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410200"/>
            <a:ext cx="190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89.75×</a:t>
            </a:r>
          </a:p>
        </p:txBody>
      </p:sp>
      <p:sp>
        <p:nvSpPr>
          <p:cNvPr id="8" name="text-68">
            <a:extLst xmlns:a="http://schemas.openxmlformats.org/drawingml/2006/main">
              <a:ext uri="{FF2B5EF4-FFF2-40B4-BE49-F238E27FC236}">
                <a16:creationId xmlns:a16="http://schemas.microsoft.com/office/drawing/2014/main" id="{8F426BA1-F3DC-466E-898F-37BE4569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闭式解 Σ 2H/(H-i)，H = n! = 6 / 24 / 120 → 理论 29.4 / 109.2 / 543.8 幕，与观测一致</a:t>
            </a:r>
          </a:p>
        </p:txBody>
      </p:sp>
    </p:spTree>
    <p:extLst>
      <p:ext uri="{BB962C8B-B14F-4D97-AF65-F5344CB8AC3E}">
        <p14:creationId xmlns:p14="http://schemas.microsoft.com/office/powerpoint/2010/main" val="2188459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69">
            <a:extLst xmlns:a="http://schemas.openxmlformats.org/drawingml/2006/main">
              <a:ext uri="{FF2B5EF4-FFF2-40B4-BE49-F238E27FC236}">
                <a16:creationId xmlns:a16="http://schemas.microsoft.com/office/drawing/2014/main" id="{4A855018-566F-4DDB-9CC9-A2039A0A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有限证据下的合并判断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E6DEAA1C-79D9-422B-AA5C-08A24F22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咖啡：两条历史现在都「该倒水了」，但一条之后要加热、一条要冷藏 —— 现在合并，就是把冷萃的经验用到热泡上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10A165FF-501C-45BC-AE09-84F6F75B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08</a:t>
            </a:r>
          </a:p>
        </p:txBody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F58E62A7-AF88-41BD-ABA7-79DFE258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28587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过早合并</a:t>
            </a:r>
          </a:p>
        </p:txBody>
      </p:sp>
      <p:sp>
        <p:nvSpPr>
          <p:cNvPr id="5" name="text-73">
            <a:extLst xmlns:a="http://schemas.openxmlformats.org/drawingml/2006/main">
              <a:ext uri="{FF2B5EF4-FFF2-40B4-BE49-F238E27FC236}">
                <a16:creationId xmlns:a16="http://schemas.microsoft.com/office/drawing/2014/main" id="{2BBF7E6F-4C0E-4EC7-BE12-3072BF16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285875"/>
            <a:ext cx="3619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保守不合并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30D88-95A5-4134-82F5-5BF180795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56A1FA-9C12-42E7-90CB-C83D5A4C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10075"/>
            <a:ext cx="1333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历史 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528D7B-5D85-4AAF-9222-B9CD0668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76625"/>
            <a:ext cx="1476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AE514B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同一状态</a:t>
            </a:r>
          </a:p>
        </p:txBody>
      </p:sp>
      <p:cxnSp>
        <p:nvCxnSpPr>
          <p:cNvPr id="3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143125" y="2881313"/>
            <a:ext cx="1162050" cy="9286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143125" y="3810000"/>
            <a:ext cx="116205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E514B"/>
            </a:solidFill>
            <a:prstDash val="solid"/>
            <a:tailEnd type="triangle" w="sm" len="sm"/>
          </a:ln>
        </p:spPr>
      </p:cxnSp>
      <p:sp>
        <p:nvSpPr>
          <p:cNvPr id="11" name="text-74">
            <a:extLst xmlns:a="http://schemas.openxmlformats.org/drawingml/2006/main">
              <a:ext uri="{FF2B5EF4-FFF2-40B4-BE49-F238E27FC236}">
                <a16:creationId xmlns:a16="http://schemas.microsoft.com/office/drawing/2014/main" id="{66CE76C0-2142-44D4-B1B8-EBD5CE64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28600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加热？</a:t>
            </a:r>
          </a:p>
        </p:txBody>
      </p:sp>
      <p:sp>
        <p:nvSpPr>
          <p:cNvPr id="12" name="text-75">
            <a:extLst xmlns:a="http://schemas.openxmlformats.org/drawingml/2006/main">
              <a:ext uri="{FF2B5EF4-FFF2-40B4-BE49-F238E27FC236}">
                <a16:creationId xmlns:a16="http://schemas.microsoft.com/office/drawing/2014/main" id="{9C397DF9-1C94-4E8B-B39E-4D4E04F4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819650"/>
            <a:ext cx="161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冷却？</a:t>
            </a:r>
          </a:p>
        </p:txBody>
      </p:sp>
      <p:sp>
        <p:nvSpPr>
          <p:cNvPr id="13" name="text-76">
            <a:extLst xmlns:a="http://schemas.openxmlformats.org/drawingml/2006/main">
              <a:ext uri="{FF2B5EF4-FFF2-40B4-BE49-F238E27FC236}">
                <a16:creationId xmlns:a16="http://schemas.microsoft.com/office/drawing/2014/main" id="{E1C61D41-8609-4ADE-8722-36E58A8F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AE514B"/>
                </a:solidFill>
                <a:latin typeface="Arial Unicode MS"/>
                <a:ea typeface="Arial Unicode MS"/>
                <a:cs typeface="Arial Unicode MS"/>
              </a:rPr>
              <a:t>未见后缀可能不同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11B932-D4DA-4660-BBF9-AB5F126B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3050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FEA56-883D-4392-BCB0-C4A438D8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3050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39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277225" y="26193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AEA462-AE52-4FE9-8E59-F46625BC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46710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654903-EEBF-4E6A-B061-9A148268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2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277225" y="378142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AA4D4-5618-4BA3-9A6B-56D298F5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4629150"/>
            <a:ext cx="12001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CAB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36DBD5-D94C-4A70-BDE2-AD72A17F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629150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Q(X/Y)</a:t>
            </a:r>
          </a:p>
        </p:txBody>
      </p:sp>
      <p:cxnSp>
        <p:nvCxnSpPr>
          <p:cNvPr id="45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77225" y="49434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3" name="text-77">
            <a:extLst xmlns:a="http://schemas.openxmlformats.org/drawingml/2006/main">
              <a:ext uri="{FF2B5EF4-FFF2-40B4-BE49-F238E27FC236}">
                <a16:creationId xmlns:a16="http://schemas.microsoft.com/office/drawing/2014/main" id="{5CB2E367-3DD4-409B-831D-79882C202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6007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等价历史分别学习</a:t>
            </a:r>
          </a:p>
        </p:txBody>
      </p:sp>
    </p:spTree>
    <p:extLst>
      <p:ext uri="{BB962C8B-B14F-4D97-AF65-F5344CB8AC3E}">
        <p14:creationId xmlns:p14="http://schemas.microsoft.com/office/powerpoint/2010/main" val="134262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78">
            <a:extLst xmlns:a="http://schemas.openxmlformats.org/drawingml/2006/main">
              <a:ext uri="{FF2B5EF4-FFF2-40B4-BE49-F238E27FC236}">
                <a16:creationId xmlns:a16="http://schemas.microsoft.com/office/drawing/2014/main" id="{CFEB5F18-CDE6-477A-8A67-0C30550A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合并审计：正确性与查询节省</a:t>
            </a:r>
          </a:p>
        </p:txBody>
      </p:sp>
      <p:sp>
        <p:nvSpPr>
          <p:cNvPr id="2" name="text-79">
            <a:extLst xmlns:a="http://schemas.openxmlformats.org/drawingml/2006/main">
              <a:ext uri="{FF2B5EF4-FFF2-40B4-BE49-F238E27FC236}">
                <a16:creationId xmlns:a16="http://schemas.microsoft.com/office/drawing/2014/main" id="{1BCA7332-CD5F-47E0-8132-6EFC3FBC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预注册判据 3 / 3 不达标：查询节省 16.9% &lt; 20%；错误裁决 47 次；错误归属 140 次。敏感性上界 23.6% 仍不达标</a:t>
            </a:r>
          </a:p>
        </p:txBody>
      </p:sp>
      <p:sp>
        <p:nvSpPr>
          <p:cNvPr id="3" name="text-80">
            <a:extLst xmlns:a="http://schemas.openxmlformats.org/drawingml/2006/main">
              <a:ext uri="{FF2B5EF4-FFF2-40B4-BE49-F238E27FC236}">
                <a16:creationId xmlns:a16="http://schemas.microsoft.com/office/drawing/2014/main" id="{47F1C399-1A1E-461E-B2EF-4340A4A0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09</a:t>
            </a:r>
          </a:p>
        </p:txBody>
      </p:sp>
      <p:sp>
        <p:nvSpPr>
          <p:cNvPr id="4" name="text-81">
            <a:extLst xmlns:a="http://schemas.openxmlformats.org/drawingml/2006/main">
              <a:ext uri="{FF2B5EF4-FFF2-40B4-BE49-F238E27FC236}">
                <a16:creationId xmlns:a16="http://schemas.microsoft.com/office/drawing/2014/main" id="{EA60D76B-FF65-40C7-9D45-9E5924AC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裁决正确率</a:t>
            </a:r>
          </a:p>
        </p:txBody>
      </p:sp>
      <p:sp>
        <p:nvSpPr>
          <p:cNvPr id="5" name="text-82">
            <a:extLst xmlns:a="http://schemas.openxmlformats.org/drawingml/2006/main">
              <a:ext uri="{FF2B5EF4-FFF2-40B4-BE49-F238E27FC236}">
                <a16:creationId xmlns:a16="http://schemas.microsoft.com/office/drawing/2014/main" id="{C9CFDB9A-94AE-4D43-A92E-712B63A7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状态归属正确率</a:t>
            </a:r>
          </a:p>
        </p:txBody>
      </p:sp>
      <p:sp>
        <p:nvSpPr>
          <p:cNvPr id="6" name="text-83">
            <a:extLst xmlns:a="http://schemas.openxmlformats.org/drawingml/2006/main">
              <a:ext uri="{FF2B5EF4-FFF2-40B4-BE49-F238E27FC236}">
                <a16:creationId xmlns:a16="http://schemas.microsoft.com/office/drawing/2014/main" id="{17E8B19F-84AA-4E67-BE0C-4A86F45D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381125"/>
            <a:ext cx="34575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可省查询比例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5ec889da0e40e8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41960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e883d83326347a1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8248650" y="2095500"/>
          <a:ext xmlns:a="http://schemas.openxmlformats.org/drawingml/2006/main" cx="336232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c57e4454687473b"/>
          </a:graphicData>
        </a:graphic>
      </p:graphicFrame>
    </p:spTree>
    <p:extLst>
      <p:ext uri="{BB962C8B-B14F-4D97-AF65-F5344CB8AC3E}">
        <p14:creationId xmlns:p14="http://schemas.microsoft.com/office/powerpoint/2010/main" val="8282417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98A5B05B-A0E8-45C2-BA4E-BA34B3C5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可靠任务反馈的预算</a:t>
            </a:r>
          </a:p>
        </p:txBody>
      </p:sp>
      <p:sp>
        <p:nvSpPr>
          <p:cNvPr id="2" name="text-85">
            <a:extLst xmlns:a="http://schemas.openxmlformats.org/drawingml/2006/main">
              <a:ext uri="{FF2B5EF4-FFF2-40B4-BE49-F238E27FC236}">
                <a16:creationId xmlns:a16="http://schemas.microsoft.com/office/drawing/2014/main" id="{1226E66B-EEDC-4737-98C4-D63E21B5D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24 个任务族 × 6 个种子；200,000 环境步内曾达到 90%</a:t>
            </a:r>
          </a:p>
        </p:txBody>
      </p:sp>
      <p:sp>
        <p:nvSpPr>
          <p:cNvPr id="3" name="text-86">
            <a:extLst xmlns:a="http://schemas.openxmlformats.org/drawingml/2006/main">
              <a:ext uri="{FF2B5EF4-FFF2-40B4-BE49-F238E27FC236}">
                <a16:creationId xmlns:a16="http://schemas.microsoft.com/office/drawing/2014/main" id="{99062B27-94C8-46A5-814D-68356AFB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1000125" y="1438275"/>
          <a:ext xmlns:a="http://schemas.openxmlformats.org/drawingml/2006/main" cx="10287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b9a3965cd549c7"/>
          </a:graphicData>
        </a:graphic>
      </p:graphicFrame>
      <p:sp>
        <p:nvSpPr>
          <p:cNvPr id="5" name="text-87">
            <a:extLst xmlns:a="http://schemas.openxmlformats.org/drawingml/2006/main">
              <a:ext uri="{FF2B5EF4-FFF2-40B4-BE49-F238E27FC236}">
                <a16:creationId xmlns:a16="http://schemas.microsoft.com/office/drawing/2014/main" id="{0411EAEE-9B7A-4F4A-A13B-1E615059B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 / 144</a:t>
            </a:r>
          </a:p>
        </p:txBody>
      </p:sp>
      <p:sp>
        <p:nvSpPr>
          <p:cNvPr id="6" name="text-88">
            <a:extLst xmlns:a="http://schemas.openxmlformats.org/drawingml/2006/main">
              <a:ext uri="{FF2B5EF4-FFF2-40B4-BE49-F238E27FC236}">
                <a16:creationId xmlns:a16="http://schemas.microsoft.com/office/drawing/2014/main" id="{EDAFBEEC-F674-43B8-82E5-4EF624FF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61 / 144</a:t>
            </a:r>
          </a:p>
        </p:txBody>
      </p:sp>
      <p:sp>
        <p:nvSpPr>
          <p:cNvPr id="7" name="text-89">
            <a:extLst xmlns:a="http://schemas.openxmlformats.org/drawingml/2006/main">
              <a:ext uri="{FF2B5EF4-FFF2-40B4-BE49-F238E27FC236}">
                <a16:creationId xmlns:a16="http://schemas.microsoft.com/office/drawing/2014/main" id="{A01FDCC0-830A-429B-B91E-E66DC0C5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131 / 144</a:t>
            </a:r>
          </a:p>
        </p:txBody>
      </p:sp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4BDC41F9-0592-4DF0-B0FA-4510B1BA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6197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144 / 144</a:t>
            </a:r>
          </a:p>
        </p:txBody>
      </p:sp>
    </p:spTree>
    <p:extLst>
      <p:ext uri="{BB962C8B-B14F-4D97-AF65-F5344CB8AC3E}">
        <p14:creationId xmlns:p14="http://schemas.microsoft.com/office/powerpoint/2010/main" val="19568777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1">
            <a:extLst xmlns:a="http://schemas.openxmlformats.org/drawingml/2006/main">
              <a:ext uri="{FF2B5EF4-FFF2-40B4-BE49-F238E27FC236}">
                <a16:creationId xmlns:a16="http://schemas.microsoft.com/office/drawing/2014/main" id="{7C5362A5-04ED-4303-996F-20082A79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提前使用：主动探索与被动证据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7639D560-DBBB-46DD-889C-E8976D7C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零件实验：识别前未达 95%，识别后策略相同，因此 T95 相同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6659D7FE-8D44-41C2-9395-387B22AC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  <p:sp>
        <p:nvSpPr>
          <p:cNvPr id="4" name="text-94">
            <a:extLst xmlns:a="http://schemas.openxmlformats.org/drawingml/2006/main">
              <a:ext uri="{FF2B5EF4-FFF2-40B4-BE49-F238E27FC236}">
                <a16:creationId xmlns:a16="http://schemas.microsoft.com/office/drawing/2014/main" id="{CE585067-7DCE-4550-AC1F-BF3ECCF5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3350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早期导航任务</a:t>
            </a:r>
          </a:p>
        </p:txBody>
      </p:sp>
      <p:sp>
        <p:nvSpPr>
          <p:cNvPr id="5" name="text-95">
            <a:extLst xmlns:a="http://schemas.openxmlformats.org/drawingml/2006/main">
              <a:ext uri="{FF2B5EF4-FFF2-40B4-BE49-F238E27FC236}">
                <a16:creationId xmlns:a16="http://schemas.microsoft.com/office/drawing/2014/main" id="{A78F35F1-F383-41AA-A21D-5795D5B6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3350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最新零件实验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EB4D2-6A80-4DF6-AEA0-0982F764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局部流程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4FF7CB-022A-41FA-80F2-966978FF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95500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执行前缀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184C8-BFCB-4938-A902-A321CC86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381375"/>
            <a:ext cx="1638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后缀证据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86025" y="2390775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2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3905250" y="2686050"/>
            <a:ext cx="5238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686050"/>
            <a:ext cx="600075" cy="9906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6A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1B063-779F-4409-AF34-F59309F0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95500"/>
            <a:ext cx="1981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环境给出排列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23349-D587-4856-9651-AEBA4D8D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95500"/>
            <a:ext cx="1790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选择 X / Y</a:t>
            </a:r>
          </a:p>
        </p:txBody>
      </p:sp>
      <p:cxnSp>
        <p:nvCxnSpPr>
          <p:cNvPr id="32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820150" y="23907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15" name="text-96">
            <a:extLst xmlns:a="http://schemas.openxmlformats.org/drawingml/2006/main">
              <a:ext uri="{FF2B5EF4-FFF2-40B4-BE49-F238E27FC236}">
                <a16:creationId xmlns:a16="http://schemas.microsoft.com/office/drawing/2014/main" id="{9C4849B3-C5F0-44B3-B127-C96192C1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9562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下一幕仍由环境独立抽样</a:t>
            </a:r>
          </a:p>
        </p:txBody>
      </p:sp>
      <p:sp>
        <p:nvSpPr>
          <p:cNvPr id="16" name="text-97">
            <a:extLst xmlns:a="http://schemas.openxmlformats.org/drawingml/2006/main">
              <a:ext uri="{FF2B5EF4-FFF2-40B4-BE49-F238E27FC236}">
                <a16:creationId xmlns:a16="http://schemas.microsoft.com/office/drawing/2014/main" id="{5569EE0C-359F-4644-8BFF-AF5D9FADB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5434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识别前实际额外成功 / 次</a:t>
            </a:r>
          </a:p>
        </p:txBody>
      </p:sp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6515100" y="4000500"/>
          <a:ext xmlns:a="http://schemas.openxmlformats.org/drawingml/2006/main" cx="5029200" cy="1981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ec196686f34948"/>
          </a:graphicData>
        </a:graphic>
      </p:graphicFrame>
      <p:sp>
        <p:nvSpPr>
          <p:cNvPr id="18" name="text-98">
            <a:extLst xmlns:a="http://schemas.openxmlformats.org/drawingml/2006/main">
              <a:ext uri="{FF2B5EF4-FFF2-40B4-BE49-F238E27FC236}">
                <a16:creationId xmlns:a16="http://schemas.microsoft.com/office/drawing/2014/main" id="{9DA07635-CF53-4876-ACE0-CFB5E68D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7682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每规模 400 个配对种子</a:t>
            </a:r>
          </a:p>
        </p:txBody>
      </p:sp>
    </p:spTree>
    <p:extLst>
      <p:ext uri="{BB962C8B-B14F-4D97-AF65-F5344CB8AC3E}">
        <p14:creationId xmlns:p14="http://schemas.microsoft.com/office/powerpoint/2010/main" val="196865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text-99">
            <a:extLst xmlns:a="http://schemas.openxmlformats.org/drawingml/2006/main">
              <a:ext uri="{FF2B5EF4-FFF2-40B4-BE49-F238E27FC236}">
                <a16:creationId xmlns:a16="http://schemas.microsoft.com/office/drawing/2014/main" id="{708CF9A6-C048-4DC9-9B0E-A2A1BEF3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结构利用：任务路由与技能复用</a:t>
            </a:r>
          </a:p>
        </p:txBody>
      </p:sp>
      <p:sp>
        <p:nvSpPr>
          <p:cNvPr id="2" name="text-100">
            <a:extLst xmlns:a="http://schemas.openxmlformats.org/drawingml/2006/main">
              <a:ext uri="{FF2B5EF4-FFF2-40B4-BE49-F238E27FC236}">
                <a16:creationId xmlns:a16="http://schemas.microsoft.com/office/drawing/2014/main" id="{6F0C814E-A182-400F-BFD1-C8C5AAC7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已知规则的控制消融；AUC 接近天花板，不能据此排序机制强弱</a:t>
            </a:r>
          </a:p>
        </p:txBody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17328B12-DDF9-4F7F-873F-EB5A7DEC3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7512546C-BD2D-4747-A7F8-CBFCEB322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无复用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EDA3C5B7-3F90-4116-965C-5484CBB8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371600"/>
            <a:ext cx="1762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有复用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17123A4F-BFB2-4B78-AAE7-D3F80AC9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47650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无路由</a:t>
            </a:r>
          </a:p>
        </p:txBody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18FA1266-E98C-4258-9E4C-8BF7D813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4100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有路由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A1F4F4-91E8-4AC3-94D5-CB6AC56C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9" name="text-106">
            <a:extLst xmlns:a="http://schemas.openxmlformats.org/drawingml/2006/main">
              <a:ext uri="{FF2B5EF4-FFF2-40B4-BE49-F238E27FC236}">
                <a16:creationId xmlns:a16="http://schemas.microsoft.com/office/drawing/2014/main" id="{B899E020-F971-4BD4-B6B9-3DAF4DEA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Y00</a:t>
            </a:r>
          </a:p>
        </p:txBody>
      </p:sp>
      <p:sp>
        <p:nvSpPr>
          <p:cNvPr id="10" name="text-107">
            <a:extLst xmlns:a="http://schemas.openxmlformats.org/drawingml/2006/main">
              <a:ext uri="{FF2B5EF4-FFF2-40B4-BE49-F238E27FC236}">
                <a16:creationId xmlns:a16="http://schemas.microsoft.com/office/drawing/2014/main" id="{95BCD0DD-FF72-4B58-854C-53A2C0A4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平坦历史</a:t>
            </a:r>
          </a:p>
        </p:txBody>
      </p:sp>
      <p:sp>
        <p:nvSpPr>
          <p:cNvPr id="11" name="text-108">
            <a:extLst xmlns:a="http://schemas.openxmlformats.org/drawingml/2006/main">
              <a:ext uri="{FF2B5EF4-FFF2-40B4-BE49-F238E27FC236}">
                <a16:creationId xmlns:a16="http://schemas.microsoft.com/office/drawing/2014/main" id="{8E45A58B-B522-4754-BDD1-AC4B0412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4D92CC-A8D3-41DD-9477-E1B75400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00250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3" name="text-109">
            <a:extLst xmlns:a="http://schemas.openxmlformats.org/drawingml/2006/main">
              <a:ext uri="{FF2B5EF4-FFF2-40B4-BE49-F238E27FC236}">
                <a16:creationId xmlns:a16="http://schemas.microsoft.com/office/drawing/2014/main" id="{F6135782-7A5A-491F-886C-88766696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24075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Y01</a:t>
            </a:r>
          </a:p>
        </p:txBody>
      </p:sp>
      <p:sp>
        <p:nvSpPr>
          <p:cNvPr id="14" name="text-110">
            <a:extLst xmlns:a="http://schemas.openxmlformats.org/drawingml/2006/main">
              <a:ext uri="{FF2B5EF4-FFF2-40B4-BE49-F238E27FC236}">
                <a16:creationId xmlns:a16="http://schemas.microsoft.com/office/drawing/2014/main" id="{EB76046A-3A22-47B4-9DC3-EDC3EDA9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90800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学习型元控制</a:t>
            </a:r>
          </a:p>
        </p:txBody>
      </p:sp>
      <p:sp>
        <p:nvSpPr>
          <p:cNvPr id="15" name="text-111">
            <a:extLst xmlns:a="http://schemas.openxmlformats.org/drawingml/2006/main">
              <a:ext uri="{FF2B5EF4-FFF2-40B4-BE49-F238E27FC236}">
                <a16:creationId xmlns:a16="http://schemas.microsoft.com/office/drawing/2014/main" id="{70E6A15A-1337-40FA-A726-08EDC65A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076575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.883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90AED-3E46-4A01-87BA-96CDAF0B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7" name="text-112">
            <a:extLst xmlns:a="http://schemas.openxmlformats.org/drawingml/2006/main">
              <a:ext uri="{FF2B5EF4-FFF2-40B4-BE49-F238E27FC236}">
                <a16:creationId xmlns:a16="http://schemas.microsoft.com/office/drawing/2014/main" id="{7184E10A-E1D7-46E8-A0AF-32713C19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Y10</a:t>
            </a:r>
          </a:p>
        </p:txBody>
      </p:sp>
      <p:sp>
        <p:nvSpPr>
          <p:cNvPr id="18" name="text-113">
            <a:extLst xmlns:a="http://schemas.openxmlformats.org/drawingml/2006/main">
              <a:ext uri="{FF2B5EF4-FFF2-40B4-BE49-F238E27FC236}">
                <a16:creationId xmlns:a16="http://schemas.microsoft.com/office/drawing/2014/main" id="{F4B4317A-7622-44A5-8955-83238FB3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分阶段技能</a:t>
            </a:r>
          </a:p>
        </p:txBody>
      </p:sp>
      <p:sp>
        <p:nvSpPr>
          <p:cNvPr id="19" name="text-114">
            <a:extLst xmlns:a="http://schemas.openxmlformats.org/drawingml/2006/main">
              <a:ext uri="{FF2B5EF4-FFF2-40B4-BE49-F238E27FC236}">
                <a16:creationId xmlns:a16="http://schemas.microsoft.com/office/drawing/2014/main" id="{D745EF3F-930F-4B0F-A414-CFD157E8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.988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82AE34-364D-4BD1-BAE9-7336B2E0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14775"/>
            <a:ext cx="1866900" cy="1628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9"/>
          </a:solidFill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1" name="text-115">
            <a:extLst xmlns:a="http://schemas.openxmlformats.org/drawingml/2006/main">
              <a:ext uri="{FF2B5EF4-FFF2-40B4-BE49-F238E27FC236}">
                <a16:creationId xmlns:a16="http://schemas.microsoft.com/office/drawing/2014/main" id="{E98D643E-B161-4EFF-B91B-8FBDF25B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38600"/>
            <a:ext cx="152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Y11</a:t>
            </a:r>
          </a:p>
        </p:txBody>
      </p:sp>
      <p:sp>
        <p:nvSpPr>
          <p:cNvPr id="22" name="text-116">
            <a:extLst xmlns:a="http://schemas.openxmlformats.org/drawingml/2006/main">
              <a:ext uri="{FF2B5EF4-FFF2-40B4-BE49-F238E27FC236}">
                <a16:creationId xmlns:a16="http://schemas.microsoft.com/office/drawing/2014/main" id="{E01D24EA-2B20-499C-9360-637A0C158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5053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4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共享技能</a:t>
            </a:r>
          </a:p>
        </p:txBody>
      </p:sp>
      <p:sp>
        <p:nvSpPr>
          <p:cNvPr id="23" name="text-117">
            <a:extLst xmlns:a="http://schemas.openxmlformats.org/drawingml/2006/main">
              <a:ext uri="{FF2B5EF4-FFF2-40B4-BE49-F238E27FC236}">
                <a16:creationId xmlns:a16="http://schemas.microsoft.com/office/drawing/2014/main" id="{48A40674-9E2A-400E-8954-5BCFB465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91100"/>
            <a:ext cx="15811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AUC .997</a:t>
            </a:r>
          </a:p>
        </p:txBody>
      </p:sp>
      <p:sp>
        <p:nvSpPr>
          <p:cNvPr id="24" name="text-118">
            <a:extLst xmlns:a="http://schemas.openxmlformats.org/drawingml/2006/main">
              <a:ext uri="{FF2B5EF4-FFF2-40B4-BE49-F238E27FC236}">
                <a16:creationId xmlns:a16="http://schemas.microsoft.com/office/drawing/2014/main" id="{489D4E73-384C-4EF6-BAE4-3DB6DD1C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33500"/>
            <a:ext cx="4048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first90 中位 / 环境步</a:t>
            </a:r>
          </a:p>
        </p:txBody>
      </p:sp>
      <p:graphicFrame>
        <p:nvGraphicFramePr>
          <p:cNvPr id="51" name="Chart"/>
          <p:cNvGraphicFramePr/>
          <p:nvPr/>
        </p:nvGraphicFramePr>
        <p:xfrm>
          <a:off xmlns:a="http://schemas.openxmlformats.org/drawingml/2006/main" x="6610350" y="2095500"/>
          <a:ext xmlns:a="http://schemas.openxmlformats.org/drawingml/2006/main" cx="5000625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9f00da20284fed"/>
          </a:graphicData>
        </a:graphic>
      </p:graphicFrame>
      <p:sp>
        <p:nvSpPr>
          <p:cNvPr id="26" name="text-119">
            <a:extLst xmlns:a="http://schemas.openxmlformats.org/drawingml/2006/main">
              <a:ext uri="{FF2B5EF4-FFF2-40B4-BE49-F238E27FC236}">
                <a16:creationId xmlns:a16="http://schemas.microsoft.com/office/drawing/2014/main" id="{C0972EB3-C9BB-45BA-9F39-ECD61C9B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769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QRM  AUC .972</a:t>
            </a:r>
          </a:p>
        </p:txBody>
      </p:sp>
    </p:spTree>
    <p:extLst>
      <p:ext uri="{BB962C8B-B14F-4D97-AF65-F5344CB8AC3E}">
        <p14:creationId xmlns:p14="http://schemas.microsoft.com/office/powerpoint/2010/main" val="15205596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20">
            <a:extLst xmlns:a="http://schemas.openxmlformats.org/drawingml/2006/main">
              <a:ext uri="{FF2B5EF4-FFF2-40B4-BE49-F238E27FC236}">
                <a16:creationId xmlns:a16="http://schemas.microsoft.com/office/drawing/2014/main" id="{FDC28FBD-0524-4A59-9E8F-86329EBF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危险格数量与达标率</a:t>
            </a:r>
          </a:p>
        </p:txBody>
      </p:sp>
      <p:sp>
        <p:nvSpPr>
          <p:cNvPr id="2" name="text-121">
            <a:extLst xmlns:a="http://schemas.openxmlformats.org/drawingml/2006/main">
              <a:ext uri="{FF2B5EF4-FFF2-40B4-BE49-F238E27FC236}">
                <a16:creationId xmlns:a16="http://schemas.microsoft.com/office/drawing/2014/main" id="{24E44581-42B9-4538-965C-EE8477E0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96025"/>
            <a:ext cx="1057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75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已知规则；固定步费协议；100 万步预算；该扫描逐种子记录已缺失，不能重算区间</a:t>
            </a:r>
          </a:p>
        </p:txBody>
      </p:sp>
      <p:sp>
        <p:nvSpPr>
          <p:cNvPr id="3" name="text-122">
            <a:extLst xmlns:a="http://schemas.openxmlformats.org/drawingml/2006/main">
              <a:ext uri="{FF2B5EF4-FFF2-40B4-BE49-F238E27FC236}">
                <a16:creationId xmlns:a16="http://schemas.microsoft.com/office/drawing/2014/main" id="{0B78C629-6DD3-44FF-876E-ACF1AEF5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866775" y="1371600"/>
          <a:ext xmlns:a="http://schemas.openxmlformats.org/drawingml/2006/main" cx="10525125" cy="40386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8d7e55389f434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A4BBEC-0A0B-445A-BE87-4130F025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6" name="text-123">
            <a:extLst xmlns:a="http://schemas.openxmlformats.org/drawingml/2006/main">
              <a:ext uri="{FF2B5EF4-FFF2-40B4-BE49-F238E27FC236}">
                <a16:creationId xmlns:a16="http://schemas.microsoft.com/office/drawing/2014/main" id="{D7F765A1-17E6-4106-95FD-BFF8749B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7690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有技能无路由 0.882　≫　有路由无技能 0.106</a:t>
            </a:r>
          </a:p>
        </p:txBody>
      </p:sp>
      <p:sp>
        <p:nvSpPr>
          <p:cNvPr id="7" name="text-124">
            <a:extLst xmlns:a="http://schemas.openxmlformats.org/drawingml/2006/main">
              <a:ext uri="{FF2B5EF4-FFF2-40B4-BE49-F238E27FC236}">
                <a16:creationId xmlns:a16="http://schemas.microsoft.com/office/drawing/2014/main" id="{9E7578C3-2CD5-4357-8C32-9196AC9F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10275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不可逆性放大的是复用，不是路由 —— 与上一页的普通条件相反</a:t>
            </a:r>
          </a:p>
        </p:txBody>
      </p:sp>
    </p:spTree>
    <p:extLst>
      <p:ext uri="{BB962C8B-B14F-4D97-AF65-F5344CB8AC3E}">
        <p14:creationId xmlns:p14="http://schemas.microsoft.com/office/powerpoint/2010/main" val="100822293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125">
            <a:extLst xmlns:a="http://schemas.openxmlformats.org/drawingml/2006/main">
              <a:ext uri="{FF2B5EF4-FFF2-40B4-BE49-F238E27FC236}">
                <a16:creationId xmlns:a16="http://schemas.microsoft.com/office/drawing/2014/main" id="{77B936B6-0352-4FB4-AE04-271785F9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三层研究关系</a:t>
            </a:r>
          </a:p>
        </p:txBody>
      </p:sp>
      <p:sp>
        <p:nvSpPr>
          <p:cNvPr id="2" name="text-126">
            <a:extLst xmlns:a="http://schemas.openxmlformats.org/drawingml/2006/main">
              <a:ext uri="{FF2B5EF4-FFF2-40B4-BE49-F238E27FC236}">
                <a16:creationId xmlns:a16="http://schemas.microsoft.com/office/drawing/2014/main" id="{57AC4E3F-D1DE-4BC1-AF85-0B1E29B8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296025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68778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  <p:sp>
        <p:nvSpPr>
          <p:cNvPr id="3" name="text-127">
            <a:extLst xmlns:a="http://schemas.openxmlformats.org/drawingml/2006/main">
              <a:ext uri="{FF2B5EF4-FFF2-40B4-BE49-F238E27FC236}">
                <a16:creationId xmlns:a16="http://schemas.microsoft.com/office/drawing/2014/main" id="{E16C0B57-F5E3-4305-B9D1-31345BDA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已验证</a:t>
            </a:r>
          </a:p>
        </p:txBody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0DAA1C18-9229-4CDB-B7D3-CB2A32635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5255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尚未解决</a:t>
            </a:r>
          </a:p>
        </p:txBody>
      </p:sp>
      <p:sp>
        <p:nvSpPr>
          <p:cNvPr id="5" name="text-129">
            <a:extLst xmlns:a="http://schemas.openxmlformats.org/drawingml/2006/main">
              <a:ext uri="{FF2B5EF4-FFF2-40B4-BE49-F238E27FC236}">
                <a16:creationId xmlns:a16="http://schemas.microsoft.com/office/drawing/2014/main" id="{CA603731-046A-435B-BF92-D4579424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2574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结构发现</a:t>
            </a:r>
          </a:p>
        </p:txBody>
      </p:sp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51FEE148-5B69-4C8D-83D3-F5218FBD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31457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受限在线闭环</a:t>
            </a:r>
          </a:p>
        </p:txBody>
      </p:sp>
      <p:sp>
        <p:nvSpPr>
          <p:cNvPr id="7" name="text-131">
            <a:extLst xmlns:a="http://schemas.openxmlformats.org/drawingml/2006/main">
              <a:ext uri="{FF2B5EF4-FFF2-40B4-BE49-F238E27FC236}">
                <a16:creationId xmlns:a16="http://schemas.microsoft.com/office/drawing/2014/main" id="{6751D1FD-A141-447F-9456-4A7356FA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1457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一般规则发现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94CDCE-E1B5-46E7-956B-8035984B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6BF95-6F7F-4E65-AB7D-EA36AF16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CBBAE-330F-429E-A378-2691DD6F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0980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?</a:t>
            </a:r>
          </a:p>
        </p:txBody>
      </p:sp>
      <p:cxnSp>
        <p:nvCxnSpPr>
          <p:cNvPr id="41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7814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191125" y="2505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dash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15F44-F186-4AA6-9B00-7DA9093B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14" name="text-132">
            <a:extLst xmlns:a="http://schemas.openxmlformats.org/drawingml/2006/main">
              <a:ext uri="{FF2B5EF4-FFF2-40B4-BE49-F238E27FC236}">
                <a16:creationId xmlns:a16="http://schemas.microsoft.com/office/drawing/2014/main" id="{F932B06A-E87C-4C4B-B577-D12D3478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19500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状态抽象</a:t>
            </a:r>
          </a:p>
        </p:txBody>
      </p:sp>
      <p:sp>
        <p:nvSpPr>
          <p:cNvPr id="15" name="text-133">
            <a:extLst xmlns:a="http://schemas.openxmlformats.org/drawingml/2006/main">
              <a:ext uri="{FF2B5EF4-FFF2-40B4-BE49-F238E27FC236}">
                <a16:creationId xmlns:a16="http://schemas.microsoft.com/office/drawing/2014/main" id="{8E810A4B-A204-4B5D-8DBD-F55B4739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76650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正确压缩收益</a:t>
            </a:r>
          </a:p>
        </p:txBody>
      </p:sp>
      <p:sp>
        <p:nvSpPr>
          <p:cNvPr id="16" name="text-134">
            <a:extLst xmlns:a="http://schemas.openxmlformats.org/drawingml/2006/main">
              <a:ext uri="{FF2B5EF4-FFF2-40B4-BE49-F238E27FC236}">
                <a16:creationId xmlns:a16="http://schemas.microsoft.com/office/drawing/2014/main" id="{4B7E3A85-F206-4B28-94C2-BC58E1F5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676650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可靠在线合并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0419E-066D-4C18-9EFF-1BA9EC51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09950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ABC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F235F6-84B2-4CB4-BD6D-D6923799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48125"/>
            <a:ext cx="952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4A1AA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94A1AA"/>
                </a:solidFill>
                <a:latin typeface="Arial Unicode MS"/>
                <a:ea typeface="Arial Unicode MS"/>
                <a:cs typeface="Arial Unicode MS"/>
              </a:rPr>
              <a:t>ACB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04201-25F0-48B2-BD47-1C66AC2C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714750"/>
            <a:ext cx="104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067175" y="3643313"/>
            <a:ext cx="1466850" cy="3476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4067175" y="3990975"/>
            <a:ext cx="1466850" cy="2905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06F642-D4DD-439A-AA86-09684F67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0E4"/>
            </a:solidFill>
          </a:ln>
        </p:spPr>
      </p:sp>
      <p:sp>
        <p:nvSpPr>
          <p:cNvPr id="23" name="text-135">
            <a:extLst xmlns:a="http://schemas.openxmlformats.org/drawingml/2006/main">
              <a:ext uri="{FF2B5EF4-FFF2-40B4-BE49-F238E27FC236}">
                <a16:creationId xmlns:a16="http://schemas.microsoft.com/office/drawing/2014/main" id="{7D319AC1-7ACD-4F01-8A4B-3974E551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98157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202B33"/>
                </a:solidFill>
                <a:latin typeface="Arial Unicode MS"/>
                <a:ea typeface="Arial Unicode MS"/>
                <a:cs typeface="Arial Unicode MS"/>
              </a:rPr>
              <a:t>结构利用</a:t>
            </a:r>
          </a:p>
        </p:txBody>
      </p:sp>
      <p:sp>
        <p:nvSpPr>
          <p:cNvPr id="24" name="text-136">
            <a:extLst xmlns:a="http://schemas.openxmlformats.org/drawingml/2006/main">
              <a:ext uri="{FF2B5EF4-FFF2-40B4-BE49-F238E27FC236}">
                <a16:creationId xmlns:a16="http://schemas.microsoft.com/office/drawing/2014/main" id="{FEB11D4B-DDE2-452A-9DD1-31F65B75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038725"/>
            <a:ext cx="21812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条件性控制收益</a:t>
            </a:r>
          </a:p>
        </p:txBody>
      </p:sp>
      <p:sp>
        <p:nvSpPr>
          <p:cNvPr id="25" name="text-137">
            <a:extLst xmlns:a="http://schemas.openxmlformats.org/drawingml/2006/main">
              <a:ext uri="{FF2B5EF4-FFF2-40B4-BE49-F238E27FC236}">
                <a16:creationId xmlns:a16="http://schemas.microsoft.com/office/drawing/2014/main" id="{2E418262-F77A-4C7A-B171-3A5F5A06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38725"/>
            <a:ext cx="22002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C47A35"/>
                </a:solidFill>
                <a:latin typeface="Arial Unicode MS"/>
                <a:ea typeface="Arial Unicode MS"/>
                <a:cs typeface="Arial Unicode MS"/>
              </a:rPr>
              <a:t>机制归因与边界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4B1A6F-46B9-4264-98FD-139369E1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933950"/>
            <a:ext cx="66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C86689-0D15-4CAB-9758-A65FCC85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33950"/>
            <a:ext cx="8382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goal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076878-3B29-4F25-B967-FB254D7B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933950"/>
            <a:ext cx="971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176AD"/>
            </a:solidFill>
          </a:ln>
        </p:spPr>
        <p:txBody>
          <a:bodyPr xmlns:a="http://schemas.openxmlformats.org/drawingml/2006/main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>
                <a:solidFill>
                  <a:srgbClr val="2176AD"/>
                </a:solidFill>
                <a:latin typeface="Arial Unicode MS"/>
                <a:ea typeface="Arial Unicode MS"/>
                <a:cs typeface="Arial Unicode MS"/>
              </a:rPr>
              <a:t>技能</a:t>
            </a:r>
          </a:p>
        </p:txBody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781425" y="522922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5362575" y="522922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1AA"/>
            </a:solidFill>
            <a:prstDash val="solid"/>
            <a:tailEnd type="triangle" w="sm" len="sm"/>
          </a:ln>
        </p:spPr>
      </p:cxnSp>
    </p:spTree>
    <p:extLst>
      <p:ext uri="{BB962C8B-B14F-4D97-AF65-F5344CB8AC3E}">
        <p14:creationId xmlns:p14="http://schemas.microsoft.com/office/powerpoint/2010/main" val="14646024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2026-09-16T04:36:38.1140000Z</dcterms:created>
  <dcterms:modified xsi:type="dcterms:W3CDTF">2026-09-16T04:36:38.1140000Z</dcterms:modified>
</coreProperties>
</file>