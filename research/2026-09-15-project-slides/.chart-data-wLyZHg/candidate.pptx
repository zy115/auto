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9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0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5def48e8b84618" /><Relationship Type="http://schemas.openxmlformats.org/officeDocument/2006/relationships/extended-properties" Target="/docProps/app.xml" Id="R3743b79a9ff94ed4" /><Relationship Type="http://schemas.openxmlformats.org/officeDocument/2006/relationships/officeDocument" Target="/ppt/presentation.xml" Id="R9299729f0dad49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81542fec0d48bd"/>
  </p:sldMasterIdLst>
  <p:notesMasterIdLst>
    <p:notesMasterId xmlns:r="http://schemas.openxmlformats.org/officeDocument/2006/relationships" r:id="R7e27f75143b844c4"/>
  </p:notesMasterIdLst>
  <p:sldIdLst>
    <p:sldId xmlns:r="http://schemas.openxmlformats.org/officeDocument/2006/relationships" id="256" r:id="R8cf99e6724024d58"/>
    <p:sldId xmlns:r="http://schemas.openxmlformats.org/officeDocument/2006/relationships" id="257" r:id="R547d8928d94a440f"/>
    <p:sldId xmlns:r="http://schemas.openxmlformats.org/officeDocument/2006/relationships" id="258" r:id="Rb4dbc8d4138e4d29"/>
    <p:sldId xmlns:r="http://schemas.openxmlformats.org/officeDocument/2006/relationships" id="259" r:id="R1693a3b1449f4f3a"/>
    <p:sldId xmlns:r="http://schemas.openxmlformats.org/officeDocument/2006/relationships" id="260" r:id="R8eecaa4614db4052"/>
    <p:sldId xmlns:r="http://schemas.openxmlformats.org/officeDocument/2006/relationships" id="261" r:id="R6ec301a2049a429e"/>
    <p:sldId xmlns:r="http://schemas.openxmlformats.org/officeDocument/2006/relationships" id="262" r:id="Rde0edbadcb4e485d"/>
    <p:sldId xmlns:r="http://schemas.openxmlformats.org/officeDocument/2006/relationships" id="263" r:id="Rfbd4e5198d7b4cd9"/>
    <p:sldId xmlns:r="http://schemas.openxmlformats.org/officeDocument/2006/relationships" id="264" r:id="R156f56e645ca4931"/>
    <p:sldId xmlns:r="http://schemas.openxmlformats.org/officeDocument/2006/relationships" id="265" r:id="Rccdb76d5bd904e85"/>
    <p:sldId xmlns:r="http://schemas.openxmlformats.org/officeDocument/2006/relationships" id="266" r:id="Rf4d6cb5d2aac4be1"/>
    <p:sldId xmlns:r="http://schemas.openxmlformats.org/officeDocument/2006/relationships" id="267" r:id="Reea637b90b734cf9"/>
    <p:sldId xmlns:r="http://schemas.openxmlformats.org/officeDocument/2006/relationships" id="268" r:id="Rfe525f4a3c9e460e"/>
    <p:sldId xmlns:r="http://schemas.openxmlformats.org/officeDocument/2006/relationships" id="269" r:id="Rd76ab9e97c3b48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70d4cbaca3484c" /><Relationship Type="http://schemas.openxmlformats.org/officeDocument/2006/relationships/slideMaster" Target="/ppt/slideMasters/slideMaster1.xml" Id="R1b81542fec0d48bd" /><Relationship Type="http://schemas.openxmlformats.org/officeDocument/2006/relationships/notesMaster" Target="/ppt/notesMasters/notesMaster1.xml" Id="R7e27f75143b844c4" /><Relationship Type="http://schemas.openxmlformats.org/officeDocument/2006/relationships/presProps" Target="/ppt/presProps.xml" Id="R1940475bb3cd451e" /><Relationship Type="http://schemas.openxmlformats.org/officeDocument/2006/relationships/tableStyles" Target="/ppt/tableStyles.xml" Id="Raed629fedfa6495e" /><Relationship Type="http://schemas.openxmlformats.org/officeDocument/2006/relationships/slide" Target="/ppt/slides/slide1.xml" Id="R8cf99e6724024d58" /><Relationship Type="http://schemas.openxmlformats.org/officeDocument/2006/relationships/slide" Target="/ppt/slides/slide2.xml" Id="R547d8928d94a440f" /><Relationship Type="http://schemas.openxmlformats.org/officeDocument/2006/relationships/slide" Target="/ppt/slides/slide3.xml" Id="Rb4dbc8d4138e4d29" /><Relationship Type="http://schemas.openxmlformats.org/officeDocument/2006/relationships/slide" Target="/ppt/slides/slide4.xml" Id="R1693a3b1449f4f3a" /><Relationship Type="http://schemas.openxmlformats.org/officeDocument/2006/relationships/slide" Target="/ppt/slides/slide5.xml" Id="R8eecaa4614db4052" /><Relationship Type="http://schemas.openxmlformats.org/officeDocument/2006/relationships/slide" Target="/ppt/slides/slide6.xml" Id="R6ec301a2049a429e" /><Relationship Type="http://schemas.openxmlformats.org/officeDocument/2006/relationships/slide" Target="/ppt/slides/slide7.xml" Id="Rde0edbadcb4e485d" /><Relationship Type="http://schemas.openxmlformats.org/officeDocument/2006/relationships/slide" Target="/ppt/slides/slide8.xml" Id="Rfbd4e5198d7b4cd9" /><Relationship Type="http://schemas.openxmlformats.org/officeDocument/2006/relationships/slide" Target="/ppt/slides/slide9.xml" Id="R156f56e645ca4931" /><Relationship Type="http://schemas.openxmlformats.org/officeDocument/2006/relationships/slide" Target="/ppt/slides/slide10.xml" Id="Rccdb76d5bd904e85" /><Relationship Type="http://schemas.openxmlformats.org/officeDocument/2006/relationships/slide" Target="/ppt/slides/slide11.xml" Id="Rf4d6cb5d2aac4be1" /><Relationship Type="http://schemas.openxmlformats.org/officeDocument/2006/relationships/slide" Target="/ppt/slides/slide12.xml" Id="Reea637b90b734cf9" /><Relationship Type="http://schemas.openxmlformats.org/officeDocument/2006/relationships/slide" Target="/ppt/slides/slide13.xml" Id="Rfe525f4a3c9e460e" /><Relationship Type="http://schemas.openxmlformats.org/officeDocument/2006/relationships/slide" Target="/ppt/slides/slide14.xml" Id="Rd76ab9e97c3b48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d868c50e014f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67ea1f9348444f" /><Relationship Type="http://schemas.openxmlformats.org/officeDocument/2006/relationships/notesMaster" Target="/ppt/notesMasters/notesMaster1.xml" Id="R4255fe137e7849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4edd42fb494116" /><Relationship Type="http://schemas.openxmlformats.org/officeDocument/2006/relationships/notesMaster" Target="/ppt/notesMasters/notesMaster1.xml" Id="Re7d1f2f3a5bd45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3bce2f31824de5" /><Relationship Type="http://schemas.openxmlformats.org/officeDocument/2006/relationships/notesMaster" Target="/ppt/notesMasters/notesMaster1.xml" Id="R1f9d1b0a13a34c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8e907bf0ee4b64" /><Relationship Type="http://schemas.openxmlformats.org/officeDocument/2006/relationships/notesMaster" Target="/ppt/notesMasters/notesMaster1.xml" Id="Rc96cbefdee684d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1a11193d954ec3" /><Relationship Type="http://schemas.openxmlformats.org/officeDocument/2006/relationships/notesMaster" Target="/ppt/notesMasters/notesMaster1.xml" Id="R74a61fc6470146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2a16306f5f47b6" /><Relationship Type="http://schemas.openxmlformats.org/officeDocument/2006/relationships/notesMaster" Target="/ppt/notesMasters/notesMaster1.xml" Id="Rf2bce1672caa47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9ffa9f52cc409a" /><Relationship Type="http://schemas.openxmlformats.org/officeDocument/2006/relationships/notesMaster" Target="/ppt/notesMasters/notesMaster1.xml" Id="Re25aae47a9874f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d3c890d50e471c" /><Relationship Type="http://schemas.openxmlformats.org/officeDocument/2006/relationships/notesMaster" Target="/ppt/notesMasters/notesMaster1.xml" Id="R7237c74c059345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82773192924e98" /><Relationship Type="http://schemas.openxmlformats.org/officeDocument/2006/relationships/notesMaster" Target="/ppt/notesMasters/notesMaster1.xml" Id="Rbb5a1e3573de40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14449092bd49f0" /><Relationship Type="http://schemas.openxmlformats.org/officeDocument/2006/relationships/notesMaster" Target="/ppt/notesMasters/notesMaster1.xml" Id="R2aaa6b629a8e4e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dd466e343c46e1" /><Relationship Type="http://schemas.openxmlformats.org/officeDocument/2006/relationships/notesMaster" Target="/ppt/notesMasters/notesMaster1.xml" Id="Ra017ee5b84494d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611266d5dd415e" /><Relationship Type="http://schemas.openxmlformats.org/officeDocument/2006/relationships/notesMaster" Target="/ppt/notesMasters/notesMaster1.xml" Id="Re23332c0bbf349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a945d1cee14455" /><Relationship Type="http://schemas.openxmlformats.org/officeDocument/2006/relationships/notesMaster" Target="/ppt/notesMasters/notesMaster1.xml" Id="Rdb414937f9e340b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3f9d3f88b584bc0" /><Relationship Type="http://schemas.openxmlformats.org/officeDocument/2006/relationships/notesMaster" Target="/ppt/notesMasters/notesMaster1.xml" Id="Rb85083d205ac40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问题是隐藏任务顺序/逻辑的发现，不是完全没有任务信号的目标发现。事件可识别，早期实验提供可靠的逐步推进反馈。格子图仅为机制示意，不对应具体实验地图。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6：长度16，动作噪声，第二批32个新种子。左图为首次成功率达到90%的平均环境步。右图为第一次完整成功之前，在已知目标前缀中累计执行的平均步数，两者观察区间不同，不应当相减或当成总成本的精确分解。三方法每步9次Bellman更新；立即/延迟epsilon均为0.005，普通replay为0.05（开发集选择）。未声称超过ISA等既有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在线性任务与可靠进度反馈条件下，进度唯一标记任务阶段。列表是链式自动机的等价表示；结果不证明图形式本身的优势。未知项由试错逐步填入。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→E与B→E汇入同一物理位置，进度均为2、末事件均为E，但后继要求不同。图中两个E表示不同历史下的任务状态，不是两个物理位置。充分历史可以解决这个任务。咖啡例子只是同构的直觉说明，不是实验中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前缀树与完整成功事件历史dictionary在匹配输入与随机数时逐动作一致。字典包含足够历史，并非只存进度或最后事件。这里比较表示形式，不涉及合并不同历史。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件任务规则：A先于B则选X，否则选Y，其他零件位置无关。完整顺序由环境提供；末端只做一次二选一。此图表示末端决策等价，不声称每个中间前缀在环境状态上都等价。正确自动机与等价手写程序使用同一状态划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TL/AUTO/docs/MEMORY_COMPRESSION_PILOT.md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规模400个配对种子，每方法5000幕。T95为首次达到并在后续记录点保持至少95%准确率的幕数，本批主要对照无删失，因此RMST等于平均T95。压缩等价关系由设计者提供。完整历史与正确压缩使用同样Q-learning。自动机与等价手写程序逐种子逐评估点一致。比值来自未取整均值，不应以显示取整值要求精确相除。该量级有闭式解释：错误动作Q恒为0，正确动作首次获正奖励后Q=1，此后该状态永远答对；未覆盖状态随机并列答对一半，故准确率=(H+c)/2H，要达95%需覆盖c&gt;=0.9H。已覆盖i格时新覆盖一格的概率为(H-i)/(2H)，期望等待2H/(H-i)，累加得 sum(2H/(H-i), i=0..ceil(0.9H)-1)。H=6/24/120给出29.40/109.25/543.76幕，压缩后H=2给出6.0幕，理论倍数90.63x，实测89.75x。大倍数来自填表次数，不需要额外机制假设。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TL/AUTO/results/runs/memory_compression_pilot_5k.md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机制示意。左侧：暂时具有相同观测的历史可能在未见后缀上要求不同操作；合并会错用经验。右侧：等价历史始终分开会重复学习。示意不是本次审计的原始自动机，不把当前裁决相同视为全后缀等价。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。固定基线轨迹，逐查询只使用当时证据进行回放审计；未将这些合并接入控制器，也没有相应学习曲线。k_min是当时证据所容许的最小机器状态数，+1放松该上界。节省只计审计识别的可安全节省部分（134/792），那102次落在必要查询上的复用不计入节省，它是另一种危害：把真正需要买的答案用别人的答案替掉。判据在跑之前写定：节省&gt;=20%且错误共享约等于0。在线k_min是8-12而真状态数是19-27，证据少时最小机器严重过度合并，这是离线97.6%精确率无法在线复现的全部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归档AUTO/discovery/results/verify.jsonl.gz：预算40/80/160/320，first90&lt;200000的运行分别1/61/131/144，共144。图中百分比按用户口播四舍五入为1/42/91/100。嵌入图表数据保留12位小数，分子分母在页面与备注中保留精确计数。160预算时最终仍&gt;=90%的只有127/144；本图量的是曾经达标，不是最终成功比例。控制器按历史节点读取局部证据，未启用合并。不能由最终树节点数推断必须完整结构才能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TL/AUTO/discovery/src/run_verify.py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零件pilot每规模400种子。训练期间、规则唯一识别前立即法相比延迟法实际额外成功均值为0.1225、0.4525、0.635，图显示口播取整0.123/0.453/0.635。不是贪心评估累计期望0.137/0.533/0.696。规则识别前准确率不足95%；识别后两臂在该实现中相同，因此T95没有分辨能力。该必然性只针对这个规则族、确定反馈、更新与阈值设置。主动任务早期调用技能改变到达后缀的行为，被动任务每幕独立给出排列，动作不影响下一份证据。不能据此断言所有边学边用收益都必须依赖主动取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族×30种子×5臂，预算200000步。first90是报告中的中位数，AUC为成功率曲线面积。Y00没有两种机制，Y01用学习型元控制器调用共享技能，Y10真规则路由但技能按任务状态独立，Y11真规则路由且跨状态共享技能；QRM单列。Y01并未被给定正确目标顺序，结构化臂用真规则而不是在线学规则。原报告关于路由压倒性强于复用的AUC解释已在Step38撤回，因天花板影响；不能用本页做该推断。后续C-full审计指出Y10/Y11差异不只来自参数共享，还涉及经验传播、采样和探索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38.5剂量扫描，昂贵导航，自有导出模拟器，任务规则已给定，训练预算1000000环境步。达标率为预算内达到90%成功率的运行比例。Y10/Y11数据按历史报告提供。此扫描的逐种子原始数据后来确认遗失，因此不能重算置信区间。Step40新网格逐运行归档：步费改变QRM排序，并使风险交互效应缩小；不能将此页视为协议不变的效应大小。无论存在何种图论路径，危险格可能迫使成功轨迹绕行。这里不声明几何难度完全不变。页底两行取自REPORT_STEP38_5第125-126行：昂贵地图加岩浆时「有技能无路由」0.882远胜「有路由无技能」0.106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TL/progressive_task_discovery/stage8_compression/REPORT_STEP38_5.md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层不是全都已集成的一套通用算法。结构发现的受限未知顺序闭环有正结果；状态抽象的已知正确压缩有明确收益，可靠在线合并尚未解决；结构利用的路由/共享实现具有条件性收益，但一般机制归因、协议与任务边界未定。未建立超过ISA等的通用新方法，不声称自动机语法优于等价手写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c95a9ab0544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4c990d96a94bdf" /><Relationship Type="http://schemas.openxmlformats.org/officeDocument/2006/relationships/slideLayout" Target="/ppt/slideLayouts/slideLayout1.xml" Id="Rf5f27c3a1fa045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f27c3a1fa045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d8efc21774c32" /><Relationship Type="http://schemas.openxmlformats.org/officeDocument/2006/relationships/notesSlide" Target="/ppt/notesSlides/notesSlide1.xml" Id="Rdf388a22c0e4433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3970703b241ea" /><Relationship Type="http://schemas.openxmlformats.org/officeDocument/2006/relationships/chart" Target="/ppt/slides/charts/chart1.xml" Id="Rc5a3c57af3cb4679" /><Relationship Type="http://schemas.openxmlformats.org/officeDocument/2006/relationships/chart" Target="/ppt/slides/charts/chart2.xml" Id="R3fd32346418548da" /><Relationship Type="http://schemas.openxmlformats.org/officeDocument/2006/relationships/notesSlide" Target="/ppt/notesSlides/notesSlide2.xml" Id="Rc335a96d00ca48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b6a467ba34eb0" /><Relationship Type="http://schemas.openxmlformats.org/officeDocument/2006/relationships/notesSlide" Target="/ppt/notesSlides/notesSlide3.xml" Id="R5353eb7a4cb64b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eab39c0c24859" /><Relationship Type="http://schemas.openxmlformats.org/officeDocument/2006/relationships/notesSlide" Target="/ppt/notesSlides/notesSlide4.xml" Id="Refacf6c536d94c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c655907294497" /><Relationship Type="http://schemas.openxmlformats.org/officeDocument/2006/relationships/notesSlide" Target="/ppt/notesSlides/notesSlide5.xml" Id="R22130ecfc9254b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0853521fe47c2" /><Relationship Type="http://schemas.openxmlformats.org/officeDocument/2006/relationships/notesSlide" Target="/ppt/notesSlides/notesSlide6.xml" Id="Rc8065441ae8b42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fe3f9e49f40a0" /><Relationship Type="http://schemas.openxmlformats.org/officeDocument/2006/relationships/chart" Target="/ppt/slides/charts/chart3.xml" Id="R6055531d057940b7" /><Relationship Type="http://schemas.openxmlformats.org/officeDocument/2006/relationships/notesSlide" Target="/ppt/notesSlides/notesSlide7.xml" Id="R850f2440b4d34a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cbf4ada0b42a1" /><Relationship Type="http://schemas.openxmlformats.org/officeDocument/2006/relationships/notesSlide" Target="/ppt/notesSlides/notesSlide8.xml" Id="R8be9df624bc14c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046cd297049ed" /><Relationship Type="http://schemas.openxmlformats.org/officeDocument/2006/relationships/chart" Target="/ppt/slides/charts/chart4.xml" Id="Rb7426f2e5fc844fd" /><Relationship Type="http://schemas.openxmlformats.org/officeDocument/2006/relationships/chart" Target="/ppt/slides/charts/chart5.xml" Id="Rff053d158c424e89" /><Relationship Type="http://schemas.openxmlformats.org/officeDocument/2006/relationships/chart" Target="/ppt/slides/charts/chart6.xml" Id="Rab883eeb5c4444b0" /><Relationship Type="http://schemas.openxmlformats.org/officeDocument/2006/relationships/notesSlide" Target="/ppt/notesSlides/notesSlide9.xml" Id="R955879c015724d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805b35be04f81" /><Relationship Type="http://schemas.openxmlformats.org/officeDocument/2006/relationships/chart" Target="/ppt/slides/charts/chart7.xml" Id="R37bcb7c0833549a8" /><Relationship Type="http://schemas.openxmlformats.org/officeDocument/2006/relationships/notesSlide" Target="/ppt/notesSlides/notesSlide10.xml" Id="R0b2a616265eb47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3ad0908a34cf4" /><Relationship Type="http://schemas.openxmlformats.org/officeDocument/2006/relationships/chart" Target="/ppt/slides/charts/chart8.xml" Id="R39f57e15fe384e12" /><Relationship Type="http://schemas.openxmlformats.org/officeDocument/2006/relationships/notesSlide" Target="/ppt/notesSlides/notesSlide11.xml" Id="Rccac74dd89984f4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10e9e56c744f1" /><Relationship Type="http://schemas.openxmlformats.org/officeDocument/2006/relationships/chart" Target="/ppt/slides/charts/chart9.xml" Id="R5ce61b0507064360" /><Relationship Type="http://schemas.openxmlformats.org/officeDocument/2006/relationships/notesSlide" Target="/ppt/notesSlides/notesSlide12.xml" Id="R0e8f3c0ff601469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06f180c6cc4834" /><Relationship Type="http://schemas.openxmlformats.org/officeDocument/2006/relationships/chart" Target="/ppt/slides/charts/chart10.xml" Id="R9ffe45fcaf8445aa" /><Relationship Type="http://schemas.openxmlformats.org/officeDocument/2006/relationships/notesSlide" Target="/ppt/notesSlides/notesSlide13.xml" Id="R26f6572d53ef4cb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b5427876c437c" /><Relationship Type="http://schemas.openxmlformats.org/officeDocument/2006/relationships/notesSlide" Target="/ppt/notesSlides/notesSlide14.xml" Id="R5a8bb6cb035449b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 first90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A1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普通 replay</c:v>
                </c:pt>
                <c:pt idx="1">
                  <c:v>延迟使用</c:v>
                </c:pt>
                <c:pt idx="2">
                  <c:v>立即使用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18594</c:v>
                </c:pt>
                <c:pt idx="1">
                  <c:v>37938</c:v>
                </c:pt>
                <c:pt idx="2">
                  <c:v>6906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已知前缀执行步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延迟</c:v>
                </c:pt>
                <c:pt idx="1">
                  <c:v>立即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33194</c:v>
                </c:pt>
                <c:pt idx="1">
                  <c:v>2566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完整历史</c:v>
          </c:tx>
          <c:spPr>
            <a:solidFill xmlns:a="http://schemas.openxmlformats.org/drawingml/2006/main">
              <a:srgbClr val="94A1AA"/>
            </a:solidFill>
          </c:spPr>
          <c:cat>
            <c:strRef>
              <c:f>'Chart Data'!$A$2:$A$4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28.28</c:v>
                </c:pt>
                <c:pt idx="1">
                  <c:v>109.15</c:v>
                </c:pt>
                <c:pt idx="2">
                  <c:v>547.23</c:v>
                </c:pt>
              </c:numCache>
            </c:numRef>
          </c:val>
        </c:ser>
        <c:ser>
          <c:idx val="1"/>
          <c:order val="1"/>
          <c:tx>
            <c:v>正确压缩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Data'!$C$2:$C$4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6.05</c:v>
                </c:pt>
                <c:pt idx="1">
                  <c:v>5.89</c:v>
                </c:pt>
                <c:pt idx="2">
                  <c:v>6.1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0.801</c:v>
                </c:pt>
                <c:pt idx="1">
                  <c:v>0.773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0.407</c:v>
                </c:pt>
                <c:pt idx="1">
                  <c:v>0.636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0.169</c:v>
                </c:pt>
                <c:pt idx="1">
                  <c:v>0.018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达标运行比例</c:v>
          </c:tx>
          <c:spPr>
            <a:solidFill xmlns:a="http://schemas.openxmlformats.org/drawingml/2006/main">
              <a:srgbClr val="2176AD"/>
            </a:solidFill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40</c:v>
                </c:pt>
                <c:pt idx="1">
                  <c:v>80</c:v>
                </c:pt>
                <c:pt idx="2">
                  <c:v>160</c:v>
                </c:pt>
                <c:pt idx="3">
                  <c:v>320</c:v>
                </c:pt>
              </c:numCache>
            </c:num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0.006944444444</c:v>
                </c:pt>
                <c:pt idx="1">
                  <c:v>0.423611111111</c:v>
                </c:pt>
                <c:pt idx="2">
                  <c:v>0.909722222222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提问预算 / 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立即减延迟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Data'!$A$2:$A$4</c:f>
              <c:strCache>
                <c:ptCount val="3"/>
                <c:pt idx="0">
                  <c:v>3 个</c:v>
                </c:pt>
                <c:pt idx="1">
                  <c:v>4 个</c:v>
                </c:pt>
                <c:pt idx="2">
                  <c:v>5 个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0.123</c:v>
                </c:pt>
                <c:pt idx="1">
                  <c:v>0.453</c:v>
                </c:pt>
                <c:pt idx="2">
                  <c:v>0.635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first90</c:v>
          </c:tx>
          <c:spPr>
            <a:solidFill xmlns:a="http://schemas.openxmlformats.org/drawingml/2006/main">
              <a:srgbClr val="94A1AA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2A0B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Y00</c:v>
                </c:pt>
                <c:pt idx="1">
                  <c:v>Y01</c:v>
                </c:pt>
                <c:pt idx="2">
                  <c:v>Y10</c:v>
                </c:pt>
                <c:pt idx="3">
                  <c:v>Y11</c:v>
                </c:pt>
                <c:pt idx="4">
                  <c:v>QRM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38500</c:v>
                </c:pt>
                <c:pt idx="1">
                  <c:v>4000</c:v>
                </c:pt>
                <c:pt idx="2">
                  <c:v>3750</c:v>
                </c:pt>
                <c:pt idx="3">
                  <c:v>1000</c:v>
                </c:pt>
                <c:pt idx="4">
                  <c:v>7000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C47A3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0.32</c:v>
                </c:pt>
                <c:pt idx="2">
                  <c:v>0.16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176A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0.99</c:v>
                </c:pt>
                <c:pt idx="3">
                  <c:v>0.95</c:v>
                </c:pt>
                <c:pt idx="4">
                  <c:v>0.91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text-1">
            <a:extLst xmlns:a="http://schemas.openxmlformats.org/drawingml/2006/main">
              <a:ext uri="{FF2B5EF4-FFF2-40B4-BE49-F238E27FC236}">
                <a16:creationId xmlns:a16="http://schemas.microsoft.com/office/drawing/2014/main" id="{A131F87F-0A74-4079-8B2C-505FBDC9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未知任务中的在线发现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3A237216-6D93-496D-8879-26ECC4F2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1EBD2CE-1974-48B3-BA27-9A54F6A6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事件可见，进度反馈可靠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6273A-A05E-4BD7-97EF-1029DD66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46507-08B6-43DA-A889-9A030B0A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FED4B-3AFA-483C-8122-9753E732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24626-EAAA-4487-931B-B298F015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C6D6A-E93F-49FD-AC1A-6D76C116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790BB-CE98-4329-B6E6-D3216F89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7E875-A638-4416-98BA-9107C869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877F3-0957-4ECD-BAE3-8FEC1104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F26871-C111-4631-9D45-0437F821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33FC3A-EEF6-4B3B-A832-AF78A5BA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C1797-CD77-40C6-8579-894F8436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0E65F-7026-4C29-9663-3C345458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FA9C68-89DB-40CA-8DA0-362A9878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0EB95-B0E9-41BB-9D3D-778D6FC2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8AF71-2E05-437E-A837-1D6EF0A2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6F9BB-3CE6-4A03-98FD-24891341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8AF031-80BE-445B-8076-B746DCB5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902498-6CE8-4CBF-8970-125EE887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5B29B6-E1C2-4CCC-9178-569421D6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86FCBC-5939-4D0A-9ACB-04694DC9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754D4C-805D-4900-9145-A3DA999E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495118-581A-4B19-B7CD-E529F608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1F5C27-360A-4A81-95AB-82A36482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C45B2F-DF1D-408D-854D-FD601759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A8BFFF-7C25-4BF9-ADD7-D186A548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183005-B14E-4977-954A-F8E65A39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47293A-6E58-4B17-B3A8-21F3A34A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081886-20AB-455E-8E72-AE3FDD95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DD148-9EE7-415C-B837-185F6F7F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666D3F-492E-4AA8-BA26-CAC74023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E70AC1-99EB-43A3-B8CD-385858DF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2F95C9-E01A-41B8-B0C3-A4DCFA6A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914173-5BFD-429D-A727-6E894585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D91835-F85B-4920-B56A-9FC3D562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E2EC0D-1FDD-4B03-9FCE-5CE78EEF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85DD90-DB0B-48EC-8196-60D9D197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0" name="text-4">
            <a:extLst xmlns:a="http://schemas.openxmlformats.org/drawingml/2006/main">
              <a:ext uri="{FF2B5EF4-FFF2-40B4-BE49-F238E27FC236}">
                <a16:creationId xmlns:a16="http://schemas.microsoft.com/office/drawing/2014/main" id="{242FC2E7-74B3-4DFD-8980-DED36BA2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41" name="text-5">
            <a:extLst xmlns:a="http://schemas.openxmlformats.org/drawingml/2006/main">
              <a:ext uri="{FF2B5EF4-FFF2-40B4-BE49-F238E27FC236}">
                <a16:creationId xmlns:a16="http://schemas.microsoft.com/office/drawing/2014/main" id="{AB01C66B-709E-4C88-A1B0-706E69FF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42" name="text-6">
            <a:extLst xmlns:a="http://schemas.openxmlformats.org/drawingml/2006/main">
              <a:ext uri="{FF2B5EF4-FFF2-40B4-BE49-F238E27FC236}">
                <a16:creationId xmlns:a16="http://schemas.microsoft.com/office/drawing/2014/main" id="{F79460A0-3DF8-4EED-A6F7-3DDA3C8A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43" name="text-7">
            <a:extLst xmlns:a="http://schemas.openxmlformats.org/drawingml/2006/main">
              <a:ext uri="{FF2B5EF4-FFF2-40B4-BE49-F238E27FC236}">
                <a16:creationId xmlns:a16="http://schemas.microsoft.com/office/drawing/2014/main" id="{F08D2B19-85A9-40AB-8AE2-85AB0CF3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44" name="text-8">
            <a:extLst xmlns:a="http://schemas.openxmlformats.org/drawingml/2006/main">
              <a:ext uri="{FF2B5EF4-FFF2-40B4-BE49-F238E27FC236}">
                <a16:creationId xmlns:a16="http://schemas.microsoft.com/office/drawing/2014/main" id="{E72037A9-F0BC-4FA0-B789-543039D2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45" name="text-9">
            <a:extLst xmlns:a="http://schemas.openxmlformats.org/drawingml/2006/main">
              <a:ext uri="{FF2B5EF4-FFF2-40B4-BE49-F238E27FC236}">
                <a16:creationId xmlns:a16="http://schemas.microsoft.com/office/drawing/2014/main" id="{A6497B93-9D66-40AE-B892-6D83C722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   ?   B   ?   C   ?   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D4FBB9-5A16-49B5-8CCD-74829C17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交互反馈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136C75-CA60-42AF-8C40-A000B11B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局部任务结构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4B5B4D-9303-4AC8-88F1-56E30E88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继续探索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7C9F93-92B4-4F94-A67A-6E9206E4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调用已学技能</a:t>
            </a:r>
          </a:p>
        </p:txBody>
      </p:sp>
      <p:cxnSp>
        <p:nvCxnSpPr>
          <p:cNvPr id="105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7953375" y="23145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9953625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9" idx="1"/>
            <a:endCxn xmlns:a="http://schemas.openxmlformats.org/drawingml/2006/main" id="48" idx="3"/>
          </p:cNvCxnSpPr>
          <p:nvPr/>
        </p:nvCxnSpPr>
        <p:spPr>
          <a:xfrm xmlns:a="http://schemas.openxmlformats.org/drawingml/2006/main" flipH="1">
            <a:off x="7953375" y="45053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8" idx="0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6858000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54" name="text-10">
            <a:extLst xmlns:a="http://schemas.openxmlformats.org/drawingml/2006/main">
              <a:ext uri="{FF2B5EF4-FFF2-40B4-BE49-F238E27FC236}">
                <a16:creationId xmlns:a16="http://schemas.microsoft.com/office/drawing/2014/main" id="{CE74983B-6A09-47F8-8565-FB12A92D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未知部分</a:t>
            </a:r>
          </a:p>
        </p:txBody>
      </p:sp>
      <p:sp>
        <p:nvSpPr>
          <p:cNvPr id="55" name="text-11">
            <a:extLst xmlns:a="http://schemas.openxmlformats.org/drawingml/2006/main">
              <a:ext uri="{FF2B5EF4-FFF2-40B4-BE49-F238E27FC236}">
                <a16:creationId xmlns:a16="http://schemas.microsoft.com/office/drawing/2014/main" id="{A925368A-E3AA-4F73-97E3-DA6B5B0B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53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已知前缀</a:t>
            </a:r>
          </a:p>
        </p:txBody>
      </p:sp>
    </p:spTree>
    <p:extLst>
      <p:ext uri="{BB962C8B-B14F-4D97-AF65-F5344CB8AC3E}">
        <p14:creationId xmlns:p14="http://schemas.microsoft.com/office/powerpoint/2010/main" val="20991011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C8A8C662-BAC9-457D-88E4-5AB8B322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线性任务：立即使用已发现的前缀</a:t>
            </a:r>
          </a:p>
        </p:txBody>
      </p:sp>
      <p:sp>
        <p:nvSpPr>
          <p:cNvPr id="2" name="text-13">
            <a:extLst xmlns:a="http://schemas.openxmlformats.org/drawingml/2006/main">
              <a:ext uri="{FF2B5EF4-FFF2-40B4-BE49-F238E27FC236}">
                <a16:creationId xmlns:a16="http://schemas.microsoft.com/office/drawing/2014/main" id="{C4D906A0-934A-4852-955C-E2E44FF3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长度 16，32 个种子；环境步越少越好</a:t>
            </a:r>
          </a:p>
        </p:txBody>
      </p:sp>
      <p:sp>
        <p:nvSpPr>
          <p:cNvPr id="3" name="text-14">
            <a:extLst xmlns:a="http://schemas.openxmlformats.org/drawingml/2006/main">
              <a:ext uri="{FF2B5EF4-FFF2-40B4-BE49-F238E27FC236}">
                <a16:creationId xmlns:a16="http://schemas.microsoft.com/office/drawing/2014/main" id="{30C7D519-4B9C-4102-98CC-6E4A095E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text-15">
            <a:extLst xmlns:a="http://schemas.openxmlformats.org/drawingml/2006/main">
              <a:ext uri="{FF2B5EF4-FFF2-40B4-BE49-F238E27FC236}">
                <a16:creationId xmlns:a16="http://schemas.microsoft.com/office/drawing/2014/main" id="{1377FF90-153C-4C97-B7A1-3BB17948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首次达到 90%</a:t>
            </a:r>
          </a:p>
        </p:txBody>
      </p:sp>
      <p:sp>
        <p:nvSpPr>
          <p:cNvPr id="5" name="text-16">
            <a:extLst xmlns:a="http://schemas.openxmlformats.org/drawingml/2006/main">
              <a:ext uri="{FF2B5EF4-FFF2-40B4-BE49-F238E27FC236}">
                <a16:creationId xmlns:a16="http://schemas.microsoft.com/office/drawing/2014/main" id="{DAF80224-C867-4BFB-845B-83687CB4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049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首次完整成功前：已知前缀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6715125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5a3c57af3cb4679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734300" y="1885950"/>
          <a:ext xmlns:a="http://schemas.openxmlformats.org/drawingml/2006/main" cx="3848100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d32346418548da"/>
          </a:graphicData>
        </a:graphic>
      </p:graphicFrame>
    </p:spTree>
    <p:extLst>
      <p:ext uri="{BB962C8B-B14F-4D97-AF65-F5344CB8AC3E}">
        <p14:creationId xmlns:p14="http://schemas.microsoft.com/office/powerpoint/2010/main" val="5322415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7">
            <a:extLst xmlns:a="http://schemas.openxmlformats.org/drawingml/2006/main">
              <a:ext uri="{FF2B5EF4-FFF2-40B4-BE49-F238E27FC236}">
                <a16:creationId xmlns:a16="http://schemas.microsoft.com/office/drawing/2014/main" id="{76980954-C01A-4BA0-8EAD-F2FFD55E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线性任务的最小记忆</a:t>
            </a:r>
          </a:p>
        </p:txBody>
      </p:sp>
      <p:sp>
        <p:nvSpPr>
          <p:cNvPr id="2" name="text-18">
            <a:extLst xmlns:a="http://schemas.openxmlformats.org/drawingml/2006/main">
              <a:ext uri="{FF2B5EF4-FFF2-40B4-BE49-F238E27FC236}">
                <a16:creationId xmlns:a16="http://schemas.microsoft.com/office/drawing/2014/main" id="{641BE9CD-5399-420F-AB66-9393B500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text-19">
            <a:extLst xmlns:a="http://schemas.openxmlformats.org/drawingml/2006/main">
              <a:ext uri="{FF2B5EF4-FFF2-40B4-BE49-F238E27FC236}">
                <a16:creationId xmlns:a16="http://schemas.microsoft.com/office/drawing/2014/main" id="{3D138EE7-D0CC-46A5-B073-7D021DDF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阶段列表</a:t>
            </a:r>
          </a:p>
        </p:txBody>
      </p:sp>
      <p:sp>
        <p:nvSpPr>
          <p:cNvPr id="4" name="text-20">
            <a:extLst xmlns:a="http://schemas.openxmlformats.org/drawingml/2006/main">
              <a:ext uri="{FF2B5EF4-FFF2-40B4-BE49-F238E27FC236}">
                <a16:creationId xmlns:a16="http://schemas.microsoft.com/office/drawing/2014/main" id="{1930E69C-D40E-42D8-9178-BAB5F4B8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链式自动机</a:t>
            </a:r>
          </a:p>
        </p:txBody>
      </p:sp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4A945FE1-E39A-44F5-9372-E06AE723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45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progress</a:t>
            </a:r>
          </a:p>
        </p:txBody>
      </p:sp>
      <p:sp>
        <p:nvSpPr>
          <p:cNvPr id="6" name="text-22">
            <a:extLst xmlns:a="http://schemas.openxmlformats.org/drawingml/2006/main">
              <a:ext uri="{FF2B5EF4-FFF2-40B4-BE49-F238E27FC236}">
                <a16:creationId xmlns:a16="http://schemas.microsoft.com/office/drawing/2014/main" id="{DB429A8D-7913-4064-8185-A0D77475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14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F72F6-B8CB-4FF3-BA6A-AB00BA1D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8" name="text-23">
            <a:extLst xmlns:a="http://schemas.openxmlformats.org/drawingml/2006/main">
              <a:ext uri="{FF2B5EF4-FFF2-40B4-BE49-F238E27FC236}">
                <a16:creationId xmlns:a16="http://schemas.microsoft.com/office/drawing/2014/main" id="{7B17267E-FFB4-489F-9F9D-C8ED363F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9" name="text-24">
            <a:extLst xmlns:a="http://schemas.openxmlformats.org/drawingml/2006/main">
              <a:ext uri="{FF2B5EF4-FFF2-40B4-BE49-F238E27FC236}">
                <a16:creationId xmlns:a16="http://schemas.microsoft.com/office/drawing/2014/main" id="{5531E012-6327-4352-AC88-DD06B873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A8F54-3ACA-4523-B89F-7940BEA8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3EFC21A2-2367-466B-8485-441F9709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text-26">
            <a:extLst xmlns:a="http://schemas.openxmlformats.org/drawingml/2006/main">
              <a:ext uri="{FF2B5EF4-FFF2-40B4-BE49-F238E27FC236}">
                <a16:creationId xmlns:a16="http://schemas.microsoft.com/office/drawing/2014/main" id="{50CCFBCE-B3A8-4D39-82A1-4D80E470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6BE1E4-7EA8-45AB-A813-061BD6F3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27">
            <a:extLst xmlns:a="http://schemas.openxmlformats.org/drawingml/2006/main">
              <a:ext uri="{FF2B5EF4-FFF2-40B4-BE49-F238E27FC236}">
                <a16:creationId xmlns:a16="http://schemas.microsoft.com/office/drawing/2014/main" id="{ADB5D6F9-B602-4A8E-829B-8B452BB1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5" name="text-28">
            <a:extLst xmlns:a="http://schemas.openxmlformats.org/drawingml/2006/main">
              <a:ext uri="{FF2B5EF4-FFF2-40B4-BE49-F238E27FC236}">
                <a16:creationId xmlns:a16="http://schemas.microsoft.com/office/drawing/2014/main" id="{19A3EA32-4343-432E-938D-091F785D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49A2B-A088-46A0-85A0-AAA3B366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29">
            <a:extLst xmlns:a="http://schemas.openxmlformats.org/drawingml/2006/main">
              <a:ext uri="{FF2B5EF4-FFF2-40B4-BE49-F238E27FC236}">
                <a16:creationId xmlns:a16="http://schemas.microsoft.com/office/drawing/2014/main" id="{C99BFEAB-B9EB-4FA2-82FC-0883034F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8" name="text-30">
            <a:extLst xmlns:a="http://schemas.openxmlformats.org/drawingml/2006/main">
              <a:ext uri="{FF2B5EF4-FFF2-40B4-BE49-F238E27FC236}">
                <a16:creationId xmlns:a16="http://schemas.microsoft.com/office/drawing/2014/main" id="{E8B8E5D4-C55D-48D6-BF0B-CD3B519B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sp>
        <p:nvSpPr>
          <p:cNvPr id="19" name="text-31">
            <a:extLst xmlns:a="http://schemas.openxmlformats.org/drawingml/2006/main">
              <a:ext uri="{FF2B5EF4-FFF2-40B4-BE49-F238E27FC236}">
                <a16:creationId xmlns:a16="http://schemas.microsoft.com/office/drawing/2014/main" id="{EAA3954E-4059-49C7-A04B-C8B47977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90900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9148B3-A662-46E7-AE36-AE657DCF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F12C2B-048E-4D1C-B201-011FFCB2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71193A-2709-48B7-A762-BDB2D516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807FC0-CD03-404A-BFF5-863C8126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87780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q₃</a:t>
            </a:r>
          </a:p>
        </p:txBody>
      </p:sp>
      <p:cxnSp>
        <p:nvCxnSpPr>
          <p:cNvPr id="5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858125" y="28194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167938" y="3143250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858125" y="47625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7" name="text-32">
            <a:extLst xmlns:a="http://schemas.openxmlformats.org/drawingml/2006/main">
              <a:ext uri="{FF2B5EF4-FFF2-40B4-BE49-F238E27FC236}">
                <a16:creationId xmlns:a16="http://schemas.microsoft.com/office/drawing/2014/main" id="{629796E2-9AC1-40C8-86E9-0FE7E601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28" name="text-33">
            <a:extLst xmlns:a="http://schemas.openxmlformats.org/drawingml/2006/main">
              <a:ext uri="{FF2B5EF4-FFF2-40B4-BE49-F238E27FC236}">
                <a16:creationId xmlns:a16="http://schemas.microsoft.com/office/drawing/2014/main" id="{A7093715-D135-439C-B438-22240527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05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29" name="text-34">
            <a:extLst xmlns:a="http://schemas.openxmlformats.org/drawingml/2006/main">
              <a:ext uri="{FF2B5EF4-FFF2-40B4-BE49-F238E27FC236}">
                <a16:creationId xmlns:a16="http://schemas.microsoft.com/office/drawing/2014/main" id="{E25CCCAB-9D38-4293-80D9-80DEE5F8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57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553812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35">
            <a:extLst xmlns:a="http://schemas.openxmlformats.org/drawingml/2006/main">
              <a:ext uri="{FF2B5EF4-FFF2-40B4-BE49-F238E27FC236}">
                <a16:creationId xmlns:a16="http://schemas.microsoft.com/office/drawing/2014/main" id="{39E48BB8-025F-489C-9269-F7C9501B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分支任务：相同进度，不同未来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ECD5D88A-497F-415F-B397-EE0AB5D1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两条历史进度相同（都做了 2 步）、刚完成的动作也相同（都是倒水），但下一步完全不同 —— 只看进度和当前位置分不出来</a:t>
            </a:r>
          </a:p>
        </p:txBody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497F49F3-D436-42F8-AF79-C1C478A1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76A8ECD5-F81D-4D4E-B37B-B5D4AD72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382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已发生的历史</a:t>
            </a:r>
          </a:p>
        </p:txBody>
      </p:sp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47BEBEE3-83BE-43E2-8F73-0654431C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4382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相同物理位置 E</a:t>
            </a:r>
          </a:p>
        </p:txBody>
      </p:sp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29ED7A02-2AB3-43F2-B57F-0BDC94C0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4382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D7A782-3001-4528-9418-6EE4EA4C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36E07-FED2-483C-B10E-89DD2245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26FE5-9975-461E-A647-86C19706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445690-462E-4107-AB53-F6F7EE2E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9789A-FC90-47A3-AC32-9C2EDE67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4BC06-F736-491A-BBDD-3B6074FB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43150" y="2867025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43150" y="4686300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829425" y="2867025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829425" y="4686300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text-41">
            <a:extLst xmlns:a="http://schemas.openxmlformats.org/drawingml/2006/main">
              <a:ext uri="{FF2B5EF4-FFF2-40B4-BE49-F238E27FC236}">
                <a16:creationId xmlns:a16="http://schemas.microsoft.com/office/drawing/2014/main" id="{07C2FC3C-805F-43F2-A282-6D4C3C63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52825"/>
            <a:ext cx="2733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progress = 2</a:t>
            </a:r>
          </a:p>
        </p:txBody>
      </p:sp>
      <p:sp>
        <p:nvSpPr>
          <p:cNvPr id="18" name="text-42">
            <a:extLst xmlns:a="http://schemas.openxmlformats.org/drawingml/2006/main">
              <a:ext uri="{FF2B5EF4-FFF2-40B4-BE49-F238E27FC236}">
                <a16:creationId xmlns:a16="http://schemas.microsoft.com/office/drawing/2014/main" id="{260389FA-3084-42FA-9302-61853E5B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383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A, E</a:t>
            </a:r>
          </a:p>
        </p:txBody>
      </p:sp>
      <p:sp>
        <p:nvSpPr>
          <p:cNvPr id="19" name="text-43">
            <a:extLst xmlns:a="http://schemas.openxmlformats.org/drawingml/2006/main">
              <a:ext uri="{FF2B5EF4-FFF2-40B4-BE49-F238E27FC236}">
                <a16:creationId xmlns:a16="http://schemas.microsoft.com/office/drawing/2014/main" id="{EDF64329-D745-4B1B-8660-98208A08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576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B, E</a:t>
            </a:r>
          </a:p>
        </p:txBody>
      </p:sp>
      <p:sp>
        <p:nvSpPr>
          <p:cNvPr id="20" name="text-44">
            <a:extLst xmlns:a="http://schemas.openxmlformats.org/drawingml/2006/main">
              <a:ext uri="{FF2B5EF4-FFF2-40B4-BE49-F238E27FC236}">
                <a16:creationId xmlns:a16="http://schemas.microsoft.com/office/drawing/2014/main" id="{5F3E9262-0806-4D35-9108-0D00908E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861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先倒热水</a:t>
            </a:r>
          </a:p>
        </p:txBody>
      </p:sp>
      <p:sp>
        <p:nvSpPr>
          <p:cNvPr id="21" name="text-45">
            <a:extLst xmlns:a="http://schemas.openxmlformats.org/drawingml/2006/main">
              <a:ext uri="{FF2B5EF4-FFF2-40B4-BE49-F238E27FC236}">
                <a16:creationId xmlns:a16="http://schemas.microsoft.com/office/drawing/2014/main" id="{065F4FF1-0AA9-42E6-A7D2-8E221890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2861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倒 水</a:t>
            </a:r>
          </a:p>
        </p:txBody>
      </p:sp>
      <p:sp>
        <p:nvSpPr>
          <p:cNvPr id="22" name="text-46">
            <a:extLst xmlns:a="http://schemas.openxmlformats.org/drawingml/2006/main">
              <a:ext uri="{FF2B5EF4-FFF2-40B4-BE49-F238E27FC236}">
                <a16:creationId xmlns:a16="http://schemas.microsoft.com/office/drawing/2014/main" id="{DF9B9E3F-68B2-4DBD-B506-6CD96203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立刻过滤 = 热泡</a:t>
            </a:r>
          </a:p>
        </p:txBody>
      </p:sp>
      <p:sp>
        <p:nvSpPr>
          <p:cNvPr id="23" name="text-47">
            <a:extLst xmlns:a="http://schemas.openxmlformats.org/drawingml/2006/main">
              <a:ext uri="{FF2B5EF4-FFF2-40B4-BE49-F238E27FC236}">
                <a16:creationId xmlns:a16="http://schemas.microsoft.com/office/drawing/2014/main" id="{BE84968C-0BA7-4D59-97D8-9796A969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054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先放粉</a:t>
            </a:r>
          </a:p>
        </p:txBody>
      </p:sp>
      <p:sp>
        <p:nvSpPr>
          <p:cNvPr id="24" name="text-48">
            <a:extLst xmlns:a="http://schemas.openxmlformats.org/drawingml/2006/main">
              <a:ext uri="{FF2B5EF4-FFF2-40B4-BE49-F238E27FC236}">
                <a16:creationId xmlns:a16="http://schemas.microsoft.com/office/drawing/2014/main" id="{B73A031D-7645-40D3-A2BC-93032B87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1054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倒 水</a:t>
            </a:r>
          </a:p>
        </p:txBody>
      </p:sp>
      <p:sp>
        <p:nvSpPr>
          <p:cNvPr id="25" name="text-49">
            <a:extLst xmlns:a="http://schemas.openxmlformats.org/drawingml/2006/main">
              <a:ext uri="{FF2B5EF4-FFF2-40B4-BE49-F238E27FC236}">
                <a16:creationId xmlns:a16="http://schemas.microsoft.com/office/drawing/2014/main" id="{A75C9311-FF95-4550-B4CE-F91A377E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1054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等 12 小时 = 冷萃</a:t>
            </a:r>
          </a:p>
        </p:txBody>
      </p:sp>
      <p:sp>
        <p:nvSpPr>
          <p:cNvPr id="26" name="text-50">
            <a:extLst xmlns:a="http://schemas.openxmlformats.org/drawingml/2006/main">
              <a:ext uri="{FF2B5EF4-FFF2-40B4-BE49-F238E27FC236}">
                <a16:creationId xmlns:a16="http://schemas.microsoft.com/office/drawing/2014/main" id="{DBD4C929-C92F-48EB-B598-9D63D827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715000"/>
            <a:ext cx="2733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同样的料，顺序不同</a:t>
            </a:r>
          </a:p>
        </p:txBody>
      </p:sp>
    </p:spTree>
    <p:extLst>
      <p:ext uri="{BB962C8B-B14F-4D97-AF65-F5344CB8AC3E}">
        <p14:creationId xmlns:p14="http://schemas.microsoft.com/office/powerpoint/2010/main" val="19436845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51">
            <a:extLst xmlns:a="http://schemas.openxmlformats.org/drawingml/2006/main">
              <a:ext uri="{FF2B5EF4-FFF2-40B4-BE49-F238E27FC236}">
                <a16:creationId xmlns:a16="http://schemas.microsoft.com/office/drawing/2014/main" id="{F91FCC8A-D909-4A5F-A88E-DDF9D2B3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同一份历史的两种表示</a:t>
            </a:r>
          </a:p>
        </p:txBody>
      </p:sp>
      <p:sp>
        <p:nvSpPr>
          <p:cNvPr id="2" name="text-52">
            <a:extLst xmlns:a="http://schemas.openxmlformats.org/drawingml/2006/main">
              <a:ext uri="{FF2B5EF4-FFF2-40B4-BE49-F238E27FC236}">
                <a16:creationId xmlns:a16="http://schemas.microsoft.com/office/drawing/2014/main" id="{E401499F-8AC5-49EA-82BD-468B4250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text-53">
            <a:extLst xmlns:a="http://schemas.openxmlformats.org/drawingml/2006/main">
              <a:ext uri="{FF2B5EF4-FFF2-40B4-BE49-F238E27FC236}">
                <a16:creationId xmlns:a16="http://schemas.microsoft.com/office/drawing/2014/main" id="{221FA201-947A-4C06-A66C-D8D497FB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Prefix tree</a:t>
            </a:r>
          </a:p>
        </p:txBody>
      </p:sp>
      <p:sp>
        <p:nvSpPr>
          <p:cNvPr id="4" name="text-54">
            <a:extLst xmlns:a="http://schemas.openxmlformats.org/drawingml/2006/main">
              <a:ext uri="{FF2B5EF4-FFF2-40B4-BE49-F238E27FC236}">
                <a16:creationId xmlns:a16="http://schemas.microsoft.com/office/drawing/2014/main" id="{72F127BF-C440-4866-9BE5-B9B9AE02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History dictionary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89C9A-DA82-407C-A167-533AEE77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FF39D2-36C8-404A-B643-B972BC7A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90116-3E12-4049-B6F0-07A66C69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CCE8F-3F2E-4AB0-BC0A-2E4B41DE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3EED9-E860-4D13-AAC0-6E90646B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93EB4-3F33-40F8-B5F7-D7CAC09E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5E91D-04AB-4EA4-8475-547EDF6E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562100" y="2790825"/>
            <a:ext cx="79057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71800" y="2790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448175" y="27908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562100" y="3657600"/>
            <a:ext cx="7905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4648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48175" y="4648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8" name="text-55">
            <a:extLst xmlns:a="http://schemas.openxmlformats.org/drawingml/2006/main">
              <a:ext uri="{FF2B5EF4-FFF2-40B4-BE49-F238E27FC236}">
                <a16:creationId xmlns:a16="http://schemas.microsoft.com/office/drawing/2014/main" id="{9FA3E64A-9212-4D13-8BA6-45CC314E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67075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19" name="text-56">
            <a:extLst xmlns:a="http://schemas.openxmlformats.org/drawingml/2006/main">
              <a:ext uri="{FF2B5EF4-FFF2-40B4-BE49-F238E27FC236}">
                <a16:creationId xmlns:a16="http://schemas.microsoft.com/office/drawing/2014/main" id="{6D5F65DB-6AC3-4857-A395-457F0E3F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52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</a:t>
            </a:r>
          </a:p>
        </p:txBody>
      </p:sp>
      <p:sp>
        <p:nvSpPr>
          <p:cNvPr id="20" name="text-57">
            <a:extLst xmlns:a="http://schemas.openxmlformats.org/drawingml/2006/main">
              <a:ext uri="{FF2B5EF4-FFF2-40B4-BE49-F238E27FC236}">
                <a16:creationId xmlns:a16="http://schemas.microsoft.com/office/drawing/2014/main" id="{E614F9F6-7569-4B68-99C6-42292E4C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F9A070-3D56-4E2A-8398-48952833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479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2" name="text-58">
            <a:extLst xmlns:a="http://schemas.openxmlformats.org/drawingml/2006/main">
              <a:ext uri="{FF2B5EF4-FFF2-40B4-BE49-F238E27FC236}">
                <a16:creationId xmlns:a16="http://schemas.microsoft.com/office/drawing/2014/main" id="{EED2ADFF-430D-4585-BE87-165A840E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146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(A, E)</a:t>
            </a:r>
          </a:p>
        </p:txBody>
      </p:sp>
      <p:sp>
        <p:nvSpPr>
          <p:cNvPr id="23" name="text-59">
            <a:extLst xmlns:a="http://schemas.openxmlformats.org/drawingml/2006/main">
              <a:ext uri="{FF2B5EF4-FFF2-40B4-BE49-F238E27FC236}">
                <a16:creationId xmlns:a16="http://schemas.microsoft.com/office/drawing/2014/main" id="{91644D2B-DF79-4293-82AF-B0011ACC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14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4" name="text-60">
            <a:extLst xmlns:a="http://schemas.openxmlformats.org/drawingml/2006/main">
              <a:ext uri="{FF2B5EF4-FFF2-40B4-BE49-F238E27FC236}">
                <a16:creationId xmlns:a16="http://schemas.microsoft.com/office/drawing/2014/main" id="{F427EA48-0364-403E-9BA8-DF7C04A3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(B, E)</a:t>
            </a:r>
          </a:p>
        </p:txBody>
      </p:sp>
      <p:sp>
        <p:nvSpPr>
          <p:cNvPr id="25" name="text-61">
            <a:extLst xmlns:a="http://schemas.openxmlformats.org/drawingml/2006/main">
              <a:ext uri="{FF2B5EF4-FFF2-40B4-BE49-F238E27FC236}">
                <a16:creationId xmlns:a16="http://schemas.microsoft.com/office/drawing/2014/main" id="{C2B061FE-0B13-43A0-8DFF-9698496A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38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26" name="text-62">
            <a:extLst xmlns:a="http://schemas.openxmlformats.org/drawingml/2006/main">
              <a:ext uri="{FF2B5EF4-FFF2-40B4-BE49-F238E27FC236}">
                <a16:creationId xmlns:a16="http://schemas.microsoft.com/office/drawing/2014/main" id="{23720346-9EF7-448A-B600-86B3423C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0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逐动作一致</a:t>
            </a:r>
          </a:p>
        </p:txBody>
      </p:sp>
    </p:spTree>
    <p:extLst>
      <p:ext uri="{BB962C8B-B14F-4D97-AF65-F5344CB8AC3E}">
        <p14:creationId xmlns:p14="http://schemas.microsoft.com/office/powerpoint/2010/main" val="14709168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63">
            <a:extLst xmlns:a="http://schemas.openxmlformats.org/drawingml/2006/main">
              <a:ext uri="{FF2B5EF4-FFF2-40B4-BE49-F238E27FC236}">
                <a16:creationId xmlns:a16="http://schemas.microsoft.com/office/drawing/2014/main" id="{5E933BEE-8FC6-4DD9-8974-C47C0EC0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状态抽象：合并未来等价的历史</a:t>
            </a:r>
          </a:p>
        </p:txBody>
      </p:sp>
      <p:sp>
        <p:nvSpPr>
          <p:cNvPr id="2" name="text-64">
            <a:extLst xmlns:a="http://schemas.openxmlformats.org/drawingml/2006/main">
              <a:ext uri="{FF2B5EF4-FFF2-40B4-BE49-F238E27FC236}">
                <a16:creationId xmlns:a16="http://schemas.microsoft.com/office/drawing/2014/main" id="{262CB72D-CA1B-4AC6-B1B1-24602258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咖啡：磨豆、烧水、拿杯子谁先谁后都行；只有「先热水还是先放粉」决定结果 —— 前者不必分开记，后者必须分开记</a:t>
            </a:r>
          </a:p>
        </p:txBody>
      </p:sp>
      <p:sp>
        <p:nvSpPr>
          <p:cNvPr id="3" name="text-65">
            <a:extLst xmlns:a="http://schemas.openxmlformats.org/drawingml/2006/main">
              <a:ext uri="{FF2B5EF4-FFF2-40B4-BE49-F238E27FC236}">
                <a16:creationId xmlns:a16="http://schemas.microsoft.com/office/drawing/2014/main" id="{854A3F8C-B3B8-4129-88E7-56B0CB35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text-66">
            <a:extLst xmlns:a="http://schemas.openxmlformats.org/drawingml/2006/main">
              <a:ext uri="{FF2B5EF4-FFF2-40B4-BE49-F238E27FC236}">
                <a16:creationId xmlns:a16="http://schemas.microsoft.com/office/drawing/2014/main" id="{565FCCDD-1440-44DE-AB40-B792990B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95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完整历史</a:t>
            </a:r>
          </a:p>
        </p:txBody>
      </p:sp>
      <p:sp>
        <p:nvSpPr>
          <p:cNvPr id="5" name="text-67">
            <a:extLst xmlns:a="http://schemas.openxmlformats.org/drawingml/2006/main">
              <a:ext uri="{FF2B5EF4-FFF2-40B4-BE49-F238E27FC236}">
                <a16:creationId xmlns:a16="http://schemas.microsoft.com/office/drawing/2014/main" id="{BD52F9C4-C208-4B84-9EB9-FDA25E8E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954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最终任务状态</a:t>
            </a:r>
          </a:p>
        </p:txBody>
      </p:sp>
      <p:sp>
        <p:nvSpPr>
          <p:cNvPr id="6" name="text-68">
            <a:extLst xmlns:a="http://schemas.openxmlformats.org/drawingml/2006/main">
              <a:ext uri="{FF2B5EF4-FFF2-40B4-BE49-F238E27FC236}">
                <a16:creationId xmlns:a16="http://schemas.microsoft.com/office/drawing/2014/main" id="{2DBB88CC-50A7-4A3A-A6E8-3F4BACB8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954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共享动作价值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F9E5D-BEF6-4B9C-BA5B-D3689570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 先于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C6B48-E858-4AA9-A83B-83ED37EA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529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 先于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AB0D5-FC78-4773-938E-99ED1189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66950" y="224790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1CE7F-C10C-4B73-B301-5E33F996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489332-99EC-4C69-9A41-AE105181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CD16D-9ABF-4E49-B807-4F9A636B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BAC</a:t>
            </a:r>
          </a:p>
        </p:txBody>
      </p:sp>
      <p:cxnSp>
        <p:nvCxnSpPr>
          <p:cNvPr id="40" name=""/>
          <p:cNvCxnSpPr>
            <a:stCxn xmlns:a="http://schemas.openxmlformats.org/drawingml/2006/main" id="1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428625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72F7A9-9E1E-4470-8077-9FE8E8FE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BCA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CF94B7-979B-47D4-B66A-B30B3CEB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38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CBA</a:t>
            </a:r>
          </a:p>
        </p:txBody>
      </p:sp>
      <p:cxnSp>
        <p:nvCxnSpPr>
          <p:cNvPr id="44" name=""/>
          <p:cNvCxnSpPr>
            <a:stCxn xmlns:a="http://schemas.openxmlformats.org/drawingml/2006/main" id="1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FE2CD4-4AD3-4329-B5D4-79FE6F83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0FF056-2318-4B8D-BB3F-EE286A24E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34250" y="28956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34250" y="49339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8653592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9">
            <a:extLst xmlns:a="http://schemas.openxmlformats.org/drawingml/2006/main">
              <a:ext uri="{FF2B5EF4-FFF2-40B4-BE49-F238E27FC236}">
                <a16:creationId xmlns:a16="http://schemas.microsoft.com/office/drawing/2014/main" id="{BAB80E05-54F1-4715-AA57-3B33C773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正确压缩与逐条历史学习</a:t>
            </a:r>
          </a:p>
        </p:txBody>
      </p:sp>
      <p:sp>
        <p:nvSpPr>
          <p:cNvPr id="2" name="text-70">
            <a:extLst xmlns:a="http://schemas.openxmlformats.org/drawingml/2006/main">
              <a:ext uri="{FF2B5EF4-FFF2-40B4-BE49-F238E27FC236}">
                <a16:creationId xmlns:a16="http://schemas.microsoft.com/office/drawing/2014/main" id="{92A46F50-2ADE-4AC3-9E9E-FE1111D6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正确等价关系已知；每规模 400 个配对种子（不是 400 个任务：候选族只有 6 / 12 / 20 条规则）</a:t>
            </a:r>
          </a:p>
        </p:txBody>
      </p:sp>
      <p:sp>
        <p:nvSpPr>
          <p:cNvPr id="3" name="text-71">
            <a:extLst xmlns:a="http://schemas.openxmlformats.org/drawingml/2006/main">
              <a:ext uri="{FF2B5EF4-FFF2-40B4-BE49-F238E27FC236}">
                <a16:creationId xmlns:a16="http://schemas.microsoft.com/office/drawing/2014/main" id="{384624BF-FC29-419C-9B65-069E8840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1419225"/>
          <a:ext xmlns:a="http://schemas.openxmlformats.org/drawingml/2006/main" cx="106680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055531d057940b7"/>
          </a:graphicData>
        </a:graphic>
      </p:graphicFrame>
      <p:sp>
        <p:nvSpPr>
          <p:cNvPr id="5" name="text-72">
            <a:extLst xmlns:a="http://schemas.openxmlformats.org/drawingml/2006/main">
              <a:ext uri="{FF2B5EF4-FFF2-40B4-BE49-F238E27FC236}">
                <a16:creationId xmlns:a16="http://schemas.microsoft.com/office/drawing/2014/main" id="{434AB059-DE31-4041-B8C8-42F159A4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4.67×</a:t>
            </a:r>
          </a:p>
        </p:txBody>
      </p:sp>
      <p:sp>
        <p:nvSpPr>
          <p:cNvPr id="6" name="text-73">
            <a:extLst xmlns:a="http://schemas.openxmlformats.org/drawingml/2006/main">
              <a:ext uri="{FF2B5EF4-FFF2-40B4-BE49-F238E27FC236}">
                <a16:creationId xmlns:a16="http://schemas.microsoft.com/office/drawing/2014/main" id="{2BB8AA2A-5D85-4090-A6EB-D939733B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18.55×</a:t>
            </a:r>
          </a:p>
        </p:txBody>
      </p:sp>
      <p:sp>
        <p:nvSpPr>
          <p:cNvPr id="7" name="text-74">
            <a:extLst xmlns:a="http://schemas.openxmlformats.org/drawingml/2006/main">
              <a:ext uri="{FF2B5EF4-FFF2-40B4-BE49-F238E27FC236}">
                <a16:creationId xmlns:a16="http://schemas.microsoft.com/office/drawing/2014/main" id="{1CAE8F7C-9191-4850-B597-0042B07C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89.75×</a:t>
            </a:r>
          </a:p>
        </p:txBody>
      </p:sp>
      <p:sp>
        <p:nvSpPr>
          <p:cNvPr id="8" name="text-75">
            <a:extLst xmlns:a="http://schemas.openxmlformats.org/drawingml/2006/main">
              <a:ext uri="{FF2B5EF4-FFF2-40B4-BE49-F238E27FC236}">
                <a16:creationId xmlns:a16="http://schemas.microsoft.com/office/drawing/2014/main" id="{AD541CE5-225B-416B-B467-520C4C13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闭式解 Σ 2H/(H-i)，H = n! = 6 / 24 / 120 → 理论 29.4 / 109.2 / 543.8 幕，与观测一致</a:t>
            </a:r>
          </a:p>
        </p:txBody>
      </p:sp>
    </p:spTree>
    <p:extLst>
      <p:ext uri="{BB962C8B-B14F-4D97-AF65-F5344CB8AC3E}">
        <p14:creationId xmlns:p14="http://schemas.microsoft.com/office/powerpoint/2010/main" val="10990550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76">
            <a:extLst xmlns:a="http://schemas.openxmlformats.org/drawingml/2006/main">
              <a:ext uri="{FF2B5EF4-FFF2-40B4-BE49-F238E27FC236}">
                <a16:creationId xmlns:a16="http://schemas.microsoft.com/office/drawing/2014/main" id="{9FC08383-39F1-4C70-BC3F-3EE7E46B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有限证据下的合并判断</a:t>
            </a:r>
          </a:p>
        </p:txBody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1A5616F1-7AE6-401F-B0AB-DA9E1727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咖啡：两条历史现在都「该倒水了」，但一条之后要加热、一条要冷藏 —— 现在合并，就是把冷萃的经验用到热泡上</a:t>
            </a:r>
          </a:p>
        </p:txBody>
      </p:sp>
      <p:sp>
        <p:nvSpPr>
          <p:cNvPr id="3" name="text-78">
            <a:extLst xmlns:a="http://schemas.openxmlformats.org/drawingml/2006/main">
              <a:ext uri="{FF2B5EF4-FFF2-40B4-BE49-F238E27FC236}">
                <a16:creationId xmlns:a16="http://schemas.microsoft.com/office/drawing/2014/main" id="{7E3FD46F-80AE-44CD-8445-9B264B13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DDB6E871-079A-43CC-A893-4F286882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858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过早合并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322ED853-908A-477A-8774-585EB71B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858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保守不合并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470BA-3185-4FB1-A2C1-C9B1E81A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36E62-84B1-4ED8-AD1B-963BD96A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C0477-AC62-4846-89F9-73F4D0B2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1476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514B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同一状态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43125" y="2881313"/>
            <a:ext cx="1162050" cy="928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143125" y="3810000"/>
            <a:ext cx="1162050" cy="909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sp>
        <p:nvSpPr>
          <p:cNvPr id="11" name="text-81">
            <a:extLst xmlns:a="http://schemas.openxmlformats.org/drawingml/2006/main">
              <a:ext uri="{FF2B5EF4-FFF2-40B4-BE49-F238E27FC236}">
                <a16:creationId xmlns:a16="http://schemas.microsoft.com/office/drawing/2014/main" id="{7F1C05A3-1E1F-4DAF-827A-DF34A23C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860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加热？</a:t>
            </a:r>
          </a:p>
        </p:txBody>
      </p:sp>
      <p:sp>
        <p:nvSpPr>
          <p:cNvPr id="12" name="text-82">
            <a:extLst xmlns:a="http://schemas.openxmlformats.org/drawingml/2006/main">
              <a:ext uri="{FF2B5EF4-FFF2-40B4-BE49-F238E27FC236}">
                <a16:creationId xmlns:a16="http://schemas.microsoft.com/office/drawing/2014/main" id="{F40D6B09-DC87-4778-A803-857BAA31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196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冷却？</a:t>
            </a:r>
          </a:p>
        </p:txBody>
      </p:sp>
      <p:sp>
        <p:nvSpPr>
          <p:cNvPr id="13" name="text-83">
            <a:extLst xmlns:a="http://schemas.openxmlformats.org/drawingml/2006/main">
              <a:ext uri="{FF2B5EF4-FFF2-40B4-BE49-F238E27FC236}">
                <a16:creationId xmlns:a16="http://schemas.microsoft.com/office/drawing/2014/main" id="{E83A72B2-1A9B-45A2-8798-196D14A9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未见后缀可能不同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90492-9010-45FF-A4D4-1382E6C6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3050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1FEDC-1C6D-469D-A81A-7758730C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050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39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277225" y="26193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B9539-00B9-4837-9EC5-E5DDA68A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6710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0D17DE-1CF0-4C66-B788-1070FEBB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671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277225" y="378142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47970-6AEB-4ED7-BB5F-66A86244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291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EA776F-244E-40F8-9B85-B892F905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291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5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277225" y="49434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3" name="text-84">
            <a:extLst xmlns:a="http://schemas.openxmlformats.org/drawingml/2006/main">
              <a:ext uri="{FF2B5EF4-FFF2-40B4-BE49-F238E27FC236}">
                <a16:creationId xmlns:a16="http://schemas.microsoft.com/office/drawing/2014/main" id="{645D9E6D-3312-43FC-A838-89633552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等价历史分别学习</a:t>
            </a:r>
          </a:p>
        </p:txBody>
      </p:sp>
    </p:spTree>
    <p:extLst>
      <p:ext uri="{BB962C8B-B14F-4D97-AF65-F5344CB8AC3E}">
        <p14:creationId xmlns:p14="http://schemas.microsoft.com/office/powerpoint/2010/main" val="1334016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85">
            <a:extLst xmlns:a="http://schemas.openxmlformats.org/drawingml/2006/main">
              <a:ext uri="{FF2B5EF4-FFF2-40B4-BE49-F238E27FC236}">
                <a16:creationId xmlns:a16="http://schemas.microsoft.com/office/drawing/2014/main" id="{671F16F8-8550-4AD3-90AB-7E12FD47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合并审计：正确性与查询节省</a:t>
            </a:r>
          </a:p>
        </p:txBody>
      </p:sp>
      <p:sp>
        <p:nvSpPr>
          <p:cNvPr id="2" name="text-86">
            <a:extLst xmlns:a="http://schemas.openxmlformats.org/drawingml/2006/main">
              <a:ext uri="{FF2B5EF4-FFF2-40B4-BE49-F238E27FC236}">
                <a16:creationId xmlns:a16="http://schemas.microsoft.com/office/drawing/2014/main" id="{5AD97CF7-AE2D-4BA0-BD43-C22F007E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预注册判据 3 / 3 不达标：查询节省 16.9% &lt; 20%；错误裁决 47 次；错误归属 140 次。敏感性上界 23.6% 仍不达标</a:t>
            </a:r>
          </a:p>
        </p:txBody>
      </p:sp>
      <p:sp>
        <p:nvSpPr>
          <p:cNvPr id="3" name="text-87">
            <a:extLst xmlns:a="http://schemas.openxmlformats.org/drawingml/2006/main">
              <a:ext uri="{FF2B5EF4-FFF2-40B4-BE49-F238E27FC236}">
                <a16:creationId xmlns:a16="http://schemas.microsoft.com/office/drawing/2014/main" id="{5886A63B-A8E1-467D-8F7C-F71D389D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4" name="text-88">
            <a:extLst xmlns:a="http://schemas.openxmlformats.org/drawingml/2006/main">
              <a:ext uri="{FF2B5EF4-FFF2-40B4-BE49-F238E27FC236}">
                <a16:creationId xmlns:a16="http://schemas.microsoft.com/office/drawing/2014/main" id="{E27E2ADE-C909-4BD7-8F3B-6AE4075A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裁决正确率</a:t>
            </a:r>
          </a:p>
        </p:txBody>
      </p:sp>
      <p:sp>
        <p:nvSpPr>
          <p:cNvPr id="5" name="text-89">
            <a:extLst xmlns:a="http://schemas.openxmlformats.org/drawingml/2006/main">
              <a:ext uri="{FF2B5EF4-FFF2-40B4-BE49-F238E27FC236}">
                <a16:creationId xmlns:a16="http://schemas.microsoft.com/office/drawing/2014/main" id="{295781A5-AF81-4F17-ADDF-93ABCD78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状态归属正确率</a:t>
            </a:r>
          </a:p>
        </p:txBody>
      </p:sp>
      <p:sp>
        <p:nvSpPr>
          <p:cNvPr id="6" name="text-90">
            <a:extLst xmlns:a="http://schemas.openxmlformats.org/drawingml/2006/main">
              <a:ext uri="{FF2B5EF4-FFF2-40B4-BE49-F238E27FC236}">
                <a16:creationId xmlns:a16="http://schemas.microsoft.com/office/drawing/2014/main" id="{0BD29473-7020-4E54-BEE7-596FB5F0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可省查询比例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905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426f2e5fc844fd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41960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053d158c424e89"/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82486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883eeb5c4444b0"/>
          </a:graphicData>
        </a:graphic>
      </p:graphicFrame>
      <p:sp>
        <p:nvSpPr>
          <p:cNvPr id="10" name="text-91">
            <a:extLst xmlns:a="http://schemas.openxmlformats.org/drawingml/2006/main">
              <a:ext uri="{FF2B5EF4-FFF2-40B4-BE49-F238E27FC236}">
                <a16:creationId xmlns:a16="http://schemas.microsoft.com/office/drawing/2014/main" id="{8296A3AE-FC27-41A3-9CA0-BB4FE971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预注册判据 3 / 3 不达标 —— 这条线因此关闭</a:t>
            </a:r>
          </a:p>
        </p:txBody>
      </p:sp>
    </p:spTree>
    <p:extLst>
      <p:ext uri="{BB962C8B-B14F-4D97-AF65-F5344CB8AC3E}">
        <p14:creationId xmlns:p14="http://schemas.microsoft.com/office/powerpoint/2010/main" val="15535578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92">
            <a:extLst xmlns:a="http://schemas.openxmlformats.org/drawingml/2006/main">
              <a:ext uri="{FF2B5EF4-FFF2-40B4-BE49-F238E27FC236}">
                <a16:creationId xmlns:a16="http://schemas.microsoft.com/office/drawing/2014/main" id="{7B878E54-BAFD-42A7-9098-A0641143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可靠任务反馈的预算</a:t>
            </a:r>
          </a:p>
        </p:txBody>
      </p:sp>
      <p:sp>
        <p:nvSpPr>
          <p:cNvPr id="2" name="text-93">
            <a:extLst xmlns:a="http://schemas.openxmlformats.org/drawingml/2006/main">
              <a:ext uri="{FF2B5EF4-FFF2-40B4-BE49-F238E27FC236}">
                <a16:creationId xmlns:a16="http://schemas.microsoft.com/office/drawing/2014/main" id="{A79BE429-CF56-4E55-A537-17082B0B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24 个任务族 × 6 个种子；200,000 环境步内曾达到 90%</a:t>
            </a:r>
          </a:p>
        </p:txBody>
      </p:sp>
      <p:sp>
        <p:nvSpPr>
          <p:cNvPr id="3" name="text-94">
            <a:extLst xmlns:a="http://schemas.openxmlformats.org/drawingml/2006/main">
              <a:ext uri="{FF2B5EF4-FFF2-40B4-BE49-F238E27FC236}">
                <a16:creationId xmlns:a16="http://schemas.microsoft.com/office/drawing/2014/main" id="{8F774CFC-52D3-4805-908A-2285E1F55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1000125" y="1438275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bcb7c0833549a8"/>
          </a:graphicData>
        </a:graphic>
      </p:graphicFrame>
      <p:sp>
        <p:nvSpPr>
          <p:cNvPr id="5" name="text-95">
            <a:extLst xmlns:a="http://schemas.openxmlformats.org/drawingml/2006/main">
              <a:ext uri="{FF2B5EF4-FFF2-40B4-BE49-F238E27FC236}">
                <a16:creationId xmlns:a16="http://schemas.microsoft.com/office/drawing/2014/main" id="{A9C2562B-7D91-42CC-A8D6-E2B0443C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 / 144</a:t>
            </a:r>
          </a:p>
        </p:txBody>
      </p:sp>
      <p:sp>
        <p:nvSpPr>
          <p:cNvPr id="6" name="text-96">
            <a:extLst xmlns:a="http://schemas.openxmlformats.org/drawingml/2006/main">
              <a:ext uri="{FF2B5EF4-FFF2-40B4-BE49-F238E27FC236}">
                <a16:creationId xmlns:a16="http://schemas.microsoft.com/office/drawing/2014/main" id="{500B6989-30EA-4661-801A-3CA92441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61 / 144</a:t>
            </a:r>
          </a:p>
        </p:txBody>
      </p:sp>
      <p:sp>
        <p:nvSpPr>
          <p:cNvPr id="7" name="text-97">
            <a:extLst xmlns:a="http://schemas.openxmlformats.org/drawingml/2006/main">
              <a:ext uri="{FF2B5EF4-FFF2-40B4-BE49-F238E27FC236}">
                <a16:creationId xmlns:a16="http://schemas.microsoft.com/office/drawing/2014/main" id="{A808B1A7-1826-44A9-8934-D9BC696F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131 / 144</a:t>
            </a:r>
          </a:p>
        </p:txBody>
      </p:sp>
      <p:sp>
        <p:nvSpPr>
          <p:cNvPr id="8" name="text-98">
            <a:extLst xmlns:a="http://schemas.openxmlformats.org/drawingml/2006/main">
              <a:ext uri="{FF2B5EF4-FFF2-40B4-BE49-F238E27FC236}">
                <a16:creationId xmlns:a16="http://schemas.microsoft.com/office/drawing/2014/main" id="{8115021F-F494-4782-81B8-34DFD7B4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144 / 144</a:t>
            </a:r>
          </a:p>
        </p:txBody>
      </p:sp>
    </p:spTree>
    <p:extLst>
      <p:ext uri="{BB962C8B-B14F-4D97-AF65-F5344CB8AC3E}">
        <p14:creationId xmlns:p14="http://schemas.microsoft.com/office/powerpoint/2010/main" val="16295665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99">
            <a:extLst xmlns:a="http://schemas.openxmlformats.org/drawingml/2006/main">
              <a:ext uri="{FF2B5EF4-FFF2-40B4-BE49-F238E27FC236}">
                <a16:creationId xmlns:a16="http://schemas.microsoft.com/office/drawing/2014/main" id="{AFCB5764-DB8D-49E8-A102-144CF657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提前使用：主动探索与被动证据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5B0D7466-5560-4E99-8A49-21B768D0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零件实验：识别前未达 95%，识别后策略相同，因此 T95 相同</a:t>
            </a:r>
          </a:p>
        </p:txBody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771A1025-F466-43A9-94D9-F58834CB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4" name="text-102">
            <a:extLst xmlns:a="http://schemas.openxmlformats.org/drawingml/2006/main">
              <a:ext uri="{FF2B5EF4-FFF2-40B4-BE49-F238E27FC236}">
                <a16:creationId xmlns:a16="http://schemas.microsoft.com/office/drawing/2014/main" id="{17F21D22-E494-41D7-BC70-DC39D990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早期导航任务</a:t>
            </a:r>
          </a:p>
        </p:txBody>
      </p:sp>
      <p:sp>
        <p:nvSpPr>
          <p:cNvPr id="5" name="text-103">
            <a:extLst xmlns:a="http://schemas.openxmlformats.org/drawingml/2006/main">
              <a:ext uri="{FF2B5EF4-FFF2-40B4-BE49-F238E27FC236}">
                <a16:creationId xmlns:a16="http://schemas.microsoft.com/office/drawing/2014/main" id="{D135B979-99FE-4A1B-9A62-B7DDCF5C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335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最新零件实验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51EF8-5F0E-44F7-83A5-58335E11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EF1AA-BA7B-4B37-B354-5CF9AE9F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执行前缀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2FD06-3DC4-417C-B52F-6A4DEC46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1375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后缀证据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86025" y="2390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05250" y="2686050"/>
            <a:ext cx="5238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666875" y="2686050"/>
            <a:ext cx="6000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A19AB-29BD-4A24-BBB5-09B0A175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环境给出排列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602E8-1234-4D51-AF30-A9908954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0955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选择 X / Y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20150" y="23907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5" name="text-104">
            <a:extLst xmlns:a="http://schemas.openxmlformats.org/drawingml/2006/main">
              <a:ext uri="{FF2B5EF4-FFF2-40B4-BE49-F238E27FC236}">
                <a16:creationId xmlns:a16="http://schemas.microsoft.com/office/drawing/2014/main" id="{A6F73D24-C617-4B7F-B8E5-0745EBC6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95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下一幕仍由环境独立抽样</a:t>
            </a:r>
          </a:p>
        </p:txBody>
      </p:sp>
      <p:sp>
        <p:nvSpPr>
          <p:cNvPr id="16" name="text-105">
            <a:extLst xmlns:a="http://schemas.openxmlformats.org/drawingml/2006/main">
              <a:ext uri="{FF2B5EF4-FFF2-40B4-BE49-F238E27FC236}">
                <a16:creationId xmlns:a16="http://schemas.microsoft.com/office/drawing/2014/main" id="{B49950D3-21C9-4345-AA54-6953AB4F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434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识别前实际额外成功 / 次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515100" y="4000500"/>
          <a:ext xmlns:a="http://schemas.openxmlformats.org/drawingml/2006/main" cx="502920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f57e15fe384e12"/>
          </a:graphicData>
        </a:graphic>
      </p:graphicFrame>
      <p:sp>
        <p:nvSpPr>
          <p:cNvPr id="18" name="text-106">
            <a:extLst xmlns:a="http://schemas.openxmlformats.org/drawingml/2006/main">
              <a:ext uri="{FF2B5EF4-FFF2-40B4-BE49-F238E27FC236}">
                <a16:creationId xmlns:a16="http://schemas.microsoft.com/office/drawing/2014/main" id="{B1CF588B-90D6-4A5B-9B0B-8F01C399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每规模 400 个配对种子</a:t>
            </a:r>
          </a:p>
        </p:txBody>
      </p:sp>
    </p:spTree>
    <p:extLst>
      <p:ext uri="{BB962C8B-B14F-4D97-AF65-F5344CB8AC3E}">
        <p14:creationId xmlns:p14="http://schemas.microsoft.com/office/powerpoint/2010/main" val="8603323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107">
            <a:extLst xmlns:a="http://schemas.openxmlformats.org/drawingml/2006/main">
              <a:ext uri="{FF2B5EF4-FFF2-40B4-BE49-F238E27FC236}">
                <a16:creationId xmlns:a16="http://schemas.microsoft.com/office/drawing/2014/main" id="{9CA4E994-E5F8-41A5-9348-DCA931F4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结构利用：任务路由与技能复用</a:t>
            </a:r>
          </a:p>
        </p:txBody>
      </p:sp>
      <p:sp>
        <p:nvSpPr>
          <p:cNvPr id="2" name="text-108">
            <a:extLst xmlns:a="http://schemas.openxmlformats.org/drawingml/2006/main">
              <a:ext uri="{FF2B5EF4-FFF2-40B4-BE49-F238E27FC236}">
                <a16:creationId xmlns:a16="http://schemas.microsoft.com/office/drawing/2014/main" id="{9CF4D906-3F14-4E31-9ADF-16E6C20D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已知规则的控制消融；AUC 接近天花板，不能据此排序机制强弱</a:t>
            </a:r>
          </a:p>
        </p:txBody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5F799D69-BAF2-4B04-A0F6-FF625DAC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text-110">
            <a:extLst xmlns:a="http://schemas.openxmlformats.org/drawingml/2006/main">
              <a:ext uri="{FF2B5EF4-FFF2-40B4-BE49-F238E27FC236}">
                <a16:creationId xmlns:a16="http://schemas.microsoft.com/office/drawing/2014/main" id="{8EF82F62-84D5-4E86-BEE3-6ED15A1C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5" name="text-111">
            <a:extLst xmlns:a="http://schemas.openxmlformats.org/drawingml/2006/main">
              <a:ext uri="{FF2B5EF4-FFF2-40B4-BE49-F238E27FC236}">
                <a16:creationId xmlns:a16="http://schemas.microsoft.com/office/drawing/2014/main" id="{08229B3F-9501-476D-B099-EDDA9865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6" name="text-112">
            <a:extLst xmlns:a="http://schemas.openxmlformats.org/drawingml/2006/main">
              <a:ext uri="{FF2B5EF4-FFF2-40B4-BE49-F238E27FC236}">
                <a16:creationId xmlns:a16="http://schemas.microsoft.com/office/drawing/2014/main" id="{2A3D361A-8212-41C8-B245-C04E3264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765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7" name="text-113">
            <a:extLst xmlns:a="http://schemas.openxmlformats.org/drawingml/2006/main">
              <a:ext uri="{FF2B5EF4-FFF2-40B4-BE49-F238E27FC236}">
                <a16:creationId xmlns:a16="http://schemas.microsoft.com/office/drawing/2014/main" id="{3F728716-DF03-46A0-9EB7-D5A87F24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100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8DAB8-E37B-4C93-BB93-ECC63786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114">
            <a:extLst xmlns:a="http://schemas.openxmlformats.org/drawingml/2006/main">
              <a:ext uri="{FF2B5EF4-FFF2-40B4-BE49-F238E27FC236}">
                <a16:creationId xmlns:a16="http://schemas.microsoft.com/office/drawing/2014/main" id="{39AFCF1E-EDB6-4324-BC63-6E74607A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0" name="text-115">
            <a:extLst xmlns:a="http://schemas.openxmlformats.org/drawingml/2006/main">
              <a:ext uri="{FF2B5EF4-FFF2-40B4-BE49-F238E27FC236}">
                <a16:creationId xmlns:a16="http://schemas.microsoft.com/office/drawing/2014/main" id="{A9C9D68B-BA07-4F9F-8908-4C20DF58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平坦历史</a:t>
            </a:r>
          </a:p>
        </p:txBody>
      </p:sp>
      <p:sp>
        <p:nvSpPr>
          <p:cNvPr id="11" name="text-116">
            <a:extLst xmlns:a="http://schemas.openxmlformats.org/drawingml/2006/main">
              <a:ext uri="{FF2B5EF4-FFF2-40B4-BE49-F238E27FC236}">
                <a16:creationId xmlns:a16="http://schemas.microsoft.com/office/drawing/2014/main" id="{27470039-C89C-4D4F-9FFA-199D1C0C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0EAD4-C166-4411-9DA7-6CAA477D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3" name="text-117">
            <a:extLst xmlns:a="http://schemas.openxmlformats.org/drawingml/2006/main">
              <a:ext uri="{FF2B5EF4-FFF2-40B4-BE49-F238E27FC236}">
                <a16:creationId xmlns:a16="http://schemas.microsoft.com/office/drawing/2014/main" id="{9E33249E-29BC-48DB-B18E-03D5C4A7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4" name="text-118">
            <a:extLst xmlns:a="http://schemas.openxmlformats.org/drawingml/2006/main">
              <a:ext uri="{FF2B5EF4-FFF2-40B4-BE49-F238E27FC236}">
                <a16:creationId xmlns:a16="http://schemas.microsoft.com/office/drawing/2014/main" id="{BA583F0D-F149-46E5-A44C-CEB2F38E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学习型元控制</a:t>
            </a:r>
          </a:p>
        </p:txBody>
      </p:sp>
      <p:sp>
        <p:nvSpPr>
          <p:cNvPr id="15" name="text-119">
            <a:extLst xmlns:a="http://schemas.openxmlformats.org/drawingml/2006/main">
              <a:ext uri="{FF2B5EF4-FFF2-40B4-BE49-F238E27FC236}">
                <a16:creationId xmlns:a16="http://schemas.microsoft.com/office/drawing/2014/main" id="{407A3390-2EC3-4AE8-802F-E5FA058B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2F645E-0F20-4AB3-81F0-0C3008AE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120">
            <a:extLst xmlns:a="http://schemas.openxmlformats.org/drawingml/2006/main">
              <a:ext uri="{FF2B5EF4-FFF2-40B4-BE49-F238E27FC236}">
                <a16:creationId xmlns:a16="http://schemas.microsoft.com/office/drawing/2014/main" id="{76AD093B-2535-48E7-A697-AA0722FB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8" name="text-121">
            <a:extLst xmlns:a="http://schemas.openxmlformats.org/drawingml/2006/main">
              <a:ext uri="{FF2B5EF4-FFF2-40B4-BE49-F238E27FC236}">
                <a16:creationId xmlns:a16="http://schemas.microsoft.com/office/drawing/2014/main" id="{695804C3-D362-469D-A5FE-2D325BDE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分阶段技能</a:t>
            </a:r>
          </a:p>
        </p:txBody>
      </p:sp>
      <p:sp>
        <p:nvSpPr>
          <p:cNvPr id="19" name="text-122">
            <a:extLst xmlns:a="http://schemas.openxmlformats.org/drawingml/2006/main">
              <a:ext uri="{FF2B5EF4-FFF2-40B4-BE49-F238E27FC236}">
                <a16:creationId xmlns:a16="http://schemas.microsoft.com/office/drawing/2014/main" id="{252E53CB-BD44-4DD4-A8B6-28B9A018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2A845D-39A3-4C5D-A5BC-6EEAD2CB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1" name="text-123">
            <a:extLst xmlns:a="http://schemas.openxmlformats.org/drawingml/2006/main">
              <a:ext uri="{FF2B5EF4-FFF2-40B4-BE49-F238E27FC236}">
                <a16:creationId xmlns:a16="http://schemas.microsoft.com/office/drawing/2014/main" id="{B3C2C202-A305-4E38-814A-8D303942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22" name="text-124">
            <a:extLst xmlns:a="http://schemas.openxmlformats.org/drawingml/2006/main">
              <a:ext uri="{FF2B5EF4-FFF2-40B4-BE49-F238E27FC236}">
                <a16:creationId xmlns:a16="http://schemas.microsoft.com/office/drawing/2014/main" id="{85B4E0FC-B4D7-4277-B4EB-8AE22885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共享技能</a:t>
            </a:r>
          </a:p>
        </p:txBody>
      </p:sp>
      <p:sp>
        <p:nvSpPr>
          <p:cNvPr id="23" name="text-125">
            <a:extLst xmlns:a="http://schemas.openxmlformats.org/drawingml/2006/main">
              <a:ext uri="{FF2B5EF4-FFF2-40B4-BE49-F238E27FC236}">
                <a16:creationId xmlns:a16="http://schemas.microsoft.com/office/drawing/2014/main" id="{116D1E88-4C81-43A1-95CB-6F473539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.997</a:t>
            </a:r>
          </a:p>
        </p:txBody>
      </p:sp>
      <p:sp>
        <p:nvSpPr>
          <p:cNvPr id="24" name="text-126">
            <a:extLst xmlns:a="http://schemas.openxmlformats.org/drawingml/2006/main">
              <a:ext uri="{FF2B5EF4-FFF2-40B4-BE49-F238E27FC236}">
                <a16:creationId xmlns:a16="http://schemas.microsoft.com/office/drawing/2014/main" id="{77919970-E15A-4C20-984A-D2A5D582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335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first90 中位 / 环境步</a:t>
            </a:r>
          </a:p>
        </p:txBody>
      </p:sp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6610350" y="2095500"/>
          <a:ext xmlns:a="http://schemas.openxmlformats.org/drawingml/2006/main" cx="5000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ce61b0507064360"/>
          </a:graphicData>
        </a:graphic>
      </p:graphicFrame>
      <p:sp>
        <p:nvSpPr>
          <p:cNvPr id="26" name="text-127">
            <a:extLst xmlns:a="http://schemas.openxmlformats.org/drawingml/2006/main">
              <a:ext uri="{FF2B5EF4-FFF2-40B4-BE49-F238E27FC236}">
                <a16:creationId xmlns:a16="http://schemas.microsoft.com/office/drawing/2014/main" id="{0CF5D620-C069-4541-8428-0D5BDD94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769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QRM  AUC .972</a:t>
            </a:r>
          </a:p>
        </p:txBody>
      </p:sp>
    </p:spTree>
    <p:extLst>
      <p:ext uri="{BB962C8B-B14F-4D97-AF65-F5344CB8AC3E}">
        <p14:creationId xmlns:p14="http://schemas.microsoft.com/office/powerpoint/2010/main" val="5474718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8">
            <a:extLst xmlns:a="http://schemas.openxmlformats.org/drawingml/2006/main">
              <a:ext uri="{FF2B5EF4-FFF2-40B4-BE49-F238E27FC236}">
                <a16:creationId xmlns:a16="http://schemas.microsoft.com/office/drawing/2014/main" id="{FF67E1D9-6C4C-4C1C-AAAD-8671AC7E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危险格数量与达标率</a:t>
            </a:r>
          </a:p>
        </p:txBody>
      </p:sp>
      <p:sp>
        <p:nvSpPr>
          <p:cNvPr id="2" name="text-129">
            <a:extLst xmlns:a="http://schemas.openxmlformats.org/drawingml/2006/main">
              <a:ext uri="{FF2B5EF4-FFF2-40B4-BE49-F238E27FC236}">
                <a16:creationId xmlns:a16="http://schemas.microsoft.com/office/drawing/2014/main" id="{5F15EEAE-7F03-49EA-B7B2-4705C593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已知规则；固定步费协议；100 万步预算；该扫描逐种子记录已缺失，不能重算区间</a:t>
            </a:r>
          </a:p>
        </p:txBody>
      </p:sp>
      <p:sp>
        <p:nvSpPr>
          <p:cNvPr id="3" name="text-130">
            <a:extLst xmlns:a="http://schemas.openxmlformats.org/drawingml/2006/main">
              <a:ext uri="{FF2B5EF4-FFF2-40B4-BE49-F238E27FC236}">
                <a16:creationId xmlns:a16="http://schemas.microsoft.com/office/drawing/2014/main" id="{9531F468-36C0-4D34-B4AC-989ECFF1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66775" y="1371600"/>
          <a:ext xmlns:a="http://schemas.openxmlformats.org/drawingml/2006/main" cx="10525125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fe45fcaf8445a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F62585-A0CF-4FF6-A220-D04CEBDF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6" name="text-131">
            <a:extLst xmlns:a="http://schemas.openxmlformats.org/drawingml/2006/main">
              <a:ext uri="{FF2B5EF4-FFF2-40B4-BE49-F238E27FC236}">
                <a16:creationId xmlns:a16="http://schemas.microsoft.com/office/drawing/2014/main" id="{9296611D-DDBE-46A5-8B86-BDCBAB2A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7" name="text-132">
            <a:extLst xmlns:a="http://schemas.openxmlformats.org/drawingml/2006/main">
              <a:ext uri="{FF2B5EF4-FFF2-40B4-BE49-F238E27FC236}">
                <a16:creationId xmlns:a16="http://schemas.microsoft.com/office/drawing/2014/main" id="{3FFCE4BD-28AD-4503-BEA6-A408542A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不可逆性放大的是复用，不是路由 —— 与上一页的普通条件相反</a:t>
            </a:r>
          </a:p>
        </p:txBody>
      </p:sp>
    </p:spTree>
    <p:extLst>
      <p:ext uri="{BB962C8B-B14F-4D97-AF65-F5344CB8AC3E}">
        <p14:creationId xmlns:p14="http://schemas.microsoft.com/office/powerpoint/2010/main" val="19533124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33">
            <a:extLst xmlns:a="http://schemas.openxmlformats.org/drawingml/2006/main">
              <a:ext uri="{FF2B5EF4-FFF2-40B4-BE49-F238E27FC236}">
                <a16:creationId xmlns:a16="http://schemas.microsoft.com/office/drawing/2014/main" id="{14A0FEED-D6ED-474E-97B3-2B1024D4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三层研究关系</a:t>
            </a:r>
          </a:p>
        </p:txBody>
      </p:sp>
      <p:sp>
        <p:nvSpPr>
          <p:cNvPr id="2" name="text-134">
            <a:extLst xmlns:a="http://schemas.openxmlformats.org/drawingml/2006/main">
              <a:ext uri="{FF2B5EF4-FFF2-40B4-BE49-F238E27FC236}">
                <a16:creationId xmlns:a16="http://schemas.microsoft.com/office/drawing/2014/main" id="{370E45E1-AFFB-4933-AF91-67585FD4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" name="text-135">
            <a:extLst xmlns:a="http://schemas.openxmlformats.org/drawingml/2006/main">
              <a:ext uri="{FF2B5EF4-FFF2-40B4-BE49-F238E27FC236}">
                <a16:creationId xmlns:a16="http://schemas.microsoft.com/office/drawing/2014/main" id="{60BD471B-EA3B-4DB1-A0E4-1E724E09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4" name="text-136">
            <a:extLst xmlns:a="http://schemas.openxmlformats.org/drawingml/2006/main">
              <a:ext uri="{FF2B5EF4-FFF2-40B4-BE49-F238E27FC236}">
                <a16:creationId xmlns:a16="http://schemas.microsoft.com/office/drawing/2014/main" id="{85E6C732-C28A-423B-821D-6344E4AE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尚未解决</a:t>
            </a:r>
          </a:p>
        </p:txBody>
      </p:sp>
      <p:sp>
        <p:nvSpPr>
          <p:cNvPr id="5" name="text-137">
            <a:extLst xmlns:a="http://schemas.openxmlformats.org/drawingml/2006/main">
              <a:ext uri="{FF2B5EF4-FFF2-40B4-BE49-F238E27FC236}">
                <a16:creationId xmlns:a16="http://schemas.microsoft.com/office/drawing/2014/main" id="{CE5AD0C9-7213-4B7F-8DD5-8D4D73E0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结构发现</a:t>
            </a:r>
          </a:p>
        </p:txBody>
      </p:sp>
      <p:sp>
        <p:nvSpPr>
          <p:cNvPr id="6" name="text-138">
            <a:extLst xmlns:a="http://schemas.openxmlformats.org/drawingml/2006/main">
              <a:ext uri="{FF2B5EF4-FFF2-40B4-BE49-F238E27FC236}">
                <a16:creationId xmlns:a16="http://schemas.microsoft.com/office/drawing/2014/main" id="{9F7E2AAD-C973-4D3C-ABB8-AAE8B179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1457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受限在线闭环</a:t>
            </a:r>
          </a:p>
        </p:txBody>
      </p:sp>
      <p:sp>
        <p:nvSpPr>
          <p:cNvPr id="7" name="text-139">
            <a:extLst xmlns:a="http://schemas.openxmlformats.org/drawingml/2006/main">
              <a:ext uri="{FF2B5EF4-FFF2-40B4-BE49-F238E27FC236}">
                <a16:creationId xmlns:a16="http://schemas.microsoft.com/office/drawing/2014/main" id="{7121BD76-7310-4561-9A2E-379AE57C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1457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一般规则发现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1A5078-6B21-4DA8-B151-AC6CEF87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3BA13-577F-4B37-A3A5-8298269C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7FAF9-1116-403E-8179-2116672A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814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911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dash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BE252D-F032-45C7-8E51-0ED442E7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140">
            <a:extLst xmlns:a="http://schemas.openxmlformats.org/drawingml/2006/main">
              <a:ext uri="{FF2B5EF4-FFF2-40B4-BE49-F238E27FC236}">
                <a16:creationId xmlns:a16="http://schemas.microsoft.com/office/drawing/2014/main" id="{17817511-F9E7-4CD6-B4F0-C7A3DBF7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</a:t>
            </a:r>
          </a:p>
        </p:txBody>
      </p:sp>
      <p:sp>
        <p:nvSpPr>
          <p:cNvPr id="15" name="text-141">
            <a:extLst xmlns:a="http://schemas.openxmlformats.org/drawingml/2006/main">
              <a:ext uri="{FF2B5EF4-FFF2-40B4-BE49-F238E27FC236}">
                <a16:creationId xmlns:a16="http://schemas.microsoft.com/office/drawing/2014/main" id="{6944F8E2-8797-43DD-AF27-C413C4EF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76650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正确压缩收益</a:t>
            </a:r>
          </a:p>
        </p:txBody>
      </p:sp>
      <p:sp>
        <p:nvSpPr>
          <p:cNvPr id="16" name="text-142">
            <a:extLst xmlns:a="http://schemas.openxmlformats.org/drawingml/2006/main">
              <a:ext uri="{FF2B5EF4-FFF2-40B4-BE49-F238E27FC236}">
                <a16:creationId xmlns:a16="http://schemas.microsoft.com/office/drawing/2014/main" id="{F6BF4BE3-9062-4EA1-BC67-52A85131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76650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可靠在线合并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D4DC8A-D3F0-40E3-859F-0100F24B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0995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CA7FD-E4F2-4421-988D-07244351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4812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93FFF8-7E97-4C43-904F-F56236885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14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67175" y="3643313"/>
            <a:ext cx="1466850" cy="347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67175" y="3990975"/>
            <a:ext cx="1466850" cy="290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6BF7A-D50C-4270-A35E-AE9EE6F3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143">
            <a:extLst xmlns:a="http://schemas.openxmlformats.org/drawingml/2006/main">
              <a:ext uri="{FF2B5EF4-FFF2-40B4-BE49-F238E27FC236}">
                <a16:creationId xmlns:a16="http://schemas.microsoft.com/office/drawing/2014/main" id="{EC4FE34A-E8BA-4DD7-B4D8-3FE00008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815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</a:t>
            </a:r>
          </a:p>
        </p:txBody>
      </p:sp>
      <p:sp>
        <p:nvSpPr>
          <p:cNvPr id="24" name="text-144">
            <a:extLst xmlns:a="http://schemas.openxmlformats.org/drawingml/2006/main">
              <a:ext uri="{FF2B5EF4-FFF2-40B4-BE49-F238E27FC236}">
                <a16:creationId xmlns:a16="http://schemas.microsoft.com/office/drawing/2014/main" id="{3F45CE1D-4551-4F8A-9A61-5E4B8ED2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3872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条件性控制收益</a:t>
            </a:r>
          </a:p>
        </p:txBody>
      </p:sp>
      <p:sp>
        <p:nvSpPr>
          <p:cNvPr id="25" name="text-145">
            <a:extLst xmlns:a="http://schemas.openxmlformats.org/drawingml/2006/main">
              <a:ext uri="{FF2B5EF4-FFF2-40B4-BE49-F238E27FC236}">
                <a16:creationId xmlns:a16="http://schemas.microsoft.com/office/drawing/2014/main" id="{10277E95-849E-411D-AC2E-C729FD32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3872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机制归因与边界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3F2B8D-6E2F-41B5-AD26-2D69DFE8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9339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13DC4D-95F9-4839-8BA3-3F415D09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265A2B-E82F-47F7-A3C0-F9CC4EE0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33950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技能</a:t>
            </a:r>
          </a:p>
        </p:txBody>
      </p: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781425" y="52292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362575" y="52292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326544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2026-09-16T04:38:24.5400000Z</dcterms:created>
  <dcterms:modified xsi:type="dcterms:W3CDTF">2026-09-16T04:38:24.5400000Z</dcterms:modified>
</coreProperties>
</file>