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3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4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5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6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7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slides/charts/chart8.xml" ContentType="application/vnd.openxmlformats-officedocument.drawingml.chart+xml"/>
  <Override PartName="/ppt/slides/charts/chart9.xml" ContentType="application/vnd.openxmlformats-officedocument.drawingml.chart+xml"/>
  <Override PartName="/ppt/slides/charts/chart10.xml" ContentType="application/vnd.openxmlformats-officedocument.drawingml.chart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slides/charts/chart11.xml" ContentType="application/vnd.openxmlformats-officedocument.drawingml.chart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slides/charts/chart12.xml" ContentType="application/vnd.openxmlformats-officedocument.drawingml.chart+xml"/>
  <Override PartName="/ppt/notesSlides/notesSlide15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8c3e7ef7eab4d8c" /><Relationship Type="http://schemas.openxmlformats.org/officeDocument/2006/relationships/extended-properties" Target="/docProps/app.xml" Id="Rb6e198700d9a40e7" /><Relationship Type="http://schemas.openxmlformats.org/officeDocument/2006/relationships/officeDocument" Target="/ppt/presentation.xml" Id="Raf5df1ca87354f9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f821b33150a4c58"/>
  </p:sldMasterIdLst>
  <p:notesMasterIdLst>
    <p:notesMasterId xmlns:r="http://schemas.openxmlformats.org/officeDocument/2006/relationships" r:id="R712181fe19f44eeb"/>
  </p:notesMasterIdLst>
  <p:sldIdLst>
    <p:sldId xmlns:r="http://schemas.openxmlformats.org/officeDocument/2006/relationships" id="256" r:id="Rcb95d67578e04114"/>
    <p:sldId xmlns:r="http://schemas.openxmlformats.org/officeDocument/2006/relationships" id="257" r:id="Rcfa588bb590047dc"/>
    <p:sldId xmlns:r="http://schemas.openxmlformats.org/officeDocument/2006/relationships" id="258" r:id="Raa00b2ecfeb24637"/>
    <p:sldId xmlns:r="http://schemas.openxmlformats.org/officeDocument/2006/relationships" id="259" r:id="Rb9ed338ddeca4f6e"/>
    <p:sldId xmlns:r="http://schemas.openxmlformats.org/officeDocument/2006/relationships" id="260" r:id="R2a7252293cce41d0"/>
    <p:sldId xmlns:r="http://schemas.openxmlformats.org/officeDocument/2006/relationships" id="261" r:id="R06357449a6954c97"/>
    <p:sldId xmlns:r="http://schemas.openxmlformats.org/officeDocument/2006/relationships" id="262" r:id="R0b5986155b2a4743"/>
    <p:sldId xmlns:r="http://schemas.openxmlformats.org/officeDocument/2006/relationships" id="263" r:id="R78d74281de1647aa"/>
    <p:sldId xmlns:r="http://schemas.openxmlformats.org/officeDocument/2006/relationships" id="264" r:id="Rb805d261118f4e7d"/>
    <p:sldId xmlns:r="http://schemas.openxmlformats.org/officeDocument/2006/relationships" id="265" r:id="R7cf9c566ffe14072"/>
    <p:sldId xmlns:r="http://schemas.openxmlformats.org/officeDocument/2006/relationships" id="266" r:id="Rb37f57d87e9b4699"/>
    <p:sldId xmlns:r="http://schemas.openxmlformats.org/officeDocument/2006/relationships" id="267" r:id="R8f17a9cf6f614706"/>
    <p:sldId xmlns:r="http://schemas.openxmlformats.org/officeDocument/2006/relationships" id="268" r:id="R5feab860306146b7"/>
    <p:sldId xmlns:r="http://schemas.openxmlformats.org/officeDocument/2006/relationships" id="269" r:id="Re27d75acf8be4ae7"/>
    <p:sldId xmlns:r="http://schemas.openxmlformats.org/officeDocument/2006/relationships" id="270" r:id="R20c8a78dc5e9408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fa54d25e3064e96" /><Relationship Type="http://schemas.openxmlformats.org/officeDocument/2006/relationships/slideMaster" Target="/ppt/slideMasters/slideMaster1.xml" Id="Ref821b33150a4c58" /><Relationship Type="http://schemas.openxmlformats.org/officeDocument/2006/relationships/notesMaster" Target="/ppt/notesMasters/notesMaster1.xml" Id="R712181fe19f44eeb" /><Relationship Type="http://schemas.openxmlformats.org/officeDocument/2006/relationships/presProps" Target="/ppt/presProps.xml" Id="R9c5d4f3fdf7f495b" /><Relationship Type="http://schemas.openxmlformats.org/officeDocument/2006/relationships/tableStyles" Target="/ppt/tableStyles.xml" Id="Rf170c95c0b2e420d" /><Relationship Type="http://schemas.openxmlformats.org/officeDocument/2006/relationships/slide" Target="/ppt/slides/slide1.xml" Id="Rcb95d67578e04114" /><Relationship Type="http://schemas.openxmlformats.org/officeDocument/2006/relationships/slide" Target="/ppt/slides/slide2.xml" Id="Rcfa588bb590047dc" /><Relationship Type="http://schemas.openxmlformats.org/officeDocument/2006/relationships/slide" Target="/ppt/slides/slide3.xml" Id="Raa00b2ecfeb24637" /><Relationship Type="http://schemas.openxmlformats.org/officeDocument/2006/relationships/slide" Target="/ppt/slides/slide4.xml" Id="Rb9ed338ddeca4f6e" /><Relationship Type="http://schemas.openxmlformats.org/officeDocument/2006/relationships/slide" Target="/ppt/slides/slide5.xml" Id="R2a7252293cce41d0" /><Relationship Type="http://schemas.openxmlformats.org/officeDocument/2006/relationships/slide" Target="/ppt/slides/slide6.xml" Id="R06357449a6954c97" /><Relationship Type="http://schemas.openxmlformats.org/officeDocument/2006/relationships/slide" Target="/ppt/slides/slide7.xml" Id="R0b5986155b2a4743" /><Relationship Type="http://schemas.openxmlformats.org/officeDocument/2006/relationships/slide" Target="/ppt/slides/slide8.xml" Id="R78d74281de1647aa" /><Relationship Type="http://schemas.openxmlformats.org/officeDocument/2006/relationships/slide" Target="/ppt/slides/slide9.xml" Id="Rb805d261118f4e7d" /><Relationship Type="http://schemas.openxmlformats.org/officeDocument/2006/relationships/slide" Target="/ppt/slides/slide10.xml" Id="R7cf9c566ffe14072" /><Relationship Type="http://schemas.openxmlformats.org/officeDocument/2006/relationships/slide" Target="/ppt/slides/slide11.xml" Id="Rb37f57d87e9b4699" /><Relationship Type="http://schemas.openxmlformats.org/officeDocument/2006/relationships/slide" Target="/ppt/slides/slide12.xml" Id="R8f17a9cf6f614706" /><Relationship Type="http://schemas.openxmlformats.org/officeDocument/2006/relationships/slide" Target="/ppt/slides/slide13.xml" Id="R5feab860306146b7" /><Relationship Type="http://schemas.openxmlformats.org/officeDocument/2006/relationships/slide" Target="/ppt/slides/slide14.xml" Id="Re27d75acf8be4ae7" /><Relationship Type="http://schemas.openxmlformats.org/officeDocument/2006/relationships/slide" Target="/ppt/slides/slide15.xml" Id="R20c8a78dc5e9408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f638b5d5ed24eb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06f55aa4d8b4927" /><Relationship Type="http://schemas.openxmlformats.org/officeDocument/2006/relationships/notesMaster" Target="/ppt/notesMasters/notesMaster1.xml" Id="Rd562a9e6e9b945e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36c6652cef8404e" /><Relationship Type="http://schemas.openxmlformats.org/officeDocument/2006/relationships/notesMaster" Target="/ppt/notesMasters/notesMaster1.xml" Id="R9ccda0ee49e4404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f5311d352dd4cf9" /><Relationship Type="http://schemas.openxmlformats.org/officeDocument/2006/relationships/notesMaster" Target="/ppt/notesMasters/notesMaster1.xml" Id="Re93e8c812202422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79d17d298a64989" /><Relationship Type="http://schemas.openxmlformats.org/officeDocument/2006/relationships/notesMaster" Target="/ppt/notesMasters/notesMaster1.xml" Id="R4849c83ce716457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4065adcc0f2494f" /><Relationship Type="http://schemas.openxmlformats.org/officeDocument/2006/relationships/notesMaster" Target="/ppt/notesMasters/notesMaster1.xml" Id="R63f16b98902f453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50b1f94162847b1" /><Relationship Type="http://schemas.openxmlformats.org/officeDocument/2006/relationships/notesMaster" Target="/ppt/notesMasters/notesMaster1.xml" Id="R2c161dcbf690400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75ad2a802ec401b" /><Relationship Type="http://schemas.openxmlformats.org/officeDocument/2006/relationships/notesMaster" Target="/ppt/notesMasters/notesMaster1.xml" Id="R53f375d6b4c84cc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e9d08ae842846f8" /><Relationship Type="http://schemas.openxmlformats.org/officeDocument/2006/relationships/notesMaster" Target="/ppt/notesMasters/notesMaster1.xml" Id="Rd52b0ae9c5a64bf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165fd609498421e" /><Relationship Type="http://schemas.openxmlformats.org/officeDocument/2006/relationships/notesMaster" Target="/ppt/notesMasters/notesMaster1.xml" Id="R670212cf1b294c4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c14aedc48ba4870" /><Relationship Type="http://schemas.openxmlformats.org/officeDocument/2006/relationships/notesMaster" Target="/ppt/notesMasters/notesMaster1.xml" Id="Rdd4ccba81e0543c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70444bd21c2488d" /><Relationship Type="http://schemas.openxmlformats.org/officeDocument/2006/relationships/notesMaster" Target="/ppt/notesMasters/notesMaster1.xml" Id="R19c8e46e221e4dc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a4359cc725b476c" /><Relationship Type="http://schemas.openxmlformats.org/officeDocument/2006/relationships/notesMaster" Target="/ppt/notesMasters/notesMaster1.xml" Id="Re8af88016ba0472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376da77549849bd" /><Relationship Type="http://schemas.openxmlformats.org/officeDocument/2006/relationships/notesMaster" Target="/ppt/notesMasters/notesMaster1.xml" Id="Rc7a0886142cf42b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1beb03f82194e26" /><Relationship Type="http://schemas.openxmlformats.org/officeDocument/2006/relationships/notesMaster" Target="/ppt/notesMasters/notesMaster1.xml" Id="R1efca0b5c72e4e7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0a180fcccd74472" /><Relationship Type="http://schemas.openxmlformats.org/officeDocument/2006/relationships/notesMaster" Target="/ppt/notesMasters/notesMaster1.xml" Id="Racbd56ce718b400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问题是隐藏任务顺序/逻辑的发现，不是完全没有任务信号的目标发现。事件可识别，早期实验提供可靠的逐步推进反馈。格子图仅为机制示意，不对应具体实验地图。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TL/research/2026-09-15-memory-compression-audit/PROJECT_STATUS.md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6：长度16，动作噪声，第二批32个新种子。左图为首次成功率达到90%的平均环境步。右图为第一次完整成功之前，在已知目标前缀中累计执行的平均步数，两者观察区间不同，不应当相减或当成总成本的精确分解。三方法每步9次Bellman更新；立即/延迟epsilon均为0.005，普通replay为0.05（开发集选择）。未声称超过ISA等既有方法。节省几乎全部来自不再反复执行已知前缀，而不是探索本身变聪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TL/progressive_task_discovery/REPORT.md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左：线性序列中进度次数已能表示当前阶段，一个「阶段到下一目标」的列表就足够，所以第一个正结果不能证明一般自动机学习的价值。右：A→E与B→E汇入同一物理位置，进度均为2、末事件均为E，但后继要求不同；两个E表示不同历史下的任务状态，不是两个物理位置。底行：前缀树与充分历史dictionary在匹配输入与随机数时逐动作一致，所以价值不来自图这种形式。咖啡只是同构直觉说明，不是实验中的任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TL/progressive_task_discovery/stage7_branching/REPORT.md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零件任务规则：A先于B则选X，否则选Y，其他零件位置无关。完整顺序由环境提供；末端只做一次二选一。此图表示末端决策等价，不声称每个中间前缀在环境状态上都等价。正确自动机与等价手写程序使用同一状态划分。真正要学的不是「记住流程」，而是「哪些历史可以共享未来经验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TL/AUTO/docs/MEMORY_COMPRESSION_PILOT.md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每个规模400个配对种子，每方法5000幕。T95为首次达到并在后续记录点保持至少95%准确率的幕数，本批主要对照无删失，因此RMST等于平均T95。压缩等价关系由设计者提供。完整历史与正确压缩使用同样Q-learning。自动机与等价手写程序逐种子逐评估点一致。比值来自未取整均值。该量级有闭式解释：错误动作Q恒为0，正确动作首次获正奖励后Q=1，此后该状态永远答对；未覆盖状态随机并列答对一半，故准确率=(H+c)/2H，要达95%需覆盖c&gt;=0.9H。已覆盖i格时新覆盖一格的概率为(H-i)/(2H)，期望等待2H/(H-i)，累加得 sum(2H/(H-i), i=0..ceil(0.9H)-1)。H=6/24/120给出29.40/109.25/543.76幕，压缩后H=2给出6.0幕，理论倍数90.63x，实测89.75x。大倍数来自填表次数，不需要额外机制假设。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TL/AUTO/results/runs/memory_compression_pilot_5k.md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35：n=3的8个任务族，792次查询。固定基线轨迹，逐查询只使用当时证据进行回放审计；未将这些合并接入控制器，也没有相应学习曲线。k_min是当时证据所容许的最小机器状态数，+1放松该上界。省下只计冗余部分（134/792），另有102次复用落在必要查询上，那不是节省而是替换。预注册判据在跑之前写定：查询节省&gt;=20%且错误共享约等于0，三项全不达标；把53次求解超时全判给Occam，节省上界23.6%仍不达标。在线k_min是8-12而真状态数是19-27，证据少时最小机器严重过度合并，这是离线97.6%精确率无法在线复现的全部原因。裁决正确率80.1%/77.3%见附录：它高于归属正确率，是因为大量错误归属碰巧给出相同裁决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TL/progressive_task_discovery/stage8_compression/REPORT_STEP35.md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口播：有了结构以后还有第二个问题——它只是告诉我当前目标，还是还能让不同阶段共享控制经验？这一组全部是「任务规则已给定」，不涉及边学边建。左侧2x2：Y00两种机制都没有，Y01用学习型元控制器调用共享技能（有复用无路由），Y10真规则路由但技能按任务状态独立（有路由无复用），Y11两者都有。24族×30种子×5臂，预算200000步。原报告关于路由压倒性强于复用的AUC解释已在Step38撤回，因天花板影响；本页不作机制排序，完整AUC与first90见附录。右侧为Step38.5剂量扫描：昂贵导航，任务规则已给定，训练预算1000000环境步，达标率为预算内达到90%成功率的运行比例；该扫描逐种子原始数据后来确认遗失，不能重算区间。Step40新网格显示步费会改变QRM排序并使风险交互缩小，不能视为协议不变的效应大小。底行取自REPORT_STEP38_5第125-126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TL/progressive_task_discovery/stage8_compression/REPORT_STEP36.md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新零件pilot每规模400种子。训练期间、规则唯一识别前立即法相比延迟法实际额外成功均值为0.1225、0.4525、0.635。不是贪心评估累计期望0.137/0.533/0.696。规则识别前准确率不足95%；识别后两臂在该实现中相同，因此T95没有分辨能力，该必然性只针对这个规则族、确定反馈、更新与阈值设置。主动任务早期调用技能改变到达后缀的行为，被动任务每幕独立给出排列，动作不影响下一份证据。不能据此断言所有边学边用收益都必须依赖主动取证，也不能用它否定第2页的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TL/research/2026-09-15-memory-compression-audit/REVIEW.md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三层不是全都已集成的一套通用算法。结构发现的受限未知顺序闭环有正结果；状态抽象的已知正确压缩有明确收益，可靠在线合并尚未解决；结构利用的路由/共享实现具有条件性收益，但一般机制归因、协议与任务边界未定。未建立超过ISA等的通用新方法，不声称自动机语法优于等价手写实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TL/research/2026-09-15-memory-compression-audit/PROJECT_STATUS.md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主线到此结束。后面五页分别对应：反馈预算、前缀树与历史字典的等价、合并审计的完整口径、五臂完整数值、危险格完整剂量曲线。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始归档AUTO/discovery/results/verify.jsonl.gz：预算40/80/160/320，first90&lt;200000的运行分别1/61/131/144，共144。160预算时最终仍&gt;=90%的只有127/144；本图量的是曾经达标，不是最终成功比例。控制器按历史节点读取局部证据，未启用合并。不能由最终树节点数推断必须完整结构才能使用：nodes字段记录的是历史前缀树大小而非压缩状态数，且在运行结束时输出；真正的压缩状态数classes未被归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TL/AUTO/discovery/src/run_verify.py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前缀树与完整成功事件历史dictionary在匹配输入与随机数时逐动作一致。字典包含足够历史，并非只存进度或最后事件。这里比较表示形式，不涉及合并不同历史。因此自动机的价值不来自「画成图」这件事本身，而来自后面能不能合并等价历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TL/progressive_task_discovery/stage7_branching/REPORT.md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35：n=3的8个任务族，792次查询，其中冗余313次（39.5%）。k_min下被强制的合并236次：裁决错47次故裁决正确率80.1%，归属错140次故归属正确率40.7%，省下134/792=16.9%。k_min+1下复用22次：裁决错5、归属错8，省下14/792=1.8%。裁决正确率高于归属正确率，是因为大量错误归属碰巧给出相同裁决，这种运气撑不过下一个事件。另有102次复用落在必要查询上，是替换不是节省，未计入16.9%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TL/progressive_task_discovery/stage8_compression/REPORT_STEP35.md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24族×30种子×5臂，预算200000步。first90是中位数，AUC为成功率曲线面积。原报告关于路由压倒性强于复用的AUC解释已在Step38撤回，因天花板影响。删失：原始归档results/factorial.json中first90=-1共40次，全部落在Y00（30/720）与Y01（10/720），Y10/Y11/QRM为0；页面中位数按达标者计，Y00若把-1记作预算200000则中位为41000而非38500，该丢弃使Y00/Y01显得偏好，因此对比是保守的。报告曾给出样本复杂度主效应路由6.39x、复用5.34x，本次未能从归档复现（把-1记作预算得9.03x/4.50x），故不列该口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TL/progressive_task_discovery/stage8_compression/REPORT_STEP36.md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38.5剂量扫描，昂贵导航，自有导出模拟器，任务规则已给定，训练预算1000000环境步。达标率为预算内达到90%成功率的运行比例。此扫描的逐种子原始数据后来确认遗失，因此不能重算置信区间。Step40新网格逐运行归档：步费改变QRM排序，并使风险交互效应缩小；不能将此页视为协议不变的效应大小。无论存在何种图论路径，危险格可能迫使成功轨迹绕行，这里不声明几何难度完全不变。底行取自REPORT_STEP38_5第125-126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TL/progressive_task_discovery/stage8_compression/REPORT_STEP38_5.md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54de3203d04df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3a9f6215e2e4e8e" /><Relationship Type="http://schemas.openxmlformats.org/officeDocument/2006/relationships/slideLayout" Target="/ppt/slideLayouts/slideLayout1.xml" Id="R38a9462a75ee4e1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8a9462a75ee4e1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638572c60c4a97" /><Relationship Type="http://schemas.openxmlformats.org/officeDocument/2006/relationships/notesSlide" Target="/ppt/notesSlides/notesSlide1.xml" Id="R5c1ac6ac5b11444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290257fd834e29" /><Relationship Type="http://schemas.openxmlformats.org/officeDocument/2006/relationships/chart" Target="/ppt/slides/charts/chart1.xml" Id="R1d15e9eef26c42d5" /><Relationship Type="http://schemas.openxmlformats.org/officeDocument/2006/relationships/chart" Target="/ppt/slides/charts/chart2.xml" Id="Re9a8c12f28d94c7a" /><Relationship Type="http://schemas.openxmlformats.org/officeDocument/2006/relationships/notesSlide" Target="/ppt/notesSlides/notesSlide2.xml" Id="R1c3a055013c64c7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5a10b6280a4194" /><Relationship Type="http://schemas.openxmlformats.org/officeDocument/2006/relationships/notesSlide" Target="/ppt/notesSlides/notesSlide3.xml" Id="Rfa96368019b945a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5a9b511a3044a1" /><Relationship Type="http://schemas.openxmlformats.org/officeDocument/2006/relationships/notesSlide" Target="/ppt/notesSlides/notesSlide4.xml" Id="Recea4b1119e2464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8348a73d59420f" /><Relationship Type="http://schemas.openxmlformats.org/officeDocument/2006/relationships/chart" Target="/ppt/slides/charts/chart3.xml" Id="Rf1cce72222044a5a" /><Relationship Type="http://schemas.openxmlformats.org/officeDocument/2006/relationships/notesSlide" Target="/ppt/notesSlides/notesSlide5.xml" Id="R0a081dc3e5fa4cc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82e5efa3a54cba" /><Relationship Type="http://schemas.openxmlformats.org/officeDocument/2006/relationships/chart" Target="/ppt/slides/charts/chart4.xml" Id="Red424b4aea14436f" /><Relationship Type="http://schemas.openxmlformats.org/officeDocument/2006/relationships/notesSlide" Target="/ppt/notesSlides/notesSlide6.xml" Id="R6ef9ab2d3a0f4a5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62367760ce494b" /><Relationship Type="http://schemas.openxmlformats.org/officeDocument/2006/relationships/chart" Target="/ppt/slides/charts/chart5.xml" Id="R15b0dfd758f24bba" /><Relationship Type="http://schemas.openxmlformats.org/officeDocument/2006/relationships/notesSlide" Target="/ppt/notesSlides/notesSlide7.xml" Id="R275c7823797c435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c58099f39747cd" /><Relationship Type="http://schemas.openxmlformats.org/officeDocument/2006/relationships/chart" Target="/ppt/slides/charts/chart6.xml" Id="R6f05913d00974b1c" /><Relationship Type="http://schemas.openxmlformats.org/officeDocument/2006/relationships/notesSlide" Target="/ppt/notesSlides/notesSlide8.xml" Id="Rf75cd5d77bfa4aa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a2ddd430e64181" /><Relationship Type="http://schemas.openxmlformats.org/officeDocument/2006/relationships/notesSlide" Target="/ppt/notesSlides/notesSlide9.xml" Id="Rb9578a8a9741443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33c11019a7422e" /><Relationship Type="http://schemas.openxmlformats.org/officeDocument/2006/relationships/notesSlide" Target="/ppt/notesSlides/notesSlide10.xml" Id="Ra2110bfe1b12422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3ce9d804874d14" /><Relationship Type="http://schemas.openxmlformats.org/officeDocument/2006/relationships/chart" Target="/ppt/slides/charts/chart7.xml" Id="Rb99b94e5da9b4d7a" /><Relationship Type="http://schemas.openxmlformats.org/officeDocument/2006/relationships/notesSlide" Target="/ppt/notesSlides/notesSlide11.xml" Id="Rd6cd40b2b2a0420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5cd824d21b4792" /><Relationship Type="http://schemas.openxmlformats.org/officeDocument/2006/relationships/notesSlide" Target="/ppt/notesSlides/notesSlide12.xml" Id="Rb16fb22b4afb423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8af7cb4a374ea1" /><Relationship Type="http://schemas.openxmlformats.org/officeDocument/2006/relationships/chart" Target="/ppt/slides/charts/chart8.xml" Id="R74e075cf7c3c4017" /><Relationship Type="http://schemas.openxmlformats.org/officeDocument/2006/relationships/chart" Target="/ppt/slides/charts/chart9.xml" Id="Rf1c09d4e14a14114" /><Relationship Type="http://schemas.openxmlformats.org/officeDocument/2006/relationships/chart" Target="/ppt/slides/charts/chart10.xml" Id="R27694c610be041c6" /><Relationship Type="http://schemas.openxmlformats.org/officeDocument/2006/relationships/notesSlide" Target="/ppt/notesSlides/notesSlide13.xml" Id="R23a286c131d948d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b8fc9f32864a6f" /><Relationship Type="http://schemas.openxmlformats.org/officeDocument/2006/relationships/chart" Target="/ppt/slides/charts/chart11.xml" Id="Rbeb7b10d2c194ae9" /><Relationship Type="http://schemas.openxmlformats.org/officeDocument/2006/relationships/notesSlide" Target="/ppt/notesSlides/notesSlide14.xml" Id="R7912630eea784c4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d8517607a240a4" /><Relationship Type="http://schemas.openxmlformats.org/officeDocument/2006/relationships/chart" Target="/ppt/slides/charts/chart12.xml" Id="R4a412862ebe3474e" /><Relationship Type="http://schemas.openxmlformats.org/officeDocument/2006/relationships/notesSlide" Target="/ppt/notesSlides/notesSlide15.xml" Id="R8d8f7ce7a2f042b3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_rels/chart6.xml.rels><Relationships xmlns="http://schemas.openxmlformats.org/package/2006/relationships"><Relationship Id="rIdChartSnapshot1" Type="http://schemas.openxmlformats.org/officeDocument/2006/relationships/package" Target="../../embeddings/chart-data-snapshot-006.xlsx"/></Relationships>
</file>

<file path=ppt/slides/charts/_rels/chart7.xml.rels><Relationships xmlns="http://schemas.openxmlformats.org/package/2006/relationships"><Relationship Id="rIdChartSnapshot1" Type="http://schemas.openxmlformats.org/officeDocument/2006/relationships/package" Target="../../embeddings/chart-data-snapshot-007.xlsx"/></Relationships>
</file>

<file path=ppt/slides/charts/_rels/chart8.xml.rels><Relationships xmlns="http://schemas.openxmlformats.org/package/2006/relationships"><Relationship Id="rIdChartSnapshot1" Type="http://schemas.openxmlformats.org/officeDocument/2006/relationships/package" Target="../../embeddings/chart-data-snapshot-008.xlsx"/></Relationships>
</file>

<file path=ppt/slides/charts/_rels/chart9.xml.rels><Relationships xmlns="http://schemas.openxmlformats.org/package/2006/relationships"><Relationship Id="rIdChartSnapshot1" Type="http://schemas.openxmlformats.org/officeDocument/2006/relationships/package" Target="../../embeddings/chart-data-snapshot-009.xlsx"/></Relationships>
</file>

<file path=ppt/slides/charts/_rels/chart10.xml.rels><Relationships xmlns="http://schemas.openxmlformats.org/package/2006/relationships"><Relationship Id="rIdChartSnapshot1" Type="http://schemas.openxmlformats.org/officeDocument/2006/relationships/package" Target="../../embeddings/chart-data-snapshot-010.xlsx"/></Relationships>
</file>

<file path=ppt/slides/charts/_rels/chart11.xml.rels><Relationships xmlns="http://schemas.openxmlformats.org/package/2006/relationships"><Relationship Id="rIdChartSnapshot1" Type="http://schemas.openxmlformats.org/officeDocument/2006/relationships/package" Target="../../embeddings/chart-data-snapshot-011.xlsx"/></Relationships>
</file>

<file path=ppt/slides/charts/_rels/chart12.xml.rels><Relationships xmlns="http://schemas.openxmlformats.org/package/2006/relationships"><Relationship Id="rIdChartSnapshot1" Type="http://schemas.openxmlformats.org/officeDocument/2006/relationships/package" Target="../../embeddings/chart-data-snapshot-01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平均 first90</c:v>
          </c:tx>
          <c:spPr>
            <a:solidFill xmlns:a="http://schemas.openxmlformats.org/drawingml/2006/main">
              <a:srgbClr val="2176AD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94A1AA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C47A35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2176AD"/>
              </a:solidFill>
            </c:spPr>
          </c:dPt>
          <c:cat>
            <c:strRef>
              <c:f>'Chart Data'!$A$2:$A$4</c:f>
              <c:strCache>
                <c:ptCount val="3"/>
                <c:pt idx="0">
                  <c:v>普通 replay</c:v>
                </c:pt>
                <c:pt idx="1">
                  <c:v>延迟使用</c:v>
                </c:pt>
                <c:pt idx="2">
                  <c:v>立即使用</c:v>
                </c:pt>
              </c:strCache>
            </c:strRef>
          </c:cat>
          <c:val>
            <c:numRef>
              <c:f>'Chart Data'!$B$2:$B$4</c:f>
              <c:numCache>
                <c:formatCode>#,##0</c:formatCode>
                <c:ptCount val="3"/>
                <c:pt idx="0">
                  <c:v>18594</c:v>
                </c:pt>
                <c:pt idx="1">
                  <c:v>37938</c:v>
                </c:pt>
                <c:pt idx="2">
                  <c:v>6906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025">
                  <a:solidFill>
                    <a:srgbClr val="202B33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0E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450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9EEF1"/>
              </a:solidFill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1000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已知前缀执行步</c:v>
          </c:tx>
          <c:spPr>
            <a:solidFill xmlns:a="http://schemas.openxmlformats.org/drawingml/2006/main">
              <a:srgbClr val="2176AD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C47A35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延迟</c:v>
                </c:pt>
                <c:pt idx="1">
                  <c:v>立即</c:v>
                </c:pt>
              </c:strCache>
            </c:strRef>
          </c:cat>
          <c:val>
            <c:numRef>
              <c:f>'Chart Data'!$B$2:$B$3</c:f>
              <c:numCache>
                <c:formatCode>#,##0</c:formatCode>
                <c:ptCount val="2"/>
                <c:pt idx="0">
                  <c:v>33194</c:v>
                </c:pt>
                <c:pt idx="1">
                  <c:v>2566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75">
                  <a:solidFill>
                    <a:srgbClr val="202B33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0E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400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9EEF1"/>
              </a:solidFill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1000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完整历史</c:v>
          </c:tx>
          <c:spPr>
            <a:solidFill xmlns:a="http://schemas.openxmlformats.org/drawingml/2006/main">
              <a:srgbClr val="94A1AA"/>
            </a:solidFill>
          </c:spPr>
          <c:cat>
            <c:strRef>
              <c:f>'Chart Data'!$A$2:$A$4</c:f>
              <c:strCache>
                <c:ptCount val="3"/>
                <c:pt idx="0">
                  <c:v>3 个零件</c:v>
                </c:pt>
                <c:pt idx="1">
                  <c:v>4 个零件</c:v>
                </c:pt>
                <c:pt idx="2">
                  <c:v>5 个零件</c:v>
                </c:pt>
              </c:strCache>
            </c:strRef>
          </c:cat>
          <c:val>
            <c:numRef>
              <c:f>'Chart Data'!$B$2:$B$4</c:f>
              <c:numCache>
                <c:formatCode>0.00</c:formatCode>
                <c:ptCount val="3"/>
                <c:pt idx="0">
                  <c:v>28.28</c:v>
                </c:pt>
                <c:pt idx="1">
                  <c:v>109.15</c:v>
                </c:pt>
                <c:pt idx="2">
                  <c:v>547.23</c:v>
                </c:pt>
              </c:numCache>
            </c:numRef>
          </c:val>
        </c:ser>
        <c:ser>
          <c:idx val="1"/>
          <c:order val="1"/>
          <c:tx>
            <c:v>正确压缩</c:v>
          </c:tx>
          <c:spPr>
            <a:solidFill xmlns:a="http://schemas.openxmlformats.org/drawingml/2006/main">
              <a:srgbClr val="2176AD"/>
            </a:solidFill>
          </c:spPr>
          <c:cat>
            <c:strRef>
              <c:f>'Chart Data'!$C$2:$C$4</c:f>
              <c:strCache>
                <c:ptCount val="3"/>
                <c:pt idx="0">
                  <c:v>3 个零件</c:v>
                </c:pt>
                <c:pt idx="1">
                  <c:v>4 个零件</c:v>
                </c:pt>
                <c:pt idx="2">
                  <c:v>5 个零件</c:v>
                </c:pt>
              </c:strCache>
            </c:strRef>
          </c:cat>
          <c:val>
            <c:numRef>
              <c:f>'Chart Data'!$D$2:$D$4</c:f>
              <c:numCache>
                <c:formatCode>0.00</c:formatCode>
                <c:ptCount val="3"/>
                <c:pt idx="0">
                  <c:v>6.05</c:v>
                </c:pt>
                <c:pt idx="1">
                  <c:v>5.89</c:v>
                </c:pt>
                <c:pt idx="2">
                  <c:v>6.1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>
                  <a:solidFill>
                    <a:srgbClr val="202B33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0E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62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9EEF1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 Unicode MS"/>
                    <a:ea typeface="Arial Unicode MS"/>
                    <a:cs typeface="Arial Unicode MS"/>
                  </a:rPr>
                  <a:t>平均 T95 / 幕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 Unicode MS"/>
                  <a:ea typeface="Arial Unicode MS"/>
                  <a:cs typeface="Arial Unicode M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20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202B33"/>
              </a:solidFill>
              <a:latin typeface="Arial Unicode MS"/>
              <a:ea typeface="Arial Unicode MS"/>
              <a:cs typeface="Arial Unicode MS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状态归属正确率</c:v>
          </c:tx>
          <c:spPr>
            <a:solidFill xmlns:a="http://schemas.openxmlformats.org/drawingml/2006/main">
              <a:srgbClr val="2176AD"/>
            </a:solidFill>
          </c:spPr>
          <c:cat>
            <c:strRef>
              <c:f>'Chart Data'!$A$2:$A$3</c:f>
              <c:strCache>
                <c:ptCount val="2"/>
                <c:pt idx="0">
                  <c:v>k_min　判断更激进</c:v>
                </c:pt>
                <c:pt idx="1">
                  <c:v>k_min+1　判断更保守</c:v>
                </c:pt>
              </c:strCache>
            </c:strRef>
          </c:cat>
          <c:val>
            <c:numRef>
              <c:f>'Chart Data'!$B$2:$B$3</c:f>
              <c:numCache>
                <c:formatCode>0.0%</c:formatCode>
                <c:ptCount val="2"/>
                <c:pt idx="0">
                  <c:v>0.407</c:v>
                </c:pt>
                <c:pt idx="1">
                  <c:v>0.636</c:v>
                </c:pt>
              </c:numCache>
            </c:numRef>
          </c:val>
        </c:ser>
        <c:ser>
          <c:idx val="1"/>
          <c:order val="1"/>
          <c:tx>
            <c:v>可省查询比例</c:v>
          </c:tx>
          <c:spPr>
            <a:solidFill xmlns:a="http://schemas.openxmlformats.org/drawingml/2006/main">
              <a:srgbClr val="C47A35"/>
            </a:solidFill>
          </c:spPr>
          <c:cat>
            <c:strRef>
              <c:f>'Chart Data'!$C$2:$C$3</c:f>
              <c:strCache>
                <c:ptCount val="2"/>
                <c:pt idx="0">
                  <c:v>k_min　判断更激进</c:v>
                </c:pt>
                <c:pt idx="1">
                  <c:v>k_min+1　判断更保守</c:v>
                </c:pt>
              </c:strCache>
            </c:strRef>
          </c:cat>
          <c:val>
            <c:numRef>
              <c:f>'Chart Data'!$D$2:$D$3</c:f>
              <c:numCache>
                <c:formatCode>0.0%</c:formatCode>
                <c:ptCount val="2"/>
                <c:pt idx="0">
                  <c:v>0.169</c:v>
                </c:pt>
                <c:pt idx="1">
                  <c:v>0.018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202B33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0E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0.7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9EEF1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0.2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202B33"/>
              </a:solidFill>
              <a:latin typeface="Arial Unicode MS"/>
              <a:ea typeface="Arial Unicode MS"/>
              <a:cs typeface="Arial Unicode MS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Y10  分阶段技能</c:v>
          </c:tx>
          <c:spPr>
            <a:ln xmlns:a="http://schemas.openxmlformats.org/drawingml/2006/main" w="28575">
              <a:solidFill>
                <a:srgbClr val="C47A35"/>
              </a:solidFill>
            </a:ln>
          </c:spPr>
          <c:marker>
            <c:symbol val="circle"/>
            <c:size val="7"/>
            <c:spPr>
              <a:solidFill xmlns:a="http://schemas.openxmlformats.org/drawingml/2006/main">
                <a:srgbClr val="C47A35"/>
              </a:solidFill>
            </c:spPr>
          </c:marker>
          <c:cat>
            <c:numRef>
              <c:f>'Chart Data'!$A$2:$A$6</c:f>
              <c:numCache>
                <c:formatCode>General</c:formatCode>
                <c:ptCount val="5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</c:numCache>
            </c:numRef>
          </c:cat>
          <c:val>
            <c:numRef>
              <c:f>'Chart Data'!$B$2:$B$6</c:f>
              <c:numCache>
                <c:formatCode>0%</c:formatCode>
                <c:ptCount val="5"/>
                <c:pt idx="0">
                  <c:v>1</c:v>
                </c:pt>
                <c:pt idx="1">
                  <c:v>0.32</c:v>
                </c:pt>
                <c:pt idx="2">
                  <c:v>0.16</c:v>
                </c:pt>
                <c:pt idx="3">
                  <c:v>0.11</c:v>
                </c:pt>
                <c:pt idx="4">
                  <c:v>0.1</c:v>
                </c:pt>
              </c:numCache>
            </c:numRef>
          </c:val>
          <c:smooth val="0"/>
        </c:ser>
        <c:ser>
          <c:idx val="1"/>
          <c:order val="1"/>
          <c:tx>
            <c:v>Y11  共享技能</c:v>
          </c:tx>
          <c:spPr>
            <a:ln xmlns:a="http://schemas.openxmlformats.org/drawingml/2006/main" w="28575">
              <a:solidFill>
                <a:srgbClr val="2176AD"/>
              </a:solidFill>
            </a:ln>
          </c:spPr>
          <c:marker>
            <c:symbol val="circle"/>
            <c:size val="7"/>
            <c:spPr>
              <a:solidFill xmlns:a="http://schemas.openxmlformats.org/drawingml/2006/main">
                <a:srgbClr val="2176AD"/>
              </a:solidFill>
            </c:spPr>
          </c:marker>
          <c:cat>
            <c:numRef>
              <c:f>'Chart Data'!$C$2:$C$6</c:f>
              <c:numCache>
                <c:formatCode>General</c:formatCode>
                <c:ptCount val="5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</c:numCache>
            </c:numRef>
          </c:cat>
          <c:val>
            <c:numRef>
              <c:f>'Chart Data'!$D$2:$D$6</c:f>
              <c:numCache>
                <c:formatCode>0%</c:formatCode>
                <c:ptCount val="5"/>
                <c:pt idx="0">
                  <c:v>1</c:v>
                </c:pt>
                <c:pt idx="1">
                  <c:v>1</c:v>
                </c:pt>
                <c:pt idx="2">
                  <c:v>0.99</c:v>
                </c:pt>
                <c:pt idx="3">
                  <c:v>0.95</c:v>
                </c:pt>
                <c:pt idx="4">
                  <c:v>0.91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202B33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 Unicode MS"/>
                    <a:ea typeface="Arial Unicode MS"/>
                    <a:cs typeface="Arial Unicode MS"/>
                  </a:rPr>
                  <a:t>危险格 / 个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 Unicode MS"/>
                  <a:ea typeface="Arial Unicode MS"/>
                  <a:cs typeface="Arial Unicode M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0E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1.16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9EEF1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0.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202B33"/>
              </a:solidFill>
              <a:latin typeface="Arial Unicode MS"/>
              <a:ea typeface="Arial Unicode MS"/>
              <a:cs typeface="Arial Unicode MS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6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立即减延迟</c:v>
          </c:tx>
          <c:spPr>
            <a:solidFill xmlns:a="http://schemas.openxmlformats.org/drawingml/2006/main">
              <a:srgbClr val="2176AD"/>
            </a:solidFill>
          </c:spPr>
          <c:cat>
            <c:strRef>
              <c:f>'Chart Data'!$A$2:$A$4</c:f>
              <c:strCache>
                <c:ptCount val="3"/>
                <c:pt idx="0">
                  <c:v>3 个</c:v>
                </c:pt>
                <c:pt idx="1">
                  <c:v>4 个</c:v>
                </c:pt>
                <c:pt idx="2">
                  <c:v>5 个</c:v>
                </c:pt>
              </c:strCache>
            </c:strRef>
          </c:cat>
          <c:val>
            <c:numRef>
              <c:f>'Chart Data'!$B$2:$B$4</c:f>
              <c:numCache>
                <c:formatCode>0.000</c:formatCode>
                <c:ptCount val="3"/>
                <c:pt idx="0">
                  <c:v>0.123</c:v>
                </c:pt>
                <c:pt idx="1">
                  <c:v>0.453</c:v>
                </c:pt>
                <c:pt idx="2">
                  <c:v>0.635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202B33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0.8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9EEF1"/>
              </a:solidFill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0.4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7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达标运行比例</c:v>
          </c:tx>
          <c:spPr>
            <a:solidFill xmlns:a="http://schemas.openxmlformats.org/drawingml/2006/main">
              <a:srgbClr val="2176AD"/>
            </a:solidFill>
          </c:spPr>
          <c:cat>
            <c:numRef>
              <c:f>'Chart Data'!$A$2:$A$5</c:f>
              <c:numCache>
                <c:formatCode>General</c:formatCode>
                <c:ptCount val="4"/>
                <c:pt idx="0">
                  <c:v>40</c:v>
                </c:pt>
                <c:pt idx="1">
                  <c:v>80</c:v>
                </c:pt>
                <c:pt idx="2">
                  <c:v>160</c:v>
                </c:pt>
                <c:pt idx="3">
                  <c:v>320</c:v>
                </c:pt>
              </c:numCache>
            </c:numRef>
          </c:cat>
          <c:val>
            <c:numRef>
              <c:f>'Chart Data'!$B$2:$B$5</c:f>
              <c:numCache>
                <c:formatCode>0%</c:formatCode>
                <c:ptCount val="4"/>
                <c:pt idx="0">
                  <c:v>0.006944444444</c:v>
                </c:pt>
                <c:pt idx="1">
                  <c:v>0.423611111111</c:v>
                </c:pt>
                <c:pt idx="2">
                  <c:v>0.909722222222</c:v>
                </c:pt>
                <c:pt idx="3">
                  <c:v>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250">
                  <a:solidFill>
                    <a:srgbClr val="202B33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 Unicode MS"/>
                    <a:ea typeface="Arial Unicode MS"/>
                    <a:cs typeface="Arial Unicode MS"/>
                  </a:rPr>
                  <a:t>提问预算 / 次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 Unicode MS"/>
                  <a:ea typeface="Arial Unicode MS"/>
                  <a:cs typeface="Arial Unicode M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0E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1.12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9EEF1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0.2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8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比例</c:v>
          </c:tx>
          <c:spPr>
            <a:solidFill xmlns:a="http://schemas.openxmlformats.org/drawingml/2006/main">
              <a:srgbClr val="2176AD"/>
            </a:solidFill>
          </c:spPr>
          <c:dPt>
            <c:idx val="1"/>
            <c:invertIfNegative val="0"/>
            <c:spPr>
              <a:solidFill xmlns:a="http://schemas.openxmlformats.org/drawingml/2006/main">
                <a:srgbClr val="C47A35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k_min</c:v>
                </c:pt>
                <c:pt idx="1">
                  <c:v>k_min+1</c:v>
                </c:pt>
              </c:strCache>
            </c:strRef>
          </c:cat>
          <c:val>
            <c:numRef>
              <c:f>'Chart Data'!$B$2:$B$3</c:f>
              <c:numCache>
                <c:formatCode>0.0%</c:formatCode>
                <c:ptCount val="2"/>
                <c:pt idx="0">
                  <c:v>0.801</c:v>
                </c:pt>
                <c:pt idx="1">
                  <c:v>0.773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solidFill>
                    <a:srgbClr val="202B33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0E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9EEF1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0.2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9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比例</c:v>
          </c:tx>
          <c:spPr>
            <a:solidFill xmlns:a="http://schemas.openxmlformats.org/drawingml/2006/main">
              <a:srgbClr val="2176AD"/>
            </a:solidFill>
          </c:spPr>
          <c:dPt>
            <c:idx val="1"/>
            <c:invertIfNegative val="0"/>
            <c:spPr>
              <a:solidFill xmlns:a="http://schemas.openxmlformats.org/drawingml/2006/main">
                <a:srgbClr val="C47A35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k_min</c:v>
                </c:pt>
                <c:pt idx="1">
                  <c:v>k_min+1</c:v>
                </c:pt>
              </c:strCache>
            </c:strRef>
          </c:cat>
          <c:val>
            <c:numRef>
              <c:f>'Chart Data'!$B$2:$B$3</c:f>
              <c:numCache>
                <c:formatCode>0.0%</c:formatCode>
                <c:ptCount val="2"/>
                <c:pt idx="0">
                  <c:v>0.407</c:v>
                </c:pt>
                <c:pt idx="1">
                  <c:v>0.636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solidFill>
                    <a:srgbClr val="202B33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0E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9EEF1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0.2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10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比例</c:v>
          </c:tx>
          <c:spPr>
            <a:solidFill xmlns:a="http://schemas.openxmlformats.org/drawingml/2006/main">
              <a:srgbClr val="2176AD"/>
            </a:solidFill>
          </c:spPr>
          <c:dPt>
            <c:idx val="1"/>
            <c:invertIfNegative val="0"/>
            <c:spPr>
              <a:solidFill xmlns:a="http://schemas.openxmlformats.org/drawingml/2006/main">
                <a:srgbClr val="C47A35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k_min</c:v>
                </c:pt>
                <c:pt idx="1">
                  <c:v>k_min+1</c:v>
                </c:pt>
              </c:strCache>
            </c:strRef>
          </c:cat>
          <c:val>
            <c:numRef>
              <c:f>'Chart Data'!$B$2:$B$3</c:f>
              <c:numCache>
                <c:formatCode>0.0%</c:formatCode>
                <c:ptCount val="2"/>
                <c:pt idx="0">
                  <c:v>0.169</c:v>
                </c:pt>
                <c:pt idx="1">
                  <c:v>0.018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solidFill>
                    <a:srgbClr val="202B33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0E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9EEF1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0.2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1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first90</c:v>
          </c:tx>
          <c:spPr>
            <a:solidFill xmlns:a="http://schemas.openxmlformats.org/drawingml/2006/main">
              <a:srgbClr val="94A1AA"/>
            </a:solidFill>
          </c:spPr>
          <c:dPt>
            <c:idx val="1"/>
            <c:invertIfNegative val="0"/>
            <c:spPr>
              <a:solidFill xmlns:a="http://schemas.openxmlformats.org/drawingml/2006/main">
                <a:srgbClr val="C47A35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72A0BA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2176AD"/>
              </a:solidFill>
            </c:spPr>
          </c:dPt>
          <c:cat>
            <c:strRef>
              <c:f>'Chart Data'!$A$2:$A$6</c:f>
              <c:strCache>
                <c:ptCount val="5"/>
                <c:pt idx="0">
                  <c:v>Y00</c:v>
                </c:pt>
                <c:pt idx="1">
                  <c:v>Y01</c:v>
                </c:pt>
                <c:pt idx="2">
                  <c:v>Y10</c:v>
                </c:pt>
                <c:pt idx="3">
                  <c:v>Y11</c:v>
                </c:pt>
                <c:pt idx="4">
                  <c:v>QRM</c:v>
                </c:pt>
              </c:strCache>
            </c:strRef>
          </c:cat>
          <c:val>
            <c:numRef>
              <c:f>'Chart Data'!$B$2:$B$6</c:f>
              <c:numCache>
                <c:formatCode>#,##0</c:formatCode>
                <c:ptCount val="5"/>
                <c:pt idx="0">
                  <c:v>38500</c:v>
                </c:pt>
                <c:pt idx="1">
                  <c:v>4000</c:v>
                </c:pt>
                <c:pt idx="2">
                  <c:v>3750</c:v>
                </c:pt>
                <c:pt idx="3">
                  <c:v>1000</c:v>
                </c:pt>
                <c:pt idx="4">
                  <c:v>7000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202B33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0E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450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9EEF1"/>
              </a:solidFill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1500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12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Y10  分阶段技能</c:v>
          </c:tx>
          <c:spPr>
            <a:ln xmlns:a="http://schemas.openxmlformats.org/drawingml/2006/main" w="28575">
              <a:solidFill>
                <a:srgbClr val="C47A35"/>
              </a:solidFill>
            </a:ln>
          </c:spPr>
          <c:marker>
            <c:symbol val="circle"/>
            <c:size val="8"/>
            <c:spPr>
              <a:solidFill xmlns:a="http://schemas.openxmlformats.org/drawingml/2006/main">
                <a:srgbClr val="C47A35"/>
              </a:solidFill>
            </c:spPr>
          </c:marker>
          <c:cat>
            <c:numRef>
              <c:f>'Chart Data'!$A$2:$A$6</c:f>
              <c:numCache>
                <c:formatCode>General</c:formatCode>
                <c:ptCount val="5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</c:numCache>
            </c:numRef>
          </c:cat>
          <c:val>
            <c:numRef>
              <c:f>'Chart Data'!$B$2:$B$6</c:f>
              <c:numCache>
                <c:formatCode>0%</c:formatCode>
                <c:ptCount val="5"/>
                <c:pt idx="0">
                  <c:v>1</c:v>
                </c:pt>
                <c:pt idx="1">
                  <c:v>0.32</c:v>
                </c:pt>
                <c:pt idx="2">
                  <c:v>0.16</c:v>
                </c:pt>
                <c:pt idx="3">
                  <c:v>0.11</c:v>
                </c:pt>
                <c:pt idx="4">
                  <c:v>0.1</c:v>
                </c:pt>
              </c:numCache>
            </c:numRef>
          </c:val>
          <c:smooth val="0"/>
        </c:ser>
        <c:ser>
          <c:idx val="1"/>
          <c:order val="1"/>
          <c:tx>
            <c:v>Y11  共享技能</c:v>
          </c:tx>
          <c:spPr>
            <a:ln xmlns:a="http://schemas.openxmlformats.org/drawingml/2006/main" w="28575">
              <a:solidFill>
                <a:srgbClr val="2176AD"/>
              </a:solidFill>
            </a:ln>
          </c:spPr>
          <c:marker>
            <c:symbol val="circle"/>
            <c:size val="8"/>
            <c:spPr>
              <a:solidFill xmlns:a="http://schemas.openxmlformats.org/drawingml/2006/main">
                <a:srgbClr val="2176AD"/>
              </a:solidFill>
            </c:spPr>
          </c:marker>
          <c:cat>
            <c:numRef>
              <c:f>'Chart Data'!$C$2:$C$6</c:f>
              <c:numCache>
                <c:formatCode>General</c:formatCode>
                <c:ptCount val="5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</c:numCache>
            </c:numRef>
          </c:cat>
          <c:val>
            <c:numRef>
              <c:f>'Chart Data'!$D$2:$D$6</c:f>
              <c:numCache>
                <c:formatCode>0%</c:formatCode>
                <c:ptCount val="5"/>
                <c:pt idx="0">
                  <c:v>1</c:v>
                </c:pt>
                <c:pt idx="1">
                  <c:v>1</c:v>
                </c:pt>
                <c:pt idx="2">
                  <c:v>0.99</c:v>
                </c:pt>
                <c:pt idx="3">
                  <c:v>0.95</c:v>
                </c:pt>
                <c:pt idx="4">
                  <c:v>0.91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solidFill>
                    <a:srgbClr val="202B33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 Unicode MS"/>
                    <a:ea typeface="Arial Unicode MS"/>
                    <a:cs typeface="Arial Unicode MS"/>
                  </a:rPr>
                  <a:t>危险格 / 个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 Unicode MS"/>
                  <a:ea typeface="Arial Unicode MS"/>
                  <a:cs typeface="Arial Unicode M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0E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1.1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9EEF1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0.2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202B33"/>
              </a:solidFill>
              <a:latin typeface="Arial Unicode MS"/>
              <a:ea typeface="Arial Unicode MS"/>
              <a:cs typeface="Arial Unicode MS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7" name="text-1">
            <a:extLst xmlns:a="http://schemas.openxmlformats.org/drawingml/2006/main">
              <a:ext uri="{FF2B5EF4-FFF2-40B4-BE49-F238E27FC236}">
                <a16:creationId xmlns:a16="http://schemas.microsoft.com/office/drawing/2014/main" id="{3802BE4A-F914-449B-9BF8-841928F30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未知任务中的在线发现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0CC04EE3-2D47-490D-A8CE-E77BC4399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智能体能识别事件，也能得到「这一步推进了吗」的反馈；但不知道正确顺序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95719C4E-32EA-4E04-89A4-332A52314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0465C002-DBDD-4911-B868-CCBC6BF73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90625"/>
            <a:ext cx="4619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事件可见，进度反馈可靠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C17157-3BCD-4FEF-9A34-A3A861B3D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954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0082FA-A4B9-452A-B5CC-AA9FA29D8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8954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815971-46B9-4152-81B9-20BA4EB76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18954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99A803-99BC-477C-8136-71C7069BC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18954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584BB9-4F96-43B9-8DDB-60F79DE9E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18954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E3F8F7-32C3-42E0-BF95-2E81E9EC5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8954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7AD1FA-20F9-4D43-821C-693A3D74E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C341D7-C7FC-494C-9D1A-7C41F75C5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4479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724152-683F-4C30-9A37-630ADA10F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4479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7923D6-3AE4-4F7D-9DD4-947908E8D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4479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A5FCB7-6AE8-43B5-9486-331BCF839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4479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FEBADB-A224-4AC0-92C3-459C29BE2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4479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576883-0773-4791-A9DF-658CE3683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03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664DB7-525B-4F0D-BB3A-8AA6657F0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0003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E572AA-63FF-464D-8863-2AB638132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0003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418FF3-2ACC-42D4-9255-B405689E7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0003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2DC422-FC74-4C33-9893-95D25AF99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0003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8488D7-1DFC-48F3-ABDF-ABCDB1842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0003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24A83F4-52D3-4AD7-8E30-BF68115E1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528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512A4A5-F26C-4045-8F91-EE98B36A0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5528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6958E5F-5714-4F65-B382-52F009FE2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5528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0C16419-23D8-4FBC-8F4E-2E7755E52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5528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C46C3B9-CA35-42BE-98C4-231AAF1BF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5528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3F11F09-2004-4ED6-B941-05C8BC315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5528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D4092A8-7F27-4487-BE68-2A7892870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052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039DBE2-17C7-480B-BD0D-14E7E21BF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1052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5AC7E61-9ED3-4B15-9784-55E4E42D9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1052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2116FAD-C02C-4A01-B4D5-363F340F9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1052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8542841-8134-4F54-B924-6098F3D93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1052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5756F72-8CB4-4ADF-8EA3-135FF2C32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1052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0649711-4761-4C29-B973-CAD2C9ED3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577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21582C8-7F6F-4CF2-926C-24F79F9D3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6577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377D8A8-4B69-4C31-825E-673873E65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6577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940C5D1-77F1-4534-AD9C-2DCC55348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6577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49076C7-0776-4122-870C-F55203F41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6577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AF714A6-DBBC-4614-BE1B-8C9D0A0EA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6577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41" name="text-5">
            <a:extLst xmlns:a="http://schemas.openxmlformats.org/drawingml/2006/main">
              <a:ext uri="{FF2B5EF4-FFF2-40B4-BE49-F238E27FC236}">
                <a16:creationId xmlns:a16="http://schemas.microsoft.com/office/drawing/2014/main" id="{795E953E-9FF4-4FD9-901D-2D4C19B95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57725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agent</a:t>
            </a:r>
          </a:p>
        </p:txBody>
      </p:sp>
      <p:sp>
        <p:nvSpPr>
          <p:cNvPr id="42" name="text-6">
            <a:extLst xmlns:a="http://schemas.openxmlformats.org/drawingml/2006/main">
              <a:ext uri="{FF2B5EF4-FFF2-40B4-BE49-F238E27FC236}">
                <a16:creationId xmlns:a16="http://schemas.microsoft.com/office/drawing/2014/main" id="{9BB0B530-3737-4A24-8459-92AF2DBB1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447925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A</a:t>
            </a:r>
          </a:p>
        </p:txBody>
      </p:sp>
      <p:sp>
        <p:nvSpPr>
          <p:cNvPr id="43" name="text-7">
            <a:extLst xmlns:a="http://schemas.openxmlformats.org/drawingml/2006/main">
              <a:ext uri="{FF2B5EF4-FFF2-40B4-BE49-F238E27FC236}">
                <a16:creationId xmlns:a16="http://schemas.microsoft.com/office/drawing/2014/main" id="{0C228305-D880-469F-9DCF-802DB62CE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1895475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B</a:t>
            </a:r>
          </a:p>
        </p:txBody>
      </p:sp>
      <p:sp>
        <p:nvSpPr>
          <p:cNvPr id="44" name="text-8">
            <a:extLst xmlns:a="http://schemas.openxmlformats.org/drawingml/2006/main">
              <a:ext uri="{FF2B5EF4-FFF2-40B4-BE49-F238E27FC236}">
                <a16:creationId xmlns:a16="http://schemas.microsoft.com/office/drawing/2014/main" id="{99A10BED-BB7B-4C63-AE78-BB29CF0A3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105275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C</a:t>
            </a:r>
          </a:p>
        </p:txBody>
      </p:sp>
      <p:sp>
        <p:nvSpPr>
          <p:cNvPr id="45" name="text-9">
            <a:extLst xmlns:a="http://schemas.openxmlformats.org/drawingml/2006/main">
              <a:ext uri="{FF2B5EF4-FFF2-40B4-BE49-F238E27FC236}">
                <a16:creationId xmlns:a16="http://schemas.microsoft.com/office/drawing/2014/main" id="{92567621-A336-4EB4-A8A8-FFB157DA1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552825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D</a:t>
            </a:r>
          </a:p>
        </p:txBody>
      </p:sp>
      <p:sp>
        <p:nvSpPr>
          <p:cNvPr id="46" name="text-10">
            <a:extLst xmlns:a="http://schemas.openxmlformats.org/drawingml/2006/main">
              <a:ext uri="{FF2B5EF4-FFF2-40B4-BE49-F238E27FC236}">
                <a16:creationId xmlns:a16="http://schemas.microsoft.com/office/drawing/2014/main" id="{78BEDD8E-5D12-4678-8B03-41F0A6161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0545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A   ?   B   ?   C   ?   D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EC88915-A3EA-416A-81D3-47698468D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1952625"/>
            <a:ext cx="2190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交互反馈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39A0B6D-2002-4293-9DE9-1F98C54F9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952625"/>
            <a:ext cx="2190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局部任务结构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6106F4E-0931-4B64-AB60-9456A9528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4143375"/>
            <a:ext cx="2190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继续探索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27DA74D-F0F2-48E5-A540-EB9B4538F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143375"/>
            <a:ext cx="2190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调用已学技能</a:t>
            </a:r>
          </a:p>
        </p:txBody>
      </p:sp>
      <p:cxnSp>
        <p:nvCxnSpPr>
          <p:cNvPr id="107" name=""/>
          <p:cNvCxnSpPr>
            <a:stCxn xmlns:a="http://schemas.openxmlformats.org/drawingml/2006/main" id="47" idx="3"/>
            <a:endCxn xmlns:a="http://schemas.openxmlformats.org/drawingml/2006/main" id="48" idx="1"/>
          </p:cNvCxnSpPr>
          <p:nvPr/>
        </p:nvCxnSpPr>
        <p:spPr>
          <a:xfrm xmlns:a="http://schemas.openxmlformats.org/drawingml/2006/main">
            <a:off x="7953375" y="2314575"/>
            <a:ext cx="904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1AA"/>
            </a:solidFill>
            <a:prstDash val="solid"/>
            <a:tailEnd type="triangle" w="sm" len="sm"/>
          </a:ln>
        </p:spPr>
      </p:cxnSp>
      <p:cxnSp>
        <p:nvCxnSpPr>
          <p:cNvPr id="108" name=""/>
          <p:cNvCxnSpPr>
            <a:stCxn xmlns:a="http://schemas.openxmlformats.org/drawingml/2006/main" id="48" idx="2"/>
            <a:endCxn xmlns:a="http://schemas.openxmlformats.org/drawingml/2006/main" id="50" idx="0"/>
          </p:cNvCxnSpPr>
          <p:nvPr/>
        </p:nvCxnSpPr>
        <p:spPr>
          <a:xfrm xmlns:a="http://schemas.openxmlformats.org/drawingml/2006/main">
            <a:off x="9953625" y="2676525"/>
            <a:ext cx="0" cy="14668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cxnSp>
        <p:nvCxnSpPr>
          <p:cNvPr id="109" name=""/>
          <p:cNvCxnSpPr>
            <a:stCxn xmlns:a="http://schemas.openxmlformats.org/drawingml/2006/main" id="50" idx="1"/>
            <a:endCxn xmlns:a="http://schemas.openxmlformats.org/drawingml/2006/main" id="49" idx="3"/>
          </p:cNvCxnSpPr>
          <p:nvPr/>
        </p:nvCxnSpPr>
        <p:spPr>
          <a:xfrm xmlns:a="http://schemas.openxmlformats.org/drawingml/2006/main" flipH="1">
            <a:off x="7953375" y="4505325"/>
            <a:ext cx="904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cxnSp>
        <p:nvCxnSpPr>
          <p:cNvPr id="110" name=""/>
          <p:cNvCxnSpPr>
            <a:stCxn xmlns:a="http://schemas.openxmlformats.org/drawingml/2006/main" id="49" idx="0"/>
            <a:endCxn xmlns:a="http://schemas.openxmlformats.org/drawingml/2006/main" id="47" idx="2"/>
          </p:cNvCxnSpPr>
          <p:nvPr/>
        </p:nvCxnSpPr>
        <p:spPr>
          <a:xfrm xmlns:a="http://schemas.openxmlformats.org/drawingml/2006/main" flipV="1">
            <a:off x="6858000" y="2676525"/>
            <a:ext cx="0" cy="14668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sp>
        <p:nvSpPr>
          <p:cNvPr id="55" name="text-11">
            <a:extLst xmlns:a="http://schemas.openxmlformats.org/drawingml/2006/main">
              <a:ext uri="{FF2B5EF4-FFF2-40B4-BE49-F238E27FC236}">
                <a16:creationId xmlns:a16="http://schemas.microsoft.com/office/drawing/2014/main" id="{4869CAB5-4985-4994-8E13-AF9852650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95300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未知部分</a:t>
            </a:r>
          </a:p>
        </p:txBody>
      </p:sp>
      <p:sp>
        <p:nvSpPr>
          <p:cNvPr id="56" name="text-12">
            <a:extLst xmlns:a="http://schemas.openxmlformats.org/drawingml/2006/main">
              <a:ext uri="{FF2B5EF4-FFF2-40B4-BE49-F238E27FC236}">
                <a16:creationId xmlns:a16="http://schemas.microsoft.com/office/drawing/2014/main" id="{8C627DA4-0D1C-49E4-9109-4F3C6A5AE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4953000"/>
            <a:ext cx="1762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已知前缀</a:t>
            </a:r>
          </a:p>
        </p:txBody>
      </p:sp>
    </p:spTree>
    <p:extLst>
      <p:ext uri="{BB962C8B-B14F-4D97-AF65-F5344CB8AC3E}">
        <p14:creationId xmlns:p14="http://schemas.microsoft.com/office/powerpoint/2010/main" val="17707665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13">
            <a:extLst xmlns:a="http://schemas.openxmlformats.org/drawingml/2006/main">
              <a:ext uri="{FF2B5EF4-FFF2-40B4-BE49-F238E27FC236}">
                <a16:creationId xmlns:a16="http://schemas.microsoft.com/office/drawing/2014/main" id="{3D963ECE-90A4-45D7-869A-3045FAEBB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边发现边使用：第一个闭环结果</a:t>
            </a:r>
          </a:p>
        </p:txBody>
      </p:sp>
      <p:sp>
        <p:nvSpPr>
          <p:cNvPr id="2" name="text-14">
            <a:extLst xmlns:a="http://schemas.openxmlformats.org/drawingml/2006/main">
              <a:ext uri="{FF2B5EF4-FFF2-40B4-BE49-F238E27FC236}">
                <a16:creationId xmlns:a16="http://schemas.microsoft.com/office/drawing/2014/main" id="{93954B96-7484-4C08-ADBE-A4D8064F4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长度 16，32 个种子；立即与延迟是同配置的时机对照，普通 replay 探索率不同，仅作参考基线</a:t>
            </a:r>
          </a:p>
        </p:txBody>
      </p:sp>
      <p:sp>
        <p:nvSpPr>
          <p:cNvPr id="3" name="text-15">
            <a:extLst xmlns:a="http://schemas.openxmlformats.org/drawingml/2006/main">
              <a:ext uri="{FF2B5EF4-FFF2-40B4-BE49-F238E27FC236}">
                <a16:creationId xmlns:a16="http://schemas.microsoft.com/office/drawing/2014/main" id="{D5A0B47C-E037-40D2-A775-2DAED15C2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4" name="text-16">
            <a:extLst xmlns:a="http://schemas.openxmlformats.org/drawingml/2006/main">
              <a:ext uri="{FF2B5EF4-FFF2-40B4-BE49-F238E27FC236}">
                <a16:creationId xmlns:a16="http://schemas.microsoft.com/office/drawing/2014/main" id="{F5A991A0-527D-4102-A1FE-C5359D571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04925"/>
            <a:ext cx="590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首次达到 90%</a:t>
            </a:r>
          </a:p>
        </p:txBody>
      </p:sp>
      <p:sp>
        <p:nvSpPr>
          <p:cNvPr id="5" name="text-17">
            <a:extLst xmlns:a="http://schemas.openxmlformats.org/drawingml/2006/main">
              <a:ext uri="{FF2B5EF4-FFF2-40B4-BE49-F238E27FC236}">
                <a16:creationId xmlns:a16="http://schemas.microsoft.com/office/drawing/2014/main" id="{BA7816D6-3975-4344-80A9-0BE8B0DB6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304925"/>
            <a:ext cx="381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首次完整成功前：已知前缀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619125" y="1885950"/>
          <a:ext xmlns:a="http://schemas.openxmlformats.org/drawingml/2006/main" cx="6715125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d15e9eef26c42d5"/>
          </a:graphicData>
        </a:graphic>
      </p:graphicFrame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7734300" y="1885950"/>
          <a:ext xmlns:a="http://schemas.openxmlformats.org/drawingml/2006/main" cx="3848100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9a8c12f28d94c7a"/>
          </a:graphicData>
        </a:graphic>
      </p:graphicFrame>
      <p:sp>
        <p:nvSpPr>
          <p:cNvPr id="8" name="text-18">
            <a:extLst xmlns:a="http://schemas.openxmlformats.org/drawingml/2006/main">
              <a:ext uri="{FF2B5EF4-FFF2-40B4-BE49-F238E27FC236}">
                <a16:creationId xmlns:a16="http://schemas.microsoft.com/office/drawing/2014/main" id="{DB5F4761-9FD1-4DFF-8927-DB32D7B55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5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省下来的几乎全是「重走已知前缀」的路费，不是探索本身变聪明</a:t>
            </a:r>
          </a:p>
        </p:txBody>
      </p:sp>
    </p:spTree>
    <p:extLst>
      <p:ext uri="{BB962C8B-B14F-4D97-AF65-F5344CB8AC3E}">
        <p14:creationId xmlns:p14="http://schemas.microsoft.com/office/powerpoint/2010/main" val="123507269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text-19">
            <a:extLst xmlns:a="http://schemas.openxmlformats.org/drawingml/2006/main">
              <a:ext uri="{FF2B5EF4-FFF2-40B4-BE49-F238E27FC236}">
                <a16:creationId xmlns:a16="http://schemas.microsoft.com/office/drawing/2014/main" id="{AE880DA5-0C64-4615-A048-B4065D5FC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线性任务够用，分支任务不够</a:t>
            </a:r>
          </a:p>
        </p:txBody>
      </p:sp>
      <p:sp>
        <p:nvSpPr>
          <p:cNvPr id="2" name="text-20">
            <a:extLst xmlns:a="http://schemas.openxmlformats.org/drawingml/2006/main">
              <a:ext uri="{FF2B5EF4-FFF2-40B4-BE49-F238E27FC236}">
                <a16:creationId xmlns:a16="http://schemas.microsoft.com/office/drawing/2014/main" id="{688704B8-31BC-40AF-82E6-501D10DBD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咖啡：先烧开水 → 冲粉 → 3 分钟过滤（热泡）；先取冷水 → 冲粉 → 冷藏 12 小时（冷萃）—— 同一个冲粉动作，之前不同，之后就完全不同</a:t>
            </a:r>
          </a:p>
        </p:txBody>
      </p:sp>
      <p:sp>
        <p:nvSpPr>
          <p:cNvPr id="3" name="text-21">
            <a:extLst xmlns:a="http://schemas.openxmlformats.org/drawingml/2006/main">
              <a:ext uri="{FF2B5EF4-FFF2-40B4-BE49-F238E27FC236}">
                <a16:creationId xmlns:a16="http://schemas.microsoft.com/office/drawing/2014/main" id="{4A89A032-DFAE-464C-9D78-9049D2604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42194A-208C-45AD-96C7-E79AC077D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219200"/>
            <a:ext cx="0" cy="4457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9E0E4"/>
            </a:solidFill>
          </a:ln>
        </p:spPr>
      </p:sp>
      <p:sp>
        <p:nvSpPr>
          <p:cNvPr id="5" name="text-22">
            <a:extLst xmlns:a="http://schemas.openxmlformats.org/drawingml/2006/main">
              <a:ext uri="{FF2B5EF4-FFF2-40B4-BE49-F238E27FC236}">
                <a16:creationId xmlns:a16="http://schemas.microsoft.com/office/drawing/2014/main" id="{7A6AC253-2015-4217-A3B5-21C3D0E9E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线性任务：进度就够</a:t>
            </a:r>
          </a:p>
        </p:txBody>
      </p:sp>
      <p:sp>
        <p:nvSpPr>
          <p:cNvPr id="6" name="text-23">
            <a:extLst xmlns:a="http://schemas.openxmlformats.org/drawingml/2006/main">
              <a:ext uri="{FF2B5EF4-FFF2-40B4-BE49-F238E27FC236}">
                <a16:creationId xmlns:a16="http://schemas.microsoft.com/office/drawing/2014/main" id="{38ED2695-AA29-4B08-9704-6818F8B5F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6690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progress</a:t>
            </a:r>
          </a:p>
        </p:txBody>
      </p:sp>
      <p:sp>
        <p:nvSpPr>
          <p:cNvPr id="7" name="text-24">
            <a:extLst xmlns:a="http://schemas.openxmlformats.org/drawingml/2006/main">
              <a:ext uri="{FF2B5EF4-FFF2-40B4-BE49-F238E27FC236}">
                <a16:creationId xmlns:a16="http://schemas.microsoft.com/office/drawing/2014/main" id="{D4B929EC-2689-4150-B74C-8DD2B502F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866900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goal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598F04-42EA-4ACE-8D61-6386AAE4E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66950"/>
            <a:ext cx="361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9E0E4"/>
            </a:solidFill>
          </a:ln>
        </p:spPr>
      </p:sp>
      <p:sp>
        <p:nvSpPr>
          <p:cNvPr id="9" name="text-25">
            <a:extLst xmlns:a="http://schemas.openxmlformats.org/drawingml/2006/main">
              <a:ext uri="{FF2B5EF4-FFF2-40B4-BE49-F238E27FC236}">
                <a16:creationId xmlns:a16="http://schemas.microsoft.com/office/drawing/2014/main" id="{678BA41C-03BA-43A3-97ED-B5A4374CE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38400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0</a:t>
            </a:r>
          </a:p>
        </p:txBody>
      </p:sp>
      <p:sp>
        <p:nvSpPr>
          <p:cNvPr id="10" name="text-26">
            <a:extLst xmlns:a="http://schemas.openxmlformats.org/drawingml/2006/main">
              <a:ext uri="{FF2B5EF4-FFF2-40B4-BE49-F238E27FC236}">
                <a16:creationId xmlns:a16="http://schemas.microsoft.com/office/drawing/2014/main" id="{D73C090C-CEDB-42FB-8881-EC39E8BB3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438400"/>
            <a:ext cx="133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A</a:t>
            </a:r>
          </a:p>
        </p:txBody>
      </p:sp>
      <p:sp>
        <p:nvSpPr>
          <p:cNvPr id="11" name="text-27">
            <a:extLst xmlns:a="http://schemas.openxmlformats.org/drawingml/2006/main">
              <a:ext uri="{FF2B5EF4-FFF2-40B4-BE49-F238E27FC236}">
                <a16:creationId xmlns:a16="http://schemas.microsoft.com/office/drawing/2014/main" id="{C18AFD9B-B92D-41E8-9042-9106EFAF3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90850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12" name="text-28">
            <a:extLst xmlns:a="http://schemas.openxmlformats.org/drawingml/2006/main">
              <a:ext uri="{FF2B5EF4-FFF2-40B4-BE49-F238E27FC236}">
                <a16:creationId xmlns:a16="http://schemas.microsoft.com/office/drawing/2014/main" id="{BBD1B925-25B6-4B89-A456-DC0CCC571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990850"/>
            <a:ext cx="133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B</a:t>
            </a:r>
          </a:p>
        </p:txBody>
      </p:sp>
      <p:sp>
        <p:nvSpPr>
          <p:cNvPr id="13" name="text-29">
            <a:extLst xmlns:a="http://schemas.openxmlformats.org/drawingml/2006/main">
              <a:ext uri="{FF2B5EF4-FFF2-40B4-BE49-F238E27FC236}">
                <a16:creationId xmlns:a16="http://schemas.microsoft.com/office/drawing/2014/main" id="{B5EBBFA4-56D5-48CD-9754-A1C5F077A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43300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sp>
        <p:nvSpPr>
          <p:cNvPr id="14" name="text-30">
            <a:extLst xmlns:a="http://schemas.openxmlformats.org/drawingml/2006/main">
              <a:ext uri="{FF2B5EF4-FFF2-40B4-BE49-F238E27FC236}">
                <a16:creationId xmlns:a16="http://schemas.microsoft.com/office/drawing/2014/main" id="{34A2D20D-FC85-4569-88B5-D3F0E2186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543300"/>
            <a:ext cx="133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C</a:t>
            </a:r>
          </a:p>
        </p:txBody>
      </p:sp>
      <p:sp>
        <p:nvSpPr>
          <p:cNvPr id="15" name="text-31">
            <a:extLst xmlns:a="http://schemas.openxmlformats.org/drawingml/2006/main">
              <a:ext uri="{FF2B5EF4-FFF2-40B4-BE49-F238E27FC236}">
                <a16:creationId xmlns:a16="http://schemas.microsoft.com/office/drawing/2014/main" id="{39DCEF47-5C59-43CD-B874-07FB81606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95750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  <p:sp>
        <p:nvSpPr>
          <p:cNvPr id="16" name="text-32">
            <a:extLst xmlns:a="http://schemas.openxmlformats.org/drawingml/2006/main">
              <a:ext uri="{FF2B5EF4-FFF2-40B4-BE49-F238E27FC236}">
                <a16:creationId xmlns:a16="http://schemas.microsoft.com/office/drawing/2014/main" id="{744DBE1A-7628-4B5D-8EE5-E4AA60CC6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095750"/>
            <a:ext cx="133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rPr>
              <a:t>?</a:t>
            </a:r>
          </a:p>
        </p:txBody>
      </p:sp>
      <p:sp>
        <p:nvSpPr>
          <p:cNvPr id="17" name="text-33">
            <a:extLst xmlns:a="http://schemas.openxmlformats.org/drawingml/2006/main">
              <a:ext uri="{FF2B5EF4-FFF2-40B4-BE49-F238E27FC236}">
                <a16:creationId xmlns:a16="http://schemas.microsoft.com/office/drawing/2014/main" id="{096A37AA-0CF1-4D6F-A7BF-B302832E6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514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进度唯一标记阶段 —— 不需要真正的结构学习</a:t>
            </a:r>
          </a:p>
        </p:txBody>
      </p:sp>
      <p:sp>
        <p:nvSpPr>
          <p:cNvPr id="18" name="text-34">
            <a:extLst xmlns:a="http://schemas.openxmlformats.org/drawingml/2006/main">
              <a:ext uri="{FF2B5EF4-FFF2-40B4-BE49-F238E27FC236}">
                <a16:creationId xmlns:a16="http://schemas.microsoft.com/office/drawing/2014/main" id="{EDDB6EA2-0E7A-4452-AA9F-FF67D27E3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2382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分支任务：进度不够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C5CAE1-44C6-4C1A-A4A8-6532D248B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62150"/>
            <a:ext cx="7429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60F73C-4B0F-4565-A5FA-18B6DD855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962150"/>
            <a:ext cx="7429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851920-DCA0-46CA-9C12-E4C686962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1962150"/>
            <a:ext cx="7429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B527C3-C36F-4F6E-95B9-7B5BE0569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581400"/>
            <a:ext cx="7429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47A35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B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1C0DAB9-7459-4400-B3C6-82BF0D0CB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581400"/>
            <a:ext cx="7429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47A35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BF9B30B-06D4-44E1-80A5-82143CB95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581400"/>
            <a:ext cx="7429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47A35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C</a:t>
            </a:r>
          </a:p>
        </p:txBody>
      </p:sp>
      <p:cxnSp>
        <p:nvCxnSpPr>
          <p:cNvPr id="55" name=""/>
          <p:cNvCxnSpPr>
            <a:stCxn xmlns:a="http://schemas.openxmlformats.org/drawingml/2006/main" id="19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7315200" y="2228850"/>
            <a:ext cx="1257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cxnSp>
        <p:nvCxnSpPr>
          <p:cNvPr id="56" name=""/>
          <p:cNvCxnSpPr>
            <a:stCxn xmlns:a="http://schemas.openxmlformats.org/drawingml/2006/main" id="20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9315450" y="2228850"/>
            <a:ext cx="1257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cxnSp>
        <p:nvCxnSpPr>
          <p:cNvPr id="57" name=""/>
          <p:cNvCxnSpPr>
            <a:stCxn xmlns:a="http://schemas.openxmlformats.org/drawingml/2006/main" id="22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7315200" y="3848100"/>
            <a:ext cx="1257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47A35"/>
            </a:solidFill>
            <a:prstDash val="solid"/>
            <a:tailEnd type="triangle" w="sm" len="sm"/>
          </a:ln>
        </p:spPr>
      </p:cxnSp>
      <p:cxnSp>
        <p:nvCxnSpPr>
          <p:cNvPr id="58" name=""/>
          <p:cNvCxnSpPr>
            <a:stCxn xmlns:a="http://schemas.openxmlformats.org/drawingml/2006/main" id="23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9315450" y="3848100"/>
            <a:ext cx="1257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47A35"/>
            </a:solidFill>
            <a:prstDash val="solid"/>
            <a:tailEnd type="triangle" w="sm" len="sm"/>
          </a:ln>
        </p:spPr>
      </p:cxnSp>
      <p:sp>
        <p:nvSpPr>
          <p:cNvPr id="29" name="text-35">
            <a:extLst xmlns:a="http://schemas.openxmlformats.org/drawingml/2006/main">
              <a:ext uri="{FF2B5EF4-FFF2-40B4-BE49-F238E27FC236}">
                <a16:creationId xmlns:a16="http://schemas.microsoft.com/office/drawing/2014/main" id="{84BD7D5D-BE79-4E1F-9C80-0B58B8223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8194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进度都 = 2，位置都是 E，下一步却不同</a:t>
            </a:r>
          </a:p>
        </p:txBody>
      </p:sp>
      <p:sp>
        <p:nvSpPr>
          <p:cNvPr id="30" name="text-36">
            <a:extLst xmlns:a="http://schemas.openxmlformats.org/drawingml/2006/main">
              <a:ext uri="{FF2B5EF4-FFF2-40B4-BE49-F238E27FC236}">
                <a16:creationId xmlns:a16="http://schemas.microsoft.com/office/drawing/2014/main" id="{F102DC35-5E07-4173-A1A5-154544824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85775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Prefix tree  ≡  充分历史字典 —— 价值不在画成一张图</a:t>
            </a:r>
          </a:p>
        </p:txBody>
      </p:sp>
    </p:spTree>
    <p:extLst>
      <p:ext uri="{BB962C8B-B14F-4D97-AF65-F5344CB8AC3E}">
        <p14:creationId xmlns:p14="http://schemas.microsoft.com/office/powerpoint/2010/main" val="17673793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text-37">
            <a:extLst xmlns:a="http://schemas.openxmlformats.org/drawingml/2006/main">
              <a:ext uri="{FF2B5EF4-FFF2-40B4-BE49-F238E27FC236}">
                <a16:creationId xmlns:a16="http://schemas.microsoft.com/office/drawing/2014/main" id="{626021D3-B676-4544-BBE9-BE0940CFA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于是问题变成状态抽象</a:t>
            </a:r>
          </a:p>
        </p:txBody>
      </p:sp>
      <p:sp>
        <p:nvSpPr>
          <p:cNvPr id="2" name="text-38">
            <a:extLst xmlns:a="http://schemas.openxmlformats.org/drawingml/2006/main">
              <a:ext uri="{FF2B5EF4-FFF2-40B4-BE49-F238E27FC236}">
                <a16:creationId xmlns:a16="http://schemas.microsoft.com/office/drawing/2014/main" id="{E2F560BA-445C-4B9B-8D48-29F8BC277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咖啡：磨豆、称粉、拿杯子的先后都不影响结果 —— 可以合并；只有决定热泡还是冷萃的那一步必须单独记</a:t>
            </a:r>
          </a:p>
        </p:txBody>
      </p:sp>
      <p:sp>
        <p:nvSpPr>
          <p:cNvPr id="3" name="text-39">
            <a:extLst xmlns:a="http://schemas.openxmlformats.org/drawingml/2006/main">
              <a:ext uri="{FF2B5EF4-FFF2-40B4-BE49-F238E27FC236}">
                <a16:creationId xmlns:a16="http://schemas.microsoft.com/office/drawing/2014/main" id="{0CFE7208-B9F6-406D-AFE1-18945FCB3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sp>
        <p:nvSpPr>
          <p:cNvPr id="4" name="text-40">
            <a:extLst xmlns:a="http://schemas.openxmlformats.org/drawingml/2006/main">
              <a:ext uri="{FF2B5EF4-FFF2-40B4-BE49-F238E27FC236}">
                <a16:creationId xmlns:a16="http://schemas.microsoft.com/office/drawing/2014/main" id="{5B689CDB-9D89-482A-B04D-457374D47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295400"/>
            <a:ext cx="295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完整历史</a:t>
            </a:r>
          </a:p>
        </p:txBody>
      </p:sp>
      <p:sp>
        <p:nvSpPr>
          <p:cNvPr id="5" name="text-41">
            <a:extLst xmlns:a="http://schemas.openxmlformats.org/drawingml/2006/main">
              <a:ext uri="{FF2B5EF4-FFF2-40B4-BE49-F238E27FC236}">
                <a16:creationId xmlns:a16="http://schemas.microsoft.com/office/drawing/2014/main" id="{EF709E87-0A38-47DF-98D3-CEBA10017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295400"/>
            <a:ext cx="304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最终任务状态</a:t>
            </a:r>
          </a:p>
        </p:txBody>
      </p:sp>
      <p:sp>
        <p:nvSpPr>
          <p:cNvPr id="6" name="text-42">
            <a:extLst xmlns:a="http://schemas.openxmlformats.org/drawingml/2006/main">
              <a:ext uri="{FF2B5EF4-FFF2-40B4-BE49-F238E27FC236}">
                <a16:creationId xmlns:a16="http://schemas.microsoft.com/office/drawing/2014/main" id="{57EFF83F-80E0-44E7-A0B8-048060D0B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295400"/>
            <a:ext cx="266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共享动作价值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9D644F-DDC1-47A6-BA73-401D08DF9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514600"/>
            <a:ext cx="2190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A 先于 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77783B-E784-4406-8F8E-C4EE680BD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552950"/>
            <a:ext cx="2190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47A35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B 先于 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6EE8A6-09E6-4309-B52D-38E880C11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09775"/>
            <a:ext cx="12001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ABC</a:t>
            </a:r>
          </a:p>
        </p:txBody>
      </p:sp>
      <p:cxnSp>
        <p:nvCxnSpPr>
          <p:cNvPr id="34" name=""/>
          <p:cNvCxnSpPr>
            <a:stCxn xmlns:a="http://schemas.openxmlformats.org/drawingml/2006/main" id="9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266950" y="2247900"/>
            <a:ext cx="2876550" cy="6477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A4B6EC-E4C5-428F-8E97-3978609D3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05100"/>
            <a:ext cx="12001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ACB</a:t>
            </a:r>
          </a:p>
        </p:txBody>
      </p:sp>
      <p:cxnSp>
        <p:nvCxnSpPr>
          <p:cNvPr id="36" name=""/>
          <p:cNvCxnSpPr>
            <a:stCxn xmlns:a="http://schemas.openxmlformats.org/drawingml/2006/main" id="11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2266950" y="2895600"/>
            <a:ext cx="2876550" cy="47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A5762C-68FA-4E5F-8D0E-646D4DA22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00425"/>
            <a:ext cx="12001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CAB</a:t>
            </a:r>
          </a:p>
        </p:txBody>
      </p:sp>
      <p:cxnSp>
        <p:nvCxnSpPr>
          <p:cNvPr id="38" name=""/>
          <p:cNvCxnSpPr>
            <a:stCxn xmlns:a="http://schemas.openxmlformats.org/drawingml/2006/main" id="13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2266950" y="2895600"/>
            <a:ext cx="2876550" cy="7429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5D72DE-3755-4D67-A9CB-FE2C01435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48125"/>
            <a:ext cx="12001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47A35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BAC</a:t>
            </a:r>
          </a:p>
        </p:txBody>
      </p:sp>
      <p:cxnSp>
        <p:nvCxnSpPr>
          <p:cNvPr id="40" name=""/>
          <p:cNvCxnSpPr>
            <a:stCxn xmlns:a="http://schemas.openxmlformats.org/drawingml/2006/main" id="1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266950" y="4286250"/>
            <a:ext cx="2876550" cy="6477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47A35"/>
            </a:solidFill>
            <a:prstDash val="solid"/>
            <a:tailEnd type="triangle" w="sm" len="sm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FE2E34-A9A0-4876-91E7-BF9305F5A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43450"/>
            <a:ext cx="12001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47A35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BCA</a:t>
            </a:r>
          </a:p>
        </p:txBody>
      </p:sp>
      <p:cxnSp>
        <p:nvCxnSpPr>
          <p:cNvPr id="42" name=""/>
          <p:cNvCxnSpPr>
            <a:stCxn xmlns:a="http://schemas.openxmlformats.org/drawingml/2006/main" id="1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2266950" y="4933950"/>
            <a:ext cx="2876550" cy="47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47A35"/>
            </a:solidFill>
            <a:prstDash val="solid"/>
            <a:tailEnd type="triangle" w="sm" len="sm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352867-D479-47A1-90A1-FE5192C70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38775"/>
            <a:ext cx="12001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47A35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CBA</a:t>
            </a:r>
          </a:p>
        </p:txBody>
      </p:sp>
      <p:cxnSp>
        <p:nvCxnSpPr>
          <p:cNvPr id="44" name=""/>
          <p:cNvCxnSpPr>
            <a:stCxn xmlns:a="http://schemas.openxmlformats.org/drawingml/2006/main" id="19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2266950" y="4933950"/>
            <a:ext cx="2876550" cy="7429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47A35"/>
            </a:solidFill>
            <a:prstDash val="solid"/>
            <a:tailEnd type="triangle" w="sm" len="sm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B7C0F8-764C-460D-A424-1F0261785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514600"/>
            <a:ext cx="2286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Q(状态, X/Y)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E41E6E-B2D4-4425-862A-C32682977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552950"/>
            <a:ext cx="2286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47A35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Q(状态, X/Y)</a:t>
            </a:r>
          </a:p>
        </p:txBody>
      </p:sp>
      <p:cxnSp>
        <p:nvCxnSpPr>
          <p:cNvPr id="47" name=""/>
          <p:cNvCxnSpPr>
            <a:stCxn xmlns:a="http://schemas.openxmlformats.org/drawingml/2006/main" id="7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7334250" y="2895600"/>
            <a:ext cx="1905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cxnSp>
        <p:nvCxnSpPr>
          <p:cNvPr id="48" name=""/>
          <p:cNvCxnSpPr>
            <a:stCxn xmlns:a="http://schemas.openxmlformats.org/drawingml/2006/main" id="8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7334250" y="4933950"/>
            <a:ext cx="1905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47A35"/>
            </a:solidFill>
            <a:prstDash val="solid"/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185131759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43">
            <a:extLst xmlns:a="http://schemas.openxmlformats.org/drawingml/2006/main">
              <a:ext uri="{FF2B5EF4-FFF2-40B4-BE49-F238E27FC236}">
                <a16:creationId xmlns:a16="http://schemas.microsoft.com/office/drawing/2014/main" id="{23160FA6-9FBA-4F3E-9EDB-E5BE909C6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正确压缩确实值钱</a:t>
            </a:r>
          </a:p>
        </p:txBody>
      </p:sp>
      <p:sp>
        <p:nvSpPr>
          <p:cNvPr id="2" name="text-44">
            <a:extLst xmlns:a="http://schemas.openxmlformats.org/drawingml/2006/main">
              <a:ext uri="{FF2B5EF4-FFF2-40B4-BE49-F238E27FC236}">
                <a16:creationId xmlns:a16="http://schemas.microsoft.com/office/drawing/2014/main" id="{C4F3BCA5-77B6-4335-AB5D-57915B2AD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正确等价关系已知；每规模 400 个配对种子（不是 400 个任务：候选族只有 6 / 12 / 20 条规则）</a:t>
            </a:r>
          </a:p>
        </p:txBody>
      </p:sp>
      <p:sp>
        <p:nvSpPr>
          <p:cNvPr id="3" name="text-45">
            <a:extLst xmlns:a="http://schemas.openxmlformats.org/drawingml/2006/main">
              <a:ext uri="{FF2B5EF4-FFF2-40B4-BE49-F238E27FC236}">
                <a16:creationId xmlns:a16="http://schemas.microsoft.com/office/drawing/2014/main" id="{163ABD3E-1072-4EFC-9FF6-D91EBDE55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05</a:t>
            </a:r>
          </a:p>
        </p:txBody>
      </p:sp>
      <p:graphicFrame>
        <p:nvGraphicFramePr>
          <p:cNvPr id="12" name="Chart"/>
          <p:cNvGraphicFramePr/>
          <p:nvPr/>
        </p:nvGraphicFramePr>
        <p:xfrm>
          <a:off xmlns:a="http://schemas.openxmlformats.org/drawingml/2006/main" x="714375" y="1419225"/>
          <a:ext xmlns:a="http://schemas.openxmlformats.org/drawingml/2006/main" cx="10668000" cy="3952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1cce72222044a5a"/>
          </a:graphicData>
        </a:graphic>
      </p:graphicFrame>
      <p:sp>
        <p:nvSpPr>
          <p:cNvPr id="5" name="text-46">
            <a:extLst xmlns:a="http://schemas.openxmlformats.org/drawingml/2006/main">
              <a:ext uri="{FF2B5EF4-FFF2-40B4-BE49-F238E27FC236}">
                <a16:creationId xmlns:a16="http://schemas.microsoft.com/office/drawing/2014/main" id="{A59E985F-0454-46A3-8F7C-957A0AEC3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5410200"/>
            <a:ext cx="190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625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4.67×</a:t>
            </a:r>
          </a:p>
        </p:txBody>
      </p:sp>
      <p:sp>
        <p:nvSpPr>
          <p:cNvPr id="6" name="text-47">
            <a:extLst xmlns:a="http://schemas.openxmlformats.org/drawingml/2006/main">
              <a:ext uri="{FF2B5EF4-FFF2-40B4-BE49-F238E27FC236}">
                <a16:creationId xmlns:a16="http://schemas.microsoft.com/office/drawing/2014/main" id="{EAC77125-6F0A-4EEA-A2C2-D4ADDACFB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5410200"/>
            <a:ext cx="190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625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18.55×</a:t>
            </a:r>
          </a:p>
        </p:txBody>
      </p:sp>
      <p:sp>
        <p:nvSpPr>
          <p:cNvPr id="7" name="text-48">
            <a:extLst xmlns:a="http://schemas.openxmlformats.org/drawingml/2006/main">
              <a:ext uri="{FF2B5EF4-FFF2-40B4-BE49-F238E27FC236}">
                <a16:creationId xmlns:a16="http://schemas.microsoft.com/office/drawing/2014/main" id="{93FED013-82C1-4DA8-8D2F-2337658B1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5410200"/>
            <a:ext cx="190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625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89.75×</a:t>
            </a:r>
          </a:p>
        </p:txBody>
      </p:sp>
      <p:sp>
        <p:nvSpPr>
          <p:cNvPr id="8" name="text-49">
            <a:extLst xmlns:a="http://schemas.openxmlformats.org/drawingml/2006/main">
              <a:ext uri="{FF2B5EF4-FFF2-40B4-BE49-F238E27FC236}">
                <a16:creationId xmlns:a16="http://schemas.microsoft.com/office/drawing/2014/main" id="{25A949B4-5CCC-4F07-9D1A-76A408AF0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674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闭式解 Σ 2H/(H-i)，H = n! = 6 / 24 / 120 → 理论 29.4 / 109.2 / 543.8 幕，与观测一致</a:t>
            </a:r>
          </a:p>
        </p:txBody>
      </p:sp>
    </p:spTree>
    <p:extLst>
      <p:ext uri="{BB962C8B-B14F-4D97-AF65-F5344CB8AC3E}">
        <p14:creationId xmlns:p14="http://schemas.microsoft.com/office/powerpoint/2010/main" val="153466892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ext-50">
            <a:extLst xmlns:a="http://schemas.openxmlformats.org/drawingml/2006/main">
              <a:ext uri="{FF2B5EF4-FFF2-40B4-BE49-F238E27FC236}">
                <a16:creationId xmlns:a16="http://schemas.microsoft.com/office/drawing/2014/main" id="{ABC716D7-18B3-4D66-9E79-DAF2EB72A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真正的难点：在线判断哪些历史能合并</a:t>
            </a:r>
          </a:p>
        </p:txBody>
      </p:sp>
      <p:sp>
        <p:nvSpPr>
          <p:cNvPr id="2" name="text-51">
            <a:extLst xmlns:a="http://schemas.openxmlformats.org/drawingml/2006/main">
              <a:ext uri="{FF2B5EF4-FFF2-40B4-BE49-F238E27FC236}">
                <a16:creationId xmlns:a16="http://schemas.microsoft.com/office/drawing/2014/main" id="{E4CF1E21-1F50-4BB7-9A3D-A6D609E95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固定轨迹回放审计，未把这些合并接进控制器</a:t>
            </a:r>
          </a:p>
        </p:txBody>
      </p:sp>
      <p:sp>
        <p:nvSpPr>
          <p:cNvPr id="3" name="text-52">
            <a:extLst xmlns:a="http://schemas.openxmlformats.org/drawingml/2006/main">
              <a:ext uri="{FF2B5EF4-FFF2-40B4-BE49-F238E27FC236}">
                <a16:creationId xmlns:a16="http://schemas.microsoft.com/office/drawing/2014/main" id="{32ADB9CE-E517-410F-8AF1-039F0B9A7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06</a:t>
            </a:r>
          </a:p>
        </p:txBody>
      </p:sp>
      <p:sp>
        <p:nvSpPr>
          <p:cNvPr id="4" name="text-53">
            <a:extLst xmlns:a="http://schemas.openxmlformats.org/drawingml/2006/main">
              <a:ext uri="{FF2B5EF4-FFF2-40B4-BE49-F238E27FC236}">
                <a16:creationId xmlns:a16="http://schemas.microsoft.com/office/drawing/2014/main" id="{C005789C-9572-46A7-8CE1-DC656E404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95400"/>
            <a:ext cx="400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AE514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AE514B"/>
                </a:solidFill>
                <a:latin typeface="Arial Unicode MS"/>
                <a:ea typeface="Arial Unicode MS"/>
                <a:cs typeface="Arial Unicode MS"/>
              </a:rPr>
              <a:t>过早合并的代价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9D78CC-8803-431A-810A-F3507AD4F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81250"/>
            <a:ext cx="1428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94A1AA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rPr>
              <a:t>历史 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8F7621-37B7-4A82-88C3-A26D7DDD3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95750"/>
            <a:ext cx="1428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94A1AA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rPr>
              <a:t>历史 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C0262C-C360-4446-8834-5D828BDB9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38500"/>
            <a:ext cx="1524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AE514B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AE514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AE514B"/>
                </a:solidFill>
                <a:latin typeface="Arial Unicode MS"/>
                <a:ea typeface="Arial Unicode MS"/>
                <a:cs typeface="Arial Unicode MS"/>
              </a:rPr>
              <a:t>同一状态</a:t>
            </a:r>
          </a:p>
        </p:txBody>
      </p:sp>
      <p:cxnSp>
        <p:nvCxnSpPr>
          <p:cNvPr id="24" name=""/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247900" y="2695575"/>
            <a:ext cx="895350" cy="8858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E514B"/>
            </a:solidFill>
            <a:prstDash val="solid"/>
            <a:tailEnd type="triangle" w="sm" len="sm"/>
          </a:ln>
        </p:spPr>
      </p:cxnSp>
      <p:cxnSp>
        <p:nvCxnSpPr>
          <p:cNvPr id="25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2247900" y="3581400"/>
            <a:ext cx="895350" cy="8286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E514B"/>
            </a:solidFill>
            <a:prstDash val="solid"/>
            <a:tailEnd type="triangle" w="sm" len="sm"/>
          </a:ln>
        </p:spPr>
      </p:cxnSp>
      <p:sp>
        <p:nvSpPr>
          <p:cNvPr id="10" name="text-54">
            <a:extLst xmlns:a="http://schemas.openxmlformats.org/drawingml/2006/main">
              <a:ext uri="{FF2B5EF4-FFF2-40B4-BE49-F238E27FC236}">
                <a16:creationId xmlns:a16="http://schemas.microsoft.com/office/drawing/2014/main" id="{1D15DC2B-4E73-4C5A-B458-259971BC9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343150"/>
            <a:ext cx="1619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AE514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AE514B"/>
                </a:solidFill>
                <a:latin typeface="Arial Unicode MS"/>
                <a:ea typeface="Arial Unicode MS"/>
                <a:cs typeface="Arial Unicode MS"/>
              </a:rPr>
              <a:t>过滤？</a:t>
            </a:r>
          </a:p>
        </p:txBody>
      </p:sp>
      <p:sp>
        <p:nvSpPr>
          <p:cNvPr id="11" name="text-55">
            <a:extLst xmlns:a="http://schemas.openxmlformats.org/drawingml/2006/main">
              <a:ext uri="{FF2B5EF4-FFF2-40B4-BE49-F238E27FC236}">
                <a16:creationId xmlns:a16="http://schemas.microsoft.com/office/drawing/2014/main" id="{15CDC23E-FFEA-4A1F-9255-942A5799C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476750"/>
            <a:ext cx="1619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AE514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AE514B"/>
                </a:solidFill>
                <a:latin typeface="Arial Unicode MS"/>
                <a:ea typeface="Arial Unicode MS"/>
                <a:cs typeface="Arial Unicode MS"/>
              </a:rPr>
              <a:t>冷藏？</a:t>
            </a:r>
          </a:p>
        </p:txBody>
      </p:sp>
      <p:sp>
        <p:nvSpPr>
          <p:cNvPr id="12" name="text-56">
            <a:extLst xmlns:a="http://schemas.openxmlformats.org/drawingml/2006/main">
              <a:ext uri="{FF2B5EF4-FFF2-40B4-BE49-F238E27FC236}">
                <a16:creationId xmlns:a16="http://schemas.microsoft.com/office/drawing/2014/main" id="{10335A74-C9C6-4361-AD2D-77EB3B7DE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3400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E514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AE514B"/>
                </a:solidFill>
                <a:latin typeface="Arial Unicode MS"/>
                <a:ea typeface="Arial Unicode MS"/>
                <a:cs typeface="Arial Unicode MS"/>
              </a:rPr>
              <a:t>未见后缀可能不同 —— 合并就会错用经验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417201-A0B2-4935-BB9A-AB5827CD4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219200"/>
            <a:ext cx="0" cy="428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9E0E4"/>
            </a:solidFill>
          </a:ln>
        </p:spPr>
      </p:sp>
      <p:sp>
        <p:nvSpPr>
          <p:cNvPr id="14" name="text-57">
            <a:extLst xmlns:a="http://schemas.openxmlformats.org/drawingml/2006/main">
              <a:ext uri="{FF2B5EF4-FFF2-40B4-BE49-F238E27FC236}">
                <a16:creationId xmlns:a16="http://schemas.microsoft.com/office/drawing/2014/main" id="{CEC9FAB1-6868-4554-8C34-79F219987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295400"/>
            <a:ext cx="514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激进与保守之间没有两全</a:t>
            </a:r>
          </a:p>
        </p:txBody>
      </p:sp>
      <p:graphicFrame>
        <p:nvGraphicFramePr>
          <p:cNvPr id="31" name="Chart"/>
          <p:cNvGraphicFramePr/>
          <p:nvPr/>
        </p:nvGraphicFramePr>
        <p:xfrm>
          <a:off xmlns:a="http://schemas.openxmlformats.org/drawingml/2006/main" x="6191250" y="1866900"/>
          <a:ext xmlns:a="http://schemas.openxmlformats.org/drawingml/2006/main" cx="5391150" cy="35052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d424b4aea14436f"/>
          </a:graphicData>
        </a:graphic>
      </p:graphicFrame>
      <p:sp>
        <p:nvSpPr>
          <p:cNvPr id="16" name="text-58">
            <a:extLst xmlns:a="http://schemas.openxmlformats.org/drawingml/2006/main">
              <a:ext uri="{FF2B5EF4-FFF2-40B4-BE49-F238E27FC236}">
                <a16:creationId xmlns:a16="http://schemas.microsoft.com/office/drawing/2014/main" id="{7A7D7CD4-0BE8-4612-8414-17CEBC804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505450"/>
            <a:ext cx="5391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AE514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AE514B"/>
                </a:solidFill>
                <a:latin typeface="Arial Unicode MS"/>
                <a:ea typeface="Arial Unicode MS"/>
                <a:cs typeface="Arial Unicode MS"/>
              </a:rPr>
              <a:t>预注册判据 3 / 3 不达标 —— 这条线因此关闭</a:t>
            </a:r>
          </a:p>
        </p:txBody>
      </p:sp>
    </p:spTree>
    <p:extLst>
      <p:ext uri="{BB962C8B-B14F-4D97-AF65-F5344CB8AC3E}">
        <p14:creationId xmlns:p14="http://schemas.microsoft.com/office/powerpoint/2010/main" val="1561713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ext-59">
            <a:extLst xmlns:a="http://schemas.openxmlformats.org/drawingml/2006/main">
              <a:ext uri="{FF2B5EF4-FFF2-40B4-BE49-F238E27FC236}">
                <a16:creationId xmlns:a16="http://schemas.microsoft.com/office/drawing/2014/main" id="{863AB55C-D93B-48F2-9D5F-A984F204E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结构拿到以后，还有第二个独立问题</a:t>
            </a:r>
          </a:p>
        </p:txBody>
      </p:sp>
      <p:sp>
        <p:nvSpPr>
          <p:cNvPr id="2" name="text-60">
            <a:extLst xmlns:a="http://schemas.openxmlformats.org/drawingml/2006/main">
              <a:ext uri="{FF2B5EF4-FFF2-40B4-BE49-F238E27FC236}">
                <a16:creationId xmlns:a16="http://schemas.microsoft.com/office/drawing/2014/main" id="{AC7257CA-B3D8-4557-BC28-8BFD158B2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任务规则已给定；危险格扫描的逐种子记录已缺失，不能重算区间</a:t>
            </a:r>
          </a:p>
        </p:txBody>
      </p:sp>
      <p:sp>
        <p:nvSpPr>
          <p:cNvPr id="3" name="text-61">
            <a:extLst xmlns:a="http://schemas.openxmlformats.org/drawingml/2006/main">
              <a:ext uri="{FF2B5EF4-FFF2-40B4-BE49-F238E27FC236}">
                <a16:creationId xmlns:a16="http://schemas.microsoft.com/office/drawing/2014/main" id="{FC3B707F-CF06-4964-8661-7573C67C8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07</a:t>
            </a:r>
          </a:p>
        </p:txBody>
      </p:sp>
      <p:sp>
        <p:nvSpPr>
          <p:cNvPr id="4" name="text-62">
            <a:extLst xmlns:a="http://schemas.openxmlformats.org/drawingml/2006/main">
              <a:ext uri="{FF2B5EF4-FFF2-40B4-BE49-F238E27FC236}">
                <a16:creationId xmlns:a16="http://schemas.microsoft.com/office/drawing/2014/main" id="{39D1D3A6-50B9-40A1-BB0F-C13425992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普通环境：都贴着天花板</a:t>
            </a:r>
          </a:p>
        </p:txBody>
      </p:sp>
      <p:sp>
        <p:nvSpPr>
          <p:cNvPr id="5" name="text-63">
            <a:extLst xmlns:a="http://schemas.openxmlformats.org/drawingml/2006/main">
              <a:ext uri="{FF2B5EF4-FFF2-40B4-BE49-F238E27FC236}">
                <a16:creationId xmlns:a16="http://schemas.microsoft.com/office/drawing/2014/main" id="{F205A06C-079D-43EF-87AF-F4189792C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03835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无复用</a:t>
            </a:r>
          </a:p>
        </p:txBody>
      </p:sp>
      <p:sp>
        <p:nvSpPr>
          <p:cNvPr id="6" name="text-64">
            <a:extLst xmlns:a="http://schemas.openxmlformats.org/drawingml/2006/main">
              <a:ext uri="{FF2B5EF4-FFF2-40B4-BE49-F238E27FC236}">
                <a16:creationId xmlns:a16="http://schemas.microsoft.com/office/drawing/2014/main" id="{D3DC0E9A-CC52-4876-923A-B1D353145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03835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有复用</a:t>
            </a:r>
          </a:p>
        </p:txBody>
      </p:sp>
      <p:sp>
        <p:nvSpPr>
          <p:cNvPr id="7" name="text-65">
            <a:extLst xmlns:a="http://schemas.openxmlformats.org/drawingml/2006/main">
              <a:ext uri="{FF2B5EF4-FFF2-40B4-BE49-F238E27FC236}">
                <a16:creationId xmlns:a16="http://schemas.microsoft.com/office/drawing/2014/main" id="{182DF646-284B-41B1-B0B4-AB3D7BBC8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0"/>
            <a:ext cx="133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无路由</a:t>
            </a:r>
          </a:p>
        </p:txBody>
      </p:sp>
      <p:sp>
        <p:nvSpPr>
          <p:cNvPr id="8" name="text-66">
            <a:extLst xmlns:a="http://schemas.openxmlformats.org/drawingml/2006/main">
              <a:ext uri="{FF2B5EF4-FFF2-40B4-BE49-F238E27FC236}">
                <a16:creationId xmlns:a16="http://schemas.microsoft.com/office/drawing/2014/main" id="{916931AE-AD5A-4893-BA8B-B5B1E2969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133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有路由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54B987-46A5-4D9E-984B-C08D48F1B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495550"/>
            <a:ext cx="1428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0E4"/>
            </a:solidFill>
          </a:ln>
        </p:spPr>
      </p:sp>
      <p:sp>
        <p:nvSpPr>
          <p:cNvPr id="10" name="text-67">
            <a:extLst xmlns:a="http://schemas.openxmlformats.org/drawingml/2006/main">
              <a:ext uri="{FF2B5EF4-FFF2-40B4-BE49-F238E27FC236}">
                <a16:creationId xmlns:a16="http://schemas.microsoft.com/office/drawing/2014/main" id="{26E251D6-2127-4ED2-BE4A-924DFEC10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81940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Y00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E051FA-1966-489D-99AA-14AECF960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495550"/>
            <a:ext cx="1428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0E4"/>
            </a:solidFill>
          </a:ln>
        </p:spPr>
      </p:sp>
      <p:sp>
        <p:nvSpPr>
          <p:cNvPr id="12" name="text-68">
            <a:extLst xmlns:a="http://schemas.openxmlformats.org/drawingml/2006/main">
              <a:ext uri="{FF2B5EF4-FFF2-40B4-BE49-F238E27FC236}">
                <a16:creationId xmlns:a16="http://schemas.microsoft.com/office/drawing/2014/main" id="{066662F3-222D-4206-ACFF-CFB2F52FE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81940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Y01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27AD27-7CFA-4CFA-BD7A-305FDB04A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733800"/>
            <a:ext cx="1428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0E4"/>
            </a:solidFill>
          </a:ln>
        </p:spPr>
      </p:sp>
      <p:sp>
        <p:nvSpPr>
          <p:cNvPr id="14" name="text-69">
            <a:extLst xmlns:a="http://schemas.openxmlformats.org/drawingml/2006/main">
              <a:ext uri="{FF2B5EF4-FFF2-40B4-BE49-F238E27FC236}">
                <a16:creationId xmlns:a16="http://schemas.microsoft.com/office/drawing/2014/main" id="{70315C1E-FB60-49A7-B43C-853EEDD61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05765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Y10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5C412C-35A7-4D13-953C-1C760A3A2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733800"/>
            <a:ext cx="1428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14288">
            <a:solidFill>
              <a:srgbClr val="D9E0E4"/>
            </a:solidFill>
          </a:ln>
        </p:spPr>
      </p:sp>
      <p:sp>
        <p:nvSpPr>
          <p:cNvPr id="16" name="text-70">
            <a:extLst xmlns:a="http://schemas.openxmlformats.org/drawingml/2006/main">
              <a:ext uri="{FF2B5EF4-FFF2-40B4-BE49-F238E27FC236}">
                <a16:creationId xmlns:a16="http://schemas.microsoft.com/office/drawing/2014/main" id="{D22EFEEA-20E4-4642-A5EE-DF1483768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05765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Y11</a:t>
            </a:r>
          </a:p>
        </p:txBody>
      </p:sp>
      <p:sp>
        <p:nvSpPr>
          <p:cNvPr id="17" name="text-71">
            <a:extLst xmlns:a="http://schemas.openxmlformats.org/drawingml/2006/main">
              <a:ext uri="{FF2B5EF4-FFF2-40B4-BE49-F238E27FC236}">
                <a16:creationId xmlns:a16="http://schemas.microsoft.com/office/drawing/2014/main" id="{8257F409-1E75-4EBA-8043-8A34BC18C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29200"/>
            <a:ext cx="504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四臂差距很小，不能据此排机制强弱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310BEF-25C7-42FD-9287-997469741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219200"/>
            <a:ext cx="0" cy="428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9E0E4"/>
            </a:solidFill>
          </a:ln>
        </p:spPr>
      </p:sp>
      <p:sp>
        <p:nvSpPr>
          <p:cNvPr id="19" name="text-72">
            <a:extLst xmlns:a="http://schemas.openxmlformats.org/drawingml/2006/main">
              <a:ext uri="{FF2B5EF4-FFF2-40B4-BE49-F238E27FC236}">
                <a16:creationId xmlns:a16="http://schemas.microsoft.com/office/drawing/2014/main" id="{89E3D644-B381-41A0-B73F-74C7CA819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238250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危险 / 不可逆环境：差异被放大</a:t>
            </a:r>
          </a:p>
        </p:txBody>
      </p:sp>
      <p:graphicFrame>
        <p:nvGraphicFramePr>
          <p:cNvPr id="42" name="Chart"/>
          <p:cNvGraphicFramePr/>
          <p:nvPr/>
        </p:nvGraphicFramePr>
        <p:xfrm>
          <a:off xmlns:a="http://schemas.openxmlformats.org/drawingml/2006/main" x="6096000" y="1771650"/>
          <a:ext xmlns:a="http://schemas.openxmlformats.org/drawingml/2006/main" cx="5524500" cy="3238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5b0dfd758f24bba"/>
          </a:graphicData>
        </a:graphic>
      </p:graphicFrame>
      <p:sp>
        <p:nvSpPr>
          <p:cNvPr id="21" name="text-73">
            <a:extLst xmlns:a="http://schemas.openxmlformats.org/drawingml/2006/main">
              <a:ext uri="{FF2B5EF4-FFF2-40B4-BE49-F238E27FC236}">
                <a16:creationId xmlns:a16="http://schemas.microsoft.com/office/drawing/2014/main" id="{9C4BA437-21D1-4890-930C-A1799BBC8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124450"/>
            <a:ext cx="552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有技能无路由 0.882　≫　有路由无技能 0.106</a:t>
            </a:r>
          </a:p>
        </p:txBody>
      </p:sp>
      <p:sp>
        <p:nvSpPr>
          <p:cNvPr id="22" name="text-74">
            <a:extLst xmlns:a="http://schemas.openxmlformats.org/drawingml/2006/main">
              <a:ext uri="{FF2B5EF4-FFF2-40B4-BE49-F238E27FC236}">
                <a16:creationId xmlns:a16="http://schemas.microsoft.com/office/drawing/2014/main" id="{89A7109B-4FE3-459D-B5D2-CE8624EDF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486400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不可逆性放大的是复用，不是路由</a:t>
            </a:r>
          </a:p>
        </p:txBody>
      </p:sp>
    </p:spTree>
    <p:extLst>
      <p:ext uri="{BB962C8B-B14F-4D97-AF65-F5344CB8AC3E}">
        <p14:creationId xmlns:p14="http://schemas.microsoft.com/office/powerpoint/2010/main" val="53280909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ext-75">
            <a:extLst xmlns:a="http://schemas.openxmlformats.org/drawingml/2006/main">
              <a:ext uri="{FF2B5EF4-FFF2-40B4-BE49-F238E27FC236}">
                <a16:creationId xmlns:a16="http://schemas.microsoft.com/office/drawing/2014/main" id="{F9F0EFA9-C626-41EF-8802-8F95FE021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为什么最近的「提前压缩」没复现早期大收益</a:t>
            </a:r>
          </a:p>
        </p:txBody>
      </p:sp>
      <p:sp>
        <p:nvSpPr>
          <p:cNvPr id="2" name="text-76">
            <a:extLst xmlns:a="http://schemas.openxmlformats.org/drawingml/2006/main">
              <a:ext uri="{FF2B5EF4-FFF2-40B4-BE49-F238E27FC236}">
                <a16:creationId xmlns:a16="http://schemas.microsoft.com/office/drawing/2014/main" id="{37AF6E5E-0297-4CDF-A039-2735AF2CE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两种「立即使用」不是一回事：早期实验里行为会改变下一份证据，零件实验里不会</a:t>
            </a:r>
          </a:p>
        </p:txBody>
      </p:sp>
      <p:sp>
        <p:nvSpPr>
          <p:cNvPr id="3" name="text-77">
            <a:extLst xmlns:a="http://schemas.openxmlformats.org/drawingml/2006/main">
              <a:ext uri="{FF2B5EF4-FFF2-40B4-BE49-F238E27FC236}">
                <a16:creationId xmlns:a16="http://schemas.microsoft.com/office/drawing/2014/main" id="{E42534E8-BF00-43CB-9EDF-C2F861744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08</a:t>
            </a:r>
          </a:p>
        </p:txBody>
      </p:sp>
      <p:sp>
        <p:nvSpPr>
          <p:cNvPr id="4" name="text-78">
            <a:extLst xmlns:a="http://schemas.openxmlformats.org/drawingml/2006/main">
              <a:ext uri="{FF2B5EF4-FFF2-40B4-BE49-F238E27FC236}">
                <a16:creationId xmlns:a16="http://schemas.microsoft.com/office/drawing/2014/main" id="{CCBB2329-2A7C-40DB-BB3D-9BFC9A7D6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33350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早期导航任务：行为改变证据</a:t>
            </a:r>
          </a:p>
        </p:txBody>
      </p:sp>
      <p:sp>
        <p:nvSpPr>
          <p:cNvPr id="5" name="text-79">
            <a:extLst xmlns:a="http://schemas.openxmlformats.org/drawingml/2006/main">
              <a:ext uri="{FF2B5EF4-FFF2-40B4-BE49-F238E27FC236}">
                <a16:creationId xmlns:a16="http://schemas.microsoft.com/office/drawing/2014/main" id="{6761763A-0E1B-4290-8C5C-D1F84FE68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33350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最新零件实验：证据与行为无关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4E33A6-40B6-4417-95E9-7E0AF136A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095500"/>
            <a:ext cx="1638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局部流程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05C58C-C714-478C-AD0B-29BA7F1FE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2095500"/>
            <a:ext cx="1638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执行前缀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B79BB2-2B99-4BBF-B947-87274F022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381375"/>
            <a:ext cx="1638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后缀证据</a:t>
            </a:r>
          </a:p>
        </p:txBody>
      </p:sp>
      <p:cxnSp>
        <p:nvCxnSpPr>
          <p:cNvPr id="27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486025" y="2390775"/>
            <a:ext cx="1123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cxnSp>
        <p:nvCxnSpPr>
          <p:cNvPr id="28" name=""/>
          <p:cNvCxnSpPr>
            <a:stCxn xmlns:a="http://schemas.openxmlformats.org/drawingml/2006/main" id="7" idx="2"/>
            <a:endCxn xmlns:a="http://schemas.openxmlformats.org/drawingml/2006/main" id="8" idx="3"/>
          </p:cNvCxnSpPr>
          <p:nvPr/>
        </p:nvCxnSpPr>
        <p:spPr>
          <a:xfrm xmlns:a="http://schemas.openxmlformats.org/drawingml/2006/main" flipH="1">
            <a:off x="3905250" y="2686050"/>
            <a:ext cx="523875" cy="9906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cxnSp>
        <p:nvCxnSpPr>
          <p:cNvPr id="29" name=""/>
          <p:cNvCxnSpPr>
            <a:stCxn xmlns:a="http://schemas.openxmlformats.org/drawingml/2006/main" id="8" idx="1"/>
            <a:endCxn xmlns:a="http://schemas.openxmlformats.org/drawingml/2006/main" id="6" idx="2"/>
          </p:cNvCxnSpPr>
          <p:nvPr/>
        </p:nvCxnSpPr>
        <p:spPr>
          <a:xfrm xmlns:a="http://schemas.openxmlformats.org/drawingml/2006/main" flipH="1" flipV="1">
            <a:off x="1666875" y="2686050"/>
            <a:ext cx="600075" cy="9906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63C6B6-41DA-4142-9C41-13794BBA0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95500"/>
            <a:ext cx="1981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94A1AA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rPr>
              <a:t>环境给出排列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D59BE5-D412-414C-9DDC-3E8BC4FF0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2095500"/>
            <a:ext cx="17907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选择 X / Y</a:t>
            </a:r>
          </a:p>
        </p:txBody>
      </p:sp>
      <p:cxnSp>
        <p:nvCxnSpPr>
          <p:cNvPr id="32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8648700" y="2390775"/>
            <a:ext cx="809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1AA"/>
            </a:solidFill>
            <a:prstDash val="solid"/>
            <a:tailEnd type="triangle" w="sm" len="sm"/>
          </a:ln>
        </p:spPr>
      </p:cxnSp>
      <p:sp>
        <p:nvSpPr>
          <p:cNvPr id="15" name="text-80">
            <a:extLst xmlns:a="http://schemas.openxmlformats.org/drawingml/2006/main">
              <a:ext uri="{FF2B5EF4-FFF2-40B4-BE49-F238E27FC236}">
                <a16:creationId xmlns:a16="http://schemas.microsoft.com/office/drawing/2014/main" id="{94B0C68A-E9E8-43A3-92B1-206C7C0FE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095625"/>
            <a:ext cx="4095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下一幕仍由环境独立抽样</a:t>
            </a:r>
          </a:p>
        </p:txBody>
      </p:sp>
      <p:sp>
        <p:nvSpPr>
          <p:cNvPr id="16" name="text-81">
            <a:extLst xmlns:a="http://schemas.openxmlformats.org/drawingml/2006/main">
              <a:ext uri="{FF2B5EF4-FFF2-40B4-BE49-F238E27FC236}">
                <a16:creationId xmlns:a16="http://schemas.microsoft.com/office/drawing/2014/main" id="{25C1FE4D-6C8F-4EE3-952E-D51AE51CE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0050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识别前实际额外成功 / 次</a:t>
            </a:r>
          </a:p>
        </p:txBody>
      </p:sp>
      <p:graphicFrame>
        <p:nvGraphicFramePr>
          <p:cNvPr id="35" name="Chart"/>
          <p:cNvGraphicFramePr/>
          <p:nvPr/>
        </p:nvGraphicFramePr>
        <p:xfrm>
          <a:off xmlns:a="http://schemas.openxmlformats.org/drawingml/2006/main" x="6515100" y="4400550"/>
          <a:ext xmlns:a="http://schemas.openxmlformats.org/drawingml/2006/main" cx="5029200" cy="15811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f05913d00974b1c"/>
          </a:graphicData>
        </a:graphic>
      </p:graphicFrame>
      <p:sp>
        <p:nvSpPr>
          <p:cNvPr id="18" name="text-82">
            <a:extLst xmlns:a="http://schemas.openxmlformats.org/drawingml/2006/main">
              <a:ext uri="{FF2B5EF4-FFF2-40B4-BE49-F238E27FC236}">
                <a16:creationId xmlns:a16="http://schemas.microsoft.com/office/drawing/2014/main" id="{F9A7ECC3-8E68-482B-8482-2B6FE9928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29200"/>
            <a:ext cx="5334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所以「边学边用」真正值钱的场景，是当前行为会影响以后能拿到什么信息的任务</a:t>
            </a:r>
          </a:p>
        </p:txBody>
      </p:sp>
    </p:spTree>
    <p:extLst>
      <p:ext uri="{BB962C8B-B14F-4D97-AF65-F5344CB8AC3E}">
        <p14:creationId xmlns:p14="http://schemas.microsoft.com/office/powerpoint/2010/main" val="184304176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text-83">
            <a:extLst xmlns:a="http://schemas.openxmlformats.org/drawingml/2006/main">
              <a:ext uri="{FF2B5EF4-FFF2-40B4-BE49-F238E27FC236}">
                <a16:creationId xmlns:a16="http://schemas.microsoft.com/office/drawing/2014/main" id="{9D4E2237-1C67-4CE4-A8F4-F2652D9C6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三层研究地图</a:t>
            </a:r>
          </a:p>
        </p:txBody>
      </p:sp>
      <p:sp>
        <p:nvSpPr>
          <p:cNvPr id="2" name="text-84">
            <a:extLst xmlns:a="http://schemas.openxmlformats.org/drawingml/2006/main">
              <a:ext uri="{FF2B5EF4-FFF2-40B4-BE49-F238E27FC236}">
                <a16:creationId xmlns:a16="http://schemas.microsoft.com/office/drawing/2014/main" id="{17836683-7484-4906-910F-6EC164FCE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09</a:t>
            </a:r>
          </a:p>
        </p:txBody>
      </p:sp>
      <p:sp>
        <p:nvSpPr>
          <p:cNvPr id="3" name="text-85">
            <a:extLst xmlns:a="http://schemas.openxmlformats.org/drawingml/2006/main">
              <a:ext uri="{FF2B5EF4-FFF2-40B4-BE49-F238E27FC236}">
                <a16:creationId xmlns:a16="http://schemas.microsoft.com/office/drawing/2014/main" id="{D4143D69-C40F-487E-A6AA-61B53C393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35255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已验证</a:t>
            </a:r>
          </a:p>
        </p:txBody>
      </p:sp>
      <p:sp>
        <p:nvSpPr>
          <p:cNvPr id="4" name="text-86">
            <a:extLst xmlns:a="http://schemas.openxmlformats.org/drawingml/2006/main">
              <a:ext uri="{FF2B5EF4-FFF2-40B4-BE49-F238E27FC236}">
                <a16:creationId xmlns:a16="http://schemas.microsoft.com/office/drawing/2014/main" id="{5C660E84-6E42-49C8-B896-12A1BFA14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5255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尚未解决</a:t>
            </a:r>
          </a:p>
        </p:txBody>
      </p:sp>
      <p:sp>
        <p:nvSpPr>
          <p:cNvPr id="5" name="text-87">
            <a:extLst xmlns:a="http://schemas.openxmlformats.org/drawingml/2006/main">
              <a:ext uri="{FF2B5EF4-FFF2-40B4-BE49-F238E27FC236}">
                <a16:creationId xmlns:a16="http://schemas.microsoft.com/office/drawing/2014/main" id="{5995255D-C5A9-4C3A-B304-4455FE45D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257425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结构发现</a:t>
            </a:r>
          </a:p>
        </p:txBody>
      </p:sp>
      <p:sp>
        <p:nvSpPr>
          <p:cNvPr id="6" name="text-88">
            <a:extLst xmlns:a="http://schemas.openxmlformats.org/drawingml/2006/main">
              <a:ext uri="{FF2B5EF4-FFF2-40B4-BE49-F238E27FC236}">
                <a16:creationId xmlns:a16="http://schemas.microsoft.com/office/drawing/2014/main" id="{A1D4492D-3327-4489-B9A4-B07FD0B99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2314575"/>
            <a:ext cx="21812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受限在线闭环</a:t>
            </a:r>
          </a:p>
        </p:txBody>
      </p:sp>
      <p:sp>
        <p:nvSpPr>
          <p:cNvPr id="7" name="text-89">
            <a:extLst xmlns:a="http://schemas.openxmlformats.org/drawingml/2006/main">
              <a:ext uri="{FF2B5EF4-FFF2-40B4-BE49-F238E27FC236}">
                <a16:creationId xmlns:a16="http://schemas.microsoft.com/office/drawing/2014/main" id="{2F781E7A-1067-4E41-921C-EBA56D7F5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314575"/>
            <a:ext cx="22002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一般规则发现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A415E1-35EE-412D-A4E1-B44364AA7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2209800"/>
            <a:ext cx="666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C05528-F5C1-4C88-B65B-DC4E52B82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209800"/>
            <a:ext cx="666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4C7D9D-6358-4330-88B6-25DF38B68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2209800"/>
            <a:ext cx="666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94A1AA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rPr>
              <a:t>?</a:t>
            </a:r>
          </a:p>
        </p:txBody>
      </p:sp>
      <p:cxnSp>
        <p:nvCxnSpPr>
          <p:cNvPr id="41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781425" y="2505075"/>
            <a:ext cx="742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1AA"/>
            </a:solidFill>
            <a:prstDash val="solid"/>
            <a:tailEnd type="triangle" w="sm" len="sm"/>
          </a:ln>
        </p:spPr>
      </p:cxnSp>
      <p:cxnSp>
        <p:nvCxnSpPr>
          <p:cNvPr id="42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5191125" y="2505075"/>
            <a:ext cx="742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1AA"/>
            </a:solidFill>
            <a:prstDash val="dash"/>
            <a:tailEnd type="triangle" w="sm" len="sm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954F92-497B-4867-89D3-EB329324B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57550"/>
            <a:ext cx="1095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9E0E4"/>
            </a:solidFill>
          </a:ln>
        </p:spPr>
      </p:sp>
      <p:sp>
        <p:nvSpPr>
          <p:cNvPr id="14" name="text-90">
            <a:extLst xmlns:a="http://schemas.openxmlformats.org/drawingml/2006/main">
              <a:ext uri="{FF2B5EF4-FFF2-40B4-BE49-F238E27FC236}">
                <a16:creationId xmlns:a16="http://schemas.microsoft.com/office/drawing/2014/main" id="{FBF598C8-5D43-4D18-9D5A-FF08D4002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619500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状态抽象</a:t>
            </a:r>
          </a:p>
        </p:txBody>
      </p:sp>
      <p:sp>
        <p:nvSpPr>
          <p:cNvPr id="15" name="text-91">
            <a:extLst xmlns:a="http://schemas.openxmlformats.org/drawingml/2006/main">
              <a:ext uri="{FF2B5EF4-FFF2-40B4-BE49-F238E27FC236}">
                <a16:creationId xmlns:a16="http://schemas.microsoft.com/office/drawing/2014/main" id="{68AB84CE-3612-4251-9608-E494FDC9A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3676650"/>
            <a:ext cx="21812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正确压缩收益</a:t>
            </a:r>
          </a:p>
        </p:txBody>
      </p:sp>
      <p:sp>
        <p:nvSpPr>
          <p:cNvPr id="16" name="text-92">
            <a:extLst xmlns:a="http://schemas.openxmlformats.org/drawingml/2006/main">
              <a:ext uri="{FF2B5EF4-FFF2-40B4-BE49-F238E27FC236}">
                <a16:creationId xmlns:a16="http://schemas.microsoft.com/office/drawing/2014/main" id="{A8376BF3-51D2-40B1-8904-462E9A5B8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3676650"/>
            <a:ext cx="22002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可靠在线合并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CFD9AF-DE55-4E0F-8CB5-9DFE639BE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3409950"/>
            <a:ext cx="9525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94A1AA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rPr>
              <a:t>ABC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B3A75F-1214-4F71-AA06-86A3F86CE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4048125"/>
            <a:ext cx="9525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94A1AA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rPr>
              <a:t>ACB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8124AE-E989-44F4-A1F3-5BEE3F035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025" y="3714750"/>
            <a:ext cx="1047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q</a:t>
            </a:r>
          </a:p>
        </p:txBody>
      </p:sp>
      <p:cxnSp>
        <p:nvCxnSpPr>
          <p:cNvPr id="50" name=""/>
          <p:cNvCxnSpPr>
            <a:stCxn xmlns:a="http://schemas.openxmlformats.org/drawingml/2006/main" id="17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4067175" y="3643313"/>
            <a:ext cx="1466850" cy="34766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1AA"/>
            </a:solidFill>
            <a:prstDash val="solid"/>
            <a:tailEnd type="triangle" w="sm" len="sm"/>
          </a:ln>
        </p:spPr>
      </p:cxnSp>
      <p:cxnSp>
        <p:nvCxnSpPr>
          <p:cNvPr id="51" name=""/>
          <p:cNvCxnSpPr>
            <a:stCxn xmlns:a="http://schemas.openxmlformats.org/drawingml/2006/main" id="18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 flipV="1">
            <a:off x="4067175" y="3990975"/>
            <a:ext cx="1466850" cy="29051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1AA"/>
            </a:solidFill>
            <a:prstDash val="solid"/>
            <a:tailEnd type="triangle" w="sm" len="sm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104F1D-20DA-40E2-9F81-F56691B72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19625"/>
            <a:ext cx="1095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9E0E4"/>
            </a:solidFill>
          </a:ln>
        </p:spPr>
      </p:sp>
      <p:sp>
        <p:nvSpPr>
          <p:cNvPr id="23" name="text-93">
            <a:extLst xmlns:a="http://schemas.openxmlformats.org/drawingml/2006/main">
              <a:ext uri="{FF2B5EF4-FFF2-40B4-BE49-F238E27FC236}">
                <a16:creationId xmlns:a16="http://schemas.microsoft.com/office/drawing/2014/main" id="{963B173F-90DF-4773-A9A9-66FCB1F9F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981575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结构利用</a:t>
            </a:r>
          </a:p>
        </p:txBody>
      </p:sp>
      <p:sp>
        <p:nvSpPr>
          <p:cNvPr id="24" name="text-94">
            <a:extLst xmlns:a="http://schemas.openxmlformats.org/drawingml/2006/main">
              <a:ext uri="{FF2B5EF4-FFF2-40B4-BE49-F238E27FC236}">
                <a16:creationId xmlns:a16="http://schemas.microsoft.com/office/drawing/2014/main" id="{A6CABE24-6D93-4A4F-BFDD-BE146F5BF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5038725"/>
            <a:ext cx="21812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条件性控制收益</a:t>
            </a:r>
          </a:p>
        </p:txBody>
      </p:sp>
      <p:sp>
        <p:nvSpPr>
          <p:cNvPr id="25" name="text-95">
            <a:extLst xmlns:a="http://schemas.openxmlformats.org/drawingml/2006/main">
              <a:ext uri="{FF2B5EF4-FFF2-40B4-BE49-F238E27FC236}">
                <a16:creationId xmlns:a16="http://schemas.microsoft.com/office/drawing/2014/main" id="{10582791-212E-4586-8944-E0091DDEF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5038725"/>
            <a:ext cx="22002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机制归因与边界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F9F8320-4889-464D-A527-A40475D4D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4933950"/>
            <a:ext cx="666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q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298496B-0F12-4D6A-9E8B-932972B01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933950"/>
            <a:ext cx="838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goal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E483CEC-B045-4C7A-8AB1-6A42A5F68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4933950"/>
            <a:ext cx="971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技能</a:t>
            </a:r>
          </a:p>
        </p:txBody>
      </p:sp>
      <p:cxnSp>
        <p:nvCxnSpPr>
          <p:cNvPr id="59" name=""/>
          <p:cNvCxnSpPr>
            <a:stCxn xmlns:a="http://schemas.openxmlformats.org/drawingml/2006/main" id="26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>
            <a:off x="3781425" y="5229225"/>
            <a:ext cx="742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1AA"/>
            </a:solidFill>
            <a:prstDash val="solid"/>
            <a:tailEnd type="triangle" w="sm" len="sm"/>
          </a:ln>
        </p:spPr>
      </p:cxnSp>
      <p:cxnSp>
        <p:nvCxnSpPr>
          <p:cNvPr id="60" name=""/>
          <p:cNvCxnSpPr>
            <a:stCxn xmlns:a="http://schemas.openxmlformats.org/drawingml/2006/main" id="27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5362575" y="5229225"/>
            <a:ext cx="647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1AA"/>
            </a:solidFill>
            <a:prstDash val="solid"/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103452739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-96">
            <a:extLst xmlns:a="http://schemas.openxmlformats.org/drawingml/2006/main">
              <a:ext uri="{FF2B5EF4-FFF2-40B4-BE49-F238E27FC236}">
                <a16:creationId xmlns:a16="http://schemas.microsoft.com/office/drawing/2014/main" id="{D72E62CD-7427-4AD3-801E-894948193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571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Backup</a:t>
            </a:r>
          </a:p>
        </p:txBody>
      </p:sp>
      <p:sp>
        <p:nvSpPr>
          <p:cNvPr id="2" name="text-97">
            <a:extLst xmlns:a="http://schemas.openxmlformats.org/drawingml/2006/main">
              <a:ext uri="{FF2B5EF4-FFF2-40B4-BE49-F238E27FC236}">
                <a16:creationId xmlns:a16="http://schemas.microsoft.com/office/drawing/2014/main" id="{D143D95D-EEEE-4FFA-8971-CE9463F08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57600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以下五页不在主线里，用于回答具体提问</a:t>
            </a:r>
          </a:p>
        </p:txBody>
      </p:sp>
      <p:sp>
        <p:nvSpPr>
          <p:cNvPr id="3" name="text-98">
            <a:extLst xmlns:a="http://schemas.openxmlformats.org/drawingml/2006/main">
              <a:ext uri="{FF2B5EF4-FFF2-40B4-BE49-F238E27FC236}">
                <a16:creationId xmlns:a16="http://schemas.microsoft.com/office/drawing/2014/main" id="{86CA7FD4-8C03-4CA8-8A19-534D4680A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81152165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99">
            <a:extLst xmlns:a="http://schemas.openxmlformats.org/drawingml/2006/main">
              <a:ext uri="{FF2B5EF4-FFF2-40B4-BE49-F238E27FC236}">
                <a16:creationId xmlns:a16="http://schemas.microsoft.com/office/drawing/2014/main" id="{E8657AB4-E261-48A7-AFEE-0D77CD562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附录 · 可靠任务反馈的预算</a:t>
            </a:r>
          </a:p>
        </p:txBody>
      </p:sp>
      <p:sp>
        <p:nvSpPr>
          <p:cNvPr id="2" name="text-100">
            <a:extLst xmlns:a="http://schemas.openxmlformats.org/drawingml/2006/main">
              <a:ext uri="{FF2B5EF4-FFF2-40B4-BE49-F238E27FC236}">
                <a16:creationId xmlns:a16="http://schemas.microsoft.com/office/drawing/2014/main" id="{A39A6507-7796-47EB-B019-ED07DC59E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24 个任务族 × 6 个种子；200,000 环境步内曾达到 90%；未启用合并</a:t>
            </a:r>
          </a:p>
        </p:txBody>
      </p:sp>
      <p:sp>
        <p:nvSpPr>
          <p:cNvPr id="3" name="text-101">
            <a:extLst xmlns:a="http://schemas.openxmlformats.org/drawingml/2006/main">
              <a:ext uri="{FF2B5EF4-FFF2-40B4-BE49-F238E27FC236}">
                <a16:creationId xmlns:a16="http://schemas.microsoft.com/office/drawing/2014/main" id="{8F4D6249-1732-4AFD-AF02-B6962392C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11</a:t>
            </a:r>
          </a:p>
        </p:txBody>
      </p:sp>
      <p:graphicFrame>
        <p:nvGraphicFramePr>
          <p:cNvPr id="13" name="Chart"/>
          <p:cNvGraphicFramePr/>
          <p:nvPr/>
        </p:nvGraphicFramePr>
        <p:xfrm>
          <a:off xmlns:a="http://schemas.openxmlformats.org/drawingml/2006/main" x="1000125" y="1438275"/>
          <a:ext xmlns:a="http://schemas.openxmlformats.org/drawingml/2006/main" cx="10287000" cy="3810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99b94e5da9b4d7a"/>
          </a:graphicData>
        </a:graphic>
      </p:graphicFrame>
      <p:sp>
        <p:nvSpPr>
          <p:cNvPr id="5" name="text-102">
            <a:extLst xmlns:a="http://schemas.openxmlformats.org/drawingml/2006/main">
              <a:ext uri="{FF2B5EF4-FFF2-40B4-BE49-F238E27FC236}">
                <a16:creationId xmlns:a16="http://schemas.microsoft.com/office/drawing/2014/main" id="{80500E0E-A796-46AF-8083-546F3D6FC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533400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1 / 144</a:t>
            </a:r>
          </a:p>
        </p:txBody>
      </p:sp>
      <p:sp>
        <p:nvSpPr>
          <p:cNvPr id="6" name="text-103">
            <a:extLst xmlns:a="http://schemas.openxmlformats.org/drawingml/2006/main">
              <a:ext uri="{FF2B5EF4-FFF2-40B4-BE49-F238E27FC236}">
                <a16:creationId xmlns:a16="http://schemas.microsoft.com/office/drawing/2014/main" id="{C8397510-5DD0-471F-9091-7CDB7CFEB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533400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61 / 144</a:t>
            </a:r>
          </a:p>
        </p:txBody>
      </p:sp>
      <p:sp>
        <p:nvSpPr>
          <p:cNvPr id="7" name="text-104">
            <a:extLst xmlns:a="http://schemas.openxmlformats.org/drawingml/2006/main">
              <a:ext uri="{FF2B5EF4-FFF2-40B4-BE49-F238E27FC236}">
                <a16:creationId xmlns:a16="http://schemas.microsoft.com/office/drawing/2014/main" id="{B6179633-4969-4022-935D-B14639491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533400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131 / 144</a:t>
            </a:r>
          </a:p>
        </p:txBody>
      </p:sp>
      <p:sp>
        <p:nvSpPr>
          <p:cNvPr id="8" name="text-105">
            <a:extLst xmlns:a="http://schemas.openxmlformats.org/drawingml/2006/main">
              <a:ext uri="{FF2B5EF4-FFF2-40B4-BE49-F238E27FC236}">
                <a16:creationId xmlns:a16="http://schemas.microsoft.com/office/drawing/2014/main" id="{35F49BFA-86C3-4B20-A30C-37D98F1BC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533400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144 / 144</a:t>
            </a:r>
          </a:p>
        </p:txBody>
      </p:sp>
      <p:sp>
        <p:nvSpPr>
          <p:cNvPr id="9" name="text-106">
            <a:extLst xmlns:a="http://schemas.openxmlformats.org/drawingml/2006/main">
              <a:ext uri="{FF2B5EF4-FFF2-40B4-BE49-F238E27FC236}">
                <a16:creationId xmlns:a16="http://schemas.microsoft.com/office/drawing/2014/main" id="{6DF5DD69-B7FA-416B-AB06-DA727F6B7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912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只说明反馈越多越容易学会；不能推出「结构必须接近完整才能使用」</a:t>
            </a:r>
          </a:p>
        </p:txBody>
      </p:sp>
    </p:spTree>
    <p:extLst>
      <p:ext uri="{BB962C8B-B14F-4D97-AF65-F5344CB8AC3E}">
        <p14:creationId xmlns:p14="http://schemas.microsoft.com/office/powerpoint/2010/main" val="1560567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text-107">
            <a:extLst xmlns:a="http://schemas.openxmlformats.org/drawingml/2006/main">
              <a:ext uri="{FF2B5EF4-FFF2-40B4-BE49-F238E27FC236}">
                <a16:creationId xmlns:a16="http://schemas.microsoft.com/office/drawing/2014/main" id="{A85A7372-0073-4520-9AE7-2E218E9AD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附录 · 同一份历史的两种表示</a:t>
            </a:r>
          </a:p>
        </p:txBody>
      </p:sp>
      <p:sp>
        <p:nvSpPr>
          <p:cNvPr id="2" name="text-108">
            <a:extLst xmlns:a="http://schemas.openxmlformats.org/drawingml/2006/main">
              <a:ext uri="{FF2B5EF4-FFF2-40B4-BE49-F238E27FC236}">
                <a16:creationId xmlns:a16="http://schemas.microsoft.com/office/drawing/2014/main" id="{7AC83A67-27BC-4C4A-B5FD-AD049E477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同样的信息量，两种写法逐动作一致 —— 所以价值不在图这种形式</a:t>
            </a:r>
          </a:p>
        </p:txBody>
      </p:sp>
      <p:sp>
        <p:nvSpPr>
          <p:cNvPr id="3" name="text-109">
            <a:extLst xmlns:a="http://schemas.openxmlformats.org/drawingml/2006/main">
              <a:ext uri="{FF2B5EF4-FFF2-40B4-BE49-F238E27FC236}">
                <a16:creationId xmlns:a16="http://schemas.microsoft.com/office/drawing/2014/main" id="{6C4542E5-A26A-4CD4-B3AB-4597C7CD0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12</a:t>
            </a:r>
          </a:p>
        </p:txBody>
      </p:sp>
      <p:sp>
        <p:nvSpPr>
          <p:cNvPr id="4" name="text-110">
            <a:extLst xmlns:a="http://schemas.openxmlformats.org/drawingml/2006/main">
              <a:ext uri="{FF2B5EF4-FFF2-40B4-BE49-F238E27FC236}">
                <a16:creationId xmlns:a16="http://schemas.microsoft.com/office/drawing/2014/main" id="{5418D49F-2AB0-40E9-99AD-3B3C00B88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381125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Prefix tree</a:t>
            </a:r>
          </a:p>
        </p:txBody>
      </p:sp>
      <p:sp>
        <p:nvSpPr>
          <p:cNvPr id="5" name="text-111">
            <a:extLst xmlns:a="http://schemas.openxmlformats.org/drawingml/2006/main">
              <a:ext uri="{FF2B5EF4-FFF2-40B4-BE49-F238E27FC236}">
                <a16:creationId xmlns:a16="http://schemas.microsoft.com/office/drawing/2014/main" id="{C8560E1B-6233-42A1-9629-9DB3DFEAE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381125"/>
            <a:ext cx="3810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History dictionary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A2EBB5-2F22-44BC-AB0D-E44AE8AED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62325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94A1AA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rPr>
              <a:t>∅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189320-77BC-45BB-834E-CB45A9083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2495550"/>
            <a:ext cx="619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89C2C2-BA76-4185-AB15-5697C059C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4352925"/>
            <a:ext cx="619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47A35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7234F8-5D9E-4C74-9CB0-3758AC90E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495550"/>
            <a:ext cx="619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9467AD-1784-41F8-A5FB-6103F8516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352925"/>
            <a:ext cx="619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47A35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C9648D-CC7F-4FE8-8A9D-A57225C4B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495550"/>
            <a:ext cx="619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EE67D1-C106-49F2-8EFB-28E394D8F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352925"/>
            <a:ext cx="619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47A35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C</a:t>
            </a:r>
          </a:p>
        </p:txBody>
      </p:sp>
      <p:cxnSp>
        <p:nvCxnSpPr>
          <p:cNvPr id="40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1562100" y="2790825"/>
            <a:ext cx="790575" cy="8667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cxnSp>
        <p:nvCxnSpPr>
          <p:cNvPr id="41" name="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2971800" y="279082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cxnSp>
        <p:nvCxnSpPr>
          <p:cNvPr id="42" name=""/>
          <p:cNvCxnSpPr>
            <a:stCxn xmlns:a="http://schemas.openxmlformats.org/drawingml/2006/main" id="9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4448175" y="2790825"/>
            <a:ext cx="7715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cxnSp>
        <p:nvCxnSpPr>
          <p:cNvPr id="43" name="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562100" y="3657600"/>
            <a:ext cx="790575" cy="9906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47A35"/>
            </a:solidFill>
            <a:prstDash val="solid"/>
            <a:tailEnd type="triangle" w="sm" len="sm"/>
          </a:ln>
        </p:spPr>
      </p:cxnSp>
      <p:cxnSp>
        <p:nvCxnSpPr>
          <p:cNvPr id="44" name="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2971800" y="4648200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47A35"/>
            </a:solidFill>
            <a:prstDash val="solid"/>
            <a:tailEnd type="triangle" w="sm" len="sm"/>
          </a:ln>
        </p:spPr>
      </p:cxnSp>
      <p:cxnSp>
        <p:nvCxnSpPr>
          <p:cNvPr id="45" name=""/>
          <p:cNvCxnSpPr>
            <a:stCxn xmlns:a="http://schemas.openxmlformats.org/drawingml/2006/main" id="10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4448175" y="4648200"/>
            <a:ext cx="7715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47A35"/>
            </a:solidFill>
            <a:prstDash val="solid"/>
            <a:tailEnd type="triangle" w="sm" len="sm"/>
          </a:ln>
        </p:spPr>
      </p:cxnSp>
      <p:sp>
        <p:nvSpPr>
          <p:cNvPr id="19" name="text-112">
            <a:extLst xmlns:a="http://schemas.openxmlformats.org/drawingml/2006/main">
              <a:ext uri="{FF2B5EF4-FFF2-40B4-BE49-F238E27FC236}">
                <a16:creationId xmlns:a16="http://schemas.microsoft.com/office/drawing/2014/main" id="{0325C4D7-1A83-40E1-977E-93548D614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267075"/>
            <a:ext cx="857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8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8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≡</a:t>
            </a:r>
          </a:p>
        </p:txBody>
      </p:sp>
      <p:sp>
        <p:nvSpPr>
          <p:cNvPr id="20" name="text-113">
            <a:extLst xmlns:a="http://schemas.openxmlformats.org/drawingml/2006/main">
              <a:ext uri="{FF2B5EF4-FFF2-40B4-BE49-F238E27FC236}">
                <a16:creationId xmlns:a16="http://schemas.microsoft.com/office/drawing/2014/main" id="{1CA5B04B-6D64-4784-B14D-8121F2896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352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历史</a:t>
            </a:r>
          </a:p>
        </p:txBody>
      </p:sp>
      <p:sp>
        <p:nvSpPr>
          <p:cNvPr id="21" name="text-114">
            <a:extLst xmlns:a="http://schemas.openxmlformats.org/drawingml/2006/main">
              <a:ext uri="{FF2B5EF4-FFF2-40B4-BE49-F238E27FC236}">
                <a16:creationId xmlns:a16="http://schemas.microsoft.com/office/drawing/2014/main" id="{98F9645C-44B7-40A7-A5CB-CD4AFD410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35267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下一目标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E4FFA3-D487-46E3-9628-A655149AE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847975"/>
            <a:ext cx="409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9E0E4"/>
            </a:solidFill>
          </a:ln>
        </p:spPr>
      </p:sp>
      <p:sp>
        <p:nvSpPr>
          <p:cNvPr id="23" name="text-115">
            <a:extLst xmlns:a="http://schemas.openxmlformats.org/drawingml/2006/main">
              <a:ext uri="{FF2B5EF4-FFF2-40B4-BE49-F238E27FC236}">
                <a16:creationId xmlns:a16="http://schemas.microsoft.com/office/drawing/2014/main" id="{EF586F5D-8415-41D1-9B87-83FC616CE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114675"/>
            <a:ext cx="171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(A, E)</a:t>
            </a:r>
          </a:p>
        </p:txBody>
      </p:sp>
      <p:sp>
        <p:nvSpPr>
          <p:cNvPr id="24" name="text-116">
            <a:extLst xmlns:a="http://schemas.openxmlformats.org/drawingml/2006/main">
              <a:ext uri="{FF2B5EF4-FFF2-40B4-BE49-F238E27FC236}">
                <a16:creationId xmlns:a16="http://schemas.microsoft.com/office/drawing/2014/main" id="{F01ECC85-9069-40F4-8D7E-FFEA67887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114675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D</a:t>
            </a:r>
          </a:p>
        </p:txBody>
      </p:sp>
      <p:sp>
        <p:nvSpPr>
          <p:cNvPr id="25" name="text-117">
            <a:extLst xmlns:a="http://schemas.openxmlformats.org/drawingml/2006/main">
              <a:ext uri="{FF2B5EF4-FFF2-40B4-BE49-F238E27FC236}">
                <a16:creationId xmlns:a16="http://schemas.microsoft.com/office/drawing/2014/main" id="{F357153D-B165-4C51-BD0D-C5BD8E816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238625"/>
            <a:ext cx="171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(B, E)</a:t>
            </a:r>
          </a:p>
        </p:txBody>
      </p:sp>
      <p:sp>
        <p:nvSpPr>
          <p:cNvPr id="26" name="text-118">
            <a:extLst xmlns:a="http://schemas.openxmlformats.org/drawingml/2006/main">
              <a:ext uri="{FF2B5EF4-FFF2-40B4-BE49-F238E27FC236}">
                <a16:creationId xmlns:a16="http://schemas.microsoft.com/office/drawing/2014/main" id="{35F97FD2-9862-4DB8-A9F7-0623B293F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238625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C</a:t>
            </a:r>
          </a:p>
        </p:txBody>
      </p:sp>
      <p:sp>
        <p:nvSpPr>
          <p:cNvPr id="27" name="text-119">
            <a:extLst xmlns:a="http://schemas.openxmlformats.org/drawingml/2006/main">
              <a:ext uri="{FF2B5EF4-FFF2-40B4-BE49-F238E27FC236}">
                <a16:creationId xmlns:a16="http://schemas.microsoft.com/office/drawing/2014/main" id="{6BAD1072-7262-49A8-B53C-70E96EBA1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5600700"/>
            <a:ext cx="2619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逐动作一致</a:t>
            </a:r>
          </a:p>
        </p:txBody>
      </p:sp>
    </p:spTree>
    <p:extLst>
      <p:ext uri="{BB962C8B-B14F-4D97-AF65-F5344CB8AC3E}">
        <p14:creationId xmlns:p14="http://schemas.microsoft.com/office/powerpoint/2010/main" val="76673550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120">
            <a:extLst xmlns:a="http://schemas.openxmlformats.org/drawingml/2006/main">
              <a:ext uri="{FF2B5EF4-FFF2-40B4-BE49-F238E27FC236}">
                <a16:creationId xmlns:a16="http://schemas.microsoft.com/office/drawing/2014/main" id="{70A3FD60-FD5B-4DF8-8C7F-ED8C061D7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附录 · 合并审计的完整口径</a:t>
            </a:r>
          </a:p>
        </p:txBody>
      </p:sp>
      <p:sp>
        <p:nvSpPr>
          <p:cNvPr id="2" name="text-121">
            <a:extLst xmlns:a="http://schemas.openxmlformats.org/drawingml/2006/main">
              <a:ext uri="{FF2B5EF4-FFF2-40B4-BE49-F238E27FC236}">
                <a16:creationId xmlns:a16="http://schemas.microsoft.com/office/drawing/2014/main" id="{46FCF703-7BBF-4ED1-8FBA-818477BE4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裁决正确 = 借来的答案与真裁决一致；归属正确 = 被合并的伙伴确实是同一任务状态</a:t>
            </a:r>
          </a:p>
        </p:txBody>
      </p:sp>
      <p:sp>
        <p:nvSpPr>
          <p:cNvPr id="3" name="text-122">
            <a:extLst xmlns:a="http://schemas.openxmlformats.org/drawingml/2006/main">
              <a:ext uri="{FF2B5EF4-FFF2-40B4-BE49-F238E27FC236}">
                <a16:creationId xmlns:a16="http://schemas.microsoft.com/office/drawing/2014/main" id="{440617E0-A995-428A-ADB3-FDA2A020A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13</a:t>
            </a:r>
          </a:p>
        </p:txBody>
      </p:sp>
      <p:sp>
        <p:nvSpPr>
          <p:cNvPr id="4" name="text-123">
            <a:extLst xmlns:a="http://schemas.openxmlformats.org/drawingml/2006/main">
              <a:ext uri="{FF2B5EF4-FFF2-40B4-BE49-F238E27FC236}">
                <a16:creationId xmlns:a16="http://schemas.microsoft.com/office/drawing/2014/main" id="{08C00900-1C87-4B19-BFC8-855273333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381125"/>
            <a:ext cx="34575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裁决正确率</a:t>
            </a:r>
          </a:p>
        </p:txBody>
      </p:sp>
      <p:sp>
        <p:nvSpPr>
          <p:cNvPr id="5" name="text-124">
            <a:extLst xmlns:a="http://schemas.openxmlformats.org/drawingml/2006/main">
              <a:ext uri="{FF2B5EF4-FFF2-40B4-BE49-F238E27FC236}">
                <a16:creationId xmlns:a16="http://schemas.microsoft.com/office/drawing/2014/main" id="{40284231-0115-48B7-9615-389BCBD46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1381125"/>
            <a:ext cx="34575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状态归属正确率</a:t>
            </a:r>
          </a:p>
        </p:txBody>
      </p:sp>
      <p:sp>
        <p:nvSpPr>
          <p:cNvPr id="6" name="text-125">
            <a:extLst xmlns:a="http://schemas.openxmlformats.org/drawingml/2006/main">
              <a:ext uri="{FF2B5EF4-FFF2-40B4-BE49-F238E27FC236}">
                <a16:creationId xmlns:a16="http://schemas.microsoft.com/office/drawing/2014/main" id="{DD172A39-476C-4B47-A60A-34C218671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1381125"/>
            <a:ext cx="34575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可省查询比例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590550" y="1981200"/>
          <a:ext xmlns:a="http://schemas.openxmlformats.org/drawingml/2006/main" cx="3362325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4e075cf7c3c4017"/>
          </a:graphicData>
        </a:graphic>
      </p:graphicFrame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4419600" y="1981200"/>
          <a:ext xmlns:a="http://schemas.openxmlformats.org/drawingml/2006/main" cx="3362325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1c09d4e14a14114"/>
          </a:graphicData>
        </a:graphic>
      </p:graphicFrame>
      <p:graphicFrame>
        <p:nvGraphicFramePr>
          <p:cNvPr id="20" name="Chart"/>
          <p:cNvGraphicFramePr/>
          <p:nvPr/>
        </p:nvGraphicFramePr>
        <p:xfrm>
          <a:off xmlns:a="http://schemas.openxmlformats.org/drawingml/2006/main" x="8248650" y="1981200"/>
          <a:ext xmlns:a="http://schemas.openxmlformats.org/drawingml/2006/main" cx="3362325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7694c610be041c6"/>
          </a:graphicData>
        </a:graphic>
      </p:graphicFrame>
      <p:sp>
        <p:nvSpPr>
          <p:cNvPr id="10" name="text-126">
            <a:extLst xmlns:a="http://schemas.openxmlformats.org/drawingml/2006/main">
              <a:ext uri="{FF2B5EF4-FFF2-40B4-BE49-F238E27FC236}">
                <a16:creationId xmlns:a16="http://schemas.microsoft.com/office/drawing/2014/main" id="{B2B94142-1368-473D-BDBE-64F0BFA96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165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236 次强制合并中 140 次把真状态不同的历史证成同态；在线 k_min 为 8–12，真状态数 19–27</a:t>
            </a:r>
          </a:p>
        </p:txBody>
      </p:sp>
      <p:sp>
        <p:nvSpPr>
          <p:cNvPr id="11" name="text-127">
            <a:extLst xmlns:a="http://schemas.openxmlformats.org/drawingml/2006/main">
              <a:ext uri="{FF2B5EF4-FFF2-40B4-BE49-F238E27FC236}">
                <a16:creationId xmlns:a16="http://schemas.microsoft.com/office/drawing/2014/main" id="{6C578ED7-3D4A-4F44-93CF-897632E75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436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AE514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AE514B"/>
                </a:solidFill>
                <a:latin typeface="Arial Unicode MS"/>
                <a:ea typeface="Arial Unicode MS"/>
                <a:cs typeface="Arial Unicode MS"/>
              </a:rPr>
              <a:t>预注册判据 3 / 3 不达标：节省 16.9% &lt; 20%；错误裁决 47；错误归属 140；敏感性上界 23.6% 仍不达标</a:t>
            </a:r>
          </a:p>
        </p:txBody>
      </p:sp>
    </p:spTree>
    <p:extLst>
      <p:ext uri="{BB962C8B-B14F-4D97-AF65-F5344CB8AC3E}">
        <p14:creationId xmlns:p14="http://schemas.microsoft.com/office/powerpoint/2010/main" val="130994042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text-128">
            <a:extLst xmlns:a="http://schemas.openxmlformats.org/drawingml/2006/main">
              <a:ext uri="{FF2B5EF4-FFF2-40B4-BE49-F238E27FC236}">
                <a16:creationId xmlns:a16="http://schemas.microsoft.com/office/drawing/2014/main" id="{1BE222C1-7488-453B-AC33-7B4B43C52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附录 · 结构利用五臂完整数值</a:t>
            </a:r>
          </a:p>
        </p:txBody>
      </p:sp>
      <p:sp>
        <p:nvSpPr>
          <p:cNvPr id="2" name="text-129">
            <a:extLst xmlns:a="http://schemas.openxmlformats.org/drawingml/2006/main">
              <a:ext uri="{FF2B5EF4-FFF2-40B4-BE49-F238E27FC236}">
                <a16:creationId xmlns:a16="http://schemas.microsoft.com/office/drawing/2014/main" id="{80197210-9217-4168-AB00-297D73100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AUC 接近天花板，不能据此排序机制强弱</a:t>
            </a:r>
          </a:p>
        </p:txBody>
      </p:sp>
      <p:sp>
        <p:nvSpPr>
          <p:cNvPr id="3" name="text-130">
            <a:extLst xmlns:a="http://schemas.openxmlformats.org/drawingml/2006/main">
              <a:ext uri="{FF2B5EF4-FFF2-40B4-BE49-F238E27FC236}">
                <a16:creationId xmlns:a16="http://schemas.microsoft.com/office/drawing/2014/main" id="{63266F8C-68F8-4753-BFB2-0C78F530B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14</a:t>
            </a:r>
          </a:p>
        </p:txBody>
      </p:sp>
      <p:sp>
        <p:nvSpPr>
          <p:cNvPr id="4" name="text-131">
            <a:extLst xmlns:a="http://schemas.openxmlformats.org/drawingml/2006/main">
              <a:ext uri="{FF2B5EF4-FFF2-40B4-BE49-F238E27FC236}">
                <a16:creationId xmlns:a16="http://schemas.microsoft.com/office/drawing/2014/main" id="{BF16AE04-BDAF-4E91-82CA-86C5025F2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1371600"/>
            <a:ext cx="1762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无复用</a:t>
            </a:r>
          </a:p>
        </p:txBody>
      </p:sp>
      <p:sp>
        <p:nvSpPr>
          <p:cNvPr id="5" name="text-132">
            <a:extLst xmlns:a="http://schemas.openxmlformats.org/drawingml/2006/main">
              <a:ext uri="{FF2B5EF4-FFF2-40B4-BE49-F238E27FC236}">
                <a16:creationId xmlns:a16="http://schemas.microsoft.com/office/drawing/2014/main" id="{20124CB2-C18E-407E-B1BA-4B015BEEE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1371600"/>
            <a:ext cx="1762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有复用</a:t>
            </a:r>
          </a:p>
        </p:txBody>
      </p:sp>
      <p:sp>
        <p:nvSpPr>
          <p:cNvPr id="6" name="text-133">
            <a:extLst xmlns:a="http://schemas.openxmlformats.org/drawingml/2006/main">
              <a:ext uri="{FF2B5EF4-FFF2-40B4-BE49-F238E27FC236}">
                <a16:creationId xmlns:a16="http://schemas.microsoft.com/office/drawing/2014/main" id="{B4812B27-778B-454F-9874-0EAAE83ED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476500"/>
            <a:ext cx="133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无路由</a:t>
            </a:r>
          </a:p>
        </p:txBody>
      </p:sp>
      <p:sp>
        <p:nvSpPr>
          <p:cNvPr id="7" name="text-134">
            <a:extLst xmlns:a="http://schemas.openxmlformats.org/drawingml/2006/main">
              <a:ext uri="{FF2B5EF4-FFF2-40B4-BE49-F238E27FC236}">
                <a16:creationId xmlns:a16="http://schemas.microsoft.com/office/drawing/2014/main" id="{9BBCF268-B4E3-4128-99CD-217388DE5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4410075"/>
            <a:ext cx="133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有路由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114968-D58E-4B46-A6CB-42EE23894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000250"/>
            <a:ext cx="1866900" cy="1628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0E4"/>
            </a:solidFill>
          </a:ln>
        </p:spPr>
      </p:sp>
      <p:sp>
        <p:nvSpPr>
          <p:cNvPr id="9" name="text-135">
            <a:extLst xmlns:a="http://schemas.openxmlformats.org/drawingml/2006/main">
              <a:ext uri="{FF2B5EF4-FFF2-40B4-BE49-F238E27FC236}">
                <a16:creationId xmlns:a16="http://schemas.microsoft.com/office/drawing/2014/main" id="{DDFA2AAC-1E41-43E8-86E7-743760D77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124075"/>
            <a:ext cx="152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Y00</a:t>
            </a:r>
          </a:p>
        </p:txBody>
      </p:sp>
      <p:sp>
        <p:nvSpPr>
          <p:cNvPr id="10" name="text-136">
            <a:extLst xmlns:a="http://schemas.openxmlformats.org/drawingml/2006/main">
              <a:ext uri="{FF2B5EF4-FFF2-40B4-BE49-F238E27FC236}">
                <a16:creationId xmlns:a16="http://schemas.microsoft.com/office/drawing/2014/main" id="{21C08CF1-0CAF-49EB-9E80-235A95EA7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590800"/>
            <a:ext cx="1638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平坦历史</a:t>
            </a:r>
          </a:p>
        </p:txBody>
      </p:sp>
      <p:sp>
        <p:nvSpPr>
          <p:cNvPr id="11" name="text-137">
            <a:extLst xmlns:a="http://schemas.openxmlformats.org/drawingml/2006/main">
              <a:ext uri="{FF2B5EF4-FFF2-40B4-BE49-F238E27FC236}">
                <a16:creationId xmlns:a16="http://schemas.microsoft.com/office/drawing/2014/main" id="{7E874070-944A-4155-87CF-0CE753AA0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076575"/>
            <a:ext cx="1581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AUC .821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206F7D-C2BA-4CBC-BD0A-2E3A5F1D2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000250"/>
            <a:ext cx="1866900" cy="1628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0E4"/>
            </a:solidFill>
          </a:ln>
        </p:spPr>
      </p:sp>
      <p:sp>
        <p:nvSpPr>
          <p:cNvPr id="13" name="text-138">
            <a:extLst xmlns:a="http://schemas.openxmlformats.org/drawingml/2006/main">
              <a:ext uri="{FF2B5EF4-FFF2-40B4-BE49-F238E27FC236}">
                <a16:creationId xmlns:a16="http://schemas.microsoft.com/office/drawing/2014/main" id="{932AFE2F-48D6-48D7-93E9-690887313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124075"/>
            <a:ext cx="152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Y01</a:t>
            </a:r>
          </a:p>
        </p:txBody>
      </p:sp>
      <p:sp>
        <p:nvSpPr>
          <p:cNvPr id="14" name="text-139">
            <a:extLst xmlns:a="http://schemas.openxmlformats.org/drawingml/2006/main">
              <a:ext uri="{FF2B5EF4-FFF2-40B4-BE49-F238E27FC236}">
                <a16:creationId xmlns:a16="http://schemas.microsoft.com/office/drawing/2014/main" id="{CD6C5CA9-9F01-435F-A127-556DBEBB7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590800"/>
            <a:ext cx="1638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学习型元控制</a:t>
            </a:r>
          </a:p>
        </p:txBody>
      </p:sp>
      <p:sp>
        <p:nvSpPr>
          <p:cNvPr id="15" name="text-140">
            <a:extLst xmlns:a="http://schemas.openxmlformats.org/drawingml/2006/main">
              <a:ext uri="{FF2B5EF4-FFF2-40B4-BE49-F238E27FC236}">
                <a16:creationId xmlns:a16="http://schemas.microsoft.com/office/drawing/2014/main" id="{6D9436E9-657F-4313-872E-4A2251DDA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076575"/>
            <a:ext cx="1581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AUC .883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B7017D-7378-4B68-915C-C4E97B10C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914775"/>
            <a:ext cx="1866900" cy="1628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0E4"/>
            </a:solidFill>
          </a:ln>
        </p:spPr>
      </p:sp>
      <p:sp>
        <p:nvSpPr>
          <p:cNvPr id="17" name="text-141">
            <a:extLst xmlns:a="http://schemas.openxmlformats.org/drawingml/2006/main">
              <a:ext uri="{FF2B5EF4-FFF2-40B4-BE49-F238E27FC236}">
                <a16:creationId xmlns:a16="http://schemas.microsoft.com/office/drawing/2014/main" id="{3CAD7485-D6B7-418F-8E2F-91B8A15B0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038600"/>
            <a:ext cx="152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Y10</a:t>
            </a:r>
          </a:p>
        </p:txBody>
      </p:sp>
      <p:sp>
        <p:nvSpPr>
          <p:cNvPr id="18" name="text-142">
            <a:extLst xmlns:a="http://schemas.openxmlformats.org/drawingml/2006/main">
              <a:ext uri="{FF2B5EF4-FFF2-40B4-BE49-F238E27FC236}">
                <a16:creationId xmlns:a16="http://schemas.microsoft.com/office/drawing/2014/main" id="{9656E6F0-29D8-4EDC-B830-A38051494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505325"/>
            <a:ext cx="1638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分阶段技能</a:t>
            </a:r>
          </a:p>
        </p:txBody>
      </p:sp>
      <p:sp>
        <p:nvSpPr>
          <p:cNvPr id="19" name="text-143">
            <a:extLst xmlns:a="http://schemas.openxmlformats.org/drawingml/2006/main">
              <a:ext uri="{FF2B5EF4-FFF2-40B4-BE49-F238E27FC236}">
                <a16:creationId xmlns:a16="http://schemas.microsoft.com/office/drawing/2014/main" id="{B4C3F2C5-1701-4ED8-817F-FC284E9D6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991100"/>
            <a:ext cx="1581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AUC .988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8399E0-EDE2-4F26-BAB7-7356050E8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914775"/>
            <a:ext cx="1866900" cy="1628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14288">
            <a:solidFill>
              <a:srgbClr val="D9E0E4"/>
            </a:solidFill>
          </a:ln>
        </p:spPr>
      </p:sp>
      <p:sp>
        <p:nvSpPr>
          <p:cNvPr id="21" name="text-144">
            <a:extLst xmlns:a="http://schemas.openxmlformats.org/drawingml/2006/main">
              <a:ext uri="{FF2B5EF4-FFF2-40B4-BE49-F238E27FC236}">
                <a16:creationId xmlns:a16="http://schemas.microsoft.com/office/drawing/2014/main" id="{1063207A-1CC6-4B73-927F-584F0815D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038600"/>
            <a:ext cx="152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Y11</a:t>
            </a:r>
          </a:p>
        </p:txBody>
      </p:sp>
      <p:sp>
        <p:nvSpPr>
          <p:cNvPr id="22" name="text-145">
            <a:extLst xmlns:a="http://schemas.openxmlformats.org/drawingml/2006/main">
              <a:ext uri="{FF2B5EF4-FFF2-40B4-BE49-F238E27FC236}">
                <a16:creationId xmlns:a16="http://schemas.microsoft.com/office/drawing/2014/main" id="{4AACDF81-7837-471C-946C-299240716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505325"/>
            <a:ext cx="1638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共享技能</a:t>
            </a:r>
          </a:p>
        </p:txBody>
      </p:sp>
      <p:sp>
        <p:nvSpPr>
          <p:cNvPr id="23" name="text-146">
            <a:extLst xmlns:a="http://schemas.openxmlformats.org/drawingml/2006/main">
              <a:ext uri="{FF2B5EF4-FFF2-40B4-BE49-F238E27FC236}">
                <a16:creationId xmlns:a16="http://schemas.microsoft.com/office/drawing/2014/main" id="{3C19D1DD-E166-4E5C-8EC9-9B992D2E3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991100"/>
            <a:ext cx="1581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AUC .997</a:t>
            </a:r>
          </a:p>
        </p:txBody>
      </p:sp>
      <p:sp>
        <p:nvSpPr>
          <p:cNvPr id="24" name="text-147">
            <a:extLst xmlns:a="http://schemas.openxmlformats.org/drawingml/2006/main">
              <a:ext uri="{FF2B5EF4-FFF2-40B4-BE49-F238E27FC236}">
                <a16:creationId xmlns:a16="http://schemas.microsoft.com/office/drawing/2014/main" id="{84BF3013-78F0-4A60-B882-5FD1BAC19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333500"/>
            <a:ext cx="4048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first90 中位 / 环境步</a:t>
            </a:r>
          </a:p>
        </p:txBody>
      </p:sp>
      <p:graphicFrame>
        <p:nvGraphicFramePr>
          <p:cNvPr id="52" name="Chart"/>
          <p:cNvGraphicFramePr/>
          <p:nvPr/>
        </p:nvGraphicFramePr>
        <p:xfrm>
          <a:off xmlns:a="http://schemas.openxmlformats.org/drawingml/2006/main" x="6610350" y="2095500"/>
          <a:ext xmlns:a="http://schemas.openxmlformats.org/drawingml/2006/main" cx="5000625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eb7b10d2c194ae9"/>
          </a:graphicData>
        </a:graphic>
      </p:graphicFrame>
      <p:sp>
        <p:nvSpPr>
          <p:cNvPr id="26" name="text-148">
            <a:extLst xmlns:a="http://schemas.openxmlformats.org/drawingml/2006/main">
              <a:ext uri="{FF2B5EF4-FFF2-40B4-BE49-F238E27FC236}">
                <a16:creationId xmlns:a16="http://schemas.microsoft.com/office/drawing/2014/main" id="{BC72D88D-C61C-4117-95F5-AFEE005B0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600700"/>
            <a:ext cx="3238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QRM  AUC .972</a:t>
            </a:r>
          </a:p>
        </p:txBody>
      </p:sp>
      <p:sp>
        <p:nvSpPr>
          <p:cNvPr id="27" name="text-149">
            <a:extLst xmlns:a="http://schemas.openxmlformats.org/drawingml/2006/main">
              <a:ext uri="{FF2B5EF4-FFF2-40B4-BE49-F238E27FC236}">
                <a16:creationId xmlns:a16="http://schemas.microsoft.com/office/drawing/2014/main" id="{96A869B7-5295-4A23-A544-121345BBB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626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删失：Y00 有 30/720、Y01 有 10/720 次从未达标，中位数按达标者计</a:t>
            </a:r>
          </a:p>
        </p:txBody>
      </p:sp>
    </p:spTree>
    <p:extLst>
      <p:ext uri="{BB962C8B-B14F-4D97-AF65-F5344CB8AC3E}">
        <p14:creationId xmlns:p14="http://schemas.microsoft.com/office/powerpoint/2010/main" val="100434116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150">
            <a:extLst xmlns:a="http://schemas.openxmlformats.org/drawingml/2006/main">
              <a:ext uri="{FF2B5EF4-FFF2-40B4-BE49-F238E27FC236}">
                <a16:creationId xmlns:a16="http://schemas.microsoft.com/office/drawing/2014/main" id="{BB5A35E1-DBF8-4C8D-AAF6-305E67EB8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附录 · 危险格剂量扫描</a:t>
            </a:r>
          </a:p>
        </p:txBody>
      </p:sp>
      <p:sp>
        <p:nvSpPr>
          <p:cNvPr id="2" name="text-151">
            <a:extLst xmlns:a="http://schemas.openxmlformats.org/drawingml/2006/main">
              <a:ext uri="{FF2B5EF4-FFF2-40B4-BE49-F238E27FC236}">
                <a16:creationId xmlns:a16="http://schemas.microsoft.com/office/drawing/2014/main" id="{FAA0846C-58A2-47E3-82BF-717F7BF73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已知规则；固定步费协议；100 万步预算；逐种子记录已缺失，不能重算区间</a:t>
            </a:r>
          </a:p>
        </p:txBody>
      </p:sp>
      <p:sp>
        <p:nvSpPr>
          <p:cNvPr id="3" name="text-152">
            <a:extLst xmlns:a="http://schemas.openxmlformats.org/drawingml/2006/main">
              <a:ext uri="{FF2B5EF4-FFF2-40B4-BE49-F238E27FC236}">
                <a16:creationId xmlns:a16="http://schemas.microsoft.com/office/drawing/2014/main" id="{626B9901-2BA4-434A-B43C-16DF43B5A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15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866775" y="1371600"/>
          <a:ext xmlns:a="http://schemas.openxmlformats.org/drawingml/2006/main" cx="10525125" cy="40386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a412862ebe3474e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FC933A-57D2-4A79-BCF8-CC52CD010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562600"/>
            <a:ext cx="933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9E0E4"/>
            </a:solidFill>
          </a:ln>
        </p:spPr>
      </p:sp>
      <p:sp>
        <p:nvSpPr>
          <p:cNvPr id="6" name="text-153">
            <a:extLst xmlns:a="http://schemas.openxmlformats.org/drawingml/2006/main">
              <a:ext uri="{FF2B5EF4-FFF2-40B4-BE49-F238E27FC236}">
                <a16:creationId xmlns:a16="http://schemas.microsoft.com/office/drawing/2014/main" id="{67D0579E-7566-4067-BBCB-2B505A928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769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有技能无路由 0.882　≫　有路由无技能 0.106</a:t>
            </a:r>
          </a:p>
        </p:txBody>
      </p:sp>
      <p:sp>
        <p:nvSpPr>
          <p:cNvPr id="7" name="text-154">
            <a:extLst xmlns:a="http://schemas.openxmlformats.org/drawingml/2006/main">
              <a:ext uri="{FF2B5EF4-FFF2-40B4-BE49-F238E27FC236}">
                <a16:creationId xmlns:a16="http://schemas.microsoft.com/office/drawing/2014/main" id="{A8CB36A1-274A-40B5-8655-5787389B3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10275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不可逆性放大的是复用，不是路由（无危险格时两臂同为 100%）</a:t>
            </a:r>
          </a:p>
        </p:txBody>
      </p:sp>
    </p:spTree>
    <p:extLst>
      <p:ext uri="{BB962C8B-B14F-4D97-AF65-F5344CB8AC3E}">
        <p14:creationId xmlns:p14="http://schemas.microsoft.com/office/powerpoint/2010/main" val="20909422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2026-09-16T05:03:27.5340000Z</dcterms:created>
  <dcterms:modified xsi:type="dcterms:W3CDTF">2026-09-16T05:03:27.5340000Z</dcterms:modified>
</coreProperties>
</file>