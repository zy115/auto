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3.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4.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5.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6.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7.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8.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9.xml" ContentType="application/vnd.openxmlformats-officedocument.drawingml.chart+xml"/>
  <Override PartName="/ppt/slides/charts/chart10.xml" ContentType="application/vnd.openxmlformats-officedocument.drawingml.chart+xml"/>
  <Override PartName="/ppt/slides/charts/chart11.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12.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13.xml" ContentType="application/vnd.openxmlformats-officedocument.drawingml.chart+xml"/>
  <Override PartName="/ppt/notesSlides/notesSlide1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c00b2ecf2354ad2" /><Relationship Type="http://schemas.openxmlformats.org/officeDocument/2006/relationships/extended-properties" Target="/docProps/app.xml" Id="Rca5a8bec27514fc8" /><Relationship Type="http://schemas.openxmlformats.org/officeDocument/2006/relationships/officeDocument" Target="/ppt/presentation.xml" Id="R255095725e304a48" /></Relationships>
</file>

<file path=ppt/presentation.xml><?xml version="1.0" encoding="utf-8"?>
<p:presentation xmlns:p="http://schemas.openxmlformats.org/presentationml/2006/main">
  <p:sldMasterIdLst>
    <p:sldMasterId xmlns:r="http://schemas.openxmlformats.org/officeDocument/2006/relationships" id="2147483648" r:id="Rd6265c73e8594893"/>
  </p:sldMasterIdLst>
  <p:notesMasterIdLst>
    <p:notesMasterId xmlns:r="http://schemas.openxmlformats.org/officeDocument/2006/relationships" r:id="R42d7210f72c14dd0"/>
  </p:notesMasterIdLst>
  <p:sldIdLst>
    <p:sldId xmlns:r="http://schemas.openxmlformats.org/officeDocument/2006/relationships" id="256" r:id="Rddc21d8e2d0e44f5"/>
    <p:sldId xmlns:r="http://schemas.openxmlformats.org/officeDocument/2006/relationships" id="257" r:id="R43db1550773a45f8"/>
    <p:sldId xmlns:r="http://schemas.openxmlformats.org/officeDocument/2006/relationships" id="258" r:id="R2ddb20d0017941b9"/>
    <p:sldId xmlns:r="http://schemas.openxmlformats.org/officeDocument/2006/relationships" id="259" r:id="Re1c27b1b10be4faa"/>
    <p:sldId xmlns:r="http://schemas.openxmlformats.org/officeDocument/2006/relationships" id="260" r:id="Rdb236c9a0cde4af5"/>
    <p:sldId xmlns:r="http://schemas.openxmlformats.org/officeDocument/2006/relationships" id="261" r:id="Rcf4493d94428435d"/>
    <p:sldId xmlns:r="http://schemas.openxmlformats.org/officeDocument/2006/relationships" id="262" r:id="Ra987ef34389546ef"/>
    <p:sldId xmlns:r="http://schemas.openxmlformats.org/officeDocument/2006/relationships" id="263" r:id="R06b4d2cfbdae444b"/>
    <p:sldId xmlns:r="http://schemas.openxmlformats.org/officeDocument/2006/relationships" id="264" r:id="R2ab30b3151e74e6b"/>
    <p:sldId xmlns:r="http://schemas.openxmlformats.org/officeDocument/2006/relationships" id="265" r:id="R3bf5c2f0c5b24903"/>
    <p:sldId xmlns:r="http://schemas.openxmlformats.org/officeDocument/2006/relationships" id="266" r:id="R4e2e33dd98224ec0"/>
    <p:sldId xmlns:r="http://schemas.openxmlformats.org/officeDocument/2006/relationships" id="267" r:id="R3bcf9de561a848b4"/>
    <p:sldId xmlns:r="http://schemas.openxmlformats.org/officeDocument/2006/relationships" id="268" r:id="R652b2f25ff6c4381"/>
    <p:sldId xmlns:r="http://schemas.openxmlformats.org/officeDocument/2006/relationships" id="269" r:id="R09e5f7581bcf4875"/>
    <p:sldId xmlns:r="http://schemas.openxmlformats.org/officeDocument/2006/relationships" id="270" r:id="R9ffaf3cd21b54cbc"/>
    <p:sldId xmlns:r="http://schemas.openxmlformats.org/officeDocument/2006/relationships" id="271" r:id="R92f1b6108292449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1dbb8ba5cdb46d0" /><Relationship Type="http://schemas.openxmlformats.org/officeDocument/2006/relationships/slideMaster" Target="/ppt/slideMasters/slideMaster1.xml" Id="Rd6265c73e8594893" /><Relationship Type="http://schemas.openxmlformats.org/officeDocument/2006/relationships/notesMaster" Target="/ppt/notesMasters/notesMaster1.xml" Id="R42d7210f72c14dd0" /><Relationship Type="http://schemas.openxmlformats.org/officeDocument/2006/relationships/presProps" Target="/ppt/presProps.xml" Id="R731b8f2cbea94f9e" /><Relationship Type="http://schemas.openxmlformats.org/officeDocument/2006/relationships/tableStyles" Target="/ppt/tableStyles.xml" Id="R92d8f48732744918" /><Relationship Type="http://schemas.openxmlformats.org/officeDocument/2006/relationships/slide" Target="/ppt/slides/slide1.xml" Id="Rddc21d8e2d0e44f5" /><Relationship Type="http://schemas.openxmlformats.org/officeDocument/2006/relationships/slide" Target="/ppt/slides/slide2.xml" Id="R43db1550773a45f8" /><Relationship Type="http://schemas.openxmlformats.org/officeDocument/2006/relationships/slide" Target="/ppt/slides/slide3.xml" Id="R2ddb20d0017941b9" /><Relationship Type="http://schemas.openxmlformats.org/officeDocument/2006/relationships/slide" Target="/ppt/slides/slide4.xml" Id="Re1c27b1b10be4faa" /><Relationship Type="http://schemas.openxmlformats.org/officeDocument/2006/relationships/slide" Target="/ppt/slides/slide5.xml" Id="Rdb236c9a0cde4af5" /><Relationship Type="http://schemas.openxmlformats.org/officeDocument/2006/relationships/slide" Target="/ppt/slides/slide6.xml" Id="Rcf4493d94428435d" /><Relationship Type="http://schemas.openxmlformats.org/officeDocument/2006/relationships/slide" Target="/ppt/slides/slide7.xml" Id="Ra987ef34389546ef" /><Relationship Type="http://schemas.openxmlformats.org/officeDocument/2006/relationships/slide" Target="/ppt/slides/slide8.xml" Id="R06b4d2cfbdae444b" /><Relationship Type="http://schemas.openxmlformats.org/officeDocument/2006/relationships/slide" Target="/ppt/slides/slide9.xml" Id="R2ab30b3151e74e6b" /><Relationship Type="http://schemas.openxmlformats.org/officeDocument/2006/relationships/slide" Target="/ppt/slides/slide10.xml" Id="R3bf5c2f0c5b24903" /><Relationship Type="http://schemas.openxmlformats.org/officeDocument/2006/relationships/slide" Target="/ppt/slides/slide11.xml" Id="R4e2e33dd98224ec0" /><Relationship Type="http://schemas.openxmlformats.org/officeDocument/2006/relationships/slide" Target="/ppt/slides/slide12.xml" Id="R3bcf9de561a848b4" /><Relationship Type="http://schemas.openxmlformats.org/officeDocument/2006/relationships/slide" Target="/ppt/slides/slide13.xml" Id="R652b2f25ff6c4381" /><Relationship Type="http://schemas.openxmlformats.org/officeDocument/2006/relationships/slide" Target="/ppt/slides/slide14.xml" Id="R09e5f7581bcf4875" /><Relationship Type="http://schemas.openxmlformats.org/officeDocument/2006/relationships/slide" Target="/ppt/slides/slide15.xml" Id="R9ffaf3cd21b54cbc" /><Relationship Type="http://schemas.openxmlformats.org/officeDocument/2006/relationships/slide" Target="/ppt/slides/slide16.xml" Id="R92f1b6108292449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50154a2e6af4f6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6b7f2d17c444ffc" /><Relationship Type="http://schemas.openxmlformats.org/officeDocument/2006/relationships/notesMaster" Target="/ppt/notesMasters/notesMaster1.xml" Id="R0a509e34adbf4ca6" /></Relationships>
</file>

<file path=ppt/notesSlides/_rels/notesSlide2.xml.rels>&#65279;<?xml version="1.0" encoding="utf-8"?><Relationships xmlns="http://schemas.openxmlformats.org/package/2006/relationships"><Relationship Type="http://schemas.openxmlformats.org/officeDocument/2006/relationships/slide" Target="/ppt/slides/slide2.xml" Id="Rd4e9d7bef58940db" /><Relationship Type="http://schemas.openxmlformats.org/officeDocument/2006/relationships/notesMaster" Target="/ppt/notesMasters/notesMaster1.xml" Id="R18f8e06c50cc4254" /></Relationships>
</file>

<file path=ppt/notesSlides/_rels/notesSlide3.xml.rels>&#65279;<?xml version="1.0" encoding="utf-8"?><Relationships xmlns="http://schemas.openxmlformats.org/package/2006/relationships"><Relationship Type="http://schemas.openxmlformats.org/officeDocument/2006/relationships/slide" Target="/ppt/slides/slide3.xml" Id="Rb92cc8db2bdf468f" /><Relationship Type="http://schemas.openxmlformats.org/officeDocument/2006/relationships/notesMaster" Target="/ppt/notesMasters/notesMaster1.xml" Id="R8c2c50778c0c423a" /></Relationships>
</file>

<file path=ppt/notesSlides/_rels/notesSlide4.xml.rels>&#65279;<?xml version="1.0" encoding="utf-8"?><Relationships xmlns="http://schemas.openxmlformats.org/package/2006/relationships"><Relationship Type="http://schemas.openxmlformats.org/officeDocument/2006/relationships/slide" Target="/ppt/slides/slide4.xml" Id="Ra65b4913adac4755" /><Relationship Type="http://schemas.openxmlformats.org/officeDocument/2006/relationships/notesMaster" Target="/ppt/notesMasters/notesMaster1.xml" Id="Rbee8677c497341a1" /></Relationships>
</file>

<file path=ppt/notesSlides/_rels/notesSlide5.xml.rels>&#65279;<?xml version="1.0" encoding="utf-8"?><Relationships xmlns="http://schemas.openxmlformats.org/package/2006/relationships"><Relationship Type="http://schemas.openxmlformats.org/officeDocument/2006/relationships/slide" Target="/ppt/slides/slide5.xml" Id="R212455ee2532413d" /><Relationship Type="http://schemas.openxmlformats.org/officeDocument/2006/relationships/notesMaster" Target="/ppt/notesMasters/notesMaster1.xml" Id="R5c7f723baab74983" /></Relationships>
</file>

<file path=ppt/notesSlides/_rels/notesSlide6.xml.rels>&#65279;<?xml version="1.0" encoding="utf-8"?><Relationships xmlns="http://schemas.openxmlformats.org/package/2006/relationships"><Relationship Type="http://schemas.openxmlformats.org/officeDocument/2006/relationships/slide" Target="/ppt/slides/slide6.xml" Id="R88d5e34c854345db" /><Relationship Type="http://schemas.openxmlformats.org/officeDocument/2006/relationships/notesMaster" Target="/ppt/notesMasters/notesMaster1.xml" Id="R6e9bc9c2c99741b1" /></Relationships>
</file>

<file path=ppt/notesSlides/_rels/notesSlide7.xml.rels>&#65279;<?xml version="1.0" encoding="utf-8"?><Relationships xmlns="http://schemas.openxmlformats.org/package/2006/relationships"><Relationship Type="http://schemas.openxmlformats.org/officeDocument/2006/relationships/slide" Target="/ppt/slides/slide7.xml" Id="R417678b745a847fd" /><Relationship Type="http://schemas.openxmlformats.org/officeDocument/2006/relationships/notesMaster" Target="/ppt/notesMasters/notesMaster1.xml" Id="R0bfb0be3806542f2" /></Relationships>
</file>

<file path=ppt/notesSlides/_rels/notesSlide8.xml.rels>&#65279;<?xml version="1.0" encoding="utf-8"?><Relationships xmlns="http://schemas.openxmlformats.org/package/2006/relationships"><Relationship Type="http://schemas.openxmlformats.org/officeDocument/2006/relationships/slide" Target="/ppt/slides/slide8.xml" Id="Ra3a0b9aba052405a" /><Relationship Type="http://schemas.openxmlformats.org/officeDocument/2006/relationships/notesMaster" Target="/ppt/notesMasters/notesMaster1.xml" Id="R25aa6430c03144e8" /></Relationships>
</file>

<file path=ppt/notesSlides/_rels/notesSlide9.xml.rels>&#65279;<?xml version="1.0" encoding="utf-8"?><Relationships xmlns="http://schemas.openxmlformats.org/package/2006/relationships"><Relationship Type="http://schemas.openxmlformats.org/officeDocument/2006/relationships/slide" Target="/ppt/slides/slide9.xml" Id="R11794bafe80f4d31" /><Relationship Type="http://schemas.openxmlformats.org/officeDocument/2006/relationships/notesMaster" Target="/ppt/notesMasters/notesMaster1.xml" Id="R4976081ef10c447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d4940cba3044601" /><Relationship Type="http://schemas.openxmlformats.org/officeDocument/2006/relationships/notesMaster" Target="/ppt/notesMasters/notesMaster1.xml" Id="R15160d1dd75141c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f99a29008614544" /><Relationship Type="http://schemas.openxmlformats.org/officeDocument/2006/relationships/notesMaster" Target="/ppt/notesMasters/notesMaster1.xml" Id="R4578a89c4bf04cc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db9dd81e43d4efc" /><Relationship Type="http://schemas.openxmlformats.org/officeDocument/2006/relationships/notesMaster" Target="/ppt/notesMasters/notesMaster1.xml" Id="R0186fc948211476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4297b5c9fd942aa" /><Relationship Type="http://schemas.openxmlformats.org/officeDocument/2006/relationships/notesMaster" Target="/ppt/notesMasters/notesMaster1.xml" Id="Rbe1140eaefb049a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0e8ce46dd874178" /><Relationship Type="http://schemas.openxmlformats.org/officeDocument/2006/relationships/notesMaster" Target="/ppt/notesMasters/notesMaster1.xml" Id="Rabc8c8d35daf4da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3ec709702384b1e" /><Relationship Type="http://schemas.openxmlformats.org/officeDocument/2006/relationships/notesMaster" Target="/ppt/notesMasters/notesMaster1.xml" Id="R51a399411ea4475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3ccd44ed77a4a01" /><Relationship Type="http://schemas.openxmlformats.org/officeDocument/2006/relationships/notesMaster" Target="/ppt/notesMasters/notesMaster1.xml" Id="Raedb8517dc6549b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problem is discovering a hidden task order or logic, not goal discovery with no task signal at all. Events are identifiable and the early experiments provide reliable step-by-step advance feedback. The grid drawing is a mechanism sketch only and does not correspond to any specific experimental map.</a:t>
            </a:r>
          </a:p>
          <a:p xmlns:a="http://schemas.openxmlformats.org/drawingml/2006/main">
            <a:r>
              <a:t/>
            </a:r>
          </a:p>
          <a:p xmlns:a="http://schemas.openxmlformats.org/drawingml/2006/main">
            <a:r>
              <a:t>Source: /Users/yuhang/Downloads/why TL/research/2026-09-15-memory-compression-audit/PROJECT_STATUS.md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6: length 16, action noise, a second batch of 32 fresh seeds. Left chart is the mean environment steps to first reach a 90% success rate. Right chart is the mean steps accumulated inside the already-confirmed goal prefix before the first full success; the two observation windows differ, so they must not be subtracted or read as an exact decomposition of total cost. All three methods do 9 Bellman updates per step; epsilon is 0.005 for immediate and delayed and 0.05 for plain replay (chosen on a dev set). No claim is made of beating ISA or other existing methods. Almost all of the saving comes from no longer re-walking the known prefix, not from exploration becoming smarter.</a:t>
            </a:r>
          </a:p>
          <a:p xmlns:a="http://schemas.openxmlformats.org/drawingml/2006/main">
            <a:r>
              <a:t/>
            </a:r>
          </a:p>
          <a:p xmlns:a="http://schemas.openxmlformats.org/drawingml/2006/main">
            <a:r>
              <a:t>Source: /Users/yuhang/Downloads/why TL/progressive_task_discovery/REPORT.md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Left: in a linear sequence the progress count already identifies the current stage, so a stage-to-next-goal list suffices; the first positive result therefore cannot prove the value of general automaton learning. Right: A-then-E and B-then-E arrive at the same physical location with progress 2 and the same last event E, yet require different continuations; the two E boxes denote task states under different histories, not two physical locations. A prefix tree and a sufficient-history dictionary are identical action for action under matched inputs and random numbers, so the value does not come from the graph form. The coffee example is an isomorphic intuition aid, not a task used in any experiment: A and B are two different first steps (boil water / take cold water) and E is the one action both share (pour over grounds).</a:t>
            </a:r>
          </a:p>
          <a:p xmlns:a="http://schemas.openxmlformats.org/drawingml/2006/main">
            <a:r>
              <a:t/>
            </a:r>
          </a:p>
          <a:p xmlns:a="http://schemas.openxmlformats.org/drawingml/2006/main">
            <a:r>
              <a:t>Source: /Users/yuhang/Downloads/why TL/progressive_task_discovery/stage7_branching/REPORT.md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Parts-task rule: if A comes before B choose X, otherwise choose Y; the positions of the other parts are irrelevant. The full order is supplied by the environment and the agent makes a single binary choice at the end. The figure states equivalence of that terminal decision; it does not claim every intermediate prefix is equivalent in environment state. The correct automaton and an equivalent hand-written program use the same state partition. What has to be learned is not remembering the procedure but which histories may share future experience.</a:t>
            </a:r>
          </a:p>
          <a:p xmlns:a="http://schemas.openxmlformats.org/drawingml/2006/main">
            <a:r>
              <a:t/>
            </a:r>
          </a:p>
          <a:p xmlns:a="http://schemas.openxmlformats.org/drawingml/2006/main">
            <a:r>
              <a:t>Source: /Users/yuhang/Downloads/why TL/AUTO/docs/MEMORY_COMPRESSION_PILOT.md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400 paired seeds per size, 5000 episodes per method. T95 is the episode at which accuracy first reaches and then holds at least 95% at later checkpoints; the main comparisons in this batch have no censoring, so RMST equals mean T95. The compression equivalence was supplied by the designer. Full history and correct compression use the same Q-learning. The automaton and the equivalent hand-written program agree seed by seed and checkpoint by checkpoint. Ratios come from unrounded means. The magnitude has a closed-form account: Q for the wrong action stays 0 and the right action becomes 1 after its first positive reward, after which that state is always answered correctly; uncovered states tie at random and are right half the time, so accuracy = (H+c)/2H and reaching 95% needs c &gt;= 0.9H. With i covered, the chance of covering one more is (H-i)/(2H) and the expected wait is 2H/(H-i); summing gives sum(2H/(H-i), i=0..ceil(0.9H)-1). H = 6/24/120 gives 29.40/109.25/543.76 episodes and H = 2 after compression gives 6.0, a theoretical factor of 90.63x against an observed 89.75x. The large factor comes from how many table entries must be filled and needs no extra mechanism.</a:t>
            </a:r>
          </a:p>
          <a:p xmlns:a="http://schemas.openxmlformats.org/drawingml/2006/main">
            <a:r>
              <a:t/>
            </a:r>
          </a:p>
          <a:p xmlns:a="http://schemas.openxmlformats.org/drawingml/2006/main">
            <a:r>
              <a:t>Source: /Users/yuhang/Downloads/why TL/AUTO/results/runs/memory_compression_pilot_5k.md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Step 35: 8 task families at n=3, 792 queries. The baseline trajectory is fixed and each query is replayed using only the evidence available at that moment; these merges were never wired into a controller and there is no corresponding learning curve. k_min is the smallest machine state count the evidence at that moment allows, and +1 relaxes that bound. Savings count only the redundant part (134/792); a further 102 reuses landed on necessary queries, which is replacement rather than saving. The acceptance criteria were written before the run: query saving &gt;= 20% and wrong sharing near zero. All three failed. Assigning all 53 solver timeouts to Occam raises the saving ceiling to 23.6%, still short. Online k_min is 8-12 while the true state count is 19-27, so with little evidence the minimum machine over-merges heavily; that is the whole reason the offline 97.6% precision does not reproduce online. Verdict accuracy of 80.1% / 77.3% is in the appendix: it exceeds attribution accuracy because many wrong attributions happen to give the same verdict.</a:t>
            </a:r>
          </a:p>
          <a:p xmlns:a="http://schemas.openxmlformats.org/drawingml/2006/main">
            <a:r>
              <a:t/>
            </a:r>
          </a:p>
          <a:p xmlns:a="http://schemas.openxmlformats.org/drawingml/2006/main">
            <a:r>
              <a:t>Source: /Users/yuhang/Downloads/why TL/progressive_task_discovery/stage8_compression/REPORT_STEP35.md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latest parts pilot uses 400 seeds per size. During training and before the rule is uniquely identified, the immediate method achieves on average 0.1225, 0.4525 and 0.635 more successes than the delayed method. These are not the greedy-evaluation cumulative expectations of 0.137/0.533/0.696. Accuracy is below 95% before identification, and after identification the two arms are identical in this implementation, so T95 has no discriminating power; that necessity holds only for this rule family, deterministic feedback, and these update and threshold settings. In the active task, invoking skills early changes which suffixes are reached; in the passive task each episode presents an independently drawn permutation and the action does not affect the next piece of evidence. This does not establish that every early-use benefit must rest on active evidence acquisition, and it does not overturn the result on page 2.</a:t>
            </a:r>
          </a:p>
          <a:p xmlns:a="http://schemas.openxmlformats.org/drawingml/2006/main">
            <a:r>
              <a:t/>
            </a:r>
          </a:p>
          <a:p xmlns:a="http://schemas.openxmlformats.org/drawingml/2006/main">
            <a:r>
              <a:t>Source: /Users/yuhang/Downloads/why TL/research/2026-09-15-memory-compression-audit/REVIEW.md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Spoken: once you have the structure a second question remains, namely whether it only tells you the current goal or can also let different stages share control experience. This group all has the task rules given and does not involve learning while building. Left 2x2: Y00 has neither mechanism, Y01 uses a learned meta-controller over shared skills (reuse without routing), Y10 routes by the true rules but keeps skills separate per task state (routing without reuse), and Y11 has both. 24 families x 30 seeds x 5 arms, budget 200000 steps. The original AUC reading that routing overwhelmingly beats reuse was withdrawn in Step 38 because of ceiling effects; this page ranks no mechanism, and full AUC and first90 are in the appendix. Right is the Step 38.5 dose sweep: expensive navigation, task rules given, training budget 1000000 environment steps, attainment rate being the fraction of runs reaching 90% success within budget. The per-seed raw data of that sweep was later confirmed lost, so intervals cannot be recomputed. The Step 40 grid shows that step cost changes the QRM ordering and shrinks the risk interaction, so this must not be read as a protocol-independent effect size. The bottom line is taken from REPORT_STEP38_5 lines 125-126.</a:t>
            </a:r>
          </a:p>
          <a:p xmlns:a="http://schemas.openxmlformats.org/drawingml/2006/main">
            <a:r>
              <a:t/>
            </a:r>
          </a:p>
          <a:p xmlns:a="http://schemas.openxmlformats.org/drawingml/2006/main">
            <a:r>
              <a:t>Source: /Users/yuhang/Downloads/why TL/progressive_task_discovery/stage8_compression/REPORT_STEP36.md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three layers are not one integrated general algorithm. Structure discovery has a positive result for a restricted unknown-order loop; state abstraction has a clear gain from known correct compression while reliable online merging is unsolved; structure use shows conditional gains for routing and sharing, but general mechanism attribution, protocol and task scope remain open. No general method beating ISA and others has been established, and no claim is made that automaton syntax beats an equivalent hand-written implementation.</a:t>
            </a:r>
          </a:p>
          <a:p xmlns:a="http://schemas.openxmlformats.org/drawingml/2006/main">
            <a:r>
              <a:t/>
            </a:r>
          </a:p>
          <a:p xmlns:a="http://schemas.openxmlformats.org/drawingml/2006/main">
            <a:r>
              <a:t>Source: /Users/yuhang/Downloads/why TL/research/2026-09-15-memory-compression-audit/PROJECT_STATUS.md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line ends here. The six pages that follow cover the feedback budget, the equivalence of prefix tree and history dictionary, the closed-form account of the compression factor, the full definitions for the merge audit, the full five-arm numbers, and the complete hazard dose curve.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Raw archive AUTO/discovery/results/verify.jsonl.gz: at budgets 40/80/160/320 the runs with first90 &lt; 200000 are 1/61/131/144 out of 144. At budget 160 only 127/144 still hold at or above 90% at the end; this chart measures ever having attained, not final success rate. The controller reads local evidence by history node and merging is disabled. One must not infer from the final tree node count that a near-complete structure is required before it can be used: the nodes field records the size of the history prefix tree rather than the compressed state count, and it is written at the end of the run; the real compressed state count, classes, was never archived.</a:t>
            </a:r>
          </a:p>
          <a:p xmlns:a="http://schemas.openxmlformats.org/drawingml/2006/main">
            <a:r>
              <a:t/>
            </a:r>
          </a:p>
          <a:p xmlns:a="http://schemas.openxmlformats.org/drawingml/2006/main">
            <a:r>
              <a:t>Source: /Users/yuhang/Downloads/why TL/AUTO/discovery/src/run_verify.py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prefix tree and a dictionary over full successful event histories are identical action for action under matched inputs and random numbers. The dictionary holds sufficient history and does not store only progress or the last event. This compares representations and does not involve merging different histories. The value of the automaton therefore does not come from drawing a graph but from whether equivalent histories can later be merged.</a:t>
            </a:r>
          </a:p>
          <a:p xmlns:a="http://schemas.openxmlformats.org/drawingml/2006/main">
            <a:r>
              <a:t/>
            </a:r>
          </a:p>
          <a:p xmlns:a="http://schemas.openxmlformats.org/drawingml/2006/main">
            <a:r>
              <a:t>Source: /Users/yuhang/Downloads/why TL/progressive_task_discovery/stage7_branching/REPORT.md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Within these clean states Q for the wrong action stays 0 and the right action becomes 1 once it receives a single positive reward, after which greedy evaluation answers that state correctly; states with no positive reward remain tied at random. If the number of full histories is H then accuracy = (H+c)/2H and reaching 95% needs c &gt;= ceil(0.9H). Under iid uniform permutations and the present initialisation, with i covered the chance of covering one more is (H-i)/(2H) and the expected wait is 2H/(H-i); summing gives sum(2H/(H-i), i=0..ceil(0.9H)-1). H = 6/24/120 gives 29.40/109.25/543.76 episodes and H = 2 after compression gives 6.0. Theoretical factor 90.63x against an observed 89.75x. Formal T95 is recorded at checkpoints and may land slightly later than the exact per-episode moment. This shows the large factor is explained by a clear repeated table-filling mechanism and needs no extra assumption.</a:t>
            </a:r>
          </a:p>
          <a:p xmlns:a="http://schemas.openxmlformats.org/drawingml/2006/main">
            <a:r>
              <a:t/>
            </a:r>
          </a:p>
          <a:p xmlns:a="http://schemas.openxmlformats.org/drawingml/2006/main">
            <a:r>
              <a:t>Source: /Users/yuhang/Downloads/why TL/research/2026-09-15-memory-compression-audit/REVIEW.md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Step 35: 8 task families at n=3, 792 queries, of which 313 (39.5%) were redundant. Under k_min, 236 merges were forced: 47 wrong verdicts give a verdict accuracy of 80.1%, 140 wrong attributions give an attribution accuracy of 40.7%, and the saving is 134/792 = 16.9%. Under k_min+1 there were 22 reuses with 5 wrong verdicts and 8 wrong attributions, saving 14/792 = 1.8%. Verdict accuracy exceeds attribution accuracy because many wrong attributions happen to give the same verdict, and that luck does not survive the next event. A further 102 reuses landed on necessary queries, which is replacement rather than saving and is not counted in the 16.9%.</a:t>
            </a:r>
          </a:p>
          <a:p xmlns:a="http://schemas.openxmlformats.org/drawingml/2006/main">
            <a:r>
              <a:t/>
            </a:r>
          </a:p>
          <a:p xmlns:a="http://schemas.openxmlformats.org/drawingml/2006/main">
            <a:r>
              <a:t>Source: /Users/yuhang/Downloads/why TL/progressive_task_discovery/stage8_compression/REPORT_STEP35.md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 families x 30 seeds x 5 arms, budget 200000 steps. first90 is the median and AUC is the area under the success-rate curve. The original AUC reading that routing overwhelmingly beats reuse was withdrawn in Step 38 because of ceiling effects. Censoring: in the raw archive results/factorial.json there are 40 runs with first90 = -1, all in Y00 (30/720) and Y01 (10/720), with none in Y10, Y11 or QRM. The medians on this page are over attainers only; if -1 is recorded as the budget of 200000 the Y00 median becomes 41000 rather than 38500, so dropping them flatters Y00 and Y01 and makes the comparison conservative. The report once gave sample-complexity main effects of 6.39x for routing and 5.34x for reuse; these could not be reproduced from the archive this time (recording -1 as the budget gives 9.03x and 4.50x), so that reading is not shown.</a:t>
            </a:r>
          </a:p>
          <a:p xmlns:a="http://schemas.openxmlformats.org/drawingml/2006/main">
            <a:r>
              <a:t/>
            </a:r>
          </a:p>
          <a:p xmlns:a="http://schemas.openxmlformats.org/drawingml/2006/main">
            <a:r>
              <a:t>Source: /Users/yuhang/Downloads/why TL/progressive_task_discovery/stage8_compression/REPORT_STEP36.md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Step 38.5 dose sweep, expensive navigation, own derived simulator, task rules given, training budget 1000000 environment steps. Attainment rate is the fraction of runs reaching 90% success within budget. The per-seed raw data of this sweep was later confirmed lost, so confidence intervals cannot be recomputed. The Step 40 grid archives every run: step cost changes the QRM ordering and shrinks the risk interaction effect, so this page must not be taken as a protocol-independent effect size. Whatever graph-theoretic paths exist, hazard cells may force successful trajectories to detour, and no claim is made here that geometric difficulty is unchanged. The bottom line is taken from REPORT_STEP38_5 lines 125-126.</a:t>
            </a:r>
          </a:p>
          <a:p xmlns:a="http://schemas.openxmlformats.org/drawingml/2006/main">
            <a:r>
              <a:t/>
            </a:r>
          </a:p>
          <a:p xmlns:a="http://schemas.openxmlformats.org/drawingml/2006/main">
            <a:r>
              <a:t>Source: /Users/yuhang/Downloads/why TL/progressive_task_discovery/stage8_compression/REPORT_STEP38_5.md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e02aad9c701485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a184364136f4656" /><Relationship Type="http://schemas.openxmlformats.org/officeDocument/2006/relationships/slideLayout" Target="/ppt/slideLayouts/slideLayout1.xml" Id="R642739dd882647e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42739dd882647e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a17e8e3d5dc46ee" /><Relationship Type="http://schemas.openxmlformats.org/officeDocument/2006/relationships/notesSlide" Target="/ppt/notesSlides/notesSlide1.xml" Id="Ra26ce59ca3dc498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b3122a85bf24783" /><Relationship Type="http://schemas.openxmlformats.org/officeDocument/2006/relationships/chart" Target="/ppt/slides/charts/chart1.xml" Id="R107a6552daa44d83" /><Relationship Type="http://schemas.openxmlformats.org/officeDocument/2006/relationships/chart" Target="/ppt/slides/charts/chart2.xml" Id="R439adc485d5c4a03" /><Relationship Type="http://schemas.openxmlformats.org/officeDocument/2006/relationships/notesSlide" Target="/ppt/notesSlides/notesSlide2.xml" Id="R0ad340fa92e245c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d861b94cf754ed6" /><Relationship Type="http://schemas.openxmlformats.org/officeDocument/2006/relationships/notesSlide" Target="/ppt/notesSlides/notesSlide3.xml" Id="R1ca98dbd82ff42a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3e954c8d74a42a5" /><Relationship Type="http://schemas.openxmlformats.org/officeDocument/2006/relationships/notesSlide" Target="/ppt/notesSlides/notesSlide4.xml" Id="R681e0a48819c4ad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85627d4bdb045a4" /><Relationship Type="http://schemas.openxmlformats.org/officeDocument/2006/relationships/chart" Target="/ppt/slides/charts/chart3.xml" Id="R772dc7a373d348f2" /><Relationship Type="http://schemas.openxmlformats.org/officeDocument/2006/relationships/notesSlide" Target="/ppt/notesSlides/notesSlide5.xml" Id="R0655ab8dae0648b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79c9e0643b346d9" /><Relationship Type="http://schemas.openxmlformats.org/officeDocument/2006/relationships/chart" Target="/ppt/slides/charts/chart4.xml" Id="R38d468e444674ff2" /><Relationship Type="http://schemas.openxmlformats.org/officeDocument/2006/relationships/notesSlide" Target="/ppt/notesSlides/notesSlide6.xml" Id="R7860c7b1d25c462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57e005b0a144d46" /><Relationship Type="http://schemas.openxmlformats.org/officeDocument/2006/relationships/chart" Target="/ppt/slides/charts/chart5.xml" Id="R07061ed6d15c4c46" /><Relationship Type="http://schemas.openxmlformats.org/officeDocument/2006/relationships/notesSlide" Target="/ppt/notesSlides/notesSlide7.xml" Id="R34437f60cf75411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008e090ef9f4891" /><Relationship Type="http://schemas.openxmlformats.org/officeDocument/2006/relationships/chart" Target="/ppt/slides/charts/chart6.xml" Id="R405ed9f41f4b4de1" /><Relationship Type="http://schemas.openxmlformats.org/officeDocument/2006/relationships/notesSlide" Target="/ppt/notesSlides/notesSlide8.xml" Id="R9a64e3d86294413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293038ffacf4f15" /><Relationship Type="http://schemas.openxmlformats.org/officeDocument/2006/relationships/notesSlide" Target="/ppt/notesSlides/notesSlide9.xml" Id="Rc19624d4e0b44fe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a41a88379f646e1" /><Relationship Type="http://schemas.openxmlformats.org/officeDocument/2006/relationships/notesSlide" Target="/ppt/notesSlides/notesSlide10.xml" Id="Rf3f922084a2b4fe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c720f38a0764cfd" /><Relationship Type="http://schemas.openxmlformats.org/officeDocument/2006/relationships/chart" Target="/ppt/slides/charts/chart7.xml" Id="R4fdf189ab6294dbe" /><Relationship Type="http://schemas.openxmlformats.org/officeDocument/2006/relationships/notesSlide" Target="/ppt/notesSlides/notesSlide11.xml" Id="Re48725276496492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432ab62c56c4771" /><Relationship Type="http://schemas.openxmlformats.org/officeDocument/2006/relationships/notesSlide" Target="/ppt/notesSlides/notesSlide12.xml" Id="R867bc2026ac44bb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4bf638725f2481c" /><Relationship Type="http://schemas.openxmlformats.org/officeDocument/2006/relationships/chart" Target="/ppt/slides/charts/chart8.xml" Id="Rcb01e11fc3b64489" /><Relationship Type="http://schemas.openxmlformats.org/officeDocument/2006/relationships/notesSlide" Target="/ppt/notesSlides/notesSlide13.xml" Id="R44bb6444c432443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ebf5b4fa9794203" /><Relationship Type="http://schemas.openxmlformats.org/officeDocument/2006/relationships/chart" Target="/ppt/slides/charts/chart9.xml" Id="Rf0778cfa81284c98" /><Relationship Type="http://schemas.openxmlformats.org/officeDocument/2006/relationships/chart" Target="/ppt/slides/charts/chart10.xml" Id="Rd20004997c4a4729" /><Relationship Type="http://schemas.openxmlformats.org/officeDocument/2006/relationships/chart" Target="/ppt/slides/charts/chart11.xml" Id="R306b6453ac5449d4" /><Relationship Type="http://schemas.openxmlformats.org/officeDocument/2006/relationships/notesSlide" Target="/ppt/notesSlides/notesSlide14.xml" Id="Rd5683d235564424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7c752c326bb47d4" /><Relationship Type="http://schemas.openxmlformats.org/officeDocument/2006/relationships/chart" Target="/ppt/slides/charts/chart12.xml" Id="Rbf996e172db34f19" /><Relationship Type="http://schemas.openxmlformats.org/officeDocument/2006/relationships/notesSlide" Target="/ppt/notesSlides/notesSlide15.xml" Id="R681bf8492a1248c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281233e475e4c03" /><Relationship Type="http://schemas.openxmlformats.org/officeDocument/2006/relationships/chart" Target="/ppt/slides/charts/chart13.xml" Id="R6d3db3ec709f4c2a" /><Relationship Type="http://schemas.openxmlformats.org/officeDocument/2006/relationships/notesSlide" Target="/ppt/notesSlides/notesSlide16.xml" Id="Rde43d8c90878479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_rels/chart10.xml.rels><Relationships xmlns="http://schemas.openxmlformats.org/package/2006/relationships"><Relationship Id="rIdChartSnapshot1" Type="http://schemas.openxmlformats.org/officeDocument/2006/relationships/package" Target="../../embeddings/chart-data-snapshot-010.xlsx"/></Relationships>
</file>

<file path=ppt/slides/charts/_rels/chart11.xml.rels><Relationships xmlns="http://schemas.openxmlformats.org/package/2006/relationships"><Relationship Id="rIdChartSnapshot1" Type="http://schemas.openxmlformats.org/officeDocument/2006/relationships/package" Target="../../embeddings/chart-data-snapshot-011.xlsx"/></Relationships>
</file>

<file path=ppt/slides/charts/_rels/chart12.xml.rels><Relationships xmlns="http://schemas.openxmlformats.org/package/2006/relationships"><Relationship Id="rIdChartSnapshot1" Type="http://schemas.openxmlformats.org/officeDocument/2006/relationships/package" Target="../../embeddings/chart-data-snapshot-012.xlsx"/></Relationships>
</file>

<file path=ppt/slides/charts/_rels/chart13.xml.rels><Relationships xmlns="http://schemas.openxmlformats.org/package/2006/relationships"><Relationship Id="rIdChartSnapshot1" Type="http://schemas.openxmlformats.org/officeDocument/2006/relationships/package" Target="../../embeddings/chart-data-snapshot-01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first90</c:v>
          </c:tx>
          <c:spPr>
            <a:solidFill xmlns:a="http://schemas.openxmlformats.org/drawingml/2006/main">
              <a:srgbClr val="2176AD"/>
            </a:solidFill>
          </c:spPr>
          <c:dPt>
            <c:idx val="0"/>
            <c:invertIfNegative val="0"/>
            <c:spPr>
              <a:solidFill xmlns:a="http://schemas.openxmlformats.org/drawingml/2006/main">
                <a:srgbClr val="94A1AA"/>
              </a:solidFill>
            </c:spPr>
          </c:dPt>
          <c:dPt>
            <c:idx val="1"/>
            <c:invertIfNegative val="0"/>
            <c:spPr>
              <a:solidFill xmlns:a="http://schemas.openxmlformats.org/drawingml/2006/main">
                <a:srgbClr val="C47A35"/>
              </a:solidFill>
            </c:spPr>
          </c:dPt>
          <c:dPt>
            <c:idx val="2"/>
            <c:invertIfNegative val="0"/>
            <c:spPr>
              <a:solidFill xmlns:a="http://schemas.openxmlformats.org/drawingml/2006/main">
                <a:srgbClr val="2176AD"/>
              </a:solidFill>
            </c:spPr>
          </c:dPt>
          <c:cat>
            <c:strRef>
              <c:f>'Chart Data'!$A$2:$A$4</c:f>
              <c:strCache>
                <c:ptCount val="3"/>
                <c:pt idx="0">
                  <c:v>Plain replay</c:v>
                </c:pt>
                <c:pt idx="1">
                  <c:v>Delayed use</c:v>
                </c:pt>
                <c:pt idx="2">
                  <c:v>Immediate use</c:v>
                </c:pt>
              </c:strCache>
            </c:strRef>
          </c:cat>
          <c:val>
            <c:numRef>
              <c:f>'Chart Data'!$B$2:$B$4</c:f>
              <c:numCache>
                <c:formatCode>#,##0</c:formatCode>
                <c:ptCount val="3"/>
                <c:pt idx="0">
                  <c:v>18594</c:v>
                </c:pt>
                <c:pt idx="1">
                  <c:v>37938</c:v>
                </c:pt>
                <c:pt idx="2">
                  <c:v>6906</c:v>
                </c:pt>
              </c:numCache>
            </c:numRef>
          </c:val>
        </c:ser>
        <c:dLbls>
          <c:txPr>
            <a:bodyPr xmlns:a="http://schemas.openxmlformats.org/drawingml/2006/main" anchorCtr="1"/>
            <a:lstStyle xmlns:a="http://schemas.openxmlformats.org/drawingml/2006/main"/>
            <a:p xmlns:a="http://schemas.openxmlformats.org/drawingml/2006/main">
              <a:pPr>
                <a:defRPr sz="2025">
                  <a:solidFill>
                    <a:srgbClr val="202B33"/>
                  </a:solidFill>
                  <a:latin typeface="Arial Unicode MS"/>
                  <a:ea typeface="Arial Unicode MS"/>
                  <a:cs typeface="Arial Unicode M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0E4"/>
            </a:solidFill>
          </a:ln>
        </c:spPr>
        <c:txPr>
          <a:bodyPr xmlns:a="http://schemas.openxmlformats.org/drawingml/2006/main" anchorCtr="1"/>
          <a:lstStyle xmlns:a="http://schemas.openxmlformats.org/drawingml/2006/main"/>
          <a:p xmlns:a="http://schemas.openxmlformats.org/drawingml/2006/main">
            <a:pPr>
              <a:defRPr sz="1500">
                <a:solidFill>
                  <a:srgbClr val="202B33"/>
                </a:solidFill>
                <a:latin typeface="Arial Unicode MS"/>
                <a:ea typeface="Arial Unicode MS"/>
                <a:cs typeface="Arial Unicode MS"/>
              </a:defRPr>
            </a:pPr>
          </a:p>
        </c:txPr>
        <c:crossAx val="48672768"/>
      </c:catAx>
      <c:valAx>
        <c:axId val="48672768"/>
        <c:scaling>
          <c:orientation val="minMax"/>
          <c:max val="45000"/>
          <c:min val="0"/>
        </c:scaling>
        <c:delete val="0"/>
        <c:axPos val="l"/>
        <c:majorGridlines>
          <c:spPr>
            <a:ln xmlns:a="http://schemas.openxmlformats.org/drawingml/2006/main" w="9525">
              <a:solidFill>
                <a:srgbClr val="E9EEF1"/>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87780"/>
                </a:solidFill>
                <a:latin typeface="Arial Unicode MS"/>
                <a:ea typeface="Arial Unicode MS"/>
                <a:cs typeface="Arial Unicode MS"/>
              </a:defRPr>
            </a:pPr>
          </a:p>
        </c:txPr>
        <c:crossAx val="48650112"/>
        <c:crossBetween val="between"/>
        <c:majorUnit val="1000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Steps spent in known prefix</c:v>
          </c:tx>
          <c:spPr>
            <a:solidFill xmlns:a="http://schemas.openxmlformats.org/drawingml/2006/main">
              <a:srgbClr val="2176AD"/>
            </a:solidFill>
          </c:spPr>
          <c:dPt>
            <c:idx val="0"/>
            <c:invertIfNegative val="0"/>
            <c:spPr>
              <a:solidFill xmlns:a="http://schemas.openxmlformats.org/drawingml/2006/main">
                <a:srgbClr val="C47A35"/>
              </a:solidFill>
            </c:spPr>
          </c:dPt>
          <c:cat>
            <c:strRef>
              <c:f>'Chart Data'!$A$2:$A$3</c:f>
              <c:strCache>
                <c:ptCount val="2"/>
                <c:pt idx="0">
                  <c:v>Delayed</c:v>
                </c:pt>
                <c:pt idx="1">
                  <c:v>Immediate</c:v>
                </c:pt>
              </c:strCache>
            </c:strRef>
          </c:cat>
          <c:val>
            <c:numRef>
              <c:f>'Chart Data'!$B$2:$B$3</c:f>
              <c:numCache>
                <c:formatCode>#,##0</c:formatCode>
                <c:ptCount val="2"/>
                <c:pt idx="0">
                  <c:v>33194</c:v>
                </c:pt>
                <c:pt idx="1">
                  <c:v>2566</c:v>
                </c:pt>
              </c:numCache>
            </c:numRef>
          </c:val>
        </c:ser>
        <c:dLbls>
          <c:txPr>
            <a:bodyPr xmlns:a="http://schemas.openxmlformats.org/drawingml/2006/main" anchorCtr="1"/>
            <a:lstStyle xmlns:a="http://schemas.openxmlformats.org/drawingml/2006/main"/>
            <a:p xmlns:a="http://schemas.openxmlformats.org/drawingml/2006/main">
              <a:pPr>
                <a:defRPr sz="1875">
                  <a:solidFill>
                    <a:srgbClr val="202B33"/>
                  </a:solidFill>
                  <a:latin typeface="Arial Unicode MS"/>
                  <a:ea typeface="Arial Unicode MS"/>
                  <a:cs typeface="Arial Unicode M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0E4"/>
            </a:solidFill>
          </a:ln>
        </c:spPr>
        <c:txPr>
          <a:bodyPr xmlns:a="http://schemas.openxmlformats.org/drawingml/2006/main" anchorCtr="1"/>
          <a:lstStyle xmlns:a="http://schemas.openxmlformats.org/drawingml/2006/main"/>
          <a:p xmlns:a="http://schemas.openxmlformats.org/drawingml/2006/main">
            <a:pPr>
              <a:defRPr sz="1500">
                <a:solidFill>
                  <a:srgbClr val="202B33"/>
                </a:solidFill>
                <a:latin typeface="Arial Unicode MS"/>
                <a:ea typeface="Arial Unicode MS"/>
                <a:cs typeface="Arial Unicode MS"/>
              </a:defRPr>
            </a:pPr>
          </a:p>
        </c:txPr>
        <c:crossAx val="48672768"/>
      </c:catAx>
      <c:valAx>
        <c:axId val="48672768"/>
        <c:scaling>
          <c:orientation val="minMax"/>
          <c:max val="40000"/>
          <c:min val="0"/>
        </c:scaling>
        <c:delete val="0"/>
        <c:axPos val="l"/>
        <c:majorGridlines>
          <c:spPr>
            <a:ln xmlns:a="http://schemas.openxmlformats.org/drawingml/2006/main" w="9525">
              <a:solidFill>
                <a:srgbClr val="E9EEF1"/>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87780"/>
                </a:solidFill>
                <a:latin typeface="Arial Unicode MS"/>
                <a:ea typeface="Arial Unicode MS"/>
                <a:cs typeface="Arial Unicode MS"/>
              </a:defRPr>
            </a:pPr>
          </a:p>
        </c:txPr>
        <c:crossAx val="48650112"/>
        <c:crossBetween val="between"/>
        <c:majorUnit val="1000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Full history</c:v>
          </c:tx>
          <c:spPr>
            <a:solidFill xmlns:a="http://schemas.openxmlformats.org/drawingml/2006/main">
              <a:srgbClr val="94A1AA"/>
            </a:solidFill>
          </c:spPr>
          <c:cat>
            <c:strRef>
              <c:f>'Chart Data'!$A$2:$A$4</c:f>
              <c:strCache>
                <c:ptCount val="3"/>
                <c:pt idx="0">
                  <c:v>3 parts</c:v>
                </c:pt>
                <c:pt idx="1">
                  <c:v>4 parts</c:v>
                </c:pt>
                <c:pt idx="2">
                  <c:v>5 parts</c:v>
                </c:pt>
              </c:strCache>
            </c:strRef>
          </c:cat>
          <c:val>
            <c:numRef>
              <c:f>'Chart Data'!$B$2:$B$4</c:f>
              <c:numCache>
                <c:formatCode>0.00</c:formatCode>
                <c:ptCount val="3"/>
                <c:pt idx="0">
                  <c:v>28.28</c:v>
                </c:pt>
                <c:pt idx="1">
                  <c:v>109.15</c:v>
                </c:pt>
                <c:pt idx="2">
                  <c:v>547.23</c:v>
                </c:pt>
              </c:numCache>
            </c:numRef>
          </c:val>
        </c:ser>
        <c:ser>
          <c:idx val="1"/>
          <c:order val="1"/>
          <c:tx>
            <c:v>Correct Compression</c:v>
          </c:tx>
          <c:spPr>
            <a:solidFill xmlns:a="http://schemas.openxmlformats.org/drawingml/2006/main">
              <a:srgbClr val="2176AD"/>
            </a:solidFill>
          </c:spPr>
          <c:cat>
            <c:strRef>
              <c:f>'Chart Data'!$C$2:$C$4</c:f>
              <c:strCache>
                <c:ptCount val="3"/>
                <c:pt idx="0">
                  <c:v>3 parts</c:v>
                </c:pt>
                <c:pt idx="1">
                  <c:v>4 parts</c:v>
                </c:pt>
                <c:pt idx="2">
                  <c:v>5 parts</c:v>
                </c:pt>
              </c:strCache>
            </c:strRef>
          </c:cat>
          <c:val>
            <c:numRef>
              <c:f>'Chart Data'!$D$2:$D$4</c:f>
              <c:numCache>
                <c:formatCode>0.00</c:formatCode>
                <c:ptCount val="3"/>
                <c:pt idx="0">
                  <c:v>6.05</c:v>
                </c:pt>
                <c:pt idx="1">
                  <c:v>5.89</c:v>
                </c:pt>
                <c:pt idx="2">
                  <c:v>6.1</c:v>
                </c:pt>
              </c:numCache>
            </c:numRef>
          </c:val>
        </c:ser>
        <c:dLbls>
          <c:txPr>
            <a:bodyPr xmlns:a="http://schemas.openxmlformats.org/drawingml/2006/main" anchorCtr="1"/>
            <a:lstStyle xmlns:a="http://schemas.openxmlformats.org/drawingml/2006/main"/>
            <a:p xmlns:a="http://schemas.openxmlformats.org/drawingml/2006/main">
              <a:pPr>
                <a:defRPr sz="1725">
                  <a:solidFill>
                    <a:srgbClr val="202B33"/>
                  </a:solidFill>
                  <a:latin typeface="Arial Unicode MS"/>
                  <a:ea typeface="Arial Unicode MS"/>
                  <a:cs typeface="Arial Unicode M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0E4"/>
            </a:solidFill>
          </a:ln>
        </c:spPr>
        <c:txPr>
          <a:bodyPr xmlns:a="http://schemas.openxmlformats.org/drawingml/2006/main" anchorCtr="1"/>
          <a:lstStyle xmlns:a="http://schemas.openxmlformats.org/drawingml/2006/main"/>
          <a:p xmlns:a="http://schemas.openxmlformats.org/drawingml/2006/main">
            <a:pPr>
              <a:defRPr sz="1500">
                <a:solidFill>
                  <a:srgbClr val="202B33"/>
                </a:solidFill>
                <a:latin typeface="Arial Unicode MS"/>
                <a:ea typeface="Arial Unicode MS"/>
                <a:cs typeface="Arial Unicode MS"/>
              </a:defRPr>
            </a:pPr>
          </a:p>
        </c:txPr>
        <c:crossAx val="48672768"/>
      </c:catAx>
      <c:valAx>
        <c:axId val="48672768"/>
        <c:scaling>
          <c:orientation val="minMax"/>
          <c:max val="620"/>
          <c:min val="0"/>
        </c:scaling>
        <c:delete val="0"/>
        <c:axPos val="l"/>
        <c:majorGridlines>
          <c:spPr>
            <a:ln xmlns:a="http://schemas.openxmlformats.org/drawingml/2006/main" w="9525">
              <a:solidFill>
                <a:srgbClr val="E9EEF1"/>
              </a:solidFill>
            </a:ln>
          </c:spPr>
        </c:majorGridlines>
        <c:title>
          <c:tx>
            <c:rich>
              <a:bodyPr xmlns:a="http://schemas.openxmlformats.org/drawingml/2006/main"/>
              <a:lstStyle xmlns:a="http://schemas.openxmlformats.org/drawingml/2006/main"/>
              <a:p xmlns:a="http://schemas.openxmlformats.org/drawingml/2006/main">
                <a:r>
                  <a:rPr>
                    <a:latin typeface="Arial Unicode MS"/>
                    <a:ea typeface="Arial Unicode MS"/>
                    <a:cs typeface="Arial Unicode MS"/>
                  </a:rPr>
                  <a:t>Mean T95 / episodes</a:t>
                </a:r>
              </a:p>
            </c:rich>
          </c:tx>
          <c:overlay val="0"/>
          <c:txPr>
            <a:bodyPr xmlns:a="http://schemas.openxmlformats.org/drawingml/2006/main" anchorCtr="1"/>
            <a:lstStyle xmlns:a="http://schemas.openxmlformats.org/drawingml/2006/main"/>
            <a:p xmlns:a="http://schemas.openxmlformats.org/drawingml/2006/main">
              <a:pPr>
                <a:defRPr>
                  <a:latin typeface="Arial Unicode MS"/>
                  <a:ea typeface="Arial Unicode MS"/>
                  <a:cs typeface="Arial Unicode M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87780"/>
                </a:solidFill>
                <a:latin typeface="Arial Unicode MS"/>
                <a:ea typeface="Arial Unicode MS"/>
                <a:cs typeface="Arial Unicode MS"/>
              </a:defRPr>
            </a:pPr>
          </a:p>
        </c:txPr>
        <c:crossAx val="48650112"/>
        <c:crossBetween val="between"/>
        <c:majorUnit val="200"/>
      </c:valAx>
      <c:spPr>
        <a:solidFill xmlns:a="http://schemas.openxmlformats.org/drawingml/2006/main">
          <a:srgbClr val="FFFFFF"/>
        </a:solidFill>
        <a:ln xmlns:a="http://schemas.openxmlformats.org/drawingml/2006/main" w="0">
          <a:noFill/>
        </a:ln>
      </c:spPr>
    </c:plotArea>
    <c:legend>
      <c:legendPos val="t"/>
      <c:overlay val="0"/>
      <c:txPr>
        <a:bodyPr xmlns:a="http://schemas.openxmlformats.org/drawingml/2006/main" anchorCtr="1"/>
        <a:lstStyle xmlns:a="http://schemas.openxmlformats.org/drawingml/2006/main"/>
        <a:p xmlns:a="http://schemas.openxmlformats.org/drawingml/2006/main">
          <a:pPr>
            <a:defRPr sz="1500">
              <a:solidFill>
                <a:srgbClr val="202B33"/>
              </a:solidFill>
              <a:latin typeface="Arial Unicode MS"/>
              <a:ea typeface="Arial Unicode MS"/>
              <a:cs typeface="Arial Unicode MS"/>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State-attribution accuracy</c:v>
          </c:tx>
          <c:spPr>
            <a:solidFill xmlns:a="http://schemas.openxmlformats.org/drawingml/2006/main">
              <a:srgbClr val="2176AD"/>
            </a:solidFill>
          </c:spPr>
          <c:cat>
            <c:strRef>
              <c:f>'Chart Data'!$A$2:$A$3</c:f>
              <c:strCache>
                <c:ptCount val="2"/>
                <c:pt idx="0">
                  <c:v>k_min  more aggressive</c:v>
                </c:pt>
                <c:pt idx="1">
                  <c:v>k_min+1  more conservative</c:v>
                </c:pt>
              </c:strCache>
            </c:strRef>
          </c:cat>
          <c:val>
            <c:numRef>
              <c:f>'Chart Data'!$B$2:$B$3</c:f>
              <c:numCache>
                <c:formatCode>0.0%</c:formatCode>
                <c:ptCount val="2"/>
                <c:pt idx="0">
                  <c:v>0.407</c:v>
                </c:pt>
                <c:pt idx="1">
                  <c:v>0.636</c:v>
                </c:pt>
              </c:numCache>
            </c:numRef>
          </c:val>
        </c:ser>
        <c:ser>
          <c:idx val="1"/>
          <c:order val="1"/>
          <c:tx>
            <c:v>Queries saved</c:v>
          </c:tx>
          <c:spPr>
            <a:solidFill xmlns:a="http://schemas.openxmlformats.org/drawingml/2006/main">
              <a:srgbClr val="C47A35"/>
            </a:solidFill>
          </c:spPr>
          <c:cat>
            <c:strRef>
              <c:f>'Chart Data'!$C$2:$C$3</c:f>
              <c:strCache>
                <c:ptCount val="2"/>
                <c:pt idx="0">
                  <c:v>k_min  more aggressive</c:v>
                </c:pt>
                <c:pt idx="1">
                  <c:v>k_min+1  more conservative</c:v>
                </c:pt>
              </c:strCache>
            </c:strRef>
          </c:cat>
          <c:val>
            <c:numRef>
              <c:f>'Chart Data'!$D$2:$D$3</c:f>
              <c:numCache>
                <c:formatCode>0.0%</c:formatCode>
                <c:ptCount val="2"/>
                <c:pt idx="0">
                  <c:v>0.169</c:v>
                </c:pt>
                <c:pt idx="1">
                  <c:v>0.018</c:v>
                </c:pt>
              </c:numCache>
            </c:numRef>
          </c:val>
        </c:ser>
        <c:dLbls>
          <c:txPr>
            <a:bodyPr xmlns:a="http://schemas.openxmlformats.org/drawingml/2006/main" anchorCtr="1"/>
            <a:lstStyle xmlns:a="http://schemas.openxmlformats.org/drawingml/2006/main"/>
            <a:p xmlns:a="http://schemas.openxmlformats.org/drawingml/2006/main">
              <a:pPr>
                <a:defRPr sz="1575">
                  <a:solidFill>
                    <a:srgbClr val="202B33"/>
                  </a:solidFill>
                  <a:latin typeface="Arial Unicode MS"/>
                  <a:ea typeface="Arial Unicode MS"/>
                  <a:cs typeface="Arial Unicode M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0E4"/>
            </a:solidFill>
          </a:ln>
        </c:spPr>
        <c:txPr>
          <a:bodyPr xmlns:a="http://schemas.openxmlformats.org/drawingml/2006/main" anchorCtr="1"/>
          <a:lstStyle xmlns:a="http://schemas.openxmlformats.org/drawingml/2006/main"/>
          <a:p xmlns:a="http://schemas.openxmlformats.org/drawingml/2006/main">
            <a:pPr>
              <a:defRPr sz="1425">
                <a:solidFill>
                  <a:srgbClr val="202B33"/>
                </a:solidFill>
                <a:latin typeface="Arial Unicode MS"/>
                <a:ea typeface="Arial Unicode MS"/>
                <a:cs typeface="Arial Unicode MS"/>
              </a:defRPr>
            </a:pPr>
          </a:p>
        </c:txPr>
        <c:crossAx val="48672768"/>
      </c:catAx>
      <c:valAx>
        <c:axId val="48672768"/>
        <c:scaling>
          <c:orientation val="minMax"/>
          <c:max val="0.75"/>
          <c:min val="0"/>
        </c:scaling>
        <c:delete val="0"/>
        <c:axPos val="l"/>
        <c:majorGridlines>
          <c:spPr>
            <a:ln xmlns:a="http://schemas.openxmlformats.org/drawingml/2006/main" w="9525">
              <a:solidFill>
                <a:srgbClr val="E9EEF1"/>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87780"/>
                </a:solidFill>
                <a:latin typeface="Arial Unicode MS"/>
                <a:ea typeface="Arial Unicode MS"/>
                <a:cs typeface="Arial Unicode MS"/>
              </a:defRPr>
            </a:pPr>
          </a:p>
        </c:txPr>
        <c:crossAx val="48650112"/>
        <c:crossBetween val="between"/>
        <c:majorUnit val="0.25"/>
      </c:valAx>
      <c:spPr>
        <a:solidFill xmlns:a="http://schemas.openxmlformats.org/drawingml/2006/main">
          <a:srgbClr val="FFFFFF"/>
        </a:solidFill>
        <a:ln xmlns:a="http://schemas.openxmlformats.org/drawingml/2006/main" w="0">
          <a:noFill/>
        </a:ln>
      </c:spPr>
    </c:plotArea>
    <c:legend>
      <c:legendPos val="t"/>
      <c:overlay val="0"/>
      <c:txPr>
        <a:bodyPr xmlns:a="http://schemas.openxmlformats.org/drawingml/2006/main" anchorCtr="1"/>
        <a:lstStyle xmlns:a="http://schemas.openxmlformats.org/drawingml/2006/main"/>
        <a:p xmlns:a="http://schemas.openxmlformats.org/drawingml/2006/main">
          <a:pPr>
            <a:defRPr sz="1500">
              <a:solidFill>
                <a:srgbClr val="202B33"/>
              </a:solidFill>
              <a:latin typeface="Arial Unicode MS"/>
              <a:ea typeface="Arial Unicode MS"/>
              <a:cs typeface="Arial Unicode MS"/>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Immediate minus delayed</c:v>
          </c:tx>
          <c:spPr>
            <a:solidFill xmlns:a="http://schemas.openxmlformats.org/drawingml/2006/main">
              <a:srgbClr val="2176AD"/>
            </a:solidFill>
          </c:spPr>
          <c:cat>
            <c:numRef>
              <c:f>'Chart Data'!$A$2:$A$4</c:f>
              <c:numCache>
                <c:formatCode>General</c:formatCode>
                <c:ptCount val="3"/>
                <c:pt idx="0">
                  <c:v>3</c:v>
                </c:pt>
                <c:pt idx="1">
                  <c:v>4</c:v>
                </c:pt>
                <c:pt idx="2">
                  <c:v>5</c:v>
                </c:pt>
              </c:numCache>
            </c:numRef>
          </c:cat>
          <c:val>
            <c:numRef>
              <c:f>'Chart Data'!$B$2:$B$4</c:f>
              <c:numCache>
                <c:formatCode>0.000</c:formatCode>
                <c:ptCount val="3"/>
                <c:pt idx="0">
                  <c:v>0.123</c:v>
                </c:pt>
                <c:pt idx="1">
                  <c:v>0.453</c:v>
                </c:pt>
                <c:pt idx="2">
                  <c:v>0.635</c:v>
                </c:pt>
              </c:numCache>
            </c:numRef>
          </c:val>
        </c:ser>
        <c:dLbls>
          <c:txPr>
            <a:bodyPr xmlns:a="http://schemas.openxmlformats.org/drawingml/2006/main" anchorCtr="1"/>
            <a:lstStyle xmlns:a="http://schemas.openxmlformats.org/drawingml/2006/main"/>
            <a:p xmlns:a="http://schemas.openxmlformats.org/drawingml/2006/main">
              <a:pPr>
                <a:defRPr sz="1650">
                  <a:solidFill>
                    <a:srgbClr val="202B33"/>
                  </a:solidFill>
                  <a:latin typeface="Arial Unicode MS"/>
                  <a:ea typeface="Arial Unicode MS"/>
                  <a:cs typeface="Arial Unicode M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202B33"/>
                </a:solidFill>
                <a:latin typeface="Arial Unicode MS"/>
                <a:ea typeface="Arial Unicode MS"/>
                <a:cs typeface="Arial Unicode MS"/>
              </a:defRPr>
            </a:pPr>
          </a:p>
        </c:txPr>
        <c:crossAx val="48672768"/>
      </c:catAx>
      <c:valAx>
        <c:axId val="48672768"/>
        <c:scaling>
          <c:orientation val="minMax"/>
          <c:max val="0.85"/>
          <c:min val="0"/>
        </c:scaling>
        <c:delete val="0"/>
        <c:axPos val="l"/>
        <c:majorGridlines>
          <c:spPr>
            <a:ln xmlns:a="http://schemas.openxmlformats.org/drawingml/2006/main" w="9525">
              <a:solidFill>
                <a:srgbClr val="E9EEF1"/>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87780"/>
                </a:solidFill>
                <a:latin typeface="Arial Unicode MS"/>
                <a:ea typeface="Arial Unicode MS"/>
                <a:cs typeface="Arial Unicode MS"/>
              </a:defRPr>
            </a:pPr>
          </a:p>
        </c:txPr>
        <c:crossAx val="48650112"/>
        <c:crossBetween val="between"/>
        <c:majorUnit val="0.4"/>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lineChart>
        <c:grouping val="standard"/>
        <c:varyColors val="0"/>
        <c:ser>
          <c:idx val="0"/>
          <c:order val="0"/>
          <c:tx>
            <c:v>Y10  per-stage skills</c:v>
          </c:tx>
          <c:spPr>
            <a:ln xmlns:a="http://schemas.openxmlformats.org/drawingml/2006/main" w="28575">
              <a:solidFill>
                <a:srgbClr val="C47A35"/>
              </a:solidFill>
            </a:ln>
          </c:spPr>
          <c:marker>
            <c:symbol val="circle"/>
            <c:size val="7"/>
            <c:spPr>
              <a:solidFill xmlns:a="http://schemas.openxmlformats.org/drawingml/2006/main">
                <a:srgbClr val="C47A35"/>
              </a:solidFill>
            </c:spPr>
          </c:marker>
          <c:cat>
            <c:numRef>
              <c:f>'Chart Data'!$A$2:$A$6</c:f>
              <c:numCache>
                <c:formatCode>General</c:formatCode>
                <c:ptCount val="5"/>
                <c:pt idx="0">
                  <c:v>0</c:v>
                </c:pt>
                <c:pt idx="1">
                  <c:v>1</c:v>
                </c:pt>
                <c:pt idx="2">
                  <c:v>2</c:v>
                </c:pt>
                <c:pt idx="3">
                  <c:v>3</c:v>
                </c:pt>
                <c:pt idx="4">
                  <c:v>4</c:v>
                </c:pt>
              </c:numCache>
            </c:numRef>
          </c:cat>
          <c:val>
            <c:numRef>
              <c:f>'Chart Data'!$B$2:$B$6</c:f>
              <c:numCache>
                <c:formatCode>0%</c:formatCode>
                <c:ptCount val="5"/>
                <c:pt idx="0">
                  <c:v>1</c:v>
                </c:pt>
                <c:pt idx="1">
                  <c:v>0.32</c:v>
                </c:pt>
                <c:pt idx="2">
                  <c:v>0.16</c:v>
                </c:pt>
                <c:pt idx="3">
                  <c:v>0.11</c:v>
                </c:pt>
                <c:pt idx="4">
                  <c:v>0.1</c:v>
                </c:pt>
              </c:numCache>
            </c:numRef>
          </c:val>
          <c:smooth val="0"/>
        </c:ser>
        <c:ser>
          <c:idx val="1"/>
          <c:order val="1"/>
          <c:tx>
            <c:v>Y11  shared skills</c:v>
          </c:tx>
          <c:spPr>
            <a:ln xmlns:a="http://schemas.openxmlformats.org/drawingml/2006/main" w="28575">
              <a:solidFill>
                <a:srgbClr val="2176AD"/>
              </a:solidFill>
            </a:ln>
          </c:spPr>
          <c:marker>
            <c:symbol val="circle"/>
            <c:size val="7"/>
            <c:spPr>
              <a:solidFill xmlns:a="http://schemas.openxmlformats.org/drawingml/2006/main">
                <a:srgbClr val="2176AD"/>
              </a:solidFill>
            </c:spPr>
          </c:marker>
          <c:cat>
            <c:numRef>
              <c:f>'Chart Data'!$C$2:$C$6</c:f>
              <c:numCache>
                <c:formatCode>General</c:formatCode>
                <c:ptCount val="5"/>
                <c:pt idx="0">
                  <c:v>0</c:v>
                </c:pt>
                <c:pt idx="1">
                  <c:v>1</c:v>
                </c:pt>
                <c:pt idx="2">
                  <c:v>2</c:v>
                </c:pt>
                <c:pt idx="3">
                  <c:v>3</c:v>
                </c:pt>
                <c:pt idx="4">
                  <c:v>4</c:v>
                </c:pt>
              </c:numCache>
            </c:numRef>
          </c:cat>
          <c:val>
            <c:numRef>
              <c:f>'Chart Data'!$D$2:$D$6</c:f>
              <c:numCache>
                <c:formatCode>0%</c:formatCode>
                <c:ptCount val="5"/>
                <c:pt idx="0">
                  <c:v>1</c:v>
                </c:pt>
                <c:pt idx="1">
                  <c:v>1</c:v>
                </c:pt>
                <c:pt idx="2">
                  <c:v>0.99</c:v>
                </c:pt>
                <c:pt idx="3">
                  <c:v>0.95</c:v>
                </c:pt>
                <c:pt idx="4">
                  <c:v>0.91</c:v>
                </c:pt>
              </c:numCache>
            </c:numRef>
          </c:val>
          <c:smooth val="0"/>
        </c:ser>
        <c:dLbls>
          <c:txPr>
            <a:bodyPr xmlns:a="http://schemas.openxmlformats.org/drawingml/2006/main" anchorCtr="1"/>
            <a:lstStyle xmlns:a="http://schemas.openxmlformats.org/drawingml/2006/main"/>
            <a:p xmlns:a="http://schemas.openxmlformats.org/drawingml/2006/main">
              <a:pPr>
                <a:defRPr sz="1350">
                  <a:solidFill>
                    <a:srgbClr val="202B33"/>
                  </a:solidFill>
                  <a:latin typeface="Arial Unicode MS"/>
                  <a:ea typeface="Arial Unicode MS"/>
                  <a:cs typeface="Arial Unicode MS"/>
                </a:defRPr>
              </a:pPr>
            </a:p>
          </c:txPr>
          <c:showLegendKey val="0"/>
          <c:showVal val="1"/>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Unicode MS"/>
                    <a:ea typeface="Arial Unicode MS"/>
                    <a:cs typeface="Arial Unicode MS"/>
                  </a:rPr>
                  <a:t>Hazard cells</a:t>
                </a:r>
              </a:p>
            </c:rich>
          </c:tx>
          <c:overlay val="0"/>
          <c:txPr>
            <a:bodyPr xmlns:a="http://schemas.openxmlformats.org/drawingml/2006/main" anchorCtr="1"/>
            <a:lstStyle xmlns:a="http://schemas.openxmlformats.org/drawingml/2006/main"/>
            <a:p xmlns:a="http://schemas.openxmlformats.org/drawingml/2006/main">
              <a:pPr>
                <a:defRPr>
                  <a:latin typeface="Arial Unicode MS"/>
                  <a:ea typeface="Arial Unicode MS"/>
                  <a:cs typeface="Arial Unicode MS"/>
                </a:defRPr>
              </a:pPr>
            </a:p>
          </c:txPr>
        </c:title>
        <c:numFmt formatCode="General"/>
        <c:majorTickMark val="none"/>
        <c:minorTickMark val="none"/>
        <c:spPr>
          <a:ln xmlns:a="http://schemas.openxmlformats.org/drawingml/2006/main" w="9525">
            <a:solidFill>
              <a:srgbClr val="D9E0E4"/>
            </a:solidFill>
          </a:ln>
        </c:spPr>
        <c:txPr>
          <a:bodyPr xmlns:a="http://schemas.openxmlformats.org/drawingml/2006/main" anchorCtr="1"/>
          <a:lstStyle xmlns:a="http://schemas.openxmlformats.org/drawingml/2006/main"/>
          <a:p xmlns:a="http://schemas.openxmlformats.org/drawingml/2006/main">
            <a:pPr>
              <a:defRPr sz="1500">
                <a:solidFill>
                  <a:srgbClr val="202B33"/>
                </a:solidFill>
                <a:latin typeface="Arial Unicode MS"/>
                <a:ea typeface="Arial Unicode MS"/>
                <a:cs typeface="Arial Unicode MS"/>
              </a:defRPr>
            </a:pPr>
          </a:p>
        </c:txPr>
        <c:crossAx val="48672768"/>
      </c:catAx>
      <c:valAx>
        <c:axId val="48672768"/>
        <c:scaling>
          <c:orientation val="minMax"/>
          <c:max val="1.16"/>
          <c:min val="0"/>
        </c:scaling>
        <c:delete val="0"/>
        <c:axPos val="l"/>
        <c:majorGridlines>
          <c:spPr>
            <a:ln xmlns:a="http://schemas.openxmlformats.org/drawingml/2006/main" w="9525">
              <a:solidFill>
                <a:srgbClr val="E9EEF1"/>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87780"/>
                </a:solidFill>
                <a:latin typeface="Arial Unicode MS"/>
                <a:ea typeface="Arial Unicode MS"/>
                <a:cs typeface="Arial Unicode MS"/>
              </a:defRPr>
            </a:pPr>
          </a:p>
        </c:txPr>
        <c:crossAx val="48650112"/>
        <c:crossBetween val="between"/>
        <c:majorUnit val="0.5"/>
      </c:valAx>
      <c:spPr>
        <a:solidFill xmlns:a="http://schemas.openxmlformats.org/drawingml/2006/main">
          <a:srgbClr val="FFFFFF"/>
        </a:solidFill>
        <a:ln xmlns:a="http://schemas.openxmlformats.org/drawingml/2006/main" w="0">
          <a:noFill/>
        </a:ln>
      </c:spPr>
    </c:plotArea>
    <c:legend>
      <c:legendPos val="t"/>
      <c:overlay val="0"/>
      <c:txPr>
        <a:bodyPr xmlns:a="http://schemas.openxmlformats.org/drawingml/2006/main" anchorCtr="1"/>
        <a:lstStyle xmlns:a="http://schemas.openxmlformats.org/drawingml/2006/main"/>
        <a:p xmlns:a="http://schemas.openxmlformats.org/drawingml/2006/main">
          <a:pPr>
            <a:defRPr sz="1500">
              <a:solidFill>
                <a:srgbClr val="202B33"/>
              </a:solidFill>
              <a:latin typeface="Arial Unicode MS"/>
              <a:ea typeface="Arial Unicode MS"/>
              <a:cs typeface="Arial Unicode MS"/>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Fraction of runs attaining</c:v>
          </c:tx>
          <c:spPr>
            <a:solidFill xmlns:a="http://schemas.openxmlformats.org/drawingml/2006/main">
              <a:srgbClr val="2176AD"/>
            </a:solidFill>
          </c:spPr>
          <c:cat>
            <c:numRef>
              <c:f>'Chart Data'!$A$2:$A$5</c:f>
              <c:numCache>
                <c:formatCode>General</c:formatCode>
                <c:ptCount val="4"/>
                <c:pt idx="0">
                  <c:v>40</c:v>
                </c:pt>
                <c:pt idx="1">
                  <c:v>80</c:v>
                </c:pt>
                <c:pt idx="2">
                  <c:v>160</c:v>
                </c:pt>
                <c:pt idx="3">
                  <c:v>320</c:v>
                </c:pt>
              </c:numCache>
            </c:numRef>
          </c:cat>
          <c:val>
            <c:numRef>
              <c:f>'Chart Data'!$B$2:$B$5</c:f>
              <c:numCache>
                <c:formatCode>0%</c:formatCode>
                <c:ptCount val="4"/>
                <c:pt idx="0">
                  <c:v>0.006944444444</c:v>
                </c:pt>
                <c:pt idx="1">
                  <c:v>0.423611111111</c:v>
                </c:pt>
                <c:pt idx="2">
                  <c:v>0.909722222222</c:v>
                </c:pt>
                <c:pt idx="3">
                  <c:v>1</c:v>
                </c:pt>
              </c:numCache>
            </c:numRef>
          </c:val>
        </c:ser>
        <c:dLbls>
          <c:txPr>
            <a:bodyPr xmlns:a="http://schemas.openxmlformats.org/drawingml/2006/main" anchorCtr="1"/>
            <a:lstStyle xmlns:a="http://schemas.openxmlformats.org/drawingml/2006/main"/>
            <a:p xmlns:a="http://schemas.openxmlformats.org/drawingml/2006/main">
              <a:pPr>
                <a:defRPr sz="2250">
                  <a:solidFill>
                    <a:srgbClr val="202B33"/>
                  </a:solidFill>
                  <a:latin typeface="Arial Unicode MS"/>
                  <a:ea typeface="Arial Unicode MS"/>
                  <a:cs typeface="Arial Unicode M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Unicode MS"/>
                    <a:ea typeface="Arial Unicode MS"/>
                    <a:cs typeface="Arial Unicode MS"/>
                  </a:rPr>
                  <a:t>Query budget</a:t>
                </a:r>
              </a:p>
            </c:rich>
          </c:tx>
          <c:overlay val="0"/>
          <c:txPr>
            <a:bodyPr xmlns:a="http://schemas.openxmlformats.org/drawingml/2006/main" anchorCtr="1"/>
            <a:lstStyle xmlns:a="http://schemas.openxmlformats.org/drawingml/2006/main"/>
            <a:p xmlns:a="http://schemas.openxmlformats.org/drawingml/2006/main">
              <a:pPr>
                <a:defRPr>
                  <a:latin typeface="Arial Unicode MS"/>
                  <a:ea typeface="Arial Unicode MS"/>
                  <a:cs typeface="Arial Unicode MS"/>
                </a:defRPr>
              </a:pPr>
            </a:p>
          </c:txPr>
        </c:title>
        <c:numFmt formatCode="General"/>
        <c:majorTickMark val="none"/>
        <c:minorTickMark val="none"/>
        <c:spPr>
          <a:ln xmlns:a="http://schemas.openxmlformats.org/drawingml/2006/main" w="9525">
            <a:solidFill>
              <a:srgbClr val="D9E0E4"/>
            </a:solidFill>
          </a:ln>
        </c:spPr>
        <c:txPr>
          <a:bodyPr xmlns:a="http://schemas.openxmlformats.org/drawingml/2006/main" anchorCtr="1"/>
          <a:lstStyle xmlns:a="http://schemas.openxmlformats.org/drawingml/2006/main"/>
          <a:p xmlns:a="http://schemas.openxmlformats.org/drawingml/2006/main">
            <a:pPr>
              <a:defRPr sz="1875">
                <a:solidFill>
                  <a:srgbClr val="202B33"/>
                </a:solidFill>
                <a:latin typeface="Arial Unicode MS"/>
                <a:ea typeface="Arial Unicode MS"/>
                <a:cs typeface="Arial Unicode MS"/>
              </a:defRPr>
            </a:pPr>
          </a:p>
        </c:txPr>
        <c:crossAx val="48672768"/>
      </c:catAx>
      <c:valAx>
        <c:axId val="48672768"/>
        <c:scaling>
          <c:orientation val="minMax"/>
          <c:max val="1.12"/>
          <c:min val="0"/>
        </c:scaling>
        <c:delete val="0"/>
        <c:axPos val="l"/>
        <c:majorGridlines>
          <c:spPr>
            <a:ln xmlns:a="http://schemas.openxmlformats.org/drawingml/2006/main" w="9525">
              <a:solidFill>
                <a:srgbClr val="E9EEF1"/>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87780"/>
                </a:solidFill>
                <a:latin typeface="Arial Unicode MS"/>
                <a:ea typeface="Arial Unicode MS"/>
                <a:cs typeface="Arial Unicode MS"/>
              </a:defRPr>
            </a:pPr>
          </a:p>
        </c:txPr>
        <c:crossAx val="48650112"/>
        <c:crossBetween val="between"/>
        <c:majorUnit val="0.2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Closed form</c:v>
          </c:tx>
          <c:spPr>
            <a:solidFill xmlns:a="http://schemas.openxmlformats.org/drawingml/2006/main">
              <a:srgbClr val="94A1AA"/>
            </a:solidFill>
          </c:spPr>
          <c:cat>
            <c:strRef>
              <c:f>'Chart Data'!$A$2:$A$4</c:f>
              <c:strCache>
                <c:ptCount val="3"/>
                <c:pt idx="0">
                  <c:v>3 parts</c:v>
                </c:pt>
                <c:pt idx="1">
                  <c:v>4 parts</c:v>
                </c:pt>
                <c:pt idx="2">
                  <c:v>5 parts</c:v>
                </c:pt>
              </c:strCache>
            </c:strRef>
          </c:cat>
          <c:val>
            <c:numRef>
              <c:f>'Chart Data'!$B$2:$B$4</c:f>
              <c:numCache>
                <c:formatCode>0.0</c:formatCode>
                <c:ptCount val="3"/>
                <c:pt idx="0">
                  <c:v>29.4</c:v>
                </c:pt>
                <c:pt idx="1">
                  <c:v>109.25</c:v>
                </c:pt>
                <c:pt idx="2">
                  <c:v>543.76</c:v>
                </c:pt>
              </c:numCache>
            </c:numRef>
          </c:val>
        </c:ser>
        <c:ser>
          <c:idx val="1"/>
          <c:order val="1"/>
          <c:tx>
            <c:v>Observed</c:v>
          </c:tx>
          <c:spPr>
            <a:solidFill xmlns:a="http://schemas.openxmlformats.org/drawingml/2006/main">
              <a:srgbClr val="2176AD"/>
            </a:solidFill>
          </c:spPr>
          <c:cat>
            <c:strRef>
              <c:f>'Chart Data'!$C$2:$C$4</c:f>
              <c:strCache>
                <c:ptCount val="3"/>
                <c:pt idx="0">
                  <c:v>3 parts</c:v>
                </c:pt>
                <c:pt idx="1">
                  <c:v>4 parts</c:v>
                </c:pt>
                <c:pt idx="2">
                  <c:v>5 parts</c:v>
                </c:pt>
              </c:strCache>
            </c:strRef>
          </c:cat>
          <c:val>
            <c:numRef>
              <c:f>'Chart Data'!$D$2:$D$4</c:f>
              <c:numCache>
                <c:formatCode>0.0</c:formatCode>
                <c:ptCount val="3"/>
                <c:pt idx="0">
                  <c:v>28.28</c:v>
                </c:pt>
                <c:pt idx="1">
                  <c:v>109.15</c:v>
                </c:pt>
                <c:pt idx="2">
                  <c:v>547.23</c:v>
                </c:pt>
              </c:numCache>
            </c:numRef>
          </c:val>
        </c:ser>
        <c:dLbls>
          <c:txPr>
            <a:bodyPr xmlns:a="http://schemas.openxmlformats.org/drawingml/2006/main" anchorCtr="1"/>
            <a:lstStyle xmlns:a="http://schemas.openxmlformats.org/drawingml/2006/main"/>
            <a:p xmlns:a="http://schemas.openxmlformats.org/drawingml/2006/main">
              <a:pPr>
                <a:defRPr sz="825">
                  <a:solidFill>
                    <a:srgbClr val="202B33"/>
                  </a:solidFill>
                  <a:latin typeface="Arial Unicode MS"/>
                  <a:ea typeface="Arial Unicode MS"/>
                  <a:cs typeface="Arial Unicode MS"/>
                </a:defRPr>
              </a:pPr>
            </a:p>
          </c:txPr>
          <c:dLblPos val="outEnd"/>
          <c:showLegendKey val="0"/>
          <c:showVal val="1"/>
          <c:showCatName val="0"/>
          <c:showSerName val="0"/>
          <c:showPercent val="0"/>
          <c:showBubbleSize val="0"/>
          <c:showLeaderLines val="0"/>
        </c:dLbls>
        <c:gapWidth val="2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0E4"/>
            </a:solidFill>
          </a:ln>
        </c:spPr>
        <c:txPr>
          <a:bodyPr xmlns:a="http://schemas.openxmlformats.org/drawingml/2006/main" anchorCtr="1"/>
          <a:lstStyle xmlns:a="http://schemas.openxmlformats.org/drawingml/2006/main"/>
          <a:p xmlns:a="http://schemas.openxmlformats.org/drawingml/2006/main">
            <a:pPr>
              <a:defRPr sz="1500">
                <a:solidFill>
                  <a:srgbClr val="202B33"/>
                </a:solidFill>
                <a:latin typeface="Arial Unicode MS"/>
                <a:ea typeface="Arial Unicode MS"/>
                <a:cs typeface="Arial Unicode MS"/>
              </a:defRPr>
            </a:pPr>
          </a:p>
        </c:txPr>
        <c:crossAx val="48672768"/>
      </c:catAx>
      <c:valAx>
        <c:axId val="48672768"/>
        <c:scaling>
          <c:orientation val="minMax"/>
          <c:max val="700"/>
          <c:min val="0"/>
        </c:scaling>
        <c:delete val="0"/>
        <c:axPos val="l"/>
        <c:majorGridlines>
          <c:spPr>
            <a:ln xmlns:a="http://schemas.openxmlformats.org/drawingml/2006/main" w="9525">
              <a:solidFill>
                <a:srgbClr val="E9EEF1"/>
              </a:solidFill>
            </a:ln>
          </c:spPr>
        </c:majorGridlines>
        <c:title>
          <c:tx>
            <c:rich>
              <a:bodyPr xmlns:a="http://schemas.openxmlformats.org/drawingml/2006/main"/>
              <a:lstStyle xmlns:a="http://schemas.openxmlformats.org/drawingml/2006/main"/>
              <a:p xmlns:a="http://schemas.openxmlformats.org/drawingml/2006/main">
                <a:r>
                  <a:rPr>
                    <a:latin typeface="Arial Unicode MS"/>
                    <a:ea typeface="Arial Unicode MS"/>
                    <a:cs typeface="Arial Unicode MS"/>
                  </a:rPr>
                  <a:t>Mean T95 / episodes</a:t>
                </a:r>
              </a:p>
            </c:rich>
          </c:tx>
          <c:overlay val="0"/>
          <c:txPr>
            <a:bodyPr xmlns:a="http://schemas.openxmlformats.org/drawingml/2006/main" anchorCtr="1"/>
            <a:lstStyle xmlns:a="http://schemas.openxmlformats.org/drawingml/2006/main"/>
            <a:p xmlns:a="http://schemas.openxmlformats.org/drawingml/2006/main">
              <a:pPr>
                <a:defRPr>
                  <a:latin typeface="Arial Unicode MS"/>
                  <a:ea typeface="Arial Unicode MS"/>
                  <a:cs typeface="Arial Unicode M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87780"/>
                </a:solidFill>
                <a:latin typeface="Arial Unicode MS"/>
                <a:ea typeface="Arial Unicode MS"/>
                <a:cs typeface="Arial Unicode MS"/>
              </a:defRPr>
            </a:pPr>
          </a:p>
        </c:txPr>
        <c:crossAx val="48650112"/>
        <c:crossBetween val="between"/>
        <c:majorUnit val="200"/>
      </c:valAx>
      <c:spPr>
        <a:solidFill xmlns:a="http://schemas.openxmlformats.org/drawingml/2006/main">
          <a:srgbClr val="FFFFFF"/>
        </a:solidFill>
        <a:ln xmlns:a="http://schemas.openxmlformats.org/drawingml/2006/main" w="0">
          <a:noFill/>
        </a:ln>
      </c:spPr>
    </c:plotArea>
    <c:legend>
      <c:legendPos val="t"/>
      <c:overlay val="0"/>
      <c:txPr>
        <a:bodyPr xmlns:a="http://schemas.openxmlformats.org/drawingml/2006/main" anchorCtr="1"/>
        <a:lstStyle xmlns:a="http://schemas.openxmlformats.org/drawingml/2006/main"/>
        <a:p xmlns:a="http://schemas.openxmlformats.org/drawingml/2006/main">
          <a:pPr>
            <a:defRPr sz="1500">
              <a:solidFill>
                <a:srgbClr val="202B33"/>
              </a:solidFill>
              <a:latin typeface="Arial Unicode MS"/>
              <a:ea typeface="Arial Unicode MS"/>
              <a:cs typeface="Arial Unicode MS"/>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Fraction</c:v>
          </c:tx>
          <c:spPr>
            <a:solidFill xmlns:a="http://schemas.openxmlformats.org/drawingml/2006/main">
              <a:srgbClr val="2176AD"/>
            </a:solidFill>
          </c:spPr>
          <c:dPt>
            <c:idx val="1"/>
            <c:invertIfNegative val="0"/>
            <c:spPr>
              <a:solidFill xmlns:a="http://schemas.openxmlformats.org/drawingml/2006/main">
                <a:srgbClr val="C47A35"/>
              </a:solidFill>
            </c:spPr>
          </c:dPt>
          <c:cat>
            <c:strRef>
              <c:f>'Chart Data'!$A$2:$A$3</c:f>
              <c:strCache>
                <c:ptCount val="2"/>
                <c:pt idx="0">
                  <c:v>k_min</c:v>
                </c:pt>
                <c:pt idx="1">
                  <c:v>k_min+1</c:v>
                </c:pt>
              </c:strCache>
            </c:strRef>
          </c:cat>
          <c:val>
            <c:numRef>
              <c:f>'Chart Data'!$B$2:$B$3</c:f>
              <c:numCache>
                <c:formatCode>0.0%</c:formatCode>
                <c:ptCount val="2"/>
                <c:pt idx="0">
                  <c:v>0.801</c:v>
                </c:pt>
                <c:pt idx="1">
                  <c:v>0.773</c:v>
                </c:pt>
              </c:numCache>
            </c:numRef>
          </c:val>
        </c:ser>
        <c:dLbls>
          <c:txPr>
            <a:bodyPr xmlns:a="http://schemas.openxmlformats.org/drawingml/2006/main" anchorCtr="1"/>
            <a:lstStyle xmlns:a="http://schemas.openxmlformats.org/drawingml/2006/main"/>
            <a:p xmlns:a="http://schemas.openxmlformats.org/drawingml/2006/main">
              <a:pPr>
                <a:defRPr sz="1800">
                  <a:solidFill>
                    <a:srgbClr val="202B33"/>
                  </a:solidFill>
                  <a:latin typeface="Arial Unicode MS"/>
                  <a:ea typeface="Arial Unicode MS"/>
                  <a:cs typeface="Arial Unicode M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0E4"/>
            </a:solidFill>
          </a:ln>
        </c:spPr>
        <c:txPr>
          <a:bodyPr xmlns:a="http://schemas.openxmlformats.org/drawingml/2006/main" anchorCtr="1"/>
          <a:lstStyle xmlns:a="http://schemas.openxmlformats.org/drawingml/2006/main"/>
          <a:p xmlns:a="http://schemas.openxmlformats.org/drawingml/2006/main">
            <a:pPr>
              <a:defRPr sz="1500">
                <a:solidFill>
                  <a:srgbClr val="202B33"/>
                </a:solidFill>
                <a:latin typeface="Arial Unicode MS"/>
                <a:ea typeface="Arial Unicode MS"/>
                <a:cs typeface="Arial Unicode MS"/>
              </a:defRPr>
            </a:pPr>
          </a:p>
        </c:txPr>
        <c:crossAx val="48672768"/>
      </c:catAx>
      <c:valAx>
        <c:axId val="48672768"/>
        <c:scaling>
          <c:orientation val="minMax"/>
          <c:max val="1"/>
          <c:min val="0"/>
        </c:scaling>
        <c:delete val="0"/>
        <c:axPos val="l"/>
        <c:majorGridlines>
          <c:spPr>
            <a:ln xmlns:a="http://schemas.openxmlformats.org/drawingml/2006/main" w="9525">
              <a:solidFill>
                <a:srgbClr val="E9EEF1"/>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87780"/>
                </a:solidFill>
                <a:latin typeface="Arial Unicode MS"/>
                <a:ea typeface="Arial Unicode MS"/>
                <a:cs typeface="Arial Unicode MS"/>
              </a:defRPr>
            </a:pPr>
          </a:p>
        </c:txPr>
        <c:crossAx val="48650112"/>
        <c:crossBetween val="between"/>
        <c:majorUnit val="0.2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0.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Fraction</c:v>
          </c:tx>
          <c:spPr>
            <a:solidFill xmlns:a="http://schemas.openxmlformats.org/drawingml/2006/main">
              <a:srgbClr val="2176AD"/>
            </a:solidFill>
          </c:spPr>
          <c:dPt>
            <c:idx val="1"/>
            <c:invertIfNegative val="0"/>
            <c:spPr>
              <a:solidFill xmlns:a="http://schemas.openxmlformats.org/drawingml/2006/main">
                <a:srgbClr val="C47A35"/>
              </a:solidFill>
            </c:spPr>
          </c:dPt>
          <c:cat>
            <c:strRef>
              <c:f>'Chart Data'!$A$2:$A$3</c:f>
              <c:strCache>
                <c:ptCount val="2"/>
                <c:pt idx="0">
                  <c:v>k_min</c:v>
                </c:pt>
                <c:pt idx="1">
                  <c:v>k_min+1</c:v>
                </c:pt>
              </c:strCache>
            </c:strRef>
          </c:cat>
          <c:val>
            <c:numRef>
              <c:f>'Chart Data'!$B$2:$B$3</c:f>
              <c:numCache>
                <c:formatCode>0.0%</c:formatCode>
                <c:ptCount val="2"/>
                <c:pt idx="0">
                  <c:v>0.407</c:v>
                </c:pt>
                <c:pt idx="1">
                  <c:v>0.636</c:v>
                </c:pt>
              </c:numCache>
            </c:numRef>
          </c:val>
        </c:ser>
        <c:dLbls>
          <c:txPr>
            <a:bodyPr xmlns:a="http://schemas.openxmlformats.org/drawingml/2006/main" anchorCtr="1"/>
            <a:lstStyle xmlns:a="http://schemas.openxmlformats.org/drawingml/2006/main"/>
            <a:p xmlns:a="http://schemas.openxmlformats.org/drawingml/2006/main">
              <a:pPr>
                <a:defRPr sz="1800">
                  <a:solidFill>
                    <a:srgbClr val="202B33"/>
                  </a:solidFill>
                  <a:latin typeface="Arial Unicode MS"/>
                  <a:ea typeface="Arial Unicode MS"/>
                  <a:cs typeface="Arial Unicode M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0E4"/>
            </a:solidFill>
          </a:ln>
        </c:spPr>
        <c:txPr>
          <a:bodyPr xmlns:a="http://schemas.openxmlformats.org/drawingml/2006/main" anchorCtr="1"/>
          <a:lstStyle xmlns:a="http://schemas.openxmlformats.org/drawingml/2006/main"/>
          <a:p xmlns:a="http://schemas.openxmlformats.org/drawingml/2006/main">
            <a:pPr>
              <a:defRPr sz="1500">
                <a:solidFill>
                  <a:srgbClr val="202B33"/>
                </a:solidFill>
                <a:latin typeface="Arial Unicode MS"/>
                <a:ea typeface="Arial Unicode MS"/>
                <a:cs typeface="Arial Unicode MS"/>
              </a:defRPr>
            </a:pPr>
          </a:p>
        </c:txPr>
        <c:crossAx val="48672768"/>
      </c:catAx>
      <c:valAx>
        <c:axId val="48672768"/>
        <c:scaling>
          <c:orientation val="minMax"/>
          <c:max val="1"/>
          <c:min val="0"/>
        </c:scaling>
        <c:delete val="0"/>
        <c:axPos val="l"/>
        <c:majorGridlines>
          <c:spPr>
            <a:ln xmlns:a="http://schemas.openxmlformats.org/drawingml/2006/main" w="9525">
              <a:solidFill>
                <a:srgbClr val="E9EEF1"/>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87780"/>
                </a:solidFill>
                <a:latin typeface="Arial Unicode MS"/>
                <a:ea typeface="Arial Unicode MS"/>
                <a:cs typeface="Arial Unicode MS"/>
              </a:defRPr>
            </a:pPr>
          </a:p>
        </c:txPr>
        <c:crossAx val="48650112"/>
        <c:crossBetween val="between"/>
        <c:majorUnit val="0.2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Fraction</c:v>
          </c:tx>
          <c:spPr>
            <a:solidFill xmlns:a="http://schemas.openxmlformats.org/drawingml/2006/main">
              <a:srgbClr val="2176AD"/>
            </a:solidFill>
          </c:spPr>
          <c:dPt>
            <c:idx val="1"/>
            <c:invertIfNegative val="0"/>
            <c:spPr>
              <a:solidFill xmlns:a="http://schemas.openxmlformats.org/drawingml/2006/main">
                <a:srgbClr val="C47A35"/>
              </a:solidFill>
            </c:spPr>
          </c:dPt>
          <c:cat>
            <c:strRef>
              <c:f>'Chart Data'!$A$2:$A$3</c:f>
              <c:strCache>
                <c:ptCount val="2"/>
                <c:pt idx="0">
                  <c:v>k_min</c:v>
                </c:pt>
                <c:pt idx="1">
                  <c:v>k_min+1</c:v>
                </c:pt>
              </c:strCache>
            </c:strRef>
          </c:cat>
          <c:val>
            <c:numRef>
              <c:f>'Chart Data'!$B$2:$B$3</c:f>
              <c:numCache>
                <c:formatCode>0.0%</c:formatCode>
                <c:ptCount val="2"/>
                <c:pt idx="0">
                  <c:v>0.169</c:v>
                </c:pt>
                <c:pt idx="1">
                  <c:v>0.018</c:v>
                </c:pt>
              </c:numCache>
            </c:numRef>
          </c:val>
        </c:ser>
        <c:dLbls>
          <c:txPr>
            <a:bodyPr xmlns:a="http://schemas.openxmlformats.org/drawingml/2006/main" anchorCtr="1"/>
            <a:lstStyle xmlns:a="http://schemas.openxmlformats.org/drawingml/2006/main"/>
            <a:p xmlns:a="http://schemas.openxmlformats.org/drawingml/2006/main">
              <a:pPr>
                <a:defRPr sz="1800">
                  <a:solidFill>
                    <a:srgbClr val="202B33"/>
                  </a:solidFill>
                  <a:latin typeface="Arial Unicode MS"/>
                  <a:ea typeface="Arial Unicode MS"/>
                  <a:cs typeface="Arial Unicode M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0E4"/>
            </a:solidFill>
          </a:ln>
        </c:spPr>
        <c:txPr>
          <a:bodyPr xmlns:a="http://schemas.openxmlformats.org/drawingml/2006/main" anchorCtr="1"/>
          <a:lstStyle xmlns:a="http://schemas.openxmlformats.org/drawingml/2006/main"/>
          <a:p xmlns:a="http://schemas.openxmlformats.org/drawingml/2006/main">
            <a:pPr>
              <a:defRPr sz="1500">
                <a:solidFill>
                  <a:srgbClr val="202B33"/>
                </a:solidFill>
                <a:latin typeface="Arial Unicode MS"/>
                <a:ea typeface="Arial Unicode MS"/>
                <a:cs typeface="Arial Unicode MS"/>
              </a:defRPr>
            </a:pPr>
          </a:p>
        </c:txPr>
        <c:crossAx val="48672768"/>
      </c:catAx>
      <c:valAx>
        <c:axId val="48672768"/>
        <c:scaling>
          <c:orientation val="minMax"/>
          <c:max val="1"/>
          <c:min val="0"/>
        </c:scaling>
        <c:delete val="0"/>
        <c:axPos val="l"/>
        <c:majorGridlines>
          <c:spPr>
            <a:ln xmlns:a="http://schemas.openxmlformats.org/drawingml/2006/main" w="9525">
              <a:solidFill>
                <a:srgbClr val="E9EEF1"/>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87780"/>
                </a:solidFill>
                <a:latin typeface="Arial Unicode MS"/>
                <a:ea typeface="Arial Unicode MS"/>
                <a:cs typeface="Arial Unicode MS"/>
              </a:defRPr>
            </a:pPr>
          </a:p>
        </c:txPr>
        <c:crossAx val="48650112"/>
        <c:crossBetween val="between"/>
        <c:majorUnit val="0.2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first90</c:v>
          </c:tx>
          <c:spPr>
            <a:solidFill xmlns:a="http://schemas.openxmlformats.org/drawingml/2006/main">
              <a:srgbClr val="94A1AA"/>
            </a:solidFill>
          </c:spPr>
          <c:dPt>
            <c:idx val="1"/>
            <c:invertIfNegative val="0"/>
            <c:spPr>
              <a:solidFill xmlns:a="http://schemas.openxmlformats.org/drawingml/2006/main">
                <a:srgbClr val="C47A35"/>
              </a:solidFill>
            </c:spPr>
          </c:dPt>
          <c:dPt>
            <c:idx val="2"/>
            <c:invertIfNegative val="0"/>
            <c:spPr>
              <a:solidFill xmlns:a="http://schemas.openxmlformats.org/drawingml/2006/main">
                <a:srgbClr val="72A0BA"/>
              </a:solidFill>
            </c:spPr>
          </c:dPt>
          <c:dPt>
            <c:idx val="3"/>
            <c:invertIfNegative val="0"/>
            <c:spPr>
              <a:solidFill xmlns:a="http://schemas.openxmlformats.org/drawingml/2006/main">
                <a:srgbClr val="2176AD"/>
              </a:solidFill>
            </c:spPr>
          </c:dPt>
          <c:cat>
            <c:strRef>
              <c:f>'Chart Data'!$A$2:$A$6</c:f>
              <c:strCache>
                <c:ptCount val="5"/>
                <c:pt idx="0">
                  <c:v>Y00</c:v>
                </c:pt>
                <c:pt idx="1">
                  <c:v>Y01</c:v>
                </c:pt>
                <c:pt idx="2">
                  <c:v>Y10</c:v>
                </c:pt>
                <c:pt idx="3">
                  <c:v>Y11</c:v>
                </c:pt>
                <c:pt idx="4">
                  <c:v>QRM</c:v>
                </c:pt>
              </c:strCache>
            </c:strRef>
          </c:cat>
          <c:val>
            <c:numRef>
              <c:f>'Chart Data'!$B$2:$B$6</c:f>
              <c:numCache>
                <c:formatCode>#,##0</c:formatCode>
                <c:ptCount val="5"/>
                <c:pt idx="0">
                  <c:v>38500</c:v>
                </c:pt>
                <c:pt idx="1">
                  <c:v>4000</c:v>
                </c:pt>
                <c:pt idx="2">
                  <c:v>3750</c:v>
                </c:pt>
                <c:pt idx="3">
                  <c:v>1000</c:v>
                </c:pt>
                <c:pt idx="4">
                  <c:v>7000</c:v>
                </c:pt>
              </c:numCache>
            </c:numRef>
          </c:val>
        </c:ser>
        <c:dLbls>
          <c:txPr>
            <a:bodyPr xmlns:a="http://schemas.openxmlformats.org/drawingml/2006/main" anchorCtr="1"/>
            <a:lstStyle xmlns:a="http://schemas.openxmlformats.org/drawingml/2006/main"/>
            <a:p xmlns:a="http://schemas.openxmlformats.org/drawingml/2006/main">
              <a:pPr>
                <a:defRPr sz="1500">
                  <a:solidFill>
                    <a:srgbClr val="202B33"/>
                  </a:solidFill>
                  <a:latin typeface="Arial Unicode MS"/>
                  <a:ea typeface="Arial Unicode MS"/>
                  <a:cs typeface="Arial Unicode M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0E4"/>
            </a:solidFill>
          </a:ln>
        </c:spPr>
        <c:txPr>
          <a:bodyPr xmlns:a="http://schemas.openxmlformats.org/drawingml/2006/main" anchorCtr="1"/>
          <a:lstStyle xmlns:a="http://schemas.openxmlformats.org/drawingml/2006/main"/>
          <a:p xmlns:a="http://schemas.openxmlformats.org/drawingml/2006/main">
            <a:pPr>
              <a:defRPr sz="1500">
                <a:solidFill>
                  <a:srgbClr val="202B33"/>
                </a:solidFill>
                <a:latin typeface="Arial Unicode MS"/>
                <a:ea typeface="Arial Unicode MS"/>
                <a:cs typeface="Arial Unicode MS"/>
              </a:defRPr>
            </a:pPr>
          </a:p>
        </c:txPr>
        <c:crossAx val="48672768"/>
      </c:catAx>
      <c:valAx>
        <c:axId val="48672768"/>
        <c:scaling>
          <c:orientation val="minMax"/>
          <c:max val="45000"/>
          <c:min val="0"/>
        </c:scaling>
        <c:delete val="0"/>
        <c:axPos val="l"/>
        <c:majorGridlines>
          <c:spPr>
            <a:ln xmlns:a="http://schemas.openxmlformats.org/drawingml/2006/main" w="9525">
              <a:solidFill>
                <a:srgbClr val="E9EEF1"/>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87780"/>
                </a:solidFill>
                <a:latin typeface="Arial Unicode MS"/>
                <a:ea typeface="Arial Unicode MS"/>
                <a:cs typeface="Arial Unicode MS"/>
              </a:defRPr>
            </a:pPr>
          </a:p>
        </c:txPr>
        <c:crossAx val="48650112"/>
        <c:crossBetween val="between"/>
        <c:majorUnit val="1500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3.xml><?xml version="1.0" encoding="utf-8"?>
<c:chartSpace xmlns:c="http://schemas.openxmlformats.org/drawingml/2006/chart" xmlns:r="http://schemas.openxmlformats.org/officeDocument/2006/relationships">
  <c:lang val="en-US"/>
  <c:chart>
    <c:plotArea>
      <c:lineChart>
        <c:grouping val="standard"/>
        <c:varyColors val="0"/>
        <c:ser>
          <c:idx val="0"/>
          <c:order val="0"/>
          <c:tx>
            <c:v>Y10  per-stage skills</c:v>
          </c:tx>
          <c:spPr>
            <a:ln xmlns:a="http://schemas.openxmlformats.org/drawingml/2006/main" w="28575">
              <a:solidFill>
                <a:srgbClr val="C47A35"/>
              </a:solidFill>
            </a:ln>
          </c:spPr>
          <c:marker>
            <c:symbol val="circle"/>
            <c:size val="8"/>
            <c:spPr>
              <a:solidFill xmlns:a="http://schemas.openxmlformats.org/drawingml/2006/main">
                <a:srgbClr val="C47A35"/>
              </a:solidFill>
            </c:spPr>
          </c:marker>
          <c:cat>
            <c:numRef>
              <c:f>'Chart Data'!$A$2:$A$6</c:f>
              <c:numCache>
                <c:formatCode>General</c:formatCode>
                <c:ptCount val="5"/>
                <c:pt idx="0">
                  <c:v>0</c:v>
                </c:pt>
                <c:pt idx="1">
                  <c:v>1</c:v>
                </c:pt>
                <c:pt idx="2">
                  <c:v>2</c:v>
                </c:pt>
                <c:pt idx="3">
                  <c:v>3</c:v>
                </c:pt>
                <c:pt idx="4">
                  <c:v>4</c:v>
                </c:pt>
              </c:numCache>
            </c:numRef>
          </c:cat>
          <c:val>
            <c:numRef>
              <c:f>'Chart Data'!$B$2:$B$6</c:f>
              <c:numCache>
                <c:formatCode>0%</c:formatCode>
                <c:ptCount val="5"/>
                <c:pt idx="0">
                  <c:v>1</c:v>
                </c:pt>
                <c:pt idx="1">
                  <c:v>0.32</c:v>
                </c:pt>
                <c:pt idx="2">
                  <c:v>0.16</c:v>
                </c:pt>
                <c:pt idx="3">
                  <c:v>0.11</c:v>
                </c:pt>
                <c:pt idx="4">
                  <c:v>0.1</c:v>
                </c:pt>
              </c:numCache>
            </c:numRef>
          </c:val>
          <c:smooth val="0"/>
        </c:ser>
        <c:ser>
          <c:idx val="1"/>
          <c:order val="1"/>
          <c:tx>
            <c:v>Y11  shared skills</c:v>
          </c:tx>
          <c:spPr>
            <a:ln xmlns:a="http://schemas.openxmlformats.org/drawingml/2006/main" w="28575">
              <a:solidFill>
                <a:srgbClr val="2176AD"/>
              </a:solidFill>
            </a:ln>
          </c:spPr>
          <c:marker>
            <c:symbol val="circle"/>
            <c:size val="8"/>
            <c:spPr>
              <a:solidFill xmlns:a="http://schemas.openxmlformats.org/drawingml/2006/main">
                <a:srgbClr val="2176AD"/>
              </a:solidFill>
            </c:spPr>
          </c:marker>
          <c:cat>
            <c:numRef>
              <c:f>'Chart Data'!$C$2:$C$6</c:f>
              <c:numCache>
                <c:formatCode>General</c:formatCode>
                <c:ptCount val="5"/>
                <c:pt idx="0">
                  <c:v>0</c:v>
                </c:pt>
                <c:pt idx="1">
                  <c:v>1</c:v>
                </c:pt>
                <c:pt idx="2">
                  <c:v>2</c:v>
                </c:pt>
                <c:pt idx="3">
                  <c:v>3</c:v>
                </c:pt>
                <c:pt idx="4">
                  <c:v>4</c:v>
                </c:pt>
              </c:numCache>
            </c:numRef>
          </c:cat>
          <c:val>
            <c:numRef>
              <c:f>'Chart Data'!$D$2:$D$6</c:f>
              <c:numCache>
                <c:formatCode>0%</c:formatCode>
                <c:ptCount val="5"/>
                <c:pt idx="0">
                  <c:v>1</c:v>
                </c:pt>
                <c:pt idx="1">
                  <c:v>1</c:v>
                </c:pt>
                <c:pt idx="2">
                  <c:v>0.99</c:v>
                </c:pt>
                <c:pt idx="3">
                  <c:v>0.95</c:v>
                </c:pt>
                <c:pt idx="4">
                  <c:v>0.91</c:v>
                </c:pt>
              </c:numCache>
            </c:numRef>
          </c:val>
          <c:smooth val="0"/>
        </c:ser>
        <c:dLbls>
          <c:txPr>
            <a:bodyPr xmlns:a="http://schemas.openxmlformats.org/drawingml/2006/main" anchorCtr="1"/>
            <a:lstStyle xmlns:a="http://schemas.openxmlformats.org/drawingml/2006/main"/>
            <a:p xmlns:a="http://schemas.openxmlformats.org/drawingml/2006/main">
              <a:pPr>
                <a:defRPr sz="1800">
                  <a:solidFill>
                    <a:srgbClr val="202B33"/>
                  </a:solidFill>
                  <a:latin typeface="Arial Unicode MS"/>
                  <a:ea typeface="Arial Unicode MS"/>
                  <a:cs typeface="Arial Unicode MS"/>
                </a:defRPr>
              </a:pPr>
            </a:p>
          </c:txPr>
          <c:showLegendKey val="0"/>
          <c:showVal val="1"/>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Unicode MS"/>
                    <a:ea typeface="Arial Unicode MS"/>
                    <a:cs typeface="Arial Unicode MS"/>
                  </a:rPr>
                  <a:t>Hazard cells</a:t>
                </a:r>
              </a:p>
            </c:rich>
          </c:tx>
          <c:overlay val="0"/>
          <c:txPr>
            <a:bodyPr xmlns:a="http://schemas.openxmlformats.org/drawingml/2006/main" anchorCtr="1"/>
            <a:lstStyle xmlns:a="http://schemas.openxmlformats.org/drawingml/2006/main"/>
            <a:p xmlns:a="http://schemas.openxmlformats.org/drawingml/2006/main">
              <a:pPr>
                <a:defRPr>
                  <a:latin typeface="Arial Unicode MS"/>
                  <a:ea typeface="Arial Unicode MS"/>
                  <a:cs typeface="Arial Unicode MS"/>
                </a:defRPr>
              </a:pPr>
            </a:p>
          </c:txPr>
        </c:title>
        <c:numFmt formatCode="General"/>
        <c:majorTickMark val="none"/>
        <c:minorTickMark val="none"/>
        <c:spPr>
          <a:ln xmlns:a="http://schemas.openxmlformats.org/drawingml/2006/main" w="9525">
            <a:solidFill>
              <a:srgbClr val="D9E0E4"/>
            </a:solidFill>
          </a:ln>
        </c:spPr>
        <c:txPr>
          <a:bodyPr xmlns:a="http://schemas.openxmlformats.org/drawingml/2006/main" anchorCtr="1"/>
          <a:lstStyle xmlns:a="http://schemas.openxmlformats.org/drawingml/2006/main"/>
          <a:p xmlns:a="http://schemas.openxmlformats.org/drawingml/2006/main">
            <a:pPr>
              <a:defRPr sz="1800">
                <a:solidFill>
                  <a:srgbClr val="202B33"/>
                </a:solidFill>
                <a:latin typeface="Arial Unicode MS"/>
                <a:ea typeface="Arial Unicode MS"/>
                <a:cs typeface="Arial Unicode MS"/>
              </a:defRPr>
            </a:pPr>
          </a:p>
        </c:txPr>
        <c:crossAx val="48672768"/>
      </c:catAx>
      <c:valAx>
        <c:axId val="48672768"/>
        <c:scaling>
          <c:orientation val="minMax"/>
          <c:max val="1.15"/>
          <c:min val="0"/>
        </c:scaling>
        <c:delete val="0"/>
        <c:axPos val="l"/>
        <c:majorGridlines>
          <c:spPr>
            <a:ln xmlns:a="http://schemas.openxmlformats.org/drawingml/2006/main" w="9525">
              <a:solidFill>
                <a:srgbClr val="E9EEF1"/>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87780"/>
                </a:solidFill>
                <a:latin typeface="Arial Unicode MS"/>
                <a:ea typeface="Arial Unicode MS"/>
                <a:cs typeface="Arial Unicode MS"/>
              </a:defRPr>
            </a:pPr>
          </a:p>
        </c:txPr>
        <c:crossAx val="48650112"/>
        <c:crossBetween val="between"/>
        <c:majorUnit val="0.25"/>
      </c:valAx>
      <c:spPr>
        <a:solidFill xmlns:a="http://schemas.openxmlformats.org/drawingml/2006/main">
          <a:srgbClr val="FFFFFF"/>
        </a:solidFill>
        <a:ln xmlns:a="http://schemas.openxmlformats.org/drawingml/2006/main" w="0">
          <a:noFill/>
        </a:ln>
      </c:spPr>
    </c:plotArea>
    <c:legend>
      <c:legendPos val="t"/>
      <c:overlay val="0"/>
      <c:txPr>
        <a:bodyPr xmlns:a="http://schemas.openxmlformats.org/drawingml/2006/main" anchorCtr="1"/>
        <a:lstStyle xmlns:a="http://schemas.openxmlformats.org/drawingml/2006/main"/>
        <a:p xmlns:a="http://schemas.openxmlformats.org/drawingml/2006/main">
          <a:pPr>
            <a:defRPr sz="1500">
              <a:solidFill>
                <a:srgbClr val="202B33"/>
              </a:solidFill>
              <a:latin typeface="Arial Unicode MS"/>
              <a:ea typeface="Arial Unicode MS"/>
              <a:cs typeface="Arial Unicode MS"/>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7" name="text-1">
            <a:extLst xmlns:a="http://schemas.openxmlformats.org/drawingml/2006/main">
              <a:ext uri="{FF2B5EF4-FFF2-40B4-BE49-F238E27FC236}">
                <a16:creationId xmlns:a16="http://schemas.microsoft.com/office/drawing/2014/main" id="{3D185E3E-396E-42D3-BC2A-0855299D6549}"/>
              </a:ext>
            </a:extLst>
          </p:cNvPr>
          <p:cNvSpPr>
            <a:spLocks xmlns:a="http://schemas.openxmlformats.org/drawingml/2006/main" noGrp="1"/>
          </p:cNvSpPr>
          <p:nvPr/>
        </p:nvSpPr>
        <p:spPr>
          <a:xfrm xmlns:a="http://schemas.openxmlformats.org/drawingml/2006/main">
            <a:off x="609600" y="3619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00" b="1">
                <a:solidFill>
                  <a:srgbClr val="202B33"/>
                </a:solidFill>
                <a:latin typeface="Arial Unicode MS"/>
                <a:ea typeface="Arial Unicode MS"/>
                <a:cs typeface="Arial Unicode MS"/>
              </a:defRPr>
            </a:pPr>
            <a:r>
              <a:rPr sz="2700" b="1">
                <a:solidFill>
                  <a:srgbClr val="202B33"/>
                </a:solidFill>
                <a:latin typeface="Arial Unicode MS"/>
                <a:ea typeface="Arial Unicode MS"/>
                <a:cs typeface="Arial Unicode MS"/>
              </a:rPr>
              <a:t>Online Discovery in Unknown Tasks</a:t>
            </a:r>
          </a:p>
        </p:txBody>
      </p:sp>
      <p:sp>
        <p:nvSpPr>
          <p:cNvPr id="2" name="text-2">
            <a:extLst xmlns:a="http://schemas.openxmlformats.org/drawingml/2006/main">
              <a:ext uri="{FF2B5EF4-FFF2-40B4-BE49-F238E27FC236}">
                <a16:creationId xmlns:a16="http://schemas.microsoft.com/office/drawing/2014/main" id="{FA874321-2815-4135-9326-C75F8637D47D}"/>
              </a:ext>
            </a:extLst>
          </p:cNvPr>
          <p:cNvSpPr>
            <a:spLocks xmlns:a="http://schemas.openxmlformats.org/drawingml/2006/main" noGrp="1"/>
          </p:cNvSpPr>
          <p:nvPr/>
        </p:nvSpPr>
        <p:spPr>
          <a:xfrm xmlns:a="http://schemas.openxmlformats.org/drawingml/2006/main">
            <a:off x="609600" y="62960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050" b="0">
                <a:solidFill>
                  <a:srgbClr val="687780"/>
                </a:solidFill>
                <a:latin typeface="Arial Unicode MS"/>
                <a:ea typeface="Arial Unicode MS"/>
                <a:cs typeface="Arial Unicode MS"/>
              </a:defRPr>
            </a:pPr>
            <a:r>
              <a:rPr sz="1050" b="0">
                <a:solidFill>
                  <a:srgbClr val="687780"/>
                </a:solidFill>
                <a:latin typeface="Arial Unicode MS"/>
                <a:ea typeface="Arial Unicode MS"/>
                <a:cs typeface="Arial Unicode MS"/>
              </a:rPr>
              <a:t>The agent can identify events and is told whether each step advanced the task, but does not know the correct order</a:t>
            </a:r>
          </a:p>
        </p:txBody>
      </p:sp>
      <p:sp>
        <p:nvSpPr>
          <p:cNvPr id="3" name="text-3">
            <a:extLst xmlns:a="http://schemas.openxmlformats.org/drawingml/2006/main">
              <a:ext uri="{FF2B5EF4-FFF2-40B4-BE49-F238E27FC236}">
                <a16:creationId xmlns:a16="http://schemas.microsoft.com/office/drawing/2014/main" id="{9C4B1AA4-5991-44B4-AD09-E506E265C5B1}"/>
              </a:ext>
            </a:extLst>
          </p:cNvPr>
          <p:cNvSpPr>
            <a:spLocks xmlns:a="http://schemas.openxmlformats.org/drawingml/2006/main" noGrp="1"/>
          </p:cNvSpPr>
          <p:nvPr/>
        </p:nvSpPr>
        <p:spPr>
          <a:xfrm xmlns:a="http://schemas.openxmlformats.org/drawingml/2006/main">
            <a:off x="11334750" y="629602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00" b="0">
                <a:solidFill>
                  <a:srgbClr val="687780"/>
                </a:solidFill>
                <a:latin typeface="Arial Unicode MS"/>
                <a:ea typeface="Arial Unicode MS"/>
                <a:cs typeface="Arial Unicode MS"/>
              </a:defRPr>
            </a:pPr>
            <a:r>
              <a:rPr sz="1200" b="0">
                <a:solidFill>
                  <a:srgbClr val="687780"/>
                </a:solidFill>
                <a:latin typeface="Arial Unicode MS"/>
                <a:ea typeface="Arial Unicode MS"/>
                <a:cs typeface="Arial Unicode MS"/>
              </a:rPr>
              <a:t>01</a:t>
            </a:r>
          </a:p>
        </p:txBody>
      </p:sp>
      <p:sp>
        <p:nvSpPr>
          <p:cNvPr id="4" name="text-4">
            <a:extLst xmlns:a="http://schemas.openxmlformats.org/drawingml/2006/main">
              <a:ext uri="{FF2B5EF4-FFF2-40B4-BE49-F238E27FC236}">
                <a16:creationId xmlns:a16="http://schemas.microsoft.com/office/drawing/2014/main" id="{1AC8D4A3-90C2-40D9-A3EA-5595E3FB25FB}"/>
              </a:ext>
            </a:extLst>
          </p:cNvPr>
          <p:cNvSpPr>
            <a:spLocks xmlns:a="http://schemas.openxmlformats.org/drawingml/2006/main" noGrp="1"/>
          </p:cNvSpPr>
          <p:nvPr/>
        </p:nvSpPr>
        <p:spPr>
          <a:xfrm xmlns:a="http://schemas.openxmlformats.org/drawingml/2006/main">
            <a:off x="762000" y="1190625"/>
            <a:ext cx="4619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202B33"/>
                </a:solidFill>
                <a:latin typeface="Arial Unicode MS"/>
                <a:ea typeface="Arial Unicode MS"/>
                <a:cs typeface="Arial Unicode MS"/>
              </a:defRPr>
            </a:pPr>
            <a:r>
              <a:rPr sz="1800" b="0">
                <a:solidFill>
                  <a:srgbClr val="202B33"/>
                </a:solidFill>
                <a:latin typeface="Arial Unicode MS"/>
                <a:ea typeface="Arial Unicode MS"/>
                <a:cs typeface="Arial Unicode MS"/>
              </a:rPr>
              <a:t>Events visible, progress feedback reliable</a:t>
            </a:r>
          </a:p>
        </p:txBody>
      </p:sp>
      <p:sp>
        <p:nvSpPr>
          <p:cNvPr id="5" name="">
            <a:extLst xmlns:a="http://schemas.openxmlformats.org/drawingml/2006/main">
              <a:ext uri="{FF2B5EF4-FFF2-40B4-BE49-F238E27FC236}">
                <a16:creationId xmlns:a16="http://schemas.microsoft.com/office/drawing/2014/main" id="{F9C54EB4-82BD-46FB-84F6-E68536BC2BCF}"/>
              </a:ext>
            </a:extLst>
          </p:cNvPr>
          <p:cNvSpPr>
            <a:spLocks xmlns:a="http://schemas.openxmlformats.org/drawingml/2006/main" noGrp="1"/>
          </p:cNvSpPr>
          <p:nvPr/>
        </p:nvSpPr>
        <p:spPr>
          <a:xfrm xmlns:a="http://schemas.openxmlformats.org/drawingml/2006/main">
            <a:off x="857250" y="189547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6" name="">
            <a:extLst xmlns:a="http://schemas.openxmlformats.org/drawingml/2006/main">
              <a:ext uri="{FF2B5EF4-FFF2-40B4-BE49-F238E27FC236}">
                <a16:creationId xmlns:a16="http://schemas.microsoft.com/office/drawing/2014/main" id="{ECB769BB-6E49-4423-84B4-AD60121BC4A8}"/>
              </a:ext>
            </a:extLst>
          </p:cNvPr>
          <p:cNvSpPr>
            <a:spLocks xmlns:a="http://schemas.openxmlformats.org/drawingml/2006/main" noGrp="1"/>
          </p:cNvSpPr>
          <p:nvPr/>
        </p:nvSpPr>
        <p:spPr>
          <a:xfrm xmlns:a="http://schemas.openxmlformats.org/drawingml/2006/main">
            <a:off x="1409700" y="189547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7" name="">
            <a:extLst xmlns:a="http://schemas.openxmlformats.org/drawingml/2006/main">
              <a:ext uri="{FF2B5EF4-FFF2-40B4-BE49-F238E27FC236}">
                <a16:creationId xmlns:a16="http://schemas.microsoft.com/office/drawing/2014/main" id="{1148F90E-11BA-4312-A6FD-4CDA613F8E33}"/>
              </a:ext>
            </a:extLst>
          </p:cNvPr>
          <p:cNvSpPr>
            <a:spLocks xmlns:a="http://schemas.openxmlformats.org/drawingml/2006/main" noGrp="1"/>
          </p:cNvSpPr>
          <p:nvPr/>
        </p:nvSpPr>
        <p:spPr>
          <a:xfrm xmlns:a="http://schemas.openxmlformats.org/drawingml/2006/main">
            <a:off x="1962150" y="189547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8" name="">
            <a:extLst xmlns:a="http://schemas.openxmlformats.org/drawingml/2006/main">
              <a:ext uri="{FF2B5EF4-FFF2-40B4-BE49-F238E27FC236}">
                <a16:creationId xmlns:a16="http://schemas.microsoft.com/office/drawing/2014/main" id="{FA01CCDE-1936-4811-AD60-3F19018819DF}"/>
              </a:ext>
            </a:extLst>
          </p:cNvPr>
          <p:cNvSpPr>
            <a:spLocks xmlns:a="http://schemas.openxmlformats.org/drawingml/2006/main" noGrp="1"/>
          </p:cNvSpPr>
          <p:nvPr/>
        </p:nvSpPr>
        <p:spPr>
          <a:xfrm xmlns:a="http://schemas.openxmlformats.org/drawingml/2006/main">
            <a:off x="2514600" y="189547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9" name="">
            <a:extLst xmlns:a="http://schemas.openxmlformats.org/drawingml/2006/main">
              <a:ext uri="{FF2B5EF4-FFF2-40B4-BE49-F238E27FC236}">
                <a16:creationId xmlns:a16="http://schemas.microsoft.com/office/drawing/2014/main" id="{AFBB32CA-B279-4FD5-9FF9-749E6B7423A7}"/>
              </a:ext>
            </a:extLst>
          </p:cNvPr>
          <p:cNvSpPr>
            <a:spLocks xmlns:a="http://schemas.openxmlformats.org/drawingml/2006/main" noGrp="1"/>
          </p:cNvSpPr>
          <p:nvPr/>
        </p:nvSpPr>
        <p:spPr>
          <a:xfrm xmlns:a="http://schemas.openxmlformats.org/drawingml/2006/main">
            <a:off x="3067050" y="189547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10" name="">
            <a:extLst xmlns:a="http://schemas.openxmlformats.org/drawingml/2006/main">
              <a:ext uri="{FF2B5EF4-FFF2-40B4-BE49-F238E27FC236}">
                <a16:creationId xmlns:a16="http://schemas.microsoft.com/office/drawing/2014/main" id="{F210537C-D0F2-4A3C-A2D1-DF2FAF33CAA9}"/>
              </a:ext>
            </a:extLst>
          </p:cNvPr>
          <p:cNvSpPr>
            <a:spLocks xmlns:a="http://schemas.openxmlformats.org/drawingml/2006/main" noGrp="1"/>
          </p:cNvSpPr>
          <p:nvPr/>
        </p:nvSpPr>
        <p:spPr>
          <a:xfrm xmlns:a="http://schemas.openxmlformats.org/drawingml/2006/main">
            <a:off x="3619500" y="189547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11" name="">
            <a:extLst xmlns:a="http://schemas.openxmlformats.org/drawingml/2006/main">
              <a:ext uri="{FF2B5EF4-FFF2-40B4-BE49-F238E27FC236}">
                <a16:creationId xmlns:a16="http://schemas.microsoft.com/office/drawing/2014/main" id="{3B0FDC4F-B6B7-4390-8D7C-F303522CF4FE}"/>
              </a:ext>
            </a:extLst>
          </p:cNvPr>
          <p:cNvSpPr>
            <a:spLocks xmlns:a="http://schemas.openxmlformats.org/drawingml/2006/main" noGrp="1"/>
          </p:cNvSpPr>
          <p:nvPr/>
        </p:nvSpPr>
        <p:spPr>
          <a:xfrm xmlns:a="http://schemas.openxmlformats.org/drawingml/2006/main">
            <a:off x="857250" y="244792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12" name="">
            <a:extLst xmlns:a="http://schemas.openxmlformats.org/drawingml/2006/main">
              <a:ext uri="{FF2B5EF4-FFF2-40B4-BE49-F238E27FC236}">
                <a16:creationId xmlns:a16="http://schemas.microsoft.com/office/drawing/2014/main" id="{B56B6CAD-7B20-4636-AF40-A0C237308FB8}"/>
              </a:ext>
            </a:extLst>
          </p:cNvPr>
          <p:cNvSpPr>
            <a:spLocks xmlns:a="http://schemas.openxmlformats.org/drawingml/2006/main" noGrp="1"/>
          </p:cNvSpPr>
          <p:nvPr/>
        </p:nvSpPr>
        <p:spPr>
          <a:xfrm xmlns:a="http://schemas.openxmlformats.org/drawingml/2006/main">
            <a:off x="1409700" y="244792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13" name="">
            <a:extLst xmlns:a="http://schemas.openxmlformats.org/drawingml/2006/main">
              <a:ext uri="{FF2B5EF4-FFF2-40B4-BE49-F238E27FC236}">
                <a16:creationId xmlns:a16="http://schemas.microsoft.com/office/drawing/2014/main" id="{99E76322-369E-40FF-9C31-85B347D7274A}"/>
              </a:ext>
            </a:extLst>
          </p:cNvPr>
          <p:cNvSpPr>
            <a:spLocks xmlns:a="http://schemas.openxmlformats.org/drawingml/2006/main" noGrp="1"/>
          </p:cNvSpPr>
          <p:nvPr/>
        </p:nvSpPr>
        <p:spPr>
          <a:xfrm xmlns:a="http://schemas.openxmlformats.org/drawingml/2006/main">
            <a:off x="1962150" y="244792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14" name="">
            <a:extLst xmlns:a="http://schemas.openxmlformats.org/drawingml/2006/main">
              <a:ext uri="{FF2B5EF4-FFF2-40B4-BE49-F238E27FC236}">
                <a16:creationId xmlns:a16="http://schemas.microsoft.com/office/drawing/2014/main" id="{B93651CD-75E0-42B7-9ED2-1FCAD871F22F}"/>
              </a:ext>
            </a:extLst>
          </p:cNvPr>
          <p:cNvSpPr>
            <a:spLocks xmlns:a="http://schemas.openxmlformats.org/drawingml/2006/main" noGrp="1"/>
          </p:cNvSpPr>
          <p:nvPr/>
        </p:nvSpPr>
        <p:spPr>
          <a:xfrm xmlns:a="http://schemas.openxmlformats.org/drawingml/2006/main">
            <a:off x="2514600" y="244792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15" name="">
            <a:extLst xmlns:a="http://schemas.openxmlformats.org/drawingml/2006/main">
              <a:ext uri="{FF2B5EF4-FFF2-40B4-BE49-F238E27FC236}">
                <a16:creationId xmlns:a16="http://schemas.microsoft.com/office/drawing/2014/main" id="{F9368EF8-557A-4A39-B66C-4ABACFD2B800}"/>
              </a:ext>
            </a:extLst>
          </p:cNvPr>
          <p:cNvSpPr>
            <a:spLocks xmlns:a="http://schemas.openxmlformats.org/drawingml/2006/main" noGrp="1"/>
          </p:cNvSpPr>
          <p:nvPr/>
        </p:nvSpPr>
        <p:spPr>
          <a:xfrm xmlns:a="http://schemas.openxmlformats.org/drawingml/2006/main">
            <a:off x="3067050" y="244792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16" name="">
            <a:extLst xmlns:a="http://schemas.openxmlformats.org/drawingml/2006/main">
              <a:ext uri="{FF2B5EF4-FFF2-40B4-BE49-F238E27FC236}">
                <a16:creationId xmlns:a16="http://schemas.microsoft.com/office/drawing/2014/main" id="{A0D8D26A-412F-4CCF-B9E6-EE192BC0FBFE}"/>
              </a:ext>
            </a:extLst>
          </p:cNvPr>
          <p:cNvSpPr>
            <a:spLocks xmlns:a="http://schemas.openxmlformats.org/drawingml/2006/main" noGrp="1"/>
          </p:cNvSpPr>
          <p:nvPr/>
        </p:nvSpPr>
        <p:spPr>
          <a:xfrm xmlns:a="http://schemas.openxmlformats.org/drawingml/2006/main">
            <a:off x="3619500" y="244792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17" name="">
            <a:extLst xmlns:a="http://schemas.openxmlformats.org/drawingml/2006/main">
              <a:ext uri="{FF2B5EF4-FFF2-40B4-BE49-F238E27FC236}">
                <a16:creationId xmlns:a16="http://schemas.microsoft.com/office/drawing/2014/main" id="{BA794D88-9D1B-4DCB-A892-2E6440E31213}"/>
              </a:ext>
            </a:extLst>
          </p:cNvPr>
          <p:cNvSpPr>
            <a:spLocks xmlns:a="http://schemas.openxmlformats.org/drawingml/2006/main" noGrp="1"/>
          </p:cNvSpPr>
          <p:nvPr/>
        </p:nvSpPr>
        <p:spPr>
          <a:xfrm xmlns:a="http://schemas.openxmlformats.org/drawingml/2006/main">
            <a:off x="857250" y="300037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18" name="">
            <a:extLst xmlns:a="http://schemas.openxmlformats.org/drawingml/2006/main">
              <a:ext uri="{FF2B5EF4-FFF2-40B4-BE49-F238E27FC236}">
                <a16:creationId xmlns:a16="http://schemas.microsoft.com/office/drawing/2014/main" id="{9813B92D-A89D-4075-A2CC-CC7993033809}"/>
              </a:ext>
            </a:extLst>
          </p:cNvPr>
          <p:cNvSpPr>
            <a:spLocks xmlns:a="http://schemas.openxmlformats.org/drawingml/2006/main" noGrp="1"/>
          </p:cNvSpPr>
          <p:nvPr/>
        </p:nvSpPr>
        <p:spPr>
          <a:xfrm xmlns:a="http://schemas.openxmlformats.org/drawingml/2006/main">
            <a:off x="1409700" y="300037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19" name="">
            <a:extLst xmlns:a="http://schemas.openxmlformats.org/drawingml/2006/main">
              <a:ext uri="{FF2B5EF4-FFF2-40B4-BE49-F238E27FC236}">
                <a16:creationId xmlns:a16="http://schemas.microsoft.com/office/drawing/2014/main" id="{DADAE59E-A59F-4C4B-A411-343D6AF89EFE}"/>
              </a:ext>
            </a:extLst>
          </p:cNvPr>
          <p:cNvSpPr>
            <a:spLocks xmlns:a="http://schemas.openxmlformats.org/drawingml/2006/main" noGrp="1"/>
          </p:cNvSpPr>
          <p:nvPr/>
        </p:nvSpPr>
        <p:spPr>
          <a:xfrm xmlns:a="http://schemas.openxmlformats.org/drawingml/2006/main">
            <a:off x="1962150" y="300037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20" name="">
            <a:extLst xmlns:a="http://schemas.openxmlformats.org/drawingml/2006/main">
              <a:ext uri="{FF2B5EF4-FFF2-40B4-BE49-F238E27FC236}">
                <a16:creationId xmlns:a16="http://schemas.microsoft.com/office/drawing/2014/main" id="{363C298B-4F45-4724-ADCE-D6EFE7AFFA00}"/>
              </a:ext>
            </a:extLst>
          </p:cNvPr>
          <p:cNvSpPr>
            <a:spLocks xmlns:a="http://schemas.openxmlformats.org/drawingml/2006/main" noGrp="1"/>
          </p:cNvSpPr>
          <p:nvPr/>
        </p:nvSpPr>
        <p:spPr>
          <a:xfrm xmlns:a="http://schemas.openxmlformats.org/drawingml/2006/main">
            <a:off x="2514600" y="300037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21" name="">
            <a:extLst xmlns:a="http://schemas.openxmlformats.org/drawingml/2006/main">
              <a:ext uri="{FF2B5EF4-FFF2-40B4-BE49-F238E27FC236}">
                <a16:creationId xmlns:a16="http://schemas.microsoft.com/office/drawing/2014/main" id="{BB21F5F3-E95F-43CD-A263-483E5F58CC75}"/>
              </a:ext>
            </a:extLst>
          </p:cNvPr>
          <p:cNvSpPr>
            <a:spLocks xmlns:a="http://schemas.openxmlformats.org/drawingml/2006/main" noGrp="1"/>
          </p:cNvSpPr>
          <p:nvPr/>
        </p:nvSpPr>
        <p:spPr>
          <a:xfrm xmlns:a="http://schemas.openxmlformats.org/drawingml/2006/main">
            <a:off x="3067050" y="300037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22" name="">
            <a:extLst xmlns:a="http://schemas.openxmlformats.org/drawingml/2006/main">
              <a:ext uri="{FF2B5EF4-FFF2-40B4-BE49-F238E27FC236}">
                <a16:creationId xmlns:a16="http://schemas.microsoft.com/office/drawing/2014/main" id="{1F9A647F-221B-4F6E-903B-B705A92A33D6}"/>
              </a:ext>
            </a:extLst>
          </p:cNvPr>
          <p:cNvSpPr>
            <a:spLocks xmlns:a="http://schemas.openxmlformats.org/drawingml/2006/main" noGrp="1"/>
          </p:cNvSpPr>
          <p:nvPr/>
        </p:nvSpPr>
        <p:spPr>
          <a:xfrm xmlns:a="http://schemas.openxmlformats.org/drawingml/2006/main">
            <a:off x="3619500" y="300037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23" name="">
            <a:extLst xmlns:a="http://schemas.openxmlformats.org/drawingml/2006/main">
              <a:ext uri="{FF2B5EF4-FFF2-40B4-BE49-F238E27FC236}">
                <a16:creationId xmlns:a16="http://schemas.microsoft.com/office/drawing/2014/main" id="{C9BA1626-96BF-4056-9A75-D96998D3563B}"/>
              </a:ext>
            </a:extLst>
          </p:cNvPr>
          <p:cNvSpPr>
            <a:spLocks xmlns:a="http://schemas.openxmlformats.org/drawingml/2006/main" noGrp="1"/>
          </p:cNvSpPr>
          <p:nvPr/>
        </p:nvSpPr>
        <p:spPr>
          <a:xfrm xmlns:a="http://schemas.openxmlformats.org/drawingml/2006/main">
            <a:off x="857250" y="355282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24" name="">
            <a:extLst xmlns:a="http://schemas.openxmlformats.org/drawingml/2006/main">
              <a:ext uri="{FF2B5EF4-FFF2-40B4-BE49-F238E27FC236}">
                <a16:creationId xmlns:a16="http://schemas.microsoft.com/office/drawing/2014/main" id="{F234C873-DDC2-4832-8009-248D2B1EB815}"/>
              </a:ext>
            </a:extLst>
          </p:cNvPr>
          <p:cNvSpPr>
            <a:spLocks xmlns:a="http://schemas.openxmlformats.org/drawingml/2006/main" noGrp="1"/>
          </p:cNvSpPr>
          <p:nvPr/>
        </p:nvSpPr>
        <p:spPr>
          <a:xfrm xmlns:a="http://schemas.openxmlformats.org/drawingml/2006/main">
            <a:off x="1409700" y="355282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25" name="">
            <a:extLst xmlns:a="http://schemas.openxmlformats.org/drawingml/2006/main">
              <a:ext uri="{FF2B5EF4-FFF2-40B4-BE49-F238E27FC236}">
                <a16:creationId xmlns:a16="http://schemas.microsoft.com/office/drawing/2014/main" id="{6DE66EC9-13F8-45D6-B9A7-5677E946B57E}"/>
              </a:ext>
            </a:extLst>
          </p:cNvPr>
          <p:cNvSpPr>
            <a:spLocks xmlns:a="http://schemas.openxmlformats.org/drawingml/2006/main" noGrp="1"/>
          </p:cNvSpPr>
          <p:nvPr/>
        </p:nvSpPr>
        <p:spPr>
          <a:xfrm xmlns:a="http://schemas.openxmlformats.org/drawingml/2006/main">
            <a:off x="1962150" y="355282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26" name="">
            <a:extLst xmlns:a="http://schemas.openxmlformats.org/drawingml/2006/main">
              <a:ext uri="{FF2B5EF4-FFF2-40B4-BE49-F238E27FC236}">
                <a16:creationId xmlns:a16="http://schemas.microsoft.com/office/drawing/2014/main" id="{053EBD93-E570-4010-ACE3-1F163BCECF37}"/>
              </a:ext>
            </a:extLst>
          </p:cNvPr>
          <p:cNvSpPr>
            <a:spLocks xmlns:a="http://schemas.openxmlformats.org/drawingml/2006/main" noGrp="1"/>
          </p:cNvSpPr>
          <p:nvPr/>
        </p:nvSpPr>
        <p:spPr>
          <a:xfrm xmlns:a="http://schemas.openxmlformats.org/drawingml/2006/main">
            <a:off x="2514600" y="355282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27" name="">
            <a:extLst xmlns:a="http://schemas.openxmlformats.org/drawingml/2006/main">
              <a:ext uri="{FF2B5EF4-FFF2-40B4-BE49-F238E27FC236}">
                <a16:creationId xmlns:a16="http://schemas.microsoft.com/office/drawing/2014/main" id="{0C569789-0D09-45EB-A052-0F1049FBA017}"/>
              </a:ext>
            </a:extLst>
          </p:cNvPr>
          <p:cNvSpPr>
            <a:spLocks xmlns:a="http://schemas.openxmlformats.org/drawingml/2006/main" noGrp="1"/>
          </p:cNvSpPr>
          <p:nvPr/>
        </p:nvSpPr>
        <p:spPr>
          <a:xfrm xmlns:a="http://schemas.openxmlformats.org/drawingml/2006/main">
            <a:off x="3067050" y="355282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28" name="">
            <a:extLst xmlns:a="http://schemas.openxmlformats.org/drawingml/2006/main">
              <a:ext uri="{FF2B5EF4-FFF2-40B4-BE49-F238E27FC236}">
                <a16:creationId xmlns:a16="http://schemas.microsoft.com/office/drawing/2014/main" id="{A8D59AC6-85EA-4E1C-A478-EE405FF8625F}"/>
              </a:ext>
            </a:extLst>
          </p:cNvPr>
          <p:cNvSpPr>
            <a:spLocks xmlns:a="http://schemas.openxmlformats.org/drawingml/2006/main" noGrp="1"/>
          </p:cNvSpPr>
          <p:nvPr/>
        </p:nvSpPr>
        <p:spPr>
          <a:xfrm xmlns:a="http://schemas.openxmlformats.org/drawingml/2006/main">
            <a:off x="3619500" y="355282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29" name="">
            <a:extLst xmlns:a="http://schemas.openxmlformats.org/drawingml/2006/main">
              <a:ext uri="{FF2B5EF4-FFF2-40B4-BE49-F238E27FC236}">
                <a16:creationId xmlns:a16="http://schemas.microsoft.com/office/drawing/2014/main" id="{6DEA5F08-5E71-4BB7-9DB9-810B9408FC70}"/>
              </a:ext>
            </a:extLst>
          </p:cNvPr>
          <p:cNvSpPr>
            <a:spLocks xmlns:a="http://schemas.openxmlformats.org/drawingml/2006/main" noGrp="1"/>
          </p:cNvSpPr>
          <p:nvPr/>
        </p:nvSpPr>
        <p:spPr>
          <a:xfrm xmlns:a="http://schemas.openxmlformats.org/drawingml/2006/main">
            <a:off x="857250" y="410527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30" name="">
            <a:extLst xmlns:a="http://schemas.openxmlformats.org/drawingml/2006/main">
              <a:ext uri="{FF2B5EF4-FFF2-40B4-BE49-F238E27FC236}">
                <a16:creationId xmlns:a16="http://schemas.microsoft.com/office/drawing/2014/main" id="{5ABB76F8-34CD-43A9-BA00-8D45B1F0F22C}"/>
              </a:ext>
            </a:extLst>
          </p:cNvPr>
          <p:cNvSpPr>
            <a:spLocks xmlns:a="http://schemas.openxmlformats.org/drawingml/2006/main" noGrp="1"/>
          </p:cNvSpPr>
          <p:nvPr/>
        </p:nvSpPr>
        <p:spPr>
          <a:xfrm xmlns:a="http://schemas.openxmlformats.org/drawingml/2006/main">
            <a:off x="1409700" y="410527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31" name="">
            <a:extLst xmlns:a="http://schemas.openxmlformats.org/drawingml/2006/main">
              <a:ext uri="{FF2B5EF4-FFF2-40B4-BE49-F238E27FC236}">
                <a16:creationId xmlns:a16="http://schemas.microsoft.com/office/drawing/2014/main" id="{CF7E3FD3-A631-4E93-BC5B-271959B57A05}"/>
              </a:ext>
            </a:extLst>
          </p:cNvPr>
          <p:cNvSpPr>
            <a:spLocks xmlns:a="http://schemas.openxmlformats.org/drawingml/2006/main" noGrp="1"/>
          </p:cNvSpPr>
          <p:nvPr/>
        </p:nvSpPr>
        <p:spPr>
          <a:xfrm xmlns:a="http://schemas.openxmlformats.org/drawingml/2006/main">
            <a:off x="1962150" y="410527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32" name="">
            <a:extLst xmlns:a="http://schemas.openxmlformats.org/drawingml/2006/main">
              <a:ext uri="{FF2B5EF4-FFF2-40B4-BE49-F238E27FC236}">
                <a16:creationId xmlns:a16="http://schemas.microsoft.com/office/drawing/2014/main" id="{77AE0F82-BE52-4A4C-8F19-13D7F62E9C86}"/>
              </a:ext>
            </a:extLst>
          </p:cNvPr>
          <p:cNvSpPr>
            <a:spLocks xmlns:a="http://schemas.openxmlformats.org/drawingml/2006/main" noGrp="1"/>
          </p:cNvSpPr>
          <p:nvPr/>
        </p:nvSpPr>
        <p:spPr>
          <a:xfrm xmlns:a="http://schemas.openxmlformats.org/drawingml/2006/main">
            <a:off x="2514600" y="410527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33" name="">
            <a:extLst xmlns:a="http://schemas.openxmlformats.org/drawingml/2006/main">
              <a:ext uri="{FF2B5EF4-FFF2-40B4-BE49-F238E27FC236}">
                <a16:creationId xmlns:a16="http://schemas.microsoft.com/office/drawing/2014/main" id="{FF3B41AC-6B1A-4E05-B414-3EAFF50A85E2}"/>
              </a:ext>
            </a:extLst>
          </p:cNvPr>
          <p:cNvSpPr>
            <a:spLocks xmlns:a="http://schemas.openxmlformats.org/drawingml/2006/main" noGrp="1"/>
          </p:cNvSpPr>
          <p:nvPr/>
        </p:nvSpPr>
        <p:spPr>
          <a:xfrm xmlns:a="http://schemas.openxmlformats.org/drawingml/2006/main">
            <a:off x="3067050" y="410527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34" name="">
            <a:extLst xmlns:a="http://schemas.openxmlformats.org/drawingml/2006/main">
              <a:ext uri="{FF2B5EF4-FFF2-40B4-BE49-F238E27FC236}">
                <a16:creationId xmlns:a16="http://schemas.microsoft.com/office/drawing/2014/main" id="{588B5ACE-56DD-49CC-A53B-970777549EB0}"/>
              </a:ext>
            </a:extLst>
          </p:cNvPr>
          <p:cNvSpPr>
            <a:spLocks xmlns:a="http://schemas.openxmlformats.org/drawingml/2006/main" noGrp="1"/>
          </p:cNvSpPr>
          <p:nvPr/>
        </p:nvSpPr>
        <p:spPr>
          <a:xfrm xmlns:a="http://schemas.openxmlformats.org/drawingml/2006/main">
            <a:off x="3619500" y="410527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35" name="">
            <a:extLst xmlns:a="http://schemas.openxmlformats.org/drawingml/2006/main">
              <a:ext uri="{FF2B5EF4-FFF2-40B4-BE49-F238E27FC236}">
                <a16:creationId xmlns:a16="http://schemas.microsoft.com/office/drawing/2014/main" id="{34882BAB-1F4B-44D9-AC67-00ECAE77CCD8}"/>
              </a:ext>
            </a:extLst>
          </p:cNvPr>
          <p:cNvSpPr>
            <a:spLocks xmlns:a="http://schemas.openxmlformats.org/drawingml/2006/main" noGrp="1"/>
          </p:cNvSpPr>
          <p:nvPr/>
        </p:nvSpPr>
        <p:spPr>
          <a:xfrm xmlns:a="http://schemas.openxmlformats.org/drawingml/2006/main">
            <a:off x="857250" y="465772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36" name="">
            <a:extLst xmlns:a="http://schemas.openxmlformats.org/drawingml/2006/main">
              <a:ext uri="{FF2B5EF4-FFF2-40B4-BE49-F238E27FC236}">
                <a16:creationId xmlns:a16="http://schemas.microsoft.com/office/drawing/2014/main" id="{C5550A8B-2045-4AD6-A5C5-E7C8F75AF9AD}"/>
              </a:ext>
            </a:extLst>
          </p:cNvPr>
          <p:cNvSpPr>
            <a:spLocks xmlns:a="http://schemas.openxmlformats.org/drawingml/2006/main" noGrp="1"/>
          </p:cNvSpPr>
          <p:nvPr/>
        </p:nvSpPr>
        <p:spPr>
          <a:xfrm xmlns:a="http://schemas.openxmlformats.org/drawingml/2006/main">
            <a:off x="1409700" y="465772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37" name="">
            <a:extLst xmlns:a="http://schemas.openxmlformats.org/drawingml/2006/main">
              <a:ext uri="{FF2B5EF4-FFF2-40B4-BE49-F238E27FC236}">
                <a16:creationId xmlns:a16="http://schemas.microsoft.com/office/drawing/2014/main" id="{F18C3BB4-66D0-4A98-A988-8039EB198145}"/>
              </a:ext>
            </a:extLst>
          </p:cNvPr>
          <p:cNvSpPr>
            <a:spLocks xmlns:a="http://schemas.openxmlformats.org/drawingml/2006/main" noGrp="1"/>
          </p:cNvSpPr>
          <p:nvPr/>
        </p:nvSpPr>
        <p:spPr>
          <a:xfrm xmlns:a="http://schemas.openxmlformats.org/drawingml/2006/main">
            <a:off x="1962150" y="465772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38" name="">
            <a:extLst xmlns:a="http://schemas.openxmlformats.org/drawingml/2006/main">
              <a:ext uri="{FF2B5EF4-FFF2-40B4-BE49-F238E27FC236}">
                <a16:creationId xmlns:a16="http://schemas.microsoft.com/office/drawing/2014/main" id="{3F3615F7-9B77-495A-A8A8-1FF75A29A7CE}"/>
              </a:ext>
            </a:extLst>
          </p:cNvPr>
          <p:cNvSpPr>
            <a:spLocks xmlns:a="http://schemas.openxmlformats.org/drawingml/2006/main" noGrp="1"/>
          </p:cNvSpPr>
          <p:nvPr/>
        </p:nvSpPr>
        <p:spPr>
          <a:xfrm xmlns:a="http://schemas.openxmlformats.org/drawingml/2006/main">
            <a:off x="2514600" y="465772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39" name="">
            <a:extLst xmlns:a="http://schemas.openxmlformats.org/drawingml/2006/main">
              <a:ext uri="{FF2B5EF4-FFF2-40B4-BE49-F238E27FC236}">
                <a16:creationId xmlns:a16="http://schemas.microsoft.com/office/drawing/2014/main" id="{F72E7B8C-B1B5-4572-890D-6C2892369AE8}"/>
              </a:ext>
            </a:extLst>
          </p:cNvPr>
          <p:cNvSpPr>
            <a:spLocks xmlns:a="http://schemas.openxmlformats.org/drawingml/2006/main" noGrp="1"/>
          </p:cNvSpPr>
          <p:nvPr/>
        </p:nvSpPr>
        <p:spPr>
          <a:xfrm xmlns:a="http://schemas.openxmlformats.org/drawingml/2006/main">
            <a:off x="3067050" y="465772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40" name="">
            <a:extLst xmlns:a="http://schemas.openxmlformats.org/drawingml/2006/main">
              <a:ext uri="{FF2B5EF4-FFF2-40B4-BE49-F238E27FC236}">
                <a16:creationId xmlns:a16="http://schemas.microsoft.com/office/drawing/2014/main" id="{1078C07D-2546-41B8-B0B5-46D704E4C675}"/>
              </a:ext>
            </a:extLst>
          </p:cNvPr>
          <p:cNvSpPr>
            <a:spLocks xmlns:a="http://schemas.openxmlformats.org/drawingml/2006/main" noGrp="1"/>
          </p:cNvSpPr>
          <p:nvPr/>
        </p:nvSpPr>
        <p:spPr>
          <a:xfrm xmlns:a="http://schemas.openxmlformats.org/drawingml/2006/main">
            <a:off x="3619500" y="465772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41" name="text-5">
            <a:extLst xmlns:a="http://schemas.openxmlformats.org/drawingml/2006/main">
              <a:ext uri="{FF2B5EF4-FFF2-40B4-BE49-F238E27FC236}">
                <a16:creationId xmlns:a16="http://schemas.microsoft.com/office/drawing/2014/main" id="{160A8C95-2133-4790-875D-92D4130128D4}"/>
              </a:ext>
            </a:extLst>
          </p:cNvPr>
          <p:cNvSpPr>
            <a:spLocks xmlns:a="http://schemas.openxmlformats.org/drawingml/2006/main" noGrp="1"/>
          </p:cNvSpPr>
          <p:nvPr/>
        </p:nvSpPr>
        <p:spPr>
          <a:xfrm xmlns:a="http://schemas.openxmlformats.org/drawingml/2006/main">
            <a:off x="857250" y="4657725"/>
            <a:ext cx="552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125" b="1">
                <a:solidFill>
                  <a:srgbClr val="202B33"/>
                </a:solidFill>
                <a:latin typeface="Arial Unicode MS"/>
                <a:ea typeface="Arial Unicode MS"/>
                <a:cs typeface="Arial Unicode MS"/>
              </a:defRPr>
            </a:pPr>
            <a:r>
              <a:rPr sz="1125" b="1">
                <a:solidFill>
                  <a:srgbClr val="202B33"/>
                </a:solidFill>
                <a:latin typeface="Arial Unicode MS"/>
                <a:ea typeface="Arial Unicode MS"/>
                <a:cs typeface="Arial Unicode MS"/>
              </a:rPr>
              <a:t>agent</a:t>
            </a:r>
          </a:p>
        </p:txBody>
      </p:sp>
      <p:sp>
        <p:nvSpPr>
          <p:cNvPr id="42" name="text-6">
            <a:extLst xmlns:a="http://schemas.openxmlformats.org/drawingml/2006/main">
              <a:ext uri="{FF2B5EF4-FFF2-40B4-BE49-F238E27FC236}">
                <a16:creationId xmlns:a16="http://schemas.microsoft.com/office/drawing/2014/main" id="{07C4D531-24AA-4004-A240-FCF394F72C51}"/>
              </a:ext>
            </a:extLst>
          </p:cNvPr>
          <p:cNvSpPr>
            <a:spLocks xmlns:a="http://schemas.openxmlformats.org/drawingml/2006/main" noGrp="1"/>
          </p:cNvSpPr>
          <p:nvPr/>
        </p:nvSpPr>
        <p:spPr>
          <a:xfrm xmlns:a="http://schemas.openxmlformats.org/drawingml/2006/main">
            <a:off x="1409700" y="2447925"/>
            <a:ext cx="552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250" b="1">
                <a:solidFill>
                  <a:srgbClr val="2176AD"/>
                </a:solidFill>
                <a:latin typeface="Arial Unicode MS"/>
                <a:ea typeface="Arial Unicode MS"/>
                <a:cs typeface="Arial Unicode MS"/>
              </a:defRPr>
            </a:pPr>
            <a:r>
              <a:rPr sz="2250" b="1">
                <a:solidFill>
                  <a:srgbClr val="2176AD"/>
                </a:solidFill>
                <a:latin typeface="Arial Unicode MS"/>
                <a:ea typeface="Arial Unicode MS"/>
                <a:cs typeface="Arial Unicode MS"/>
              </a:rPr>
              <a:t>A</a:t>
            </a:r>
          </a:p>
        </p:txBody>
      </p:sp>
      <p:sp>
        <p:nvSpPr>
          <p:cNvPr id="43" name="text-7">
            <a:extLst xmlns:a="http://schemas.openxmlformats.org/drawingml/2006/main">
              <a:ext uri="{FF2B5EF4-FFF2-40B4-BE49-F238E27FC236}">
                <a16:creationId xmlns:a16="http://schemas.microsoft.com/office/drawing/2014/main" id="{FEF8FEBC-C24B-4763-A1DD-0E8833D7C1C9}"/>
              </a:ext>
            </a:extLst>
          </p:cNvPr>
          <p:cNvSpPr>
            <a:spLocks xmlns:a="http://schemas.openxmlformats.org/drawingml/2006/main" noGrp="1"/>
          </p:cNvSpPr>
          <p:nvPr/>
        </p:nvSpPr>
        <p:spPr>
          <a:xfrm xmlns:a="http://schemas.openxmlformats.org/drawingml/2006/main">
            <a:off x="3067050" y="1895475"/>
            <a:ext cx="552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250" b="1">
                <a:solidFill>
                  <a:srgbClr val="2176AD"/>
                </a:solidFill>
                <a:latin typeface="Arial Unicode MS"/>
                <a:ea typeface="Arial Unicode MS"/>
                <a:cs typeface="Arial Unicode MS"/>
              </a:defRPr>
            </a:pPr>
            <a:r>
              <a:rPr sz="2250" b="1">
                <a:solidFill>
                  <a:srgbClr val="2176AD"/>
                </a:solidFill>
                <a:latin typeface="Arial Unicode MS"/>
                <a:ea typeface="Arial Unicode MS"/>
                <a:cs typeface="Arial Unicode MS"/>
              </a:rPr>
              <a:t>B</a:t>
            </a:r>
          </a:p>
        </p:txBody>
      </p:sp>
      <p:sp>
        <p:nvSpPr>
          <p:cNvPr id="44" name="text-8">
            <a:extLst xmlns:a="http://schemas.openxmlformats.org/drawingml/2006/main">
              <a:ext uri="{FF2B5EF4-FFF2-40B4-BE49-F238E27FC236}">
                <a16:creationId xmlns:a16="http://schemas.microsoft.com/office/drawing/2014/main" id="{479905F5-21A7-4B39-BA37-60472344FFFA}"/>
              </a:ext>
            </a:extLst>
          </p:cNvPr>
          <p:cNvSpPr>
            <a:spLocks xmlns:a="http://schemas.openxmlformats.org/drawingml/2006/main" noGrp="1"/>
          </p:cNvSpPr>
          <p:nvPr/>
        </p:nvSpPr>
        <p:spPr>
          <a:xfrm xmlns:a="http://schemas.openxmlformats.org/drawingml/2006/main">
            <a:off x="3067050" y="4105275"/>
            <a:ext cx="552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250" b="1">
                <a:solidFill>
                  <a:srgbClr val="2176AD"/>
                </a:solidFill>
                <a:latin typeface="Arial Unicode MS"/>
                <a:ea typeface="Arial Unicode MS"/>
                <a:cs typeface="Arial Unicode MS"/>
              </a:defRPr>
            </a:pPr>
            <a:r>
              <a:rPr sz="2250" b="1">
                <a:solidFill>
                  <a:srgbClr val="2176AD"/>
                </a:solidFill>
                <a:latin typeface="Arial Unicode MS"/>
                <a:ea typeface="Arial Unicode MS"/>
                <a:cs typeface="Arial Unicode MS"/>
              </a:rPr>
              <a:t>C</a:t>
            </a:r>
          </a:p>
        </p:txBody>
      </p:sp>
      <p:sp>
        <p:nvSpPr>
          <p:cNvPr id="45" name="text-9">
            <a:extLst xmlns:a="http://schemas.openxmlformats.org/drawingml/2006/main">
              <a:ext uri="{FF2B5EF4-FFF2-40B4-BE49-F238E27FC236}">
                <a16:creationId xmlns:a16="http://schemas.microsoft.com/office/drawing/2014/main" id="{B8DE30C9-3988-4C4D-BED7-9346A282E868}"/>
              </a:ext>
            </a:extLst>
          </p:cNvPr>
          <p:cNvSpPr>
            <a:spLocks xmlns:a="http://schemas.openxmlformats.org/drawingml/2006/main" noGrp="1"/>
          </p:cNvSpPr>
          <p:nvPr/>
        </p:nvSpPr>
        <p:spPr>
          <a:xfrm xmlns:a="http://schemas.openxmlformats.org/drawingml/2006/main">
            <a:off x="1962150" y="3552825"/>
            <a:ext cx="552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250" b="1">
                <a:solidFill>
                  <a:srgbClr val="2176AD"/>
                </a:solidFill>
                <a:latin typeface="Arial Unicode MS"/>
                <a:ea typeface="Arial Unicode MS"/>
                <a:cs typeface="Arial Unicode MS"/>
              </a:defRPr>
            </a:pPr>
            <a:r>
              <a:rPr sz="2250" b="1">
                <a:solidFill>
                  <a:srgbClr val="2176AD"/>
                </a:solidFill>
                <a:latin typeface="Arial Unicode MS"/>
                <a:ea typeface="Arial Unicode MS"/>
                <a:cs typeface="Arial Unicode MS"/>
              </a:rPr>
              <a:t>D</a:t>
            </a:r>
          </a:p>
        </p:txBody>
      </p:sp>
      <p:sp>
        <p:nvSpPr>
          <p:cNvPr id="46" name="text-10">
            <a:extLst xmlns:a="http://schemas.openxmlformats.org/drawingml/2006/main">
              <a:ext uri="{FF2B5EF4-FFF2-40B4-BE49-F238E27FC236}">
                <a16:creationId xmlns:a16="http://schemas.microsoft.com/office/drawing/2014/main" id="{C6AC9FF2-FC6C-467C-84FA-0F20615EA2DA}"/>
              </a:ext>
            </a:extLst>
          </p:cNvPr>
          <p:cNvSpPr>
            <a:spLocks xmlns:a="http://schemas.openxmlformats.org/drawingml/2006/main" noGrp="1"/>
          </p:cNvSpPr>
          <p:nvPr/>
        </p:nvSpPr>
        <p:spPr>
          <a:xfrm xmlns:a="http://schemas.openxmlformats.org/drawingml/2006/main">
            <a:off x="723900" y="550545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0">
                <a:solidFill>
                  <a:srgbClr val="687780"/>
                </a:solidFill>
                <a:latin typeface="Arial Unicode MS"/>
                <a:ea typeface="Arial Unicode MS"/>
                <a:cs typeface="Arial Unicode MS"/>
              </a:defRPr>
            </a:pPr>
            <a:r>
              <a:rPr sz="1950" b="0">
                <a:solidFill>
                  <a:srgbClr val="687780"/>
                </a:solidFill>
                <a:latin typeface="Arial Unicode MS"/>
                <a:ea typeface="Arial Unicode MS"/>
                <a:cs typeface="Arial Unicode MS"/>
              </a:rPr>
              <a:t>A   ?   B   ?   C   ?   D</a:t>
            </a:r>
          </a:p>
        </p:txBody>
      </p:sp>
      <p:sp>
        <p:nvSpPr>
          <p:cNvPr id="47" name="">
            <a:extLst xmlns:a="http://schemas.openxmlformats.org/drawingml/2006/main">
              <a:ext uri="{FF2B5EF4-FFF2-40B4-BE49-F238E27FC236}">
                <a16:creationId xmlns:a16="http://schemas.microsoft.com/office/drawing/2014/main" id="{CBCF292B-20CB-41DB-87EE-EB17E4B7F2B3}"/>
              </a:ext>
            </a:extLst>
          </p:cNvPr>
          <p:cNvSpPr>
            <a:spLocks xmlns:a="http://schemas.openxmlformats.org/drawingml/2006/main" noGrp="1"/>
          </p:cNvSpPr>
          <p:nvPr/>
        </p:nvSpPr>
        <p:spPr>
          <a:xfrm xmlns:a="http://schemas.openxmlformats.org/drawingml/2006/main">
            <a:off x="5762625" y="1952625"/>
            <a:ext cx="2190750" cy="72390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Interaction feedback</a:t>
            </a:r>
          </a:p>
        </p:txBody>
      </p:sp>
      <p:sp>
        <p:nvSpPr>
          <p:cNvPr id="48" name="">
            <a:extLst xmlns:a="http://schemas.openxmlformats.org/drawingml/2006/main">
              <a:ext uri="{FF2B5EF4-FFF2-40B4-BE49-F238E27FC236}">
                <a16:creationId xmlns:a16="http://schemas.microsoft.com/office/drawing/2014/main" id="{7BA39E1D-C772-4835-AAF1-0B3FF7CF8D9D}"/>
              </a:ext>
            </a:extLst>
          </p:cNvPr>
          <p:cNvSpPr>
            <a:spLocks xmlns:a="http://schemas.openxmlformats.org/drawingml/2006/main" noGrp="1"/>
          </p:cNvSpPr>
          <p:nvPr/>
        </p:nvSpPr>
        <p:spPr>
          <a:xfrm xmlns:a="http://schemas.openxmlformats.org/drawingml/2006/main">
            <a:off x="8858250" y="1952625"/>
            <a:ext cx="2190750" cy="72390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Partial task structure</a:t>
            </a:r>
          </a:p>
        </p:txBody>
      </p:sp>
      <p:sp>
        <p:nvSpPr>
          <p:cNvPr id="49" name="">
            <a:extLst xmlns:a="http://schemas.openxmlformats.org/drawingml/2006/main">
              <a:ext uri="{FF2B5EF4-FFF2-40B4-BE49-F238E27FC236}">
                <a16:creationId xmlns:a16="http://schemas.microsoft.com/office/drawing/2014/main" id="{57EE1A17-5AD5-4AF6-A641-EE86D9ABD091}"/>
              </a:ext>
            </a:extLst>
          </p:cNvPr>
          <p:cNvSpPr>
            <a:spLocks xmlns:a="http://schemas.openxmlformats.org/drawingml/2006/main" noGrp="1"/>
          </p:cNvSpPr>
          <p:nvPr/>
        </p:nvSpPr>
        <p:spPr>
          <a:xfrm xmlns:a="http://schemas.openxmlformats.org/drawingml/2006/main">
            <a:off x="5762625" y="4143375"/>
            <a:ext cx="2190750" cy="72390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Keep exploring</a:t>
            </a:r>
          </a:p>
        </p:txBody>
      </p:sp>
      <p:sp>
        <p:nvSpPr>
          <p:cNvPr id="50" name="">
            <a:extLst xmlns:a="http://schemas.openxmlformats.org/drawingml/2006/main">
              <a:ext uri="{FF2B5EF4-FFF2-40B4-BE49-F238E27FC236}">
                <a16:creationId xmlns:a16="http://schemas.microsoft.com/office/drawing/2014/main" id="{9AC72A5A-801C-45E6-8E08-33C02232E549}"/>
              </a:ext>
            </a:extLst>
          </p:cNvPr>
          <p:cNvSpPr>
            <a:spLocks xmlns:a="http://schemas.openxmlformats.org/drawingml/2006/main" noGrp="1"/>
          </p:cNvSpPr>
          <p:nvPr/>
        </p:nvSpPr>
        <p:spPr>
          <a:xfrm xmlns:a="http://schemas.openxmlformats.org/drawingml/2006/main">
            <a:off x="8858250" y="4143375"/>
            <a:ext cx="2190750" cy="72390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Invoke learned skill</a:t>
            </a:r>
          </a:p>
        </p:txBody>
      </p:sp>
      <p:cxnSp>
        <p:nvCxnSpPr>
          <p:cNvPr id="107" name=""/>
          <p:cNvCxnSpPr>
            <a:stCxn xmlns:a="http://schemas.openxmlformats.org/drawingml/2006/main" id="47" idx="3"/>
            <a:endCxn xmlns:a="http://schemas.openxmlformats.org/drawingml/2006/main" id="48" idx="1"/>
          </p:cNvCxnSpPr>
          <p:nvPr/>
        </p:nvCxnSpPr>
        <p:spPr>
          <a:xfrm xmlns:a="http://schemas.openxmlformats.org/drawingml/2006/main">
            <a:off x="7953375" y="2314575"/>
            <a:ext cx="904875" cy="0"/>
          </a:xfrm>
          <a:prstGeom xmlns:a="http://schemas.openxmlformats.org/drawingml/2006/main" prst="straightConnector1">
            <a:avLst/>
          </a:prstGeom>
          <a:ln xmlns:a="http://schemas.openxmlformats.org/drawingml/2006/main" w="19050">
            <a:solidFill>
              <a:srgbClr val="94A1AA"/>
            </a:solidFill>
            <a:prstDash val="solid"/>
            <a:tailEnd type="triangle" w="sm" len="sm"/>
          </a:ln>
        </p:spPr>
      </p:cxnSp>
      <p:cxnSp>
        <p:nvCxnSpPr>
          <p:cNvPr id="108" name=""/>
          <p:cNvCxnSpPr>
            <a:stCxn xmlns:a="http://schemas.openxmlformats.org/drawingml/2006/main" id="48" idx="2"/>
            <a:endCxn xmlns:a="http://schemas.openxmlformats.org/drawingml/2006/main" id="50" idx="0"/>
          </p:cNvCxnSpPr>
          <p:nvPr/>
        </p:nvCxnSpPr>
        <p:spPr>
          <a:xfrm xmlns:a="http://schemas.openxmlformats.org/drawingml/2006/main">
            <a:off x="9953625" y="2676525"/>
            <a:ext cx="0" cy="1466850"/>
          </a:xfrm>
          <a:prstGeom xmlns:a="http://schemas.openxmlformats.org/drawingml/2006/main" prst="straightConnector1">
            <a:avLst/>
          </a:prstGeom>
          <a:ln xmlns:a="http://schemas.openxmlformats.org/drawingml/2006/main" w="19050">
            <a:solidFill>
              <a:srgbClr val="2176AD"/>
            </a:solidFill>
            <a:prstDash val="solid"/>
            <a:tailEnd type="triangle" w="sm" len="sm"/>
          </a:ln>
        </p:spPr>
      </p:cxnSp>
      <p:cxnSp>
        <p:nvCxnSpPr>
          <p:cNvPr id="109" name=""/>
          <p:cNvCxnSpPr>
            <a:stCxn xmlns:a="http://schemas.openxmlformats.org/drawingml/2006/main" id="50" idx="1"/>
            <a:endCxn xmlns:a="http://schemas.openxmlformats.org/drawingml/2006/main" id="49" idx="3"/>
          </p:cNvCxnSpPr>
          <p:nvPr/>
        </p:nvCxnSpPr>
        <p:spPr>
          <a:xfrm xmlns:a="http://schemas.openxmlformats.org/drawingml/2006/main" flipH="1">
            <a:off x="7953375" y="4505325"/>
            <a:ext cx="904875" cy="0"/>
          </a:xfrm>
          <a:prstGeom xmlns:a="http://schemas.openxmlformats.org/drawingml/2006/main" prst="straightConnector1">
            <a:avLst/>
          </a:prstGeom>
          <a:ln xmlns:a="http://schemas.openxmlformats.org/drawingml/2006/main" w="19050">
            <a:solidFill>
              <a:srgbClr val="2176AD"/>
            </a:solidFill>
            <a:prstDash val="solid"/>
            <a:tailEnd type="triangle" w="sm" len="sm"/>
          </a:ln>
        </p:spPr>
      </p:cxnSp>
      <p:cxnSp>
        <p:nvCxnSpPr>
          <p:cNvPr id="110" name=""/>
          <p:cNvCxnSpPr>
            <a:stCxn xmlns:a="http://schemas.openxmlformats.org/drawingml/2006/main" id="49" idx="0"/>
            <a:endCxn xmlns:a="http://schemas.openxmlformats.org/drawingml/2006/main" id="47" idx="2"/>
          </p:cNvCxnSpPr>
          <p:nvPr/>
        </p:nvCxnSpPr>
        <p:spPr>
          <a:xfrm xmlns:a="http://schemas.openxmlformats.org/drawingml/2006/main" flipV="1">
            <a:off x="6858000" y="2676525"/>
            <a:ext cx="0" cy="1466850"/>
          </a:xfrm>
          <a:prstGeom xmlns:a="http://schemas.openxmlformats.org/drawingml/2006/main" prst="straightConnector1">
            <a:avLst/>
          </a:prstGeom>
          <a:ln xmlns:a="http://schemas.openxmlformats.org/drawingml/2006/main" w="19050">
            <a:solidFill>
              <a:srgbClr val="2176AD"/>
            </a:solidFill>
            <a:prstDash val="solid"/>
            <a:tailEnd type="triangle" w="sm" len="sm"/>
          </a:ln>
        </p:spPr>
      </p:cxnSp>
      <p:sp>
        <p:nvSpPr>
          <p:cNvPr id="55" name="text-11">
            <a:extLst xmlns:a="http://schemas.openxmlformats.org/drawingml/2006/main">
              <a:ext uri="{FF2B5EF4-FFF2-40B4-BE49-F238E27FC236}">
                <a16:creationId xmlns:a16="http://schemas.microsoft.com/office/drawing/2014/main" id="{EB58C94C-8A04-4232-9D2D-35CCD26FEB1F}"/>
              </a:ext>
            </a:extLst>
          </p:cNvPr>
          <p:cNvSpPr>
            <a:spLocks xmlns:a="http://schemas.openxmlformats.org/drawingml/2006/main" noGrp="1"/>
          </p:cNvSpPr>
          <p:nvPr/>
        </p:nvSpPr>
        <p:spPr>
          <a:xfrm xmlns:a="http://schemas.openxmlformats.org/drawingml/2006/main">
            <a:off x="6019800" y="4953000"/>
            <a:ext cx="180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0">
                <a:solidFill>
                  <a:srgbClr val="687780"/>
                </a:solidFill>
                <a:latin typeface="Arial Unicode MS"/>
                <a:ea typeface="Arial Unicode MS"/>
                <a:cs typeface="Arial Unicode MS"/>
              </a:defRPr>
            </a:pPr>
            <a:r>
              <a:rPr sz="1575" b="0">
                <a:solidFill>
                  <a:srgbClr val="687780"/>
                </a:solidFill>
                <a:latin typeface="Arial Unicode MS"/>
                <a:ea typeface="Arial Unicode MS"/>
                <a:cs typeface="Arial Unicode MS"/>
              </a:rPr>
              <a:t>Unknown part</a:t>
            </a:r>
          </a:p>
        </p:txBody>
      </p:sp>
      <p:sp>
        <p:nvSpPr>
          <p:cNvPr id="56" name="text-12">
            <a:extLst xmlns:a="http://schemas.openxmlformats.org/drawingml/2006/main">
              <a:ext uri="{FF2B5EF4-FFF2-40B4-BE49-F238E27FC236}">
                <a16:creationId xmlns:a16="http://schemas.microsoft.com/office/drawing/2014/main" id="{D4C14A47-2720-4B76-B5A7-4E11320CCBE4}"/>
              </a:ext>
            </a:extLst>
          </p:cNvPr>
          <p:cNvSpPr>
            <a:spLocks xmlns:a="http://schemas.openxmlformats.org/drawingml/2006/main" noGrp="1"/>
          </p:cNvSpPr>
          <p:nvPr/>
        </p:nvSpPr>
        <p:spPr>
          <a:xfrm xmlns:a="http://schemas.openxmlformats.org/drawingml/2006/main">
            <a:off x="9096375" y="4953000"/>
            <a:ext cx="1762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0">
                <a:solidFill>
                  <a:srgbClr val="687780"/>
                </a:solidFill>
                <a:latin typeface="Arial Unicode MS"/>
                <a:ea typeface="Arial Unicode MS"/>
                <a:cs typeface="Arial Unicode MS"/>
              </a:defRPr>
            </a:pPr>
            <a:r>
              <a:rPr sz="1575" b="0">
                <a:solidFill>
                  <a:srgbClr val="687780"/>
                </a:solidFill>
                <a:latin typeface="Arial Unicode MS"/>
                <a:ea typeface="Arial Unicode MS"/>
                <a:cs typeface="Arial Unicode MS"/>
              </a:rPr>
              <a:t>Known prefix</a:t>
            </a:r>
          </a:p>
        </p:txBody>
      </p:sp>
    </p:spTree>
    <p:extLst>
      <p:ext uri="{BB962C8B-B14F-4D97-AF65-F5344CB8AC3E}">
        <p14:creationId xmlns:p14="http://schemas.microsoft.com/office/powerpoint/2010/main" val="57128322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13">
            <a:extLst xmlns:a="http://schemas.openxmlformats.org/drawingml/2006/main">
              <a:ext uri="{FF2B5EF4-FFF2-40B4-BE49-F238E27FC236}">
                <a16:creationId xmlns:a16="http://schemas.microsoft.com/office/drawing/2014/main" id="{993D4D96-F9F0-4C4B-AA5E-B3A6B5F75F47}"/>
              </a:ext>
            </a:extLst>
          </p:cNvPr>
          <p:cNvSpPr>
            <a:spLocks xmlns:a="http://schemas.openxmlformats.org/drawingml/2006/main" noGrp="1"/>
          </p:cNvSpPr>
          <p:nvPr/>
        </p:nvSpPr>
        <p:spPr>
          <a:xfrm xmlns:a="http://schemas.openxmlformats.org/drawingml/2006/main">
            <a:off x="609600" y="3619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00" b="1">
                <a:solidFill>
                  <a:srgbClr val="202B33"/>
                </a:solidFill>
                <a:latin typeface="Arial Unicode MS"/>
                <a:ea typeface="Arial Unicode MS"/>
                <a:cs typeface="Arial Unicode MS"/>
              </a:defRPr>
            </a:pPr>
            <a:r>
              <a:rPr sz="2700" b="1">
                <a:solidFill>
                  <a:srgbClr val="202B33"/>
                </a:solidFill>
                <a:latin typeface="Arial Unicode MS"/>
                <a:ea typeface="Arial Unicode MS"/>
                <a:cs typeface="Arial Unicode MS"/>
              </a:rPr>
              <a:t>Discover and Use as You Go</a:t>
            </a:r>
          </a:p>
        </p:txBody>
      </p:sp>
      <p:sp>
        <p:nvSpPr>
          <p:cNvPr id="2" name="text-14">
            <a:extLst xmlns:a="http://schemas.openxmlformats.org/drawingml/2006/main">
              <a:ext uri="{FF2B5EF4-FFF2-40B4-BE49-F238E27FC236}">
                <a16:creationId xmlns:a16="http://schemas.microsoft.com/office/drawing/2014/main" id="{6D27A985-5AE5-43F7-B160-B19B7CF1D7DE}"/>
              </a:ext>
            </a:extLst>
          </p:cNvPr>
          <p:cNvSpPr>
            <a:spLocks xmlns:a="http://schemas.openxmlformats.org/drawingml/2006/main" noGrp="1"/>
          </p:cNvSpPr>
          <p:nvPr/>
        </p:nvSpPr>
        <p:spPr>
          <a:xfrm xmlns:a="http://schemas.openxmlformats.org/drawingml/2006/main">
            <a:off x="609600" y="62960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050" b="0">
                <a:solidFill>
                  <a:srgbClr val="687780"/>
                </a:solidFill>
                <a:latin typeface="Arial Unicode MS"/>
                <a:ea typeface="Arial Unicode MS"/>
                <a:cs typeface="Arial Unicode MS"/>
              </a:defRPr>
            </a:pPr>
            <a:r>
              <a:rPr sz="1050" b="0">
                <a:solidFill>
                  <a:srgbClr val="687780"/>
                </a:solidFill>
                <a:latin typeface="Arial Unicode MS"/>
                <a:ea typeface="Arial Unicode MS"/>
                <a:cs typeface="Arial Unicode MS"/>
              </a:rPr>
              <a:t>Length 16, 32 seeds; immediate vs delayed is a matched timing contrast; plain replay uses a different exploration rate and is a reference baseline only</a:t>
            </a:r>
          </a:p>
        </p:txBody>
      </p:sp>
      <p:sp>
        <p:nvSpPr>
          <p:cNvPr id="3" name="text-15">
            <a:extLst xmlns:a="http://schemas.openxmlformats.org/drawingml/2006/main">
              <a:ext uri="{FF2B5EF4-FFF2-40B4-BE49-F238E27FC236}">
                <a16:creationId xmlns:a16="http://schemas.microsoft.com/office/drawing/2014/main" id="{F249C734-A706-460E-9CF4-7A8E00DE46A3}"/>
              </a:ext>
            </a:extLst>
          </p:cNvPr>
          <p:cNvSpPr>
            <a:spLocks xmlns:a="http://schemas.openxmlformats.org/drawingml/2006/main" noGrp="1"/>
          </p:cNvSpPr>
          <p:nvPr/>
        </p:nvSpPr>
        <p:spPr>
          <a:xfrm xmlns:a="http://schemas.openxmlformats.org/drawingml/2006/main">
            <a:off x="11334750" y="629602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00" b="0">
                <a:solidFill>
                  <a:srgbClr val="687780"/>
                </a:solidFill>
                <a:latin typeface="Arial Unicode MS"/>
                <a:ea typeface="Arial Unicode MS"/>
                <a:cs typeface="Arial Unicode MS"/>
              </a:defRPr>
            </a:pPr>
            <a:r>
              <a:rPr sz="1200" b="0">
                <a:solidFill>
                  <a:srgbClr val="687780"/>
                </a:solidFill>
                <a:latin typeface="Arial Unicode MS"/>
                <a:ea typeface="Arial Unicode MS"/>
                <a:cs typeface="Arial Unicode MS"/>
              </a:rPr>
              <a:t>02</a:t>
            </a:r>
          </a:p>
        </p:txBody>
      </p:sp>
      <p:sp>
        <p:nvSpPr>
          <p:cNvPr id="4" name="text-16">
            <a:extLst xmlns:a="http://schemas.openxmlformats.org/drawingml/2006/main">
              <a:ext uri="{FF2B5EF4-FFF2-40B4-BE49-F238E27FC236}">
                <a16:creationId xmlns:a16="http://schemas.microsoft.com/office/drawing/2014/main" id="{48E72E61-2748-428E-BEFA-85A815C1C145}"/>
              </a:ext>
            </a:extLst>
          </p:cNvPr>
          <p:cNvSpPr>
            <a:spLocks xmlns:a="http://schemas.openxmlformats.org/drawingml/2006/main" noGrp="1"/>
          </p:cNvSpPr>
          <p:nvPr/>
        </p:nvSpPr>
        <p:spPr>
          <a:xfrm xmlns:a="http://schemas.openxmlformats.org/drawingml/2006/main">
            <a:off x="762000" y="1304925"/>
            <a:ext cx="590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202B33"/>
                </a:solidFill>
                <a:latin typeface="Arial Unicode MS"/>
                <a:ea typeface="Arial Unicode MS"/>
                <a:cs typeface="Arial Unicode MS"/>
              </a:defRPr>
            </a:pPr>
            <a:r>
              <a:rPr sz="2025" b="0">
                <a:solidFill>
                  <a:srgbClr val="202B33"/>
                </a:solidFill>
                <a:latin typeface="Arial Unicode MS"/>
                <a:ea typeface="Arial Unicode MS"/>
                <a:cs typeface="Arial Unicode MS"/>
              </a:rPr>
              <a:t>Steps to first 90%</a:t>
            </a:r>
          </a:p>
        </p:txBody>
      </p:sp>
      <p:sp>
        <p:nvSpPr>
          <p:cNvPr id="5" name="text-17">
            <a:extLst xmlns:a="http://schemas.openxmlformats.org/drawingml/2006/main">
              <a:ext uri="{FF2B5EF4-FFF2-40B4-BE49-F238E27FC236}">
                <a16:creationId xmlns:a16="http://schemas.microsoft.com/office/drawing/2014/main" id="{28669BE7-FDEB-4FC6-B48E-23A21D7EAD22}"/>
              </a:ext>
            </a:extLst>
          </p:cNvPr>
          <p:cNvSpPr>
            <a:spLocks xmlns:a="http://schemas.openxmlformats.org/drawingml/2006/main" noGrp="1"/>
          </p:cNvSpPr>
          <p:nvPr/>
        </p:nvSpPr>
        <p:spPr>
          <a:xfrm xmlns:a="http://schemas.openxmlformats.org/drawingml/2006/main">
            <a:off x="7772400" y="1304925"/>
            <a:ext cx="3810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a:solidFill>
                  <a:srgbClr val="202B33"/>
                </a:solidFill>
                <a:latin typeface="Arial Unicode MS"/>
                <a:ea typeface="Arial Unicode MS"/>
                <a:cs typeface="Arial Unicode MS"/>
              </a:defRPr>
            </a:pPr>
            <a:r>
              <a:rPr sz="1875" b="0">
                <a:solidFill>
                  <a:srgbClr val="202B33"/>
                </a:solidFill>
                <a:latin typeface="Arial Unicode MS"/>
                <a:ea typeface="Arial Unicode MS"/>
                <a:cs typeface="Arial Unicode MS"/>
              </a:rPr>
              <a:t>Before first full success: known prefix</a:t>
            </a:r>
          </a:p>
        </p:txBody>
      </p:sp>
      <p:graphicFrame>
        <p:nvGraphicFramePr>
          <p:cNvPr id="14" name="Chart"/>
          <p:cNvGraphicFramePr/>
          <p:nvPr/>
        </p:nvGraphicFramePr>
        <p:xfrm>
          <a:off xmlns:a="http://schemas.openxmlformats.org/drawingml/2006/main" x="619125" y="1885950"/>
          <a:ext xmlns:a="http://schemas.openxmlformats.org/drawingml/2006/main" cx="6715125" cy="3619500"/>
        </p:xfrm>
        <a:graphic xmlns:a="http://schemas.openxmlformats.org/drawingml/2006/main">
          <a:graphicData uri="http://schemas.openxmlformats.org/drawingml/2006/chart">
            <c:chart xmlns:r="http://schemas.openxmlformats.org/officeDocument/2006/relationships" xmlns:c="http://schemas.openxmlformats.org/drawingml/2006/chart" r:id="R107a6552daa44d83"/>
          </a:graphicData>
        </a:graphic>
      </p:graphicFrame>
      <p:graphicFrame>
        <p:nvGraphicFramePr>
          <p:cNvPr id="15" name="Chart"/>
          <p:cNvGraphicFramePr/>
          <p:nvPr/>
        </p:nvGraphicFramePr>
        <p:xfrm>
          <a:off xmlns:a="http://schemas.openxmlformats.org/drawingml/2006/main" x="7734300" y="1885950"/>
          <a:ext xmlns:a="http://schemas.openxmlformats.org/drawingml/2006/main" cx="3848100" cy="3619500"/>
        </p:xfrm>
        <a:graphic xmlns:a="http://schemas.openxmlformats.org/drawingml/2006/main">
          <a:graphicData uri="http://schemas.openxmlformats.org/drawingml/2006/chart">
            <c:chart xmlns:r="http://schemas.openxmlformats.org/officeDocument/2006/relationships" xmlns:c="http://schemas.openxmlformats.org/drawingml/2006/chart" r:id="R439adc485d5c4a03"/>
          </a:graphicData>
        </a:graphic>
      </p:graphicFrame>
      <p:sp>
        <p:nvSpPr>
          <p:cNvPr id="8" name="text-18">
            <a:extLst xmlns:a="http://schemas.openxmlformats.org/drawingml/2006/main">
              <a:ext uri="{FF2B5EF4-FFF2-40B4-BE49-F238E27FC236}">
                <a16:creationId xmlns:a16="http://schemas.microsoft.com/office/drawing/2014/main" id="{1044B1F7-A01D-4392-9AA2-4A172CEEB8E6}"/>
              </a:ext>
            </a:extLst>
          </p:cNvPr>
          <p:cNvSpPr>
            <a:spLocks xmlns:a="http://schemas.openxmlformats.org/drawingml/2006/main" noGrp="1"/>
          </p:cNvSpPr>
          <p:nvPr/>
        </p:nvSpPr>
        <p:spPr>
          <a:xfrm xmlns:a="http://schemas.openxmlformats.org/drawingml/2006/main">
            <a:off x="609600" y="57150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75" b="1">
                <a:solidFill>
                  <a:srgbClr val="202B33"/>
                </a:solidFill>
                <a:latin typeface="Arial Unicode MS"/>
                <a:ea typeface="Arial Unicode MS"/>
                <a:cs typeface="Arial Unicode MS"/>
              </a:defRPr>
            </a:pPr>
            <a:r>
              <a:rPr sz="1875" b="1">
                <a:solidFill>
                  <a:srgbClr val="202B33"/>
                </a:solidFill>
                <a:latin typeface="Arial Unicode MS"/>
                <a:ea typeface="Arial Unicode MS"/>
                <a:cs typeface="Arial Unicode MS"/>
              </a:rPr>
              <a:t>Almost all of the saving is the cost of re-walking the known prefix, not smarter exploration</a:t>
            </a:r>
          </a:p>
        </p:txBody>
      </p:sp>
    </p:spTree>
    <p:extLst>
      <p:ext uri="{BB962C8B-B14F-4D97-AF65-F5344CB8AC3E}">
        <p14:creationId xmlns:p14="http://schemas.microsoft.com/office/powerpoint/2010/main" val="150071963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ext-19">
            <a:extLst xmlns:a="http://schemas.openxmlformats.org/drawingml/2006/main">
              <a:ext uri="{FF2B5EF4-FFF2-40B4-BE49-F238E27FC236}">
                <a16:creationId xmlns:a16="http://schemas.microsoft.com/office/drawing/2014/main" id="{8DA2F006-FBD4-4134-9025-031FB6CCDA89}"/>
              </a:ext>
            </a:extLst>
          </p:cNvPr>
          <p:cNvSpPr>
            <a:spLocks xmlns:a="http://schemas.openxmlformats.org/drawingml/2006/main" noGrp="1"/>
          </p:cNvSpPr>
          <p:nvPr/>
        </p:nvSpPr>
        <p:spPr>
          <a:xfrm xmlns:a="http://schemas.openxmlformats.org/drawingml/2006/main">
            <a:off x="609600" y="3619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00" b="1">
                <a:solidFill>
                  <a:srgbClr val="202B33"/>
                </a:solidFill>
                <a:latin typeface="Arial Unicode MS"/>
                <a:ea typeface="Arial Unicode MS"/>
                <a:cs typeface="Arial Unicode MS"/>
              </a:defRPr>
            </a:pPr>
            <a:r>
              <a:rPr sz="2700" b="1">
                <a:solidFill>
                  <a:srgbClr val="202B33"/>
                </a:solidFill>
                <a:latin typeface="Arial Unicode MS"/>
                <a:ea typeface="Arial Unicode MS"/>
                <a:cs typeface="Arial Unicode MS"/>
              </a:rPr>
              <a:t>Linear, Branching</a:t>
            </a:r>
          </a:p>
        </p:txBody>
      </p:sp>
      <p:sp>
        <p:nvSpPr>
          <p:cNvPr id="2" name="text-20">
            <a:extLst xmlns:a="http://schemas.openxmlformats.org/drawingml/2006/main">
              <a:ext uri="{FF2B5EF4-FFF2-40B4-BE49-F238E27FC236}">
                <a16:creationId xmlns:a16="http://schemas.microsoft.com/office/drawing/2014/main" id="{710B1043-2A8F-4C1E-983E-F262FE8142E1}"/>
              </a:ext>
            </a:extLst>
          </p:cNvPr>
          <p:cNvSpPr>
            <a:spLocks xmlns:a="http://schemas.openxmlformats.org/drawingml/2006/main" noGrp="1"/>
          </p:cNvSpPr>
          <p:nvPr/>
        </p:nvSpPr>
        <p:spPr>
          <a:xfrm xmlns:a="http://schemas.openxmlformats.org/drawingml/2006/main">
            <a:off x="609600" y="62960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050" b="0">
                <a:solidFill>
                  <a:srgbClr val="687780"/>
                </a:solidFill>
                <a:latin typeface="Arial Unicode MS"/>
                <a:ea typeface="Arial Unicode MS"/>
                <a:cs typeface="Arial Unicode MS"/>
              </a:defRPr>
            </a:pPr>
            <a:r>
              <a:rPr sz="1050" b="0">
                <a:solidFill>
                  <a:srgbClr val="687780"/>
                </a:solidFill>
                <a:latin typeface="Arial Unicode MS"/>
                <a:ea typeface="Arial Unicode MS"/>
                <a:cs typeface="Arial Unicode MS"/>
              </a:rPr>
              <a:t>Hot brew / cold brew: the same pour over grounds, different history, different continuation</a:t>
            </a:r>
          </a:p>
        </p:txBody>
      </p:sp>
      <p:sp>
        <p:nvSpPr>
          <p:cNvPr id="3" name="text-21">
            <a:extLst xmlns:a="http://schemas.openxmlformats.org/drawingml/2006/main">
              <a:ext uri="{FF2B5EF4-FFF2-40B4-BE49-F238E27FC236}">
                <a16:creationId xmlns:a16="http://schemas.microsoft.com/office/drawing/2014/main" id="{642D2BE2-5ECF-4ED3-BBED-D25A95350701}"/>
              </a:ext>
            </a:extLst>
          </p:cNvPr>
          <p:cNvSpPr>
            <a:spLocks xmlns:a="http://schemas.openxmlformats.org/drawingml/2006/main" noGrp="1"/>
          </p:cNvSpPr>
          <p:nvPr/>
        </p:nvSpPr>
        <p:spPr>
          <a:xfrm xmlns:a="http://schemas.openxmlformats.org/drawingml/2006/main">
            <a:off x="11334750" y="629602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00" b="0">
                <a:solidFill>
                  <a:srgbClr val="687780"/>
                </a:solidFill>
                <a:latin typeface="Arial Unicode MS"/>
                <a:ea typeface="Arial Unicode MS"/>
                <a:cs typeface="Arial Unicode MS"/>
              </a:defRPr>
            </a:pPr>
            <a:r>
              <a:rPr sz="1200" b="0">
                <a:solidFill>
                  <a:srgbClr val="687780"/>
                </a:solidFill>
                <a:latin typeface="Arial Unicode MS"/>
                <a:ea typeface="Arial Unicode MS"/>
                <a:cs typeface="Arial Unicode MS"/>
              </a:rPr>
              <a:t>03</a:t>
            </a:r>
          </a:p>
        </p:txBody>
      </p:sp>
      <p:sp>
        <p:nvSpPr>
          <p:cNvPr id="4" name="">
            <a:extLst xmlns:a="http://schemas.openxmlformats.org/drawingml/2006/main">
              <a:ext uri="{FF2B5EF4-FFF2-40B4-BE49-F238E27FC236}">
                <a16:creationId xmlns:a16="http://schemas.microsoft.com/office/drawing/2014/main" id="{52AC99C4-EA5C-47C7-8473-CB804892774F}"/>
              </a:ext>
            </a:extLst>
          </p:cNvPr>
          <p:cNvSpPr>
            <a:spLocks xmlns:a="http://schemas.openxmlformats.org/drawingml/2006/main" noGrp="1"/>
          </p:cNvSpPr>
          <p:nvPr/>
        </p:nvSpPr>
        <p:spPr>
          <a:xfrm xmlns:a="http://schemas.openxmlformats.org/drawingml/2006/main">
            <a:off x="6096000" y="1219200"/>
            <a:ext cx="0" cy="4457700"/>
          </a:xfrm>
          <a:prstGeom xmlns:a="http://schemas.openxmlformats.org/drawingml/2006/main" prst="line">
            <a:avLst/>
          </a:prstGeom>
          <a:noFill xmlns:a="http://schemas.openxmlformats.org/drawingml/2006/main"/>
          <a:ln xmlns:a="http://schemas.openxmlformats.org/drawingml/2006/main" w="14288">
            <a:solidFill>
              <a:srgbClr val="D9E0E4"/>
            </a:solidFill>
          </a:ln>
        </p:spPr>
      </p:sp>
      <p:sp>
        <p:nvSpPr>
          <p:cNvPr id="5" name="text-22">
            <a:extLst xmlns:a="http://schemas.openxmlformats.org/drawingml/2006/main">
              <a:ext uri="{FF2B5EF4-FFF2-40B4-BE49-F238E27FC236}">
                <a16:creationId xmlns:a16="http://schemas.microsoft.com/office/drawing/2014/main" id="{89142521-0992-4C83-8B09-7C0FD393703E}"/>
              </a:ext>
            </a:extLst>
          </p:cNvPr>
          <p:cNvSpPr>
            <a:spLocks xmlns:a="http://schemas.openxmlformats.org/drawingml/2006/main" noGrp="1"/>
          </p:cNvSpPr>
          <p:nvPr/>
        </p:nvSpPr>
        <p:spPr>
          <a:xfrm xmlns:a="http://schemas.openxmlformats.org/drawingml/2006/main">
            <a:off x="685800" y="123825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202B33"/>
                </a:solidFill>
                <a:latin typeface="Arial Unicode MS"/>
                <a:ea typeface="Arial Unicode MS"/>
                <a:cs typeface="Arial Unicode MS"/>
              </a:defRPr>
            </a:pPr>
            <a:r>
              <a:rPr sz="2025" b="1">
                <a:solidFill>
                  <a:srgbClr val="202B33"/>
                </a:solidFill>
                <a:latin typeface="Arial Unicode MS"/>
                <a:ea typeface="Arial Unicode MS"/>
                <a:cs typeface="Arial Unicode MS"/>
              </a:rPr>
              <a:t>Linear task: progress is enough</a:t>
            </a:r>
          </a:p>
        </p:txBody>
      </p:sp>
      <p:sp>
        <p:nvSpPr>
          <p:cNvPr id="6" name="text-23">
            <a:extLst xmlns:a="http://schemas.openxmlformats.org/drawingml/2006/main">
              <a:ext uri="{FF2B5EF4-FFF2-40B4-BE49-F238E27FC236}">
                <a16:creationId xmlns:a16="http://schemas.microsoft.com/office/drawing/2014/main" id="{2771BF81-494B-49B8-8EFB-FF6A2AC6A4A0}"/>
              </a:ext>
            </a:extLst>
          </p:cNvPr>
          <p:cNvSpPr>
            <a:spLocks xmlns:a="http://schemas.openxmlformats.org/drawingml/2006/main" noGrp="1"/>
          </p:cNvSpPr>
          <p:nvPr/>
        </p:nvSpPr>
        <p:spPr>
          <a:xfrm xmlns:a="http://schemas.openxmlformats.org/drawingml/2006/main">
            <a:off x="1047750" y="1866900"/>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687780"/>
                </a:solidFill>
                <a:latin typeface="Arial Unicode MS"/>
                <a:ea typeface="Arial Unicode MS"/>
                <a:cs typeface="Arial Unicode MS"/>
              </a:defRPr>
            </a:pPr>
            <a:r>
              <a:rPr sz="1725" b="0">
                <a:solidFill>
                  <a:srgbClr val="687780"/>
                </a:solidFill>
                <a:latin typeface="Arial Unicode MS"/>
                <a:ea typeface="Arial Unicode MS"/>
                <a:cs typeface="Arial Unicode MS"/>
              </a:rPr>
              <a:t>progress</a:t>
            </a:r>
          </a:p>
        </p:txBody>
      </p:sp>
      <p:sp>
        <p:nvSpPr>
          <p:cNvPr id="7" name="text-24">
            <a:extLst xmlns:a="http://schemas.openxmlformats.org/drawingml/2006/main">
              <a:ext uri="{FF2B5EF4-FFF2-40B4-BE49-F238E27FC236}">
                <a16:creationId xmlns:a16="http://schemas.microsoft.com/office/drawing/2014/main" id="{3278F80B-59D0-4D6A-A4D7-5EA6789275A2}"/>
              </a:ext>
            </a:extLst>
          </p:cNvPr>
          <p:cNvSpPr>
            <a:spLocks xmlns:a="http://schemas.openxmlformats.org/drawingml/2006/main" noGrp="1"/>
          </p:cNvSpPr>
          <p:nvPr/>
        </p:nvSpPr>
        <p:spPr>
          <a:xfrm xmlns:a="http://schemas.openxmlformats.org/drawingml/2006/main">
            <a:off x="3143250" y="1866900"/>
            <a:ext cx="133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687780"/>
                </a:solidFill>
                <a:latin typeface="Arial Unicode MS"/>
                <a:ea typeface="Arial Unicode MS"/>
                <a:cs typeface="Arial Unicode MS"/>
              </a:defRPr>
            </a:pPr>
            <a:r>
              <a:rPr sz="1725" b="0">
                <a:solidFill>
                  <a:srgbClr val="687780"/>
                </a:solidFill>
                <a:latin typeface="Arial Unicode MS"/>
                <a:ea typeface="Arial Unicode MS"/>
                <a:cs typeface="Arial Unicode MS"/>
              </a:rPr>
              <a:t>goal</a:t>
            </a:r>
          </a:p>
        </p:txBody>
      </p:sp>
      <p:sp>
        <p:nvSpPr>
          <p:cNvPr id="8" name="">
            <a:extLst xmlns:a="http://schemas.openxmlformats.org/drawingml/2006/main">
              <a:ext uri="{FF2B5EF4-FFF2-40B4-BE49-F238E27FC236}">
                <a16:creationId xmlns:a16="http://schemas.microsoft.com/office/drawing/2014/main" id="{E0E6E95D-C82C-4D9D-9BDE-CC2BB1BE429A}"/>
              </a:ext>
            </a:extLst>
          </p:cNvPr>
          <p:cNvSpPr>
            <a:spLocks xmlns:a="http://schemas.openxmlformats.org/drawingml/2006/main" noGrp="1"/>
          </p:cNvSpPr>
          <p:nvPr/>
        </p:nvSpPr>
        <p:spPr>
          <a:xfrm xmlns:a="http://schemas.openxmlformats.org/drawingml/2006/main">
            <a:off x="990600" y="2266950"/>
            <a:ext cx="3619500" cy="0"/>
          </a:xfrm>
          <a:prstGeom xmlns:a="http://schemas.openxmlformats.org/drawingml/2006/main" prst="line">
            <a:avLst/>
          </a:prstGeom>
          <a:noFill xmlns:a="http://schemas.openxmlformats.org/drawingml/2006/main"/>
          <a:ln xmlns:a="http://schemas.openxmlformats.org/drawingml/2006/main" w="14288">
            <a:solidFill>
              <a:srgbClr val="D9E0E4"/>
            </a:solidFill>
          </a:ln>
        </p:spPr>
      </p:sp>
      <p:sp>
        <p:nvSpPr>
          <p:cNvPr id="9" name="text-25">
            <a:extLst xmlns:a="http://schemas.openxmlformats.org/drawingml/2006/main">
              <a:ext uri="{FF2B5EF4-FFF2-40B4-BE49-F238E27FC236}">
                <a16:creationId xmlns:a16="http://schemas.microsoft.com/office/drawing/2014/main" id="{A4D7587D-BC60-427F-AA33-EEAFBD169939}"/>
              </a:ext>
            </a:extLst>
          </p:cNvPr>
          <p:cNvSpPr>
            <a:spLocks xmlns:a="http://schemas.openxmlformats.org/drawingml/2006/main" noGrp="1"/>
          </p:cNvSpPr>
          <p:nvPr/>
        </p:nvSpPr>
        <p:spPr>
          <a:xfrm xmlns:a="http://schemas.openxmlformats.org/drawingml/2006/main">
            <a:off x="1047750" y="243840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202B33"/>
                </a:solidFill>
                <a:latin typeface="Arial Unicode MS"/>
                <a:ea typeface="Arial Unicode MS"/>
                <a:cs typeface="Arial Unicode MS"/>
              </a:defRPr>
            </a:pPr>
            <a:r>
              <a:rPr sz="2025" b="0">
                <a:solidFill>
                  <a:srgbClr val="202B33"/>
                </a:solidFill>
                <a:latin typeface="Arial Unicode MS"/>
                <a:ea typeface="Arial Unicode MS"/>
                <a:cs typeface="Arial Unicode MS"/>
              </a:rPr>
              <a:t>0</a:t>
            </a:r>
          </a:p>
        </p:txBody>
      </p:sp>
      <p:sp>
        <p:nvSpPr>
          <p:cNvPr id="10" name="text-26">
            <a:extLst xmlns:a="http://schemas.openxmlformats.org/drawingml/2006/main">
              <a:ext uri="{FF2B5EF4-FFF2-40B4-BE49-F238E27FC236}">
                <a16:creationId xmlns:a16="http://schemas.microsoft.com/office/drawing/2014/main" id="{0B18467A-B342-469F-AA5B-F02C726383A1}"/>
              </a:ext>
            </a:extLst>
          </p:cNvPr>
          <p:cNvSpPr>
            <a:spLocks xmlns:a="http://schemas.openxmlformats.org/drawingml/2006/main" noGrp="1"/>
          </p:cNvSpPr>
          <p:nvPr/>
        </p:nvSpPr>
        <p:spPr>
          <a:xfrm xmlns:a="http://schemas.openxmlformats.org/drawingml/2006/main">
            <a:off x="3143250" y="2438400"/>
            <a:ext cx="133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2176AD"/>
                </a:solidFill>
                <a:latin typeface="Arial Unicode MS"/>
                <a:ea typeface="Arial Unicode MS"/>
                <a:cs typeface="Arial Unicode MS"/>
              </a:defRPr>
            </a:pPr>
            <a:r>
              <a:rPr sz="2025" b="0">
                <a:solidFill>
                  <a:srgbClr val="2176AD"/>
                </a:solidFill>
                <a:latin typeface="Arial Unicode MS"/>
                <a:ea typeface="Arial Unicode MS"/>
                <a:cs typeface="Arial Unicode MS"/>
              </a:rPr>
              <a:t>A</a:t>
            </a:r>
          </a:p>
        </p:txBody>
      </p:sp>
      <p:sp>
        <p:nvSpPr>
          <p:cNvPr id="11" name="text-27">
            <a:extLst xmlns:a="http://schemas.openxmlformats.org/drawingml/2006/main">
              <a:ext uri="{FF2B5EF4-FFF2-40B4-BE49-F238E27FC236}">
                <a16:creationId xmlns:a16="http://schemas.microsoft.com/office/drawing/2014/main" id="{E3300D19-AC20-4393-B809-86392726F394}"/>
              </a:ext>
            </a:extLst>
          </p:cNvPr>
          <p:cNvSpPr>
            <a:spLocks xmlns:a="http://schemas.openxmlformats.org/drawingml/2006/main" noGrp="1"/>
          </p:cNvSpPr>
          <p:nvPr/>
        </p:nvSpPr>
        <p:spPr>
          <a:xfrm xmlns:a="http://schemas.openxmlformats.org/drawingml/2006/main">
            <a:off x="1047750" y="29908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202B33"/>
                </a:solidFill>
                <a:latin typeface="Arial Unicode MS"/>
                <a:ea typeface="Arial Unicode MS"/>
                <a:cs typeface="Arial Unicode MS"/>
              </a:defRPr>
            </a:pPr>
            <a:r>
              <a:rPr sz="2025" b="0">
                <a:solidFill>
                  <a:srgbClr val="202B33"/>
                </a:solidFill>
                <a:latin typeface="Arial Unicode MS"/>
                <a:ea typeface="Arial Unicode MS"/>
                <a:cs typeface="Arial Unicode MS"/>
              </a:rPr>
              <a:t>1</a:t>
            </a:r>
          </a:p>
        </p:txBody>
      </p:sp>
      <p:sp>
        <p:nvSpPr>
          <p:cNvPr id="12" name="text-28">
            <a:extLst xmlns:a="http://schemas.openxmlformats.org/drawingml/2006/main">
              <a:ext uri="{FF2B5EF4-FFF2-40B4-BE49-F238E27FC236}">
                <a16:creationId xmlns:a16="http://schemas.microsoft.com/office/drawing/2014/main" id="{BD7EE631-ED97-41EE-8239-D44FFF69462F}"/>
              </a:ext>
            </a:extLst>
          </p:cNvPr>
          <p:cNvSpPr>
            <a:spLocks xmlns:a="http://schemas.openxmlformats.org/drawingml/2006/main" noGrp="1"/>
          </p:cNvSpPr>
          <p:nvPr/>
        </p:nvSpPr>
        <p:spPr>
          <a:xfrm xmlns:a="http://schemas.openxmlformats.org/drawingml/2006/main">
            <a:off x="3143250" y="2990850"/>
            <a:ext cx="133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2176AD"/>
                </a:solidFill>
                <a:latin typeface="Arial Unicode MS"/>
                <a:ea typeface="Arial Unicode MS"/>
                <a:cs typeface="Arial Unicode MS"/>
              </a:defRPr>
            </a:pPr>
            <a:r>
              <a:rPr sz="2025" b="0">
                <a:solidFill>
                  <a:srgbClr val="2176AD"/>
                </a:solidFill>
                <a:latin typeface="Arial Unicode MS"/>
                <a:ea typeface="Arial Unicode MS"/>
                <a:cs typeface="Arial Unicode MS"/>
              </a:rPr>
              <a:t>B</a:t>
            </a:r>
          </a:p>
        </p:txBody>
      </p:sp>
      <p:sp>
        <p:nvSpPr>
          <p:cNvPr id="13" name="text-29">
            <a:extLst xmlns:a="http://schemas.openxmlformats.org/drawingml/2006/main">
              <a:ext uri="{FF2B5EF4-FFF2-40B4-BE49-F238E27FC236}">
                <a16:creationId xmlns:a16="http://schemas.microsoft.com/office/drawing/2014/main" id="{BE399C96-C50A-4B1B-9D12-40039C08EFBD}"/>
              </a:ext>
            </a:extLst>
          </p:cNvPr>
          <p:cNvSpPr>
            <a:spLocks xmlns:a="http://schemas.openxmlformats.org/drawingml/2006/main" noGrp="1"/>
          </p:cNvSpPr>
          <p:nvPr/>
        </p:nvSpPr>
        <p:spPr>
          <a:xfrm xmlns:a="http://schemas.openxmlformats.org/drawingml/2006/main">
            <a:off x="1047750" y="354330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202B33"/>
                </a:solidFill>
                <a:latin typeface="Arial Unicode MS"/>
                <a:ea typeface="Arial Unicode MS"/>
                <a:cs typeface="Arial Unicode MS"/>
              </a:defRPr>
            </a:pPr>
            <a:r>
              <a:rPr sz="2025" b="0">
                <a:solidFill>
                  <a:srgbClr val="202B33"/>
                </a:solidFill>
                <a:latin typeface="Arial Unicode MS"/>
                <a:ea typeface="Arial Unicode MS"/>
                <a:cs typeface="Arial Unicode MS"/>
              </a:rPr>
              <a:t>2</a:t>
            </a:r>
          </a:p>
        </p:txBody>
      </p:sp>
      <p:sp>
        <p:nvSpPr>
          <p:cNvPr id="14" name="text-30">
            <a:extLst xmlns:a="http://schemas.openxmlformats.org/drawingml/2006/main">
              <a:ext uri="{FF2B5EF4-FFF2-40B4-BE49-F238E27FC236}">
                <a16:creationId xmlns:a16="http://schemas.microsoft.com/office/drawing/2014/main" id="{6C72EE9D-1F59-4CC7-BEF4-9391E87B4C3F}"/>
              </a:ext>
            </a:extLst>
          </p:cNvPr>
          <p:cNvSpPr>
            <a:spLocks xmlns:a="http://schemas.openxmlformats.org/drawingml/2006/main" noGrp="1"/>
          </p:cNvSpPr>
          <p:nvPr/>
        </p:nvSpPr>
        <p:spPr>
          <a:xfrm xmlns:a="http://schemas.openxmlformats.org/drawingml/2006/main">
            <a:off x="3143250" y="3543300"/>
            <a:ext cx="133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2176AD"/>
                </a:solidFill>
                <a:latin typeface="Arial Unicode MS"/>
                <a:ea typeface="Arial Unicode MS"/>
                <a:cs typeface="Arial Unicode MS"/>
              </a:defRPr>
            </a:pPr>
            <a:r>
              <a:rPr sz="2025" b="0">
                <a:solidFill>
                  <a:srgbClr val="2176AD"/>
                </a:solidFill>
                <a:latin typeface="Arial Unicode MS"/>
                <a:ea typeface="Arial Unicode MS"/>
                <a:cs typeface="Arial Unicode MS"/>
              </a:rPr>
              <a:t>C</a:t>
            </a:r>
          </a:p>
        </p:txBody>
      </p:sp>
      <p:sp>
        <p:nvSpPr>
          <p:cNvPr id="15" name="text-31">
            <a:extLst xmlns:a="http://schemas.openxmlformats.org/drawingml/2006/main">
              <a:ext uri="{FF2B5EF4-FFF2-40B4-BE49-F238E27FC236}">
                <a16:creationId xmlns:a16="http://schemas.microsoft.com/office/drawing/2014/main" id="{88F7C660-2BC9-4C00-A21E-532D6EFE6713}"/>
              </a:ext>
            </a:extLst>
          </p:cNvPr>
          <p:cNvSpPr>
            <a:spLocks xmlns:a="http://schemas.openxmlformats.org/drawingml/2006/main" noGrp="1"/>
          </p:cNvSpPr>
          <p:nvPr/>
        </p:nvSpPr>
        <p:spPr>
          <a:xfrm xmlns:a="http://schemas.openxmlformats.org/drawingml/2006/main">
            <a:off x="1047750" y="40957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202B33"/>
                </a:solidFill>
                <a:latin typeface="Arial Unicode MS"/>
                <a:ea typeface="Arial Unicode MS"/>
                <a:cs typeface="Arial Unicode MS"/>
              </a:defRPr>
            </a:pPr>
            <a:r>
              <a:rPr sz="2025" b="0">
                <a:solidFill>
                  <a:srgbClr val="202B33"/>
                </a:solidFill>
                <a:latin typeface="Arial Unicode MS"/>
                <a:ea typeface="Arial Unicode MS"/>
                <a:cs typeface="Arial Unicode MS"/>
              </a:rPr>
              <a:t>3</a:t>
            </a:r>
          </a:p>
        </p:txBody>
      </p:sp>
      <p:sp>
        <p:nvSpPr>
          <p:cNvPr id="16" name="text-32">
            <a:extLst xmlns:a="http://schemas.openxmlformats.org/drawingml/2006/main">
              <a:ext uri="{FF2B5EF4-FFF2-40B4-BE49-F238E27FC236}">
                <a16:creationId xmlns:a16="http://schemas.microsoft.com/office/drawing/2014/main" id="{82937DA0-E2D6-4FED-BB6E-26CA02599AA2}"/>
              </a:ext>
            </a:extLst>
          </p:cNvPr>
          <p:cNvSpPr>
            <a:spLocks xmlns:a="http://schemas.openxmlformats.org/drawingml/2006/main" noGrp="1"/>
          </p:cNvSpPr>
          <p:nvPr/>
        </p:nvSpPr>
        <p:spPr>
          <a:xfrm xmlns:a="http://schemas.openxmlformats.org/drawingml/2006/main">
            <a:off x="3143250" y="4095750"/>
            <a:ext cx="133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94A1AA"/>
                </a:solidFill>
                <a:latin typeface="Arial Unicode MS"/>
                <a:ea typeface="Arial Unicode MS"/>
                <a:cs typeface="Arial Unicode MS"/>
              </a:defRPr>
            </a:pPr>
            <a:r>
              <a:rPr sz="2025" b="0">
                <a:solidFill>
                  <a:srgbClr val="94A1AA"/>
                </a:solidFill>
                <a:latin typeface="Arial Unicode MS"/>
                <a:ea typeface="Arial Unicode MS"/>
                <a:cs typeface="Arial Unicode MS"/>
              </a:rPr>
              <a:t>?</a:t>
            </a:r>
          </a:p>
        </p:txBody>
      </p:sp>
      <p:sp>
        <p:nvSpPr>
          <p:cNvPr id="17" name="text-33">
            <a:extLst xmlns:a="http://schemas.openxmlformats.org/drawingml/2006/main">
              <a:ext uri="{FF2B5EF4-FFF2-40B4-BE49-F238E27FC236}">
                <a16:creationId xmlns:a16="http://schemas.microsoft.com/office/drawing/2014/main" id="{03AC5754-ADF5-4CC1-AC7C-F175D34A4A3E}"/>
              </a:ext>
            </a:extLst>
          </p:cNvPr>
          <p:cNvSpPr>
            <a:spLocks xmlns:a="http://schemas.openxmlformats.org/drawingml/2006/main" noGrp="1"/>
          </p:cNvSpPr>
          <p:nvPr/>
        </p:nvSpPr>
        <p:spPr>
          <a:xfrm xmlns:a="http://schemas.openxmlformats.org/drawingml/2006/main">
            <a:off x="6438900" y="123825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202B33"/>
                </a:solidFill>
                <a:latin typeface="Arial Unicode MS"/>
                <a:ea typeface="Arial Unicode MS"/>
                <a:cs typeface="Arial Unicode MS"/>
              </a:defRPr>
            </a:pPr>
            <a:r>
              <a:rPr sz="2025" b="1">
                <a:solidFill>
                  <a:srgbClr val="202B33"/>
                </a:solidFill>
                <a:latin typeface="Arial Unicode MS"/>
                <a:ea typeface="Arial Unicode MS"/>
                <a:cs typeface="Arial Unicode MS"/>
              </a:rPr>
              <a:t>Branching task: progress is not enough</a:t>
            </a:r>
          </a:p>
        </p:txBody>
      </p:sp>
      <p:sp>
        <p:nvSpPr>
          <p:cNvPr id="18" name="">
            <a:extLst xmlns:a="http://schemas.openxmlformats.org/drawingml/2006/main">
              <a:ext uri="{FF2B5EF4-FFF2-40B4-BE49-F238E27FC236}">
                <a16:creationId xmlns:a16="http://schemas.microsoft.com/office/drawing/2014/main" id="{F7C04A5C-749C-4285-B5CB-8CD1D284F40B}"/>
              </a:ext>
            </a:extLst>
          </p:cNvPr>
          <p:cNvSpPr>
            <a:spLocks xmlns:a="http://schemas.openxmlformats.org/drawingml/2006/main" noGrp="1"/>
          </p:cNvSpPr>
          <p:nvPr/>
        </p:nvSpPr>
        <p:spPr>
          <a:xfrm xmlns:a="http://schemas.openxmlformats.org/drawingml/2006/main">
            <a:off x="6572250" y="1962150"/>
            <a:ext cx="742950" cy="53340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A</a:t>
            </a:r>
          </a:p>
        </p:txBody>
      </p:sp>
      <p:sp>
        <p:nvSpPr>
          <p:cNvPr id="19" name="">
            <a:extLst xmlns:a="http://schemas.openxmlformats.org/drawingml/2006/main">
              <a:ext uri="{FF2B5EF4-FFF2-40B4-BE49-F238E27FC236}">
                <a16:creationId xmlns:a16="http://schemas.microsoft.com/office/drawing/2014/main" id="{7320951F-97D2-4EBE-943D-C179C31C9E06}"/>
              </a:ext>
            </a:extLst>
          </p:cNvPr>
          <p:cNvSpPr>
            <a:spLocks xmlns:a="http://schemas.openxmlformats.org/drawingml/2006/main" noGrp="1"/>
          </p:cNvSpPr>
          <p:nvPr/>
        </p:nvSpPr>
        <p:spPr>
          <a:xfrm xmlns:a="http://schemas.openxmlformats.org/drawingml/2006/main">
            <a:off x="8572500" y="1962150"/>
            <a:ext cx="742950" cy="53340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E</a:t>
            </a:r>
          </a:p>
        </p:txBody>
      </p:sp>
      <p:sp>
        <p:nvSpPr>
          <p:cNvPr id="20" name="">
            <a:extLst xmlns:a="http://schemas.openxmlformats.org/drawingml/2006/main">
              <a:ext uri="{FF2B5EF4-FFF2-40B4-BE49-F238E27FC236}">
                <a16:creationId xmlns:a16="http://schemas.microsoft.com/office/drawing/2014/main" id="{16F84657-006E-4805-BF4D-2268FCE302C2}"/>
              </a:ext>
            </a:extLst>
          </p:cNvPr>
          <p:cNvSpPr>
            <a:spLocks xmlns:a="http://schemas.openxmlformats.org/drawingml/2006/main" noGrp="1"/>
          </p:cNvSpPr>
          <p:nvPr/>
        </p:nvSpPr>
        <p:spPr>
          <a:xfrm xmlns:a="http://schemas.openxmlformats.org/drawingml/2006/main">
            <a:off x="10572750" y="1962150"/>
            <a:ext cx="742950" cy="53340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D</a:t>
            </a:r>
          </a:p>
        </p:txBody>
      </p:sp>
      <p:sp>
        <p:nvSpPr>
          <p:cNvPr id="21" name="">
            <a:extLst xmlns:a="http://schemas.openxmlformats.org/drawingml/2006/main">
              <a:ext uri="{FF2B5EF4-FFF2-40B4-BE49-F238E27FC236}">
                <a16:creationId xmlns:a16="http://schemas.microsoft.com/office/drawing/2014/main" id="{060867C6-E98E-4BA6-AAA0-C1E18C498C64}"/>
              </a:ext>
            </a:extLst>
          </p:cNvPr>
          <p:cNvSpPr>
            <a:spLocks xmlns:a="http://schemas.openxmlformats.org/drawingml/2006/main" noGrp="1"/>
          </p:cNvSpPr>
          <p:nvPr/>
        </p:nvSpPr>
        <p:spPr>
          <a:xfrm xmlns:a="http://schemas.openxmlformats.org/drawingml/2006/main">
            <a:off x="6572250" y="3581400"/>
            <a:ext cx="742950" cy="533400"/>
          </a:xfrm>
          <a:prstGeom xmlns:a="http://schemas.openxmlformats.org/drawingml/2006/main" prst="rect">
            <a:avLst/>
          </a:prstGeom>
          <a:solidFill xmlns:a="http://schemas.openxmlformats.org/drawingml/2006/main">
            <a:srgbClr val="FFFFFF"/>
          </a:solidFill>
          <a:ln xmlns:a="http://schemas.openxmlformats.org/drawingml/2006/main" w="14288">
            <a:solidFill>
              <a:srgbClr val="C47A35"/>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C47A35"/>
                </a:solidFill>
                <a:latin typeface="Arial Unicode MS"/>
                <a:ea typeface="Arial Unicode MS"/>
                <a:cs typeface="Arial Unicode MS"/>
              </a:defRPr>
            </a:pPr>
            <a:r>
              <a:rPr sz="2100">
                <a:solidFill>
                  <a:srgbClr val="C47A35"/>
                </a:solidFill>
                <a:latin typeface="Arial Unicode MS"/>
                <a:ea typeface="Arial Unicode MS"/>
                <a:cs typeface="Arial Unicode MS"/>
              </a:rPr>
              <a:t>B</a:t>
            </a:r>
          </a:p>
        </p:txBody>
      </p:sp>
      <p:sp>
        <p:nvSpPr>
          <p:cNvPr id="22" name="">
            <a:extLst xmlns:a="http://schemas.openxmlformats.org/drawingml/2006/main">
              <a:ext uri="{FF2B5EF4-FFF2-40B4-BE49-F238E27FC236}">
                <a16:creationId xmlns:a16="http://schemas.microsoft.com/office/drawing/2014/main" id="{0A061742-8641-4D96-A98B-F47A51A76780}"/>
              </a:ext>
            </a:extLst>
          </p:cNvPr>
          <p:cNvSpPr>
            <a:spLocks xmlns:a="http://schemas.openxmlformats.org/drawingml/2006/main" noGrp="1"/>
          </p:cNvSpPr>
          <p:nvPr/>
        </p:nvSpPr>
        <p:spPr>
          <a:xfrm xmlns:a="http://schemas.openxmlformats.org/drawingml/2006/main">
            <a:off x="8572500" y="3581400"/>
            <a:ext cx="742950" cy="533400"/>
          </a:xfrm>
          <a:prstGeom xmlns:a="http://schemas.openxmlformats.org/drawingml/2006/main" prst="rect">
            <a:avLst/>
          </a:prstGeom>
          <a:solidFill xmlns:a="http://schemas.openxmlformats.org/drawingml/2006/main">
            <a:srgbClr val="FFFFFF"/>
          </a:solidFill>
          <a:ln xmlns:a="http://schemas.openxmlformats.org/drawingml/2006/main" w="14288">
            <a:solidFill>
              <a:srgbClr val="C47A35"/>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C47A35"/>
                </a:solidFill>
                <a:latin typeface="Arial Unicode MS"/>
                <a:ea typeface="Arial Unicode MS"/>
                <a:cs typeface="Arial Unicode MS"/>
              </a:defRPr>
            </a:pPr>
            <a:r>
              <a:rPr sz="2100">
                <a:solidFill>
                  <a:srgbClr val="C47A35"/>
                </a:solidFill>
                <a:latin typeface="Arial Unicode MS"/>
                <a:ea typeface="Arial Unicode MS"/>
                <a:cs typeface="Arial Unicode MS"/>
              </a:rPr>
              <a:t>E</a:t>
            </a:r>
          </a:p>
        </p:txBody>
      </p:sp>
      <p:sp>
        <p:nvSpPr>
          <p:cNvPr id="23" name="">
            <a:extLst xmlns:a="http://schemas.openxmlformats.org/drawingml/2006/main">
              <a:ext uri="{FF2B5EF4-FFF2-40B4-BE49-F238E27FC236}">
                <a16:creationId xmlns:a16="http://schemas.microsoft.com/office/drawing/2014/main" id="{F4EA9546-3896-46B0-BE2E-3C2C65507D18}"/>
              </a:ext>
            </a:extLst>
          </p:cNvPr>
          <p:cNvSpPr>
            <a:spLocks xmlns:a="http://schemas.openxmlformats.org/drawingml/2006/main" noGrp="1"/>
          </p:cNvSpPr>
          <p:nvPr/>
        </p:nvSpPr>
        <p:spPr>
          <a:xfrm xmlns:a="http://schemas.openxmlformats.org/drawingml/2006/main">
            <a:off x="10572750" y="3581400"/>
            <a:ext cx="742950" cy="533400"/>
          </a:xfrm>
          <a:prstGeom xmlns:a="http://schemas.openxmlformats.org/drawingml/2006/main" prst="rect">
            <a:avLst/>
          </a:prstGeom>
          <a:solidFill xmlns:a="http://schemas.openxmlformats.org/drawingml/2006/main">
            <a:srgbClr val="FFFFFF"/>
          </a:solidFill>
          <a:ln xmlns:a="http://schemas.openxmlformats.org/drawingml/2006/main" w="14288">
            <a:solidFill>
              <a:srgbClr val="C47A35"/>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C47A35"/>
                </a:solidFill>
                <a:latin typeface="Arial Unicode MS"/>
                <a:ea typeface="Arial Unicode MS"/>
                <a:cs typeface="Arial Unicode MS"/>
              </a:defRPr>
            </a:pPr>
            <a:r>
              <a:rPr sz="2100">
                <a:solidFill>
                  <a:srgbClr val="C47A35"/>
                </a:solidFill>
                <a:latin typeface="Arial Unicode MS"/>
                <a:ea typeface="Arial Unicode MS"/>
                <a:cs typeface="Arial Unicode MS"/>
              </a:rPr>
              <a:t>C</a:t>
            </a:r>
          </a:p>
        </p:txBody>
      </p:sp>
      <p:cxnSp>
        <p:nvCxnSpPr>
          <p:cNvPr id="51" name=""/>
          <p:cNvCxnSpPr>
            <a:stCxn xmlns:a="http://schemas.openxmlformats.org/drawingml/2006/main" id="18" idx="3"/>
            <a:endCxn xmlns:a="http://schemas.openxmlformats.org/drawingml/2006/main" id="19" idx="1"/>
          </p:cNvCxnSpPr>
          <p:nvPr/>
        </p:nvCxnSpPr>
        <p:spPr>
          <a:xfrm xmlns:a="http://schemas.openxmlformats.org/drawingml/2006/main">
            <a:off x="7315200" y="2228850"/>
            <a:ext cx="1257300" cy="0"/>
          </a:xfrm>
          <a:prstGeom xmlns:a="http://schemas.openxmlformats.org/drawingml/2006/main" prst="straightConnector1">
            <a:avLst/>
          </a:prstGeom>
          <a:ln xmlns:a="http://schemas.openxmlformats.org/drawingml/2006/main" w="19050">
            <a:solidFill>
              <a:srgbClr val="2176AD"/>
            </a:solidFill>
            <a:prstDash val="solid"/>
            <a:tailEnd type="triangle" w="sm" len="sm"/>
          </a:ln>
        </p:spPr>
      </p:cxnSp>
      <p:cxnSp>
        <p:nvCxnSpPr>
          <p:cNvPr id="52" name=""/>
          <p:cNvCxnSpPr>
            <a:stCxn xmlns:a="http://schemas.openxmlformats.org/drawingml/2006/main" id="19" idx="3"/>
            <a:endCxn xmlns:a="http://schemas.openxmlformats.org/drawingml/2006/main" id="20" idx="1"/>
          </p:cNvCxnSpPr>
          <p:nvPr/>
        </p:nvCxnSpPr>
        <p:spPr>
          <a:xfrm xmlns:a="http://schemas.openxmlformats.org/drawingml/2006/main">
            <a:off x="9315450" y="2228850"/>
            <a:ext cx="1257300" cy="0"/>
          </a:xfrm>
          <a:prstGeom xmlns:a="http://schemas.openxmlformats.org/drawingml/2006/main" prst="straightConnector1">
            <a:avLst/>
          </a:prstGeom>
          <a:ln xmlns:a="http://schemas.openxmlformats.org/drawingml/2006/main" w="19050">
            <a:solidFill>
              <a:srgbClr val="2176AD"/>
            </a:solidFill>
            <a:prstDash val="solid"/>
            <a:tailEnd type="triangle" w="sm" len="sm"/>
          </a:ln>
        </p:spPr>
      </p:cxnSp>
      <p:cxnSp>
        <p:nvCxnSpPr>
          <p:cNvPr id="53" name=""/>
          <p:cNvCxnSpPr>
            <a:stCxn xmlns:a="http://schemas.openxmlformats.org/drawingml/2006/main" id="21" idx="3"/>
            <a:endCxn xmlns:a="http://schemas.openxmlformats.org/drawingml/2006/main" id="22" idx="1"/>
          </p:cNvCxnSpPr>
          <p:nvPr/>
        </p:nvCxnSpPr>
        <p:spPr>
          <a:xfrm xmlns:a="http://schemas.openxmlformats.org/drawingml/2006/main">
            <a:off x="7315200" y="3848100"/>
            <a:ext cx="1257300" cy="0"/>
          </a:xfrm>
          <a:prstGeom xmlns:a="http://schemas.openxmlformats.org/drawingml/2006/main" prst="straightConnector1">
            <a:avLst/>
          </a:prstGeom>
          <a:ln xmlns:a="http://schemas.openxmlformats.org/drawingml/2006/main" w="19050">
            <a:solidFill>
              <a:srgbClr val="C47A35"/>
            </a:solidFill>
            <a:prstDash val="solid"/>
            <a:tailEnd type="triangle" w="sm" len="sm"/>
          </a:ln>
        </p:spPr>
      </p:cxnSp>
      <p:cxnSp>
        <p:nvCxnSpPr>
          <p:cNvPr id="54" name=""/>
          <p:cNvCxnSpPr>
            <a:stCxn xmlns:a="http://schemas.openxmlformats.org/drawingml/2006/main" id="22" idx="3"/>
            <a:endCxn xmlns:a="http://schemas.openxmlformats.org/drawingml/2006/main" id="23" idx="1"/>
          </p:cNvCxnSpPr>
          <p:nvPr/>
        </p:nvCxnSpPr>
        <p:spPr>
          <a:xfrm xmlns:a="http://schemas.openxmlformats.org/drawingml/2006/main">
            <a:off x="9315450" y="3848100"/>
            <a:ext cx="1257300" cy="0"/>
          </a:xfrm>
          <a:prstGeom xmlns:a="http://schemas.openxmlformats.org/drawingml/2006/main" prst="straightConnector1">
            <a:avLst/>
          </a:prstGeom>
          <a:ln xmlns:a="http://schemas.openxmlformats.org/drawingml/2006/main" w="19050">
            <a:solidFill>
              <a:srgbClr val="C47A35"/>
            </a:solidFill>
            <a:prstDash val="solid"/>
            <a:tailEnd type="triangle" w="sm" len="sm"/>
          </a:ln>
        </p:spPr>
      </p:cxnSp>
    </p:spTree>
    <p:extLst>
      <p:ext uri="{BB962C8B-B14F-4D97-AF65-F5344CB8AC3E}">
        <p14:creationId xmlns:p14="http://schemas.microsoft.com/office/powerpoint/2010/main" val="82468622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text-34">
            <a:extLst xmlns:a="http://schemas.openxmlformats.org/drawingml/2006/main">
              <a:ext uri="{FF2B5EF4-FFF2-40B4-BE49-F238E27FC236}">
                <a16:creationId xmlns:a16="http://schemas.microsoft.com/office/drawing/2014/main" id="{311D91F9-1458-405A-96A4-7735D56B5339}"/>
              </a:ext>
            </a:extLst>
          </p:cNvPr>
          <p:cNvSpPr>
            <a:spLocks xmlns:a="http://schemas.openxmlformats.org/drawingml/2006/main" noGrp="1"/>
          </p:cNvSpPr>
          <p:nvPr/>
        </p:nvSpPr>
        <p:spPr>
          <a:xfrm xmlns:a="http://schemas.openxmlformats.org/drawingml/2006/main">
            <a:off x="609600" y="3619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00" b="1">
                <a:solidFill>
                  <a:srgbClr val="202B33"/>
                </a:solidFill>
                <a:latin typeface="Arial Unicode MS"/>
                <a:ea typeface="Arial Unicode MS"/>
                <a:cs typeface="Arial Unicode MS"/>
              </a:defRPr>
            </a:pPr>
            <a:r>
              <a:rPr sz="2700" b="1">
                <a:solidFill>
                  <a:srgbClr val="202B33"/>
                </a:solidFill>
                <a:latin typeface="Arial Unicode MS"/>
                <a:ea typeface="Arial Unicode MS"/>
                <a:cs typeface="Arial Unicode MS"/>
              </a:rPr>
              <a:t>State Abstraction</a:t>
            </a:r>
          </a:p>
        </p:txBody>
      </p:sp>
      <p:sp>
        <p:nvSpPr>
          <p:cNvPr id="2" name="text-35">
            <a:extLst xmlns:a="http://schemas.openxmlformats.org/drawingml/2006/main">
              <a:ext uri="{FF2B5EF4-FFF2-40B4-BE49-F238E27FC236}">
                <a16:creationId xmlns:a16="http://schemas.microsoft.com/office/drawing/2014/main" id="{052BEB8B-ADB2-4B3E-97A9-9317B56674D1}"/>
              </a:ext>
            </a:extLst>
          </p:cNvPr>
          <p:cNvSpPr>
            <a:spLocks xmlns:a="http://schemas.openxmlformats.org/drawingml/2006/main" noGrp="1"/>
          </p:cNvSpPr>
          <p:nvPr/>
        </p:nvSpPr>
        <p:spPr>
          <a:xfrm xmlns:a="http://schemas.openxmlformats.org/drawingml/2006/main">
            <a:off x="609600" y="62960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050" b="0">
                <a:solidFill>
                  <a:srgbClr val="687780"/>
                </a:solidFill>
                <a:latin typeface="Arial Unicode MS"/>
                <a:ea typeface="Arial Unicode MS"/>
                <a:cs typeface="Arial Unicode MS"/>
              </a:defRPr>
            </a:pPr>
            <a:r>
              <a:rPr sz="1050" b="0">
                <a:solidFill>
                  <a:srgbClr val="687780"/>
                </a:solidFill>
                <a:latin typeface="Arial Unicode MS"/>
                <a:ea typeface="Arial Unicode MS"/>
                <a:cs typeface="Arial Unicode MS"/>
              </a:rPr>
              <a:t>Different history does not mean different task state</a:t>
            </a:r>
          </a:p>
        </p:txBody>
      </p:sp>
      <p:sp>
        <p:nvSpPr>
          <p:cNvPr id="3" name="text-36">
            <a:extLst xmlns:a="http://schemas.openxmlformats.org/drawingml/2006/main">
              <a:ext uri="{FF2B5EF4-FFF2-40B4-BE49-F238E27FC236}">
                <a16:creationId xmlns:a16="http://schemas.microsoft.com/office/drawing/2014/main" id="{A75B96B1-5405-48D4-9141-D73E0D553508}"/>
              </a:ext>
            </a:extLst>
          </p:cNvPr>
          <p:cNvSpPr>
            <a:spLocks xmlns:a="http://schemas.openxmlformats.org/drawingml/2006/main" noGrp="1"/>
          </p:cNvSpPr>
          <p:nvPr/>
        </p:nvSpPr>
        <p:spPr>
          <a:xfrm xmlns:a="http://schemas.openxmlformats.org/drawingml/2006/main">
            <a:off x="11334750" y="629602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00" b="0">
                <a:solidFill>
                  <a:srgbClr val="687780"/>
                </a:solidFill>
                <a:latin typeface="Arial Unicode MS"/>
                <a:ea typeface="Arial Unicode MS"/>
                <a:cs typeface="Arial Unicode MS"/>
              </a:defRPr>
            </a:pPr>
            <a:r>
              <a:rPr sz="1200" b="0">
                <a:solidFill>
                  <a:srgbClr val="687780"/>
                </a:solidFill>
                <a:latin typeface="Arial Unicode MS"/>
                <a:ea typeface="Arial Unicode MS"/>
                <a:cs typeface="Arial Unicode MS"/>
              </a:rPr>
              <a:t>04</a:t>
            </a:r>
          </a:p>
        </p:txBody>
      </p:sp>
      <p:sp>
        <p:nvSpPr>
          <p:cNvPr id="4" name="text-37">
            <a:extLst xmlns:a="http://schemas.openxmlformats.org/drawingml/2006/main">
              <a:ext uri="{FF2B5EF4-FFF2-40B4-BE49-F238E27FC236}">
                <a16:creationId xmlns:a16="http://schemas.microsoft.com/office/drawing/2014/main" id="{9608BA1A-5F72-4B0A-ADF9-20866444B6D5}"/>
              </a:ext>
            </a:extLst>
          </p:cNvPr>
          <p:cNvSpPr>
            <a:spLocks xmlns:a="http://schemas.openxmlformats.org/drawingml/2006/main" noGrp="1"/>
          </p:cNvSpPr>
          <p:nvPr/>
        </p:nvSpPr>
        <p:spPr>
          <a:xfrm xmlns:a="http://schemas.openxmlformats.org/drawingml/2006/main">
            <a:off x="904875" y="1295400"/>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202B33"/>
                </a:solidFill>
                <a:latin typeface="Arial Unicode MS"/>
                <a:ea typeface="Arial Unicode MS"/>
                <a:cs typeface="Arial Unicode MS"/>
              </a:defRPr>
            </a:pPr>
            <a:r>
              <a:rPr sz="2025" b="0">
                <a:solidFill>
                  <a:srgbClr val="202B33"/>
                </a:solidFill>
                <a:latin typeface="Arial Unicode MS"/>
                <a:ea typeface="Arial Unicode MS"/>
                <a:cs typeface="Arial Unicode MS"/>
              </a:rPr>
              <a:t>Full history</a:t>
            </a:r>
          </a:p>
        </p:txBody>
      </p:sp>
      <p:sp>
        <p:nvSpPr>
          <p:cNvPr id="5" name="text-38">
            <a:extLst xmlns:a="http://schemas.openxmlformats.org/drawingml/2006/main">
              <a:ext uri="{FF2B5EF4-FFF2-40B4-BE49-F238E27FC236}">
                <a16:creationId xmlns:a16="http://schemas.microsoft.com/office/drawing/2014/main" id="{17DC5B39-A0A1-4D1A-A8DB-C0E0F4544AAA}"/>
              </a:ext>
            </a:extLst>
          </p:cNvPr>
          <p:cNvSpPr>
            <a:spLocks xmlns:a="http://schemas.openxmlformats.org/drawingml/2006/main" noGrp="1"/>
          </p:cNvSpPr>
          <p:nvPr/>
        </p:nvSpPr>
        <p:spPr>
          <a:xfrm xmlns:a="http://schemas.openxmlformats.org/drawingml/2006/main">
            <a:off x="5067300" y="129540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202B33"/>
                </a:solidFill>
                <a:latin typeface="Arial Unicode MS"/>
                <a:ea typeface="Arial Unicode MS"/>
                <a:cs typeface="Arial Unicode MS"/>
              </a:defRPr>
            </a:pPr>
            <a:r>
              <a:rPr sz="2025" b="0">
                <a:solidFill>
                  <a:srgbClr val="202B33"/>
                </a:solidFill>
                <a:latin typeface="Arial Unicode MS"/>
                <a:ea typeface="Arial Unicode MS"/>
                <a:cs typeface="Arial Unicode MS"/>
              </a:rPr>
              <a:t>Final task state</a:t>
            </a:r>
          </a:p>
        </p:txBody>
      </p:sp>
      <p:sp>
        <p:nvSpPr>
          <p:cNvPr id="6" name="text-39">
            <a:extLst xmlns:a="http://schemas.openxmlformats.org/drawingml/2006/main">
              <a:ext uri="{FF2B5EF4-FFF2-40B4-BE49-F238E27FC236}">
                <a16:creationId xmlns:a16="http://schemas.microsoft.com/office/drawing/2014/main" id="{F218D606-5857-4140-94B2-BC3A6B87A991}"/>
              </a:ext>
            </a:extLst>
          </p:cNvPr>
          <p:cNvSpPr>
            <a:spLocks xmlns:a="http://schemas.openxmlformats.org/drawingml/2006/main" noGrp="1"/>
          </p:cNvSpPr>
          <p:nvPr/>
        </p:nvSpPr>
        <p:spPr>
          <a:xfrm xmlns:a="http://schemas.openxmlformats.org/drawingml/2006/main">
            <a:off x="9086850" y="1295400"/>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202B33"/>
                </a:solidFill>
                <a:latin typeface="Arial Unicode MS"/>
                <a:ea typeface="Arial Unicode MS"/>
                <a:cs typeface="Arial Unicode MS"/>
              </a:defRPr>
            </a:pPr>
            <a:r>
              <a:rPr sz="2025" b="0">
                <a:solidFill>
                  <a:srgbClr val="202B33"/>
                </a:solidFill>
                <a:latin typeface="Arial Unicode MS"/>
                <a:ea typeface="Arial Unicode MS"/>
                <a:cs typeface="Arial Unicode MS"/>
              </a:rPr>
              <a:t>Shared action values</a:t>
            </a:r>
          </a:p>
        </p:txBody>
      </p:sp>
      <p:sp>
        <p:nvSpPr>
          <p:cNvPr id="7" name="">
            <a:extLst xmlns:a="http://schemas.openxmlformats.org/drawingml/2006/main">
              <a:ext uri="{FF2B5EF4-FFF2-40B4-BE49-F238E27FC236}">
                <a16:creationId xmlns:a16="http://schemas.microsoft.com/office/drawing/2014/main" id="{E2CF2971-8CFE-40D5-9995-ECCBBA9E4CC1}"/>
              </a:ext>
            </a:extLst>
          </p:cNvPr>
          <p:cNvSpPr>
            <a:spLocks xmlns:a="http://schemas.openxmlformats.org/drawingml/2006/main" noGrp="1"/>
          </p:cNvSpPr>
          <p:nvPr/>
        </p:nvSpPr>
        <p:spPr>
          <a:xfrm xmlns:a="http://schemas.openxmlformats.org/drawingml/2006/main">
            <a:off x="5143500" y="2514600"/>
            <a:ext cx="2190750" cy="76200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A before B</a:t>
            </a:r>
          </a:p>
        </p:txBody>
      </p:sp>
      <p:sp>
        <p:nvSpPr>
          <p:cNvPr id="8" name="">
            <a:extLst xmlns:a="http://schemas.openxmlformats.org/drawingml/2006/main">
              <a:ext uri="{FF2B5EF4-FFF2-40B4-BE49-F238E27FC236}">
                <a16:creationId xmlns:a16="http://schemas.microsoft.com/office/drawing/2014/main" id="{498CC383-69FA-4E3C-B716-1FA4CD243E7F}"/>
              </a:ext>
            </a:extLst>
          </p:cNvPr>
          <p:cNvSpPr>
            <a:spLocks xmlns:a="http://schemas.openxmlformats.org/drawingml/2006/main" noGrp="1"/>
          </p:cNvSpPr>
          <p:nvPr/>
        </p:nvSpPr>
        <p:spPr>
          <a:xfrm xmlns:a="http://schemas.openxmlformats.org/drawingml/2006/main">
            <a:off x="5143500" y="4552950"/>
            <a:ext cx="2190750" cy="762000"/>
          </a:xfrm>
          <a:prstGeom xmlns:a="http://schemas.openxmlformats.org/drawingml/2006/main" prst="rect">
            <a:avLst/>
          </a:prstGeom>
          <a:solidFill xmlns:a="http://schemas.openxmlformats.org/drawingml/2006/main">
            <a:srgbClr val="FFFFFF"/>
          </a:solidFill>
          <a:ln xmlns:a="http://schemas.openxmlformats.org/drawingml/2006/main" w="14288">
            <a:solidFill>
              <a:srgbClr val="C47A35"/>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C47A35"/>
                </a:solidFill>
                <a:latin typeface="Arial Unicode MS"/>
                <a:ea typeface="Arial Unicode MS"/>
                <a:cs typeface="Arial Unicode MS"/>
              </a:defRPr>
            </a:pPr>
            <a:r>
              <a:rPr sz="2100">
                <a:solidFill>
                  <a:srgbClr val="C47A35"/>
                </a:solidFill>
                <a:latin typeface="Arial Unicode MS"/>
                <a:ea typeface="Arial Unicode MS"/>
                <a:cs typeface="Arial Unicode MS"/>
              </a:rPr>
              <a:t>B before A</a:t>
            </a:r>
          </a:p>
        </p:txBody>
      </p:sp>
      <p:sp>
        <p:nvSpPr>
          <p:cNvPr id="9" name="">
            <a:extLst xmlns:a="http://schemas.openxmlformats.org/drawingml/2006/main">
              <a:ext uri="{FF2B5EF4-FFF2-40B4-BE49-F238E27FC236}">
                <a16:creationId xmlns:a16="http://schemas.microsoft.com/office/drawing/2014/main" id="{D397102D-2F78-4F7C-B43C-4B6BF836AE24}"/>
              </a:ext>
            </a:extLst>
          </p:cNvPr>
          <p:cNvSpPr>
            <a:spLocks xmlns:a="http://schemas.openxmlformats.org/drawingml/2006/main" noGrp="1"/>
          </p:cNvSpPr>
          <p:nvPr/>
        </p:nvSpPr>
        <p:spPr>
          <a:xfrm xmlns:a="http://schemas.openxmlformats.org/drawingml/2006/main">
            <a:off x="1066800" y="2009775"/>
            <a:ext cx="1200150" cy="47625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ABC</a:t>
            </a:r>
          </a:p>
        </p:txBody>
      </p:sp>
      <p:cxnSp>
        <p:nvCxnSpPr>
          <p:cNvPr id="34" name=""/>
          <p:cNvCxnSpPr>
            <a:stCxn xmlns:a="http://schemas.openxmlformats.org/drawingml/2006/main" id="9" idx="3"/>
            <a:endCxn xmlns:a="http://schemas.openxmlformats.org/drawingml/2006/main" id="7" idx="1"/>
          </p:cNvCxnSpPr>
          <p:nvPr/>
        </p:nvCxnSpPr>
        <p:spPr>
          <a:xfrm xmlns:a="http://schemas.openxmlformats.org/drawingml/2006/main">
            <a:off x="2266950" y="2247900"/>
            <a:ext cx="2876550" cy="647700"/>
          </a:xfrm>
          <a:prstGeom xmlns:a="http://schemas.openxmlformats.org/drawingml/2006/main" prst="straightConnector1">
            <a:avLst/>
          </a:prstGeom>
          <a:ln xmlns:a="http://schemas.openxmlformats.org/drawingml/2006/main" w="19050">
            <a:solidFill>
              <a:srgbClr val="2176AD"/>
            </a:solidFill>
            <a:prstDash val="solid"/>
            <a:tailEnd type="triangle" w="sm" len="sm"/>
          </a:ln>
        </p:spPr>
      </p:cxnSp>
      <p:sp>
        <p:nvSpPr>
          <p:cNvPr id="11" name="">
            <a:extLst xmlns:a="http://schemas.openxmlformats.org/drawingml/2006/main">
              <a:ext uri="{FF2B5EF4-FFF2-40B4-BE49-F238E27FC236}">
                <a16:creationId xmlns:a16="http://schemas.microsoft.com/office/drawing/2014/main" id="{EAE5C143-B8E2-448B-A756-60B3E3B30434}"/>
              </a:ext>
            </a:extLst>
          </p:cNvPr>
          <p:cNvSpPr>
            <a:spLocks xmlns:a="http://schemas.openxmlformats.org/drawingml/2006/main" noGrp="1"/>
          </p:cNvSpPr>
          <p:nvPr/>
        </p:nvSpPr>
        <p:spPr>
          <a:xfrm xmlns:a="http://schemas.openxmlformats.org/drawingml/2006/main">
            <a:off x="1066800" y="2705100"/>
            <a:ext cx="1200150" cy="47625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ACB</a:t>
            </a:r>
          </a:p>
        </p:txBody>
      </p:sp>
      <p:cxnSp>
        <p:nvCxnSpPr>
          <p:cNvPr id="36" name=""/>
          <p:cNvCxnSpPr>
            <a:stCxn xmlns:a="http://schemas.openxmlformats.org/drawingml/2006/main" id="11" idx="3"/>
            <a:endCxn xmlns:a="http://schemas.openxmlformats.org/drawingml/2006/main" id="7" idx="1"/>
          </p:cNvCxnSpPr>
          <p:nvPr/>
        </p:nvCxnSpPr>
        <p:spPr>
          <a:xfrm xmlns:a="http://schemas.openxmlformats.org/drawingml/2006/main" flipV="1">
            <a:off x="2266950" y="2895600"/>
            <a:ext cx="2876550" cy="47625"/>
          </a:xfrm>
          <a:prstGeom xmlns:a="http://schemas.openxmlformats.org/drawingml/2006/main" prst="straightConnector1">
            <a:avLst/>
          </a:prstGeom>
          <a:ln xmlns:a="http://schemas.openxmlformats.org/drawingml/2006/main" w="19050">
            <a:solidFill>
              <a:srgbClr val="2176AD"/>
            </a:solidFill>
            <a:prstDash val="solid"/>
            <a:tailEnd type="triangle" w="sm" len="sm"/>
          </a:ln>
        </p:spPr>
      </p:cxnSp>
      <p:sp>
        <p:nvSpPr>
          <p:cNvPr id="13" name="">
            <a:extLst xmlns:a="http://schemas.openxmlformats.org/drawingml/2006/main">
              <a:ext uri="{FF2B5EF4-FFF2-40B4-BE49-F238E27FC236}">
                <a16:creationId xmlns:a16="http://schemas.microsoft.com/office/drawing/2014/main" id="{E3A3ED6D-A1CC-4830-9D9C-B0A099E8DDA1}"/>
              </a:ext>
            </a:extLst>
          </p:cNvPr>
          <p:cNvSpPr>
            <a:spLocks xmlns:a="http://schemas.openxmlformats.org/drawingml/2006/main" noGrp="1"/>
          </p:cNvSpPr>
          <p:nvPr/>
        </p:nvSpPr>
        <p:spPr>
          <a:xfrm xmlns:a="http://schemas.openxmlformats.org/drawingml/2006/main">
            <a:off x="1066800" y="3400425"/>
            <a:ext cx="1200150" cy="47625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CAB</a:t>
            </a:r>
          </a:p>
        </p:txBody>
      </p:sp>
      <p:cxnSp>
        <p:nvCxnSpPr>
          <p:cNvPr id="38" name=""/>
          <p:cNvCxnSpPr>
            <a:stCxn xmlns:a="http://schemas.openxmlformats.org/drawingml/2006/main" id="13" idx="3"/>
            <a:endCxn xmlns:a="http://schemas.openxmlformats.org/drawingml/2006/main" id="7" idx="1"/>
          </p:cNvCxnSpPr>
          <p:nvPr/>
        </p:nvCxnSpPr>
        <p:spPr>
          <a:xfrm xmlns:a="http://schemas.openxmlformats.org/drawingml/2006/main" flipV="1">
            <a:off x="2266950" y="2895600"/>
            <a:ext cx="2876550" cy="742950"/>
          </a:xfrm>
          <a:prstGeom xmlns:a="http://schemas.openxmlformats.org/drawingml/2006/main" prst="straightConnector1">
            <a:avLst/>
          </a:prstGeom>
          <a:ln xmlns:a="http://schemas.openxmlformats.org/drawingml/2006/main" w="19050">
            <a:solidFill>
              <a:srgbClr val="2176AD"/>
            </a:solidFill>
            <a:prstDash val="solid"/>
            <a:tailEnd type="triangle" w="sm" len="sm"/>
          </a:ln>
        </p:spPr>
      </p:cxnSp>
      <p:sp>
        <p:nvSpPr>
          <p:cNvPr id="15" name="">
            <a:extLst xmlns:a="http://schemas.openxmlformats.org/drawingml/2006/main">
              <a:ext uri="{FF2B5EF4-FFF2-40B4-BE49-F238E27FC236}">
                <a16:creationId xmlns:a16="http://schemas.microsoft.com/office/drawing/2014/main" id="{0ECAB130-4C3B-4CC4-9F3D-7B92C91661D9}"/>
              </a:ext>
            </a:extLst>
          </p:cNvPr>
          <p:cNvSpPr>
            <a:spLocks xmlns:a="http://schemas.openxmlformats.org/drawingml/2006/main" noGrp="1"/>
          </p:cNvSpPr>
          <p:nvPr/>
        </p:nvSpPr>
        <p:spPr>
          <a:xfrm xmlns:a="http://schemas.openxmlformats.org/drawingml/2006/main">
            <a:off x="1066800" y="4048125"/>
            <a:ext cx="1200150" cy="476250"/>
          </a:xfrm>
          <a:prstGeom xmlns:a="http://schemas.openxmlformats.org/drawingml/2006/main" prst="rect">
            <a:avLst/>
          </a:prstGeom>
          <a:solidFill xmlns:a="http://schemas.openxmlformats.org/drawingml/2006/main">
            <a:srgbClr val="FFFFFF"/>
          </a:solidFill>
          <a:ln xmlns:a="http://schemas.openxmlformats.org/drawingml/2006/main" w="14288">
            <a:solidFill>
              <a:srgbClr val="C47A35"/>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C47A35"/>
                </a:solidFill>
                <a:latin typeface="Arial Unicode MS"/>
                <a:ea typeface="Arial Unicode MS"/>
                <a:cs typeface="Arial Unicode MS"/>
              </a:defRPr>
            </a:pPr>
            <a:r>
              <a:rPr sz="2100">
                <a:solidFill>
                  <a:srgbClr val="C47A35"/>
                </a:solidFill>
                <a:latin typeface="Arial Unicode MS"/>
                <a:ea typeface="Arial Unicode MS"/>
                <a:cs typeface="Arial Unicode MS"/>
              </a:rPr>
              <a:t>BAC</a:t>
            </a:r>
          </a:p>
        </p:txBody>
      </p:sp>
      <p:cxnSp>
        <p:nvCxnSpPr>
          <p:cNvPr id="40" name=""/>
          <p:cNvCxnSpPr>
            <a:stCxn xmlns:a="http://schemas.openxmlformats.org/drawingml/2006/main" id="15" idx="3"/>
            <a:endCxn xmlns:a="http://schemas.openxmlformats.org/drawingml/2006/main" id="8" idx="1"/>
          </p:cNvCxnSpPr>
          <p:nvPr/>
        </p:nvCxnSpPr>
        <p:spPr>
          <a:xfrm xmlns:a="http://schemas.openxmlformats.org/drawingml/2006/main">
            <a:off x="2266950" y="4286250"/>
            <a:ext cx="2876550" cy="647700"/>
          </a:xfrm>
          <a:prstGeom xmlns:a="http://schemas.openxmlformats.org/drawingml/2006/main" prst="straightConnector1">
            <a:avLst/>
          </a:prstGeom>
          <a:ln xmlns:a="http://schemas.openxmlformats.org/drawingml/2006/main" w="19050">
            <a:solidFill>
              <a:srgbClr val="C47A35"/>
            </a:solidFill>
            <a:prstDash val="solid"/>
            <a:tailEnd type="triangle" w="sm" len="sm"/>
          </a:ln>
        </p:spPr>
      </p:cxnSp>
      <p:sp>
        <p:nvSpPr>
          <p:cNvPr id="17" name="">
            <a:extLst xmlns:a="http://schemas.openxmlformats.org/drawingml/2006/main">
              <a:ext uri="{FF2B5EF4-FFF2-40B4-BE49-F238E27FC236}">
                <a16:creationId xmlns:a16="http://schemas.microsoft.com/office/drawing/2014/main" id="{E38A3906-8129-4082-808C-EE2ACEF6EB76}"/>
              </a:ext>
            </a:extLst>
          </p:cNvPr>
          <p:cNvSpPr>
            <a:spLocks xmlns:a="http://schemas.openxmlformats.org/drawingml/2006/main" noGrp="1"/>
          </p:cNvSpPr>
          <p:nvPr/>
        </p:nvSpPr>
        <p:spPr>
          <a:xfrm xmlns:a="http://schemas.openxmlformats.org/drawingml/2006/main">
            <a:off x="1066800" y="4743450"/>
            <a:ext cx="1200150" cy="476250"/>
          </a:xfrm>
          <a:prstGeom xmlns:a="http://schemas.openxmlformats.org/drawingml/2006/main" prst="rect">
            <a:avLst/>
          </a:prstGeom>
          <a:solidFill xmlns:a="http://schemas.openxmlformats.org/drawingml/2006/main">
            <a:srgbClr val="FFFFFF"/>
          </a:solidFill>
          <a:ln xmlns:a="http://schemas.openxmlformats.org/drawingml/2006/main" w="14288">
            <a:solidFill>
              <a:srgbClr val="C47A35"/>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C47A35"/>
                </a:solidFill>
                <a:latin typeface="Arial Unicode MS"/>
                <a:ea typeface="Arial Unicode MS"/>
                <a:cs typeface="Arial Unicode MS"/>
              </a:defRPr>
            </a:pPr>
            <a:r>
              <a:rPr sz="2100">
                <a:solidFill>
                  <a:srgbClr val="C47A35"/>
                </a:solidFill>
                <a:latin typeface="Arial Unicode MS"/>
                <a:ea typeface="Arial Unicode MS"/>
                <a:cs typeface="Arial Unicode MS"/>
              </a:rPr>
              <a:t>BCA</a:t>
            </a:r>
          </a:p>
        </p:txBody>
      </p:sp>
      <p:cxnSp>
        <p:nvCxnSpPr>
          <p:cNvPr id="42" name=""/>
          <p:cNvCxnSpPr>
            <a:stCxn xmlns:a="http://schemas.openxmlformats.org/drawingml/2006/main" id="17" idx="3"/>
            <a:endCxn xmlns:a="http://schemas.openxmlformats.org/drawingml/2006/main" id="8" idx="1"/>
          </p:cNvCxnSpPr>
          <p:nvPr/>
        </p:nvCxnSpPr>
        <p:spPr>
          <a:xfrm xmlns:a="http://schemas.openxmlformats.org/drawingml/2006/main" flipV="1">
            <a:off x="2266950" y="4933950"/>
            <a:ext cx="2876550" cy="47625"/>
          </a:xfrm>
          <a:prstGeom xmlns:a="http://schemas.openxmlformats.org/drawingml/2006/main" prst="straightConnector1">
            <a:avLst/>
          </a:prstGeom>
          <a:ln xmlns:a="http://schemas.openxmlformats.org/drawingml/2006/main" w="19050">
            <a:solidFill>
              <a:srgbClr val="C47A35"/>
            </a:solidFill>
            <a:prstDash val="solid"/>
            <a:tailEnd type="triangle" w="sm" len="sm"/>
          </a:ln>
        </p:spPr>
      </p:cxnSp>
      <p:sp>
        <p:nvSpPr>
          <p:cNvPr id="19" name="">
            <a:extLst xmlns:a="http://schemas.openxmlformats.org/drawingml/2006/main">
              <a:ext uri="{FF2B5EF4-FFF2-40B4-BE49-F238E27FC236}">
                <a16:creationId xmlns:a16="http://schemas.microsoft.com/office/drawing/2014/main" id="{DEA3B67B-5275-4D3B-B799-F29F5C3D496B}"/>
              </a:ext>
            </a:extLst>
          </p:cNvPr>
          <p:cNvSpPr>
            <a:spLocks xmlns:a="http://schemas.openxmlformats.org/drawingml/2006/main" noGrp="1"/>
          </p:cNvSpPr>
          <p:nvPr/>
        </p:nvSpPr>
        <p:spPr>
          <a:xfrm xmlns:a="http://schemas.openxmlformats.org/drawingml/2006/main">
            <a:off x="1066800" y="5438775"/>
            <a:ext cx="1200150" cy="476250"/>
          </a:xfrm>
          <a:prstGeom xmlns:a="http://schemas.openxmlformats.org/drawingml/2006/main" prst="rect">
            <a:avLst/>
          </a:prstGeom>
          <a:solidFill xmlns:a="http://schemas.openxmlformats.org/drawingml/2006/main">
            <a:srgbClr val="FFFFFF"/>
          </a:solidFill>
          <a:ln xmlns:a="http://schemas.openxmlformats.org/drawingml/2006/main" w="14288">
            <a:solidFill>
              <a:srgbClr val="C47A35"/>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C47A35"/>
                </a:solidFill>
                <a:latin typeface="Arial Unicode MS"/>
                <a:ea typeface="Arial Unicode MS"/>
                <a:cs typeface="Arial Unicode MS"/>
              </a:defRPr>
            </a:pPr>
            <a:r>
              <a:rPr sz="2100">
                <a:solidFill>
                  <a:srgbClr val="C47A35"/>
                </a:solidFill>
                <a:latin typeface="Arial Unicode MS"/>
                <a:ea typeface="Arial Unicode MS"/>
                <a:cs typeface="Arial Unicode MS"/>
              </a:rPr>
              <a:t>CBA</a:t>
            </a:r>
          </a:p>
        </p:txBody>
      </p:sp>
      <p:cxnSp>
        <p:nvCxnSpPr>
          <p:cNvPr id="44" name=""/>
          <p:cNvCxnSpPr>
            <a:stCxn xmlns:a="http://schemas.openxmlformats.org/drawingml/2006/main" id="19" idx="3"/>
            <a:endCxn xmlns:a="http://schemas.openxmlformats.org/drawingml/2006/main" id="8" idx="1"/>
          </p:cNvCxnSpPr>
          <p:nvPr/>
        </p:nvCxnSpPr>
        <p:spPr>
          <a:xfrm xmlns:a="http://schemas.openxmlformats.org/drawingml/2006/main" flipV="1">
            <a:off x="2266950" y="4933950"/>
            <a:ext cx="2876550" cy="742950"/>
          </a:xfrm>
          <a:prstGeom xmlns:a="http://schemas.openxmlformats.org/drawingml/2006/main" prst="straightConnector1">
            <a:avLst/>
          </a:prstGeom>
          <a:ln xmlns:a="http://schemas.openxmlformats.org/drawingml/2006/main" w="19050">
            <a:solidFill>
              <a:srgbClr val="C47A35"/>
            </a:solidFill>
            <a:prstDash val="solid"/>
            <a:tailEnd type="triangle" w="sm" len="sm"/>
          </a:ln>
        </p:spPr>
      </p:cxnSp>
      <p:sp>
        <p:nvSpPr>
          <p:cNvPr id="21" name="">
            <a:extLst xmlns:a="http://schemas.openxmlformats.org/drawingml/2006/main">
              <a:ext uri="{FF2B5EF4-FFF2-40B4-BE49-F238E27FC236}">
                <a16:creationId xmlns:a16="http://schemas.microsoft.com/office/drawing/2014/main" id="{2E04D1C4-49FB-4B10-BCD6-412C514BB9DB}"/>
              </a:ext>
            </a:extLst>
          </p:cNvPr>
          <p:cNvSpPr>
            <a:spLocks xmlns:a="http://schemas.openxmlformats.org/drawingml/2006/main" noGrp="1"/>
          </p:cNvSpPr>
          <p:nvPr/>
        </p:nvSpPr>
        <p:spPr>
          <a:xfrm xmlns:a="http://schemas.openxmlformats.org/drawingml/2006/main">
            <a:off x="9239250" y="2514600"/>
            <a:ext cx="2286000" cy="76200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Q(state, X/Y)</a:t>
            </a:r>
          </a:p>
        </p:txBody>
      </p:sp>
      <p:sp>
        <p:nvSpPr>
          <p:cNvPr id="22" name="">
            <a:extLst xmlns:a="http://schemas.openxmlformats.org/drawingml/2006/main">
              <a:ext uri="{FF2B5EF4-FFF2-40B4-BE49-F238E27FC236}">
                <a16:creationId xmlns:a16="http://schemas.microsoft.com/office/drawing/2014/main" id="{FE2DD511-1A22-4BD6-989E-10150965A6C1}"/>
              </a:ext>
            </a:extLst>
          </p:cNvPr>
          <p:cNvSpPr>
            <a:spLocks xmlns:a="http://schemas.openxmlformats.org/drawingml/2006/main" noGrp="1"/>
          </p:cNvSpPr>
          <p:nvPr/>
        </p:nvSpPr>
        <p:spPr>
          <a:xfrm xmlns:a="http://schemas.openxmlformats.org/drawingml/2006/main">
            <a:off x="9239250" y="4552950"/>
            <a:ext cx="2286000" cy="762000"/>
          </a:xfrm>
          <a:prstGeom xmlns:a="http://schemas.openxmlformats.org/drawingml/2006/main" prst="rect">
            <a:avLst/>
          </a:prstGeom>
          <a:solidFill xmlns:a="http://schemas.openxmlformats.org/drawingml/2006/main">
            <a:srgbClr val="FFFFFF"/>
          </a:solidFill>
          <a:ln xmlns:a="http://schemas.openxmlformats.org/drawingml/2006/main" w="14288">
            <a:solidFill>
              <a:srgbClr val="C47A35"/>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C47A35"/>
                </a:solidFill>
                <a:latin typeface="Arial Unicode MS"/>
                <a:ea typeface="Arial Unicode MS"/>
                <a:cs typeface="Arial Unicode MS"/>
              </a:defRPr>
            </a:pPr>
            <a:r>
              <a:rPr sz="2100">
                <a:solidFill>
                  <a:srgbClr val="C47A35"/>
                </a:solidFill>
                <a:latin typeface="Arial Unicode MS"/>
                <a:ea typeface="Arial Unicode MS"/>
                <a:cs typeface="Arial Unicode MS"/>
              </a:rPr>
              <a:t>Q(state, X/Y)</a:t>
            </a:r>
          </a:p>
        </p:txBody>
      </p:sp>
      <p:cxnSp>
        <p:nvCxnSpPr>
          <p:cNvPr id="47" name=""/>
          <p:cNvCxnSpPr>
            <a:stCxn xmlns:a="http://schemas.openxmlformats.org/drawingml/2006/main" id="7" idx="3"/>
            <a:endCxn xmlns:a="http://schemas.openxmlformats.org/drawingml/2006/main" id="21" idx="1"/>
          </p:cNvCxnSpPr>
          <p:nvPr/>
        </p:nvCxnSpPr>
        <p:spPr>
          <a:xfrm xmlns:a="http://schemas.openxmlformats.org/drawingml/2006/main">
            <a:off x="7334250" y="2895600"/>
            <a:ext cx="1905000" cy="0"/>
          </a:xfrm>
          <a:prstGeom xmlns:a="http://schemas.openxmlformats.org/drawingml/2006/main" prst="straightConnector1">
            <a:avLst/>
          </a:prstGeom>
          <a:ln xmlns:a="http://schemas.openxmlformats.org/drawingml/2006/main" w="19050">
            <a:solidFill>
              <a:srgbClr val="2176AD"/>
            </a:solidFill>
            <a:prstDash val="solid"/>
            <a:tailEnd type="triangle" w="sm" len="sm"/>
          </a:ln>
        </p:spPr>
      </p:cxnSp>
      <p:cxnSp>
        <p:nvCxnSpPr>
          <p:cNvPr id="48" name=""/>
          <p:cNvCxnSpPr>
            <a:stCxn xmlns:a="http://schemas.openxmlformats.org/drawingml/2006/main" id="8" idx="3"/>
            <a:endCxn xmlns:a="http://schemas.openxmlformats.org/drawingml/2006/main" id="22" idx="1"/>
          </p:cNvCxnSpPr>
          <p:nvPr/>
        </p:nvCxnSpPr>
        <p:spPr>
          <a:xfrm xmlns:a="http://schemas.openxmlformats.org/drawingml/2006/main">
            <a:off x="7334250" y="4933950"/>
            <a:ext cx="1905000" cy="0"/>
          </a:xfrm>
          <a:prstGeom xmlns:a="http://schemas.openxmlformats.org/drawingml/2006/main" prst="straightConnector1">
            <a:avLst/>
          </a:prstGeom>
          <a:ln xmlns:a="http://schemas.openxmlformats.org/drawingml/2006/main" w="19050">
            <a:solidFill>
              <a:srgbClr val="C47A35"/>
            </a:solidFill>
            <a:prstDash val="solid"/>
            <a:tailEnd type="triangle" w="sm" len="sm"/>
          </a:ln>
        </p:spPr>
      </p:cxnSp>
    </p:spTree>
    <p:extLst>
      <p:ext uri="{BB962C8B-B14F-4D97-AF65-F5344CB8AC3E}">
        <p14:creationId xmlns:p14="http://schemas.microsoft.com/office/powerpoint/2010/main" val="136548568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40">
            <a:extLst xmlns:a="http://schemas.openxmlformats.org/drawingml/2006/main">
              <a:ext uri="{FF2B5EF4-FFF2-40B4-BE49-F238E27FC236}">
                <a16:creationId xmlns:a16="http://schemas.microsoft.com/office/drawing/2014/main" id="{2BEFD6E8-D7E3-4877-ADDE-044CADD64D41}"/>
              </a:ext>
            </a:extLst>
          </p:cNvPr>
          <p:cNvSpPr>
            <a:spLocks xmlns:a="http://schemas.openxmlformats.org/drawingml/2006/main" noGrp="1"/>
          </p:cNvSpPr>
          <p:nvPr/>
        </p:nvSpPr>
        <p:spPr>
          <a:xfrm xmlns:a="http://schemas.openxmlformats.org/drawingml/2006/main">
            <a:off x="609600" y="3619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00" b="1">
                <a:solidFill>
                  <a:srgbClr val="202B33"/>
                </a:solidFill>
                <a:latin typeface="Arial Unicode MS"/>
                <a:ea typeface="Arial Unicode MS"/>
                <a:cs typeface="Arial Unicode MS"/>
              </a:defRPr>
            </a:pPr>
            <a:r>
              <a:rPr sz="2700" b="1">
                <a:solidFill>
                  <a:srgbClr val="202B33"/>
                </a:solidFill>
                <a:latin typeface="Arial Unicode MS"/>
                <a:ea typeface="Arial Unicode MS"/>
                <a:cs typeface="Arial Unicode MS"/>
              </a:rPr>
              <a:t>Correct Compression</a:t>
            </a:r>
          </a:p>
        </p:txBody>
      </p:sp>
      <p:sp>
        <p:nvSpPr>
          <p:cNvPr id="2" name="text-41">
            <a:extLst xmlns:a="http://schemas.openxmlformats.org/drawingml/2006/main">
              <a:ext uri="{FF2B5EF4-FFF2-40B4-BE49-F238E27FC236}">
                <a16:creationId xmlns:a16="http://schemas.microsoft.com/office/drawing/2014/main" id="{10EF124F-1BF4-4023-8EE2-7AD3735AEAA7}"/>
              </a:ext>
            </a:extLst>
          </p:cNvPr>
          <p:cNvSpPr>
            <a:spLocks xmlns:a="http://schemas.openxmlformats.org/drawingml/2006/main" noGrp="1"/>
          </p:cNvSpPr>
          <p:nvPr/>
        </p:nvSpPr>
        <p:spPr>
          <a:xfrm xmlns:a="http://schemas.openxmlformats.org/drawingml/2006/main">
            <a:off x="609600" y="62960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050" b="0">
                <a:solidFill>
                  <a:srgbClr val="687780"/>
                </a:solidFill>
                <a:latin typeface="Arial Unicode MS"/>
                <a:ea typeface="Arial Unicode MS"/>
                <a:cs typeface="Arial Unicode MS"/>
              </a:defRPr>
            </a:pPr>
            <a:r>
              <a:rPr sz="1050" b="0">
                <a:solidFill>
                  <a:srgbClr val="687780"/>
                </a:solidFill>
                <a:latin typeface="Arial Unicode MS"/>
                <a:ea typeface="Arial Unicode MS"/>
                <a:cs typeface="Arial Unicode MS"/>
              </a:rPr>
              <a:t>Correct equivalence given; 400 paired seeds per size (not 400 tasks: the candidate family holds only 6 / 12 / 20 rules)</a:t>
            </a:r>
          </a:p>
        </p:txBody>
      </p:sp>
      <p:sp>
        <p:nvSpPr>
          <p:cNvPr id="3" name="text-42">
            <a:extLst xmlns:a="http://schemas.openxmlformats.org/drawingml/2006/main">
              <a:ext uri="{FF2B5EF4-FFF2-40B4-BE49-F238E27FC236}">
                <a16:creationId xmlns:a16="http://schemas.microsoft.com/office/drawing/2014/main" id="{EFB88F97-80E6-4A26-BE43-74322F6E98A5}"/>
              </a:ext>
            </a:extLst>
          </p:cNvPr>
          <p:cNvSpPr>
            <a:spLocks xmlns:a="http://schemas.openxmlformats.org/drawingml/2006/main" noGrp="1"/>
          </p:cNvSpPr>
          <p:nvPr/>
        </p:nvSpPr>
        <p:spPr>
          <a:xfrm xmlns:a="http://schemas.openxmlformats.org/drawingml/2006/main">
            <a:off x="11334750" y="629602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00" b="0">
                <a:solidFill>
                  <a:srgbClr val="687780"/>
                </a:solidFill>
                <a:latin typeface="Arial Unicode MS"/>
                <a:ea typeface="Arial Unicode MS"/>
                <a:cs typeface="Arial Unicode MS"/>
              </a:defRPr>
            </a:pPr>
            <a:r>
              <a:rPr sz="1200" b="0">
                <a:solidFill>
                  <a:srgbClr val="687780"/>
                </a:solidFill>
                <a:latin typeface="Arial Unicode MS"/>
                <a:ea typeface="Arial Unicode MS"/>
                <a:cs typeface="Arial Unicode MS"/>
              </a:rPr>
              <a:t>05</a:t>
            </a:r>
          </a:p>
        </p:txBody>
      </p:sp>
      <p:graphicFrame>
        <p:nvGraphicFramePr>
          <p:cNvPr id="12" name="Chart"/>
          <p:cNvGraphicFramePr/>
          <p:nvPr/>
        </p:nvGraphicFramePr>
        <p:xfrm>
          <a:off xmlns:a="http://schemas.openxmlformats.org/drawingml/2006/main" x="714375" y="1419225"/>
          <a:ext xmlns:a="http://schemas.openxmlformats.org/drawingml/2006/main" cx="10668000" cy="3952875"/>
        </p:xfrm>
        <a:graphic xmlns:a="http://schemas.openxmlformats.org/drawingml/2006/main">
          <a:graphicData uri="http://schemas.openxmlformats.org/drawingml/2006/chart">
            <c:chart xmlns:r="http://schemas.openxmlformats.org/officeDocument/2006/relationships" xmlns:c="http://schemas.openxmlformats.org/drawingml/2006/chart" r:id="R772dc7a373d348f2"/>
          </a:graphicData>
        </a:graphic>
      </p:graphicFrame>
      <p:sp>
        <p:nvSpPr>
          <p:cNvPr id="5" name="text-43">
            <a:extLst xmlns:a="http://schemas.openxmlformats.org/drawingml/2006/main">
              <a:ext uri="{FF2B5EF4-FFF2-40B4-BE49-F238E27FC236}">
                <a16:creationId xmlns:a16="http://schemas.microsoft.com/office/drawing/2014/main" id="{8A959533-C381-4FBF-913D-33F4CA3EFD0A}"/>
              </a:ext>
            </a:extLst>
          </p:cNvPr>
          <p:cNvSpPr>
            <a:spLocks xmlns:a="http://schemas.openxmlformats.org/drawingml/2006/main" noGrp="1"/>
          </p:cNvSpPr>
          <p:nvPr/>
        </p:nvSpPr>
        <p:spPr>
          <a:xfrm xmlns:a="http://schemas.openxmlformats.org/drawingml/2006/main">
            <a:off x="1762125" y="5410200"/>
            <a:ext cx="1905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625" b="1">
                <a:solidFill>
                  <a:srgbClr val="2176AD"/>
                </a:solidFill>
                <a:latin typeface="Arial Unicode MS"/>
                <a:ea typeface="Arial Unicode MS"/>
                <a:cs typeface="Arial Unicode MS"/>
              </a:defRPr>
            </a:pPr>
            <a:r>
              <a:rPr sz="2625" b="1">
                <a:solidFill>
                  <a:srgbClr val="2176AD"/>
                </a:solidFill>
                <a:latin typeface="Arial Unicode MS"/>
                <a:ea typeface="Arial Unicode MS"/>
                <a:cs typeface="Arial Unicode MS"/>
              </a:rPr>
              <a:t>4.67×</a:t>
            </a:r>
          </a:p>
        </p:txBody>
      </p:sp>
      <p:sp>
        <p:nvSpPr>
          <p:cNvPr id="6" name="text-44">
            <a:extLst xmlns:a="http://schemas.openxmlformats.org/drawingml/2006/main">
              <a:ext uri="{FF2B5EF4-FFF2-40B4-BE49-F238E27FC236}">
                <a16:creationId xmlns:a16="http://schemas.microsoft.com/office/drawing/2014/main" id="{067E25D5-B99F-4373-9644-80172BD538D8}"/>
              </a:ext>
            </a:extLst>
          </p:cNvPr>
          <p:cNvSpPr>
            <a:spLocks xmlns:a="http://schemas.openxmlformats.org/drawingml/2006/main" noGrp="1"/>
          </p:cNvSpPr>
          <p:nvPr/>
        </p:nvSpPr>
        <p:spPr>
          <a:xfrm xmlns:a="http://schemas.openxmlformats.org/drawingml/2006/main">
            <a:off x="5124450" y="5410200"/>
            <a:ext cx="1905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625" b="1">
                <a:solidFill>
                  <a:srgbClr val="2176AD"/>
                </a:solidFill>
                <a:latin typeface="Arial Unicode MS"/>
                <a:ea typeface="Arial Unicode MS"/>
                <a:cs typeface="Arial Unicode MS"/>
              </a:defRPr>
            </a:pPr>
            <a:r>
              <a:rPr sz="2625" b="1">
                <a:solidFill>
                  <a:srgbClr val="2176AD"/>
                </a:solidFill>
                <a:latin typeface="Arial Unicode MS"/>
                <a:ea typeface="Arial Unicode MS"/>
                <a:cs typeface="Arial Unicode MS"/>
              </a:rPr>
              <a:t>18.55×</a:t>
            </a:r>
          </a:p>
        </p:txBody>
      </p:sp>
      <p:sp>
        <p:nvSpPr>
          <p:cNvPr id="7" name="text-45">
            <a:extLst xmlns:a="http://schemas.openxmlformats.org/drawingml/2006/main">
              <a:ext uri="{FF2B5EF4-FFF2-40B4-BE49-F238E27FC236}">
                <a16:creationId xmlns:a16="http://schemas.microsoft.com/office/drawing/2014/main" id="{A9F78206-8263-4DBE-8986-80FC9C34E11D}"/>
              </a:ext>
            </a:extLst>
          </p:cNvPr>
          <p:cNvSpPr>
            <a:spLocks xmlns:a="http://schemas.openxmlformats.org/drawingml/2006/main" noGrp="1"/>
          </p:cNvSpPr>
          <p:nvPr/>
        </p:nvSpPr>
        <p:spPr>
          <a:xfrm xmlns:a="http://schemas.openxmlformats.org/drawingml/2006/main">
            <a:off x="8486775" y="5410200"/>
            <a:ext cx="1905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625" b="1">
                <a:solidFill>
                  <a:srgbClr val="2176AD"/>
                </a:solidFill>
                <a:latin typeface="Arial Unicode MS"/>
                <a:ea typeface="Arial Unicode MS"/>
                <a:cs typeface="Arial Unicode MS"/>
              </a:defRPr>
            </a:pPr>
            <a:r>
              <a:rPr sz="2625" b="1">
                <a:solidFill>
                  <a:srgbClr val="2176AD"/>
                </a:solidFill>
                <a:latin typeface="Arial Unicode MS"/>
                <a:ea typeface="Arial Unicode MS"/>
                <a:cs typeface="Arial Unicode MS"/>
              </a:rPr>
              <a:t>89.75×</a:t>
            </a:r>
          </a:p>
        </p:txBody>
      </p:sp>
      <p:sp>
        <p:nvSpPr>
          <p:cNvPr id="8" name="text-46">
            <a:extLst xmlns:a="http://schemas.openxmlformats.org/drawingml/2006/main">
              <a:ext uri="{FF2B5EF4-FFF2-40B4-BE49-F238E27FC236}">
                <a16:creationId xmlns:a16="http://schemas.microsoft.com/office/drawing/2014/main" id="{CEB0045A-3F56-4878-AC6C-0696529807ED}"/>
              </a:ext>
            </a:extLst>
          </p:cNvPr>
          <p:cNvSpPr>
            <a:spLocks xmlns:a="http://schemas.openxmlformats.org/drawingml/2006/main" noGrp="1"/>
          </p:cNvSpPr>
          <p:nvPr/>
        </p:nvSpPr>
        <p:spPr>
          <a:xfrm xmlns:a="http://schemas.openxmlformats.org/drawingml/2006/main">
            <a:off x="762000" y="58674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00" b="0">
                <a:solidFill>
                  <a:srgbClr val="687780"/>
                </a:solidFill>
                <a:latin typeface="Arial Unicode MS"/>
                <a:ea typeface="Arial Unicode MS"/>
                <a:cs typeface="Arial Unicode MS"/>
              </a:defRPr>
            </a:pPr>
            <a:r>
              <a:rPr sz="1500" b="0">
                <a:solidFill>
                  <a:srgbClr val="687780"/>
                </a:solidFill>
                <a:latin typeface="Arial Unicode MS"/>
                <a:ea typeface="Arial Unicode MS"/>
                <a:cs typeface="Arial Unicode MS"/>
              </a:rPr>
              <a:t>The number of full histories grows as n!; correct compression always has just two classes</a:t>
            </a:r>
          </a:p>
        </p:txBody>
      </p:sp>
    </p:spTree>
    <p:extLst>
      <p:ext uri="{BB962C8B-B14F-4D97-AF65-F5344CB8AC3E}">
        <p14:creationId xmlns:p14="http://schemas.microsoft.com/office/powerpoint/2010/main" val="184971087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ext-47">
            <a:extLst xmlns:a="http://schemas.openxmlformats.org/drawingml/2006/main">
              <a:ext uri="{FF2B5EF4-FFF2-40B4-BE49-F238E27FC236}">
                <a16:creationId xmlns:a16="http://schemas.microsoft.com/office/drawing/2014/main" id="{03B90012-D167-41D8-87CC-6E96A69519B0}"/>
              </a:ext>
            </a:extLst>
          </p:cNvPr>
          <p:cNvSpPr>
            <a:spLocks xmlns:a="http://schemas.openxmlformats.org/drawingml/2006/main" noGrp="1"/>
          </p:cNvSpPr>
          <p:nvPr/>
        </p:nvSpPr>
        <p:spPr>
          <a:xfrm xmlns:a="http://schemas.openxmlformats.org/drawingml/2006/main">
            <a:off x="609600" y="3619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00" b="1">
                <a:solidFill>
                  <a:srgbClr val="202B33"/>
                </a:solidFill>
                <a:latin typeface="Arial Unicode MS"/>
                <a:ea typeface="Arial Unicode MS"/>
                <a:cs typeface="Arial Unicode MS"/>
              </a:defRPr>
            </a:pPr>
            <a:r>
              <a:rPr sz="2700" b="1">
                <a:solidFill>
                  <a:srgbClr val="202B33"/>
                </a:solidFill>
                <a:latin typeface="Arial Unicode MS"/>
                <a:ea typeface="Arial Unicode MS"/>
                <a:cs typeface="Arial Unicode MS"/>
              </a:rPr>
              <a:t>Deciding Online Which Histories Can Merge</a:t>
            </a:r>
          </a:p>
        </p:txBody>
      </p:sp>
      <p:sp>
        <p:nvSpPr>
          <p:cNvPr id="2" name="text-48">
            <a:extLst xmlns:a="http://schemas.openxmlformats.org/drawingml/2006/main">
              <a:ext uri="{FF2B5EF4-FFF2-40B4-BE49-F238E27FC236}">
                <a16:creationId xmlns:a16="http://schemas.microsoft.com/office/drawing/2014/main" id="{88439E59-F264-4988-81A4-CDB923C14943}"/>
              </a:ext>
            </a:extLst>
          </p:cNvPr>
          <p:cNvSpPr>
            <a:spLocks xmlns:a="http://schemas.openxmlformats.org/drawingml/2006/main" noGrp="1"/>
          </p:cNvSpPr>
          <p:nvPr/>
        </p:nvSpPr>
        <p:spPr>
          <a:xfrm xmlns:a="http://schemas.openxmlformats.org/drawingml/2006/main">
            <a:off x="609600" y="62960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050" b="0">
                <a:solidFill>
                  <a:srgbClr val="687780"/>
                </a:solidFill>
                <a:latin typeface="Arial Unicode MS"/>
                <a:ea typeface="Arial Unicode MS"/>
                <a:cs typeface="Arial Unicode MS"/>
              </a:defRPr>
            </a:pPr>
            <a:r>
              <a:rPr sz="1050" b="0">
                <a:solidFill>
                  <a:srgbClr val="687780"/>
                </a:solidFill>
                <a:latin typeface="Arial Unicode MS"/>
                <a:ea typeface="Arial Unicode MS"/>
                <a:cs typeface="Arial Unicode MS"/>
              </a:rPr>
              <a:t>Replay audit on a fixed trajectory; these merges were never wired into the controller</a:t>
            </a:r>
          </a:p>
        </p:txBody>
      </p:sp>
      <p:sp>
        <p:nvSpPr>
          <p:cNvPr id="3" name="text-49">
            <a:extLst xmlns:a="http://schemas.openxmlformats.org/drawingml/2006/main">
              <a:ext uri="{FF2B5EF4-FFF2-40B4-BE49-F238E27FC236}">
                <a16:creationId xmlns:a16="http://schemas.microsoft.com/office/drawing/2014/main" id="{4B61CEDA-C64E-4EA7-879A-B24D8BFEA38C}"/>
              </a:ext>
            </a:extLst>
          </p:cNvPr>
          <p:cNvSpPr>
            <a:spLocks xmlns:a="http://schemas.openxmlformats.org/drawingml/2006/main" noGrp="1"/>
          </p:cNvSpPr>
          <p:nvPr/>
        </p:nvSpPr>
        <p:spPr>
          <a:xfrm xmlns:a="http://schemas.openxmlformats.org/drawingml/2006/main">
            <a:off x="11334750" y="629602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00" b="0">
                <a:solidFill>
                  <a:srgbClr val="687780"/>
                </a:solidFill>
                <a:latin typeface="Arial Unicode MS"/>
                <a:ea typeface="Arial Unicode MS"/>
                <a:cs typeface="Arial Unicode MS"/>
              </a:defRPr>
            </a:pPr>
            <a:r>
              <a:rPr sz="1200" b="0">
                <a:solidFill>
                  <a:srgbClr val="687780"/>
                </a:solidFill>
                <a:latin typeface="Arial Unicode MS"/>
                <a:ea typeface="Arial Unicode MS"/>
                <a:cs typeface="Arial Unicode MS"/>
              </a:rPr>
              <a:t>06</a:t>
            </a:r>
          </a:p>
        </p:txBody>
      </p:sp>
      <p:sp>
        <p:nvSpPr>
          <p:cNvPr id="4" name="">
            <a:extLst xmlns:a="http://schemas.openxmlformats.org/drawingml/2006/main">
              <a:ext uri="{FF2B5EF4-FFF2-40B4-BE49-F238E27FC236}">
                <a16:creationId xmlns:a16="http://schemas.microsoft.com/office/drawing/2014/main" id="{B84AEB27-13C0-4D1D-A8E9-72FF9877372F}"/>
              </a:ext>
            </a:extLst>
          </p:cNvPr>
          <p:cNvSpPr>
            <a:spLocks xmlns:a="http://schemas.openxmlformats.org/drawingml/2006/main" noGrp="1"/>
          </p:cNvSpPr>
          <p:nvPr/>
        </p:nvSpPr>
        <p:spPr>
          <a:xfrm xmlns:a="http://schemas.openxmlformats.org/drawingml/2006/main">
            <a:off x="819150" y="2381250"/>
            <a:ext cx="1428750" cy="628650"/>
          </a:xfrm>
          <a:prstGeom xmlns:a="http://schemas.openxmlformats.org/drawingml/2006/main" prst="rect">
            <a:avLst/>
          </a:prstGeom>
          <a:solidFill xmlns:a="http://schemas.openxmlformats.org/drawingml/2006/main">
            <a:srgbClr val="FFFFFF"/>
          </a:solidFill>
          <a:ln xmlns:a="http://schemas.openxmlformats.org/drawingml/2006/main" w="14288">
            <a:solidFill>
              <a:srgbClr val="94A1AA"/>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94A1AA"/>
                </a:solidFill>
                <a:latin typeface="Arial Unicode MS"/>
                <a:ea typeface="Arial Unicode MS"/>
                <a:cs typeface="Arial Unicode MS"/>
              </a:defRPr>
            </a:pPr>
            <a:r>
              <a:rPr sz="2100">
                <a:solidFill>
                  <a:srgbClr val="94A1AA"/>
                </a:solidFill>
                <a:latin typeface="Arial Unicode MS"/>
                <a:ea typeface="Arial Unicode MS"/>
                <a:cs typeface="Arial Unicode MS"/>
              </a:rPr>
              <a:t>History A</a:t>
            </a:r>
          </a:p>
        </p:txBody>
      </p:sp>
      <p:sp>
        <p:nvSpPr>
          <p:cNvPr id="5" name="">
            <a:extLst xmlns:a="http://schemas.openxmlformats.org/drawingml/2006/main">
              <a:ext uri="{FF2B5EF4-FFF2-40B4-BE49-F238E27FC236}">
                <a16:creationId xmlns:a16="http://schemas.microsoft.com/office/drawing/2014/main" id="{C17DC78A-B038-4A1A-9787-30AAF2B65BBF}"/>
              </a:ext>
            </a:extLst>
          </p:cNvPr>
          <p:cNvSpPr>
            <a:spLocks xmlns:a="http://schemas.openxmlformats.org/drawingml/2006/main" noGrp="1"/>
          </p:cNvSpPr>
          <p:nvPr/>
        </p:nvSpPr>
        <p:spPr>
          <a:xfrm xmlns:a="http://schemas.openxmlformats.org/drawingml/2006/main">
            <a:off x="819150" y="4095750"/>
            <a:ext cx="1428750" cy="628650"/>
          </a:xfrm>
          <a:prstGeom xmlns:a="http://schemas.openxmlformats.org/drawingml/2006/main" prst="rect">
            <a:avLst/>
          </a:prstGeom>
          <a:solidFill xmlns:a="http://schemas.openxmlformats.org/drawingml/2006/main">
            <a:srgbClr val="FFFFFF"/>
          </a:solidFill>
          <a:ln xmlns:a="http://schemas.openxmlformats.org/drawingml/2006/main" w="14288">
            <a:solidFill>
              <a:srgbClr val="94A1AA"/>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94A1AA"/>
                </a:solidFill>
                <a:latin typeface="Arial Unicode MS"/>
                <a:ea typeface="Arial Unicode MS"/>
                <a:cs typeface="Arial Unicode MS"/>
              </a:defRPr>
            </a:pPr>
            <a:r>
              <a:rPr sz="2100">
                <a:solidFill>
                  <a:srgbClr val="94A1AA"/>
                </a:solidFill>
                <a:latin typeface="Arial Unicode MS"/>
                <a:ea typeface="Arial Unicode MS"/>
                <a:cs typeface="Arial Unicode MS"/>
              </a:rPr>
              <a:t>History B</a:t>
            </a:r>
          </a:p>
        </p:txBody>
      </p:sp>
      <p:sp>
        <p:nvSpPr>
          <p:cNvPr id="6" name="">
            <a:extLst xmlns:a="http://schemas.openxmlformats.org/drawingml/2006/main">
              <a:ext uri="{FF2B5EF4-FFF2-40B4-BE49-F238E27FC236}">
                <a16:creationId xmlns:a16="http://schemas.microsoft.com/office/drawing/2014/main" id="{92C6E943-AA58-4D2B-9623-071895F1597C}"/>
              </a:ext>
            </a:extLst>
          </p:cNvPr>
          <p:cNvSpPr>
            <a:spLocks xmlns:a="http://schemas.openxmlformats.org/drawingml/2006/main" noGrp="1"/>
          </p:cNvSpPr>
          <p:nvPr/>
        </p:nvSpPr>
        <p:spPr>
          <a:xfrm xmlns:a="http://schemas.openxmlformats.org/drawingml/2006/main">
            <a:off x="3143250" y="3238500"/>
            <a:ext cx="15240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AE514B"/>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AE514B"/>
                </a:solidFill>
                <a:latin typeface="Arial Unicode MS"/>
                <a:ea typeface="Arial Unicode MS"/>
                <a:cs typeface="Arial Unicode MS"/>
              </a:defRPr>
            </a:pPr>
            <a:r>
              <a:rPr sz="2100">
                <a:solidFill>
                  <a:srgbClr val="AE514B"/>
                </a:solidFill>
                <a:latin typeface="Arial Unicode MS"/>
                <a:ea typeface="Arial Unicode MS"/>
                <a:cs typeface="Arial Unicode MS"/>
              </a:rPr>
              <a:t>Same state</a:t>
            </a:r>
          </a:p>
        </p:txBody>
      </p:sp>
      <p:cxnSp>
        <p:nvCxnSpPr>
          <p:cNvPr id="19" name=""/>
          <p:cNvCxnSpPr>
            <a:stCxn xmlns:a="http://schemas.openxmlformats.org/drawingml/2006/main" id="4" idx="3"/>
            <a:endCxn xmlns:a="http://schemas.openxmlformats.org/drawingml/2006/main" id="6" idx="1"/>
          </p:cNvCxnSpPr>
          <p:nvPr/>
        </p:nvCxnSpPr>
        <p:spPr>
          <a:xfrm xmlns:a="http://schemas.openxmlformats.org/drawingml/2006/main">
            <a:off x="2247900" y="2695575"/>
            <a:ext cx="895350" cy="885825"/>
          </a:xfrm>
          <a:prstGeom xmlns:a="http://schemas.openxmlformats.org/drawingml/2006/main" prst="straightConnector1">
            <a:avLst/>
          </a:prstGeom>
          <a:ln xmlns:a="http://schemas.openxmlformats.org/drawingml/2006/main" w="19050">
            <a:solidFill>
              <a:srgbClr val="AE514B"/>
            </a:solidFill>
            <a:prstDash val="solid"/>
            <a:tailEnd type="triangle" w="sm" len="sm"/>
          </a:ln>
        </p:spPr>
      </p:cxnSp>
      <p:cxnSp>
        <p:nvCxnSpPr>
          <p:cNvPr id="20" name=""/>
          <p:cNvCxnSpPr>
            <a:stCxn xmlns:a="http://schemas.openxmlformats.org/drawingml/2006/main" id="5" idx="3"/>
            <a:endCxn xmlns:a="http://schemas.openxmlformats.org/drawingml/2006/main" id="6" idx="1"/>
          </p:cNvCxnSpPr>
          <p:nvPr/>
        </p:nvCxnSpPr>
        <p:spPr>
          <a:xfrm xmlns:a="http://schemas.openxmlformats.org/drawingml/2006/main" flipV="1">
            <a:off x="2247900" y="3581400"/>
            <a:ext cx="895350" cy="828675"/>
          </a:xfrm>
          <a:prstGeom xmlns:a="http://schemas.openxmlformats.org/drawingml/2006/main" prst="straightConnector1">
            <a:avLst/>
          </a:prstGeom>
          <a:ln xmlns:a="http://schemas.openxmlformats.org/drawingml/2006/main" w="19050">
            <a:solidFill>
              <a:srgbClr val="AE514B"/>
            </a:solidFill>
            <a:prstDash val="solid"/>
            <a:tailEnd type="triangle" w="sm" len="sm"/>
          </a:ln>
        </p:spPr>
      </p:cxnSp>
      <p:sp>
        <p:nvSpPr>
          <p:cNvPr id="9" name="text-50">
            <a:extLst xmlns:a="http://schemas.openxmlformats.org/drawingml/2006/main">
              <a:ext uri="{FF2B5EF4-FFF2-40B4-BE49-F238E27FC236}">
                <a16:creationId xmlns:a16="http://schemas.microsoft.com/office/drawing/2014/main" id="{90B2715F-F46D-4C46-B8FE-B1702AA6FE0A}"/>
              </a:ext>
            </a:extLst>
          </p:cNvPr>
          <p:cNvSpPr>
            <a:spLocks xmlns:a="http://schemas.openxmlformats.org/drawingml/2006/main" noGrp="1"/>
          </p:cNvSpPr>
          <p:nvPr/>
        </p:nvSpPr>
        <p:spPr>
          <a:xfrm xmlns:a="http://schemas.openxmlformats.org/drawingml/2006/main">
            <a:off x="819150" y="533400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AE514B"/>
                </a:solidFill>
                <a:latin typeface="Arial Unicode MS"/>
                <a:ea typeface="Arial Unicode MS"/>
                <a:cs typeface="Arial Unicode MS"/>
              </a:defRPr>
            </a:pPr>
            <a:r>
              <a:rPr sz="1650" b="0">
                <a:solidFill>
                  <a:srgbClr val="AE514B"/>
                </a:solidFill>
                <a:latin typeface="Arial Unicode MS"/>
                <a:ea typeface="Arial Unicode MS"/>
                <a:cs typeface="Arial Unicode MS"/>
              </a:rPr>
              <a:t>Unseen suffixes may differ, so merging misapplies the experience</a:t>
            </a:r>
          </a:p>
        </p:txBody>
      </p:sp>
      <p:sp>
        <p:nvSpPr>
          <p:cNvPr id="10" name="">
            <a:extLst xmlns:a="http://schemas.openxmlformats.org/drawingml/2006/main">
              <a:ext uri="{FF2B5EF4-FFF2-40B4-BE49-F238E27FC236}">
                <a16:creationId xmlns:a16="http://schemas.microsoft.com/office/drawing/2014/main" id="{CDD9E397-DDE4-4A29-BC68-9437F68E308F}"/>
              </a:ext>
            </a:extLst>
          </p:cNvPr>
          <p:cNvSpPr>
            <a:spLocks xmlns:a="http://schemas.openxmlformats.org/drawingml/2006/main" noGrp="1"/>
          </p:cNvSpPr>
          <p:nvPr/>
        </p:nvSpPr>
        <p:spPr>
          <a:xfrm xmlns:a="http://schemas.openxmlformats.org/drawingml/2006/main">
            <a:off x="5905500" y="1219200"/>
            <a:ext cx="0" cy="4286250"/>
          </a:xfrm>
          <a:prstGeom xmlns:a="http://schemas.openxmlformats.org/drawingml/2006/main" prst="line">
            <a:avLst/>
          </a:prstGeom>
          <a:noFill xmlns:a="http://schemas.openxmlformats.org/drawingml/2006/main"/>
          <a:ln xmlns:a="http://schemas.openxmlformats.org/drawingml/2006/main" w="14288">
            <a:solidFill>
              <a:srgbClr val="D9E0E4"/>
            </a:solidFill>
          </a:ln>
        </p:spPr>
      </p:sp>
      <p:sp>
        <p:nvSpPr>
          <p:cNvPr id="11" name="text-51">
            <a:extLst xmlns:a="http://schemas.openxmlformats.org/drawingml/2006/main">
              <a:ext uri="{FF2B5EF4-FFF2-40B4-BE49-F238E27FC236}">
                <a16:creationId xmlns:a16="http://schemas.microsoft.com/office/drawing/2014/main" id="{736E3302-2998-4A00-8A59-0BE7FBCDD82C}"/>
              </a:ext>
            </a:extLst>
          </p:cNvPr>
          <p:cNvSpPr>
            <a:spLocks xmlns:a="http://schemas.openxmlformats.org/drawingml/2006/main" noGrp="1"/>
          </p:cNvSpPr>
          <p:nvPr/>
        </p:nvSpPr>
        <p:spPr>
          <a:xfrm xmlns:a="http://schemas.openxmlformats.org/drawingml/2006/main">
            <a:off x="6362700" y="1295400"/>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202B33"/>
                </a:solidFill>
                <a:latin typeface="Arial Unicode MS"/>
                <a:ea typeface="Arial Unicode MS"/>
                <a:cs typeface="Arial Unicode MS"/>
              </a:defRPr>
            </a:pPr>
            <a:r>
              <a:rPr sz="2100" b="0">
                <a:solidFill>
                  <a:srgbClr val="202B33"/>
                </a:solidFill>
                <a:latin typeface="Arial Unicode MS"/>
                <a:ea typeface="Arial Unicode MS"/>
                <a:cs typeface="Arial Unicode MS"/>
              </a:rPr>
              <a:t>The current method shows a clear trade-off</a:t>
            </a:r>
          </a:p>
        </p:txBody>
      </p:sp>
      <p:graphicFrame>
        <p:nvGraphicFramePr>
          <p:cNvPr id="24" name="Chart"/>
          <p:cNvGraphicFramePr/>
          <p:nvPr/>
        </p:nvGraphicFramePr>
        <p:xfrm>
          <a:off xmlns:a="http://schemas.openxmlformats.org/drawingml/2006/main" x="6191250" y="1866900"/>
          <a:ext xmlns:a="http://schemas.openxmlformats.org/drawingml/2006/main" cx="5391150" cy="3505200"/>
        </p:xfrm>
        <a:graphic xmlns:a="http://schemas.openxmlformats.org/drawingml/2006/main">
          <a:graphicData uri="http://schemas.openxmlformats.org/drawingml/2006/chart">
            <c:chart xmlns:r="http://schemas.openxmlformats.org/officeDocument/2006/relationships" xmlns:c="http://schemas.openxmlformats.org/drawingml/2006/chart" r:id="R38d468e444674ff2"/>
          </a:graphicData>
        </a:graphic>
      </p:graphicFrame>
    </p:spTree>
    <p:extLst>
      <p:ext uri="{BB962C8B-B14F-4D97-AF65-F5344CB8AC3E}">
        <p14:creationId xmlns:p14="http://schemas.microsoft.com/office/powerpoint/2010/main" val="139582971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52">
            <a:extLst xmlns:a="http://schemas.openxmlformats.org/drawingml/2006/main">
              <a:ext uri="{FF2B5EF4-FFF2-40B4-BE49-F238E27FC236}">
                <a16:creationId xmlns:a16="http://schemas.microsoft.com/office/drawing/2014/main" id="{45461DA4-F620-4932-AE8E-312C2F3FBD30}"/>
              </a:ext>
            </a:extLst>
          </p:cNvPr>
          <p:cNvSpPr>
            <a:spLocks xmlns:a="http://schemas.openxmlformats.org/drawingml/2006/main" noGrp="1"/>
          </p:cNvSpPr>
          <p:nvPr/>
        </p:nvSpPr>
        <p:spPr>
          <a:xfrm xmlns:a="http://schemas.openxmlformats.org/drawingml/2006/main">
            <a:off x="609600" y="3619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00" b="1">
                <a:solidFill>
                  <a:srgbClr val="202B33"/>
                </a:solidFill>
                <a:latin typeface="Arial Unicode MS"/>
                <a:ea typeface="Arial Unicode MS"/>
                <a:cs typeface="Arial Unicode MS"/>
              </a:defRPr>
            </a:pPr>
            <a:r>
              <a:rPr sz="2700" b="1">
                <a:solidFill>
                  <a:srgbClr val="202B33"/>
                </a:solidFill>
                <a:latin typeface="Arial Unicode MS"/>
                <a:ea typeface="Arial Unicode MS"/>
                <a:cs typeface="Arial Unicode MS"/>
              </a:rPr>
              <a:t>Why Recent Early Compression Did Not Reproduce the Early Gain</a:t>
            </a:r>
          </a:p>
        </p:txBody>
      </p:sp>
      <p:sp>
        <p:nvSpPr>
          <p:cNvPr id="2" name="text-53">
            <a:extLst xmlns:a="http://schemas.openxmlformats.org/drawingml/2006/main">
              <a:ext uri="{FF2B5EF4-FFF2-40B4-BE49-F238E27FC236}">
                <a16:creationId xmlns:a16="http://schemas.microsoft.com/office/drawing/2014/main" id="{84A6E92E-74FE-4D9C-AD8F-F9EBE2ED5A17}"/>
              </a:ext>
            </a:extLst>
          </p:cNvPr>
          <p:cNvSpPr>
            <a:spLocks xmlns:a="http://schemas.openxmlformats.org/drawingml/2006/main" noGrp="1"/>
          </p:cNvSpPr>
          <p:nvPr/>
        </p:nvSpPr>
        <p:spPr>
          <a:xfrm xmlns:a="http://schemas.openxmlformats.org/drawingml/2006/main">
            <a:off x="609600" y="62960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050" b="0">
                <a:solidFill>
                  <a:srgbClr val="687780"/>
                </a:solidFill>
                <a:latin typeface="Arial Unicode MS"/>
                <a:ea typeface="Arial Unicode MS"/>
                <a:cs typeface="Arial Unicode MS"/>
              </a:defRPr>
            </a:pPr>
            <a:r>
              <a:rPr sz="1050" b="0">
                <a:solidFill>
                  <a:srgbClr val="687780"/>
                </a:solidFill>
                <a:latin typeface="Arial Unicode MS"/>
                <a:ea typeface="Arial Unicode MS"/>
                <a:cs typeface="Arial Unicode MS"/>
              </a:rPr>
              <a:t>The two kinds of immediate use differ: in the early experiment behaviour changes the next evidence, in the parts experiment it does not</a:t>
            </a:r>
          </a:p>
        </p:txBody>
      </p:sp>
      <p:sp>
        <p:nvSpPr>
          <p:cNvPr id="3" name="text-54">
            <a:extLst xmlns:a="http://schemas.openxmlformats.org/drawingml/2006/main">
              <a:ext uri="{FF2B5EF4-FFF2-40B4-BE49-F238E27FC236}">
                <a16:creationId xmlns:a16="http://schemas.microsoft.com/office/drawing/2014/main" id="{391C584A-90EB-44D9-ACFE-61D46E55499D}"/>
              </a:ext>
            </a:extLst>
          </p:cNvPr>
          <p:cNvSpPr>
            <a:spLocks xmlns:a="http://schemas.openxmlformats.org/drawingml/2006/main" noGrp="1"/>
          </p:cNvSpPr>
          <p:nvPr/>
        </p:nvSpPr>
        <p:spPr>
          <a:xfrm xmlns:a="http://schemas.openxmlformats.org/drawingml/2006/main">
            <a:off x="11334750" y="629602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00" b="0">
                <a:solidFill>
                  <a:srgbClr val="687780"/>
                </a:solidFill>
                <a:latin typeface="Arial Unicode MS"/>
                <a:ea typeface="Arial Unicode MS"/>
                <a:cs typeface="Arial Unicode MS"/>
              </a:defRPr>
            </a:pPr>
            <a:r>
              <a:rPr sz="1200" b="0">
                <a:solidFill>
                  <a:srgbClr val="687780"/>
                </a:solidFill>
                <a:latin typeface="Arial Unicode MS"/>
                <a:ea typeface="Arial Unicode MS"/>
                <a:cs typeface="Arial Unicode MS"/>
              </a:rPr>
              <a:t>07</a:t>
            </a:r>
          </a:p>
        </p:txBody>
      </p:sp>
      <p:sp>
        <p:nvSpPr>
          <p:cNvPr id="4" name="text-55">
            <a:extLst xmlns:a="http://schemas.openxmlformats.org/drawingml/2006/main">
              <a:ext uri="{FF2B5EF4-FFF2-40B4-BE49-F238E27FC236}">
                <a16:creationId xmlns:a16="http://schemas.microsoft.com/office/drawing/2014/main" id="{BA57005C-C64A-4164-A70F-844CAE9CB65D}"/>
              </a:ext>
            </a:extLst>
          </p:cNvPr>
          <p:cNvSpPr>
            <a:spLocks xmlns:a="http://schemas.openxmlformats.org/drawingml/2006/main" noGrp="1"/>
          </p:cNvSpPr>
          <p:nvPr/>
        </p:nvSpPr>
        <p:spPr>
          <a:xfrm xmlns:a="http://schemas.openxmlformats.org/drawingml/2006/main">
            <a:off x="952500" y="1352550"/>
            <a:ext cx="457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75" b="1">
                <a:solidFill>
                  <a:srgbClr val="202B33"/>
                </a:solidFill>
                <a:latin typeface="Arial Unicode MS"/>
                <a:ea typeface="Arial Unicode MS"/>
                <a:cs typeface="Arial Unicode MS"/>
              </a:defRPr>
            </a:pPr>
            <a:r>
              <a:rPr sz="1275" b="1">
                <a:solidFill>
                  <a:srgbClr val="202B33"/>
                </a:solidFill>
                <a:latin typeface="Arial Unicode MS"/>
                <a:ea typeface="Arial Unicode MS"/>
                <a:cs typeface="Arial Unicode MS"/>
              </a:rPr>
              <a:t>Early navigation task: behaviour changes the evidence</a:t>
            </a:r>
          </a:p>
        </p:txBody>
      </p:sp>
      <p:sp>
        <p:nvSpPr>
          <p:cNvPr id="5" name="text-56">
            <a:extLst xmlns:a="http://schemas.openxmlformats.org/drawingml/2006/main">
              <a:ext uri="{FF2B5EF4-FFF2-40B4-BE49-F238E27FC236}">
                <a16:creationId xmlns:a16="http://schemas.microsoft.com/office/drawing/2014/main" id="{AA19AE8F-3465-4B58-9B3C-D427B27FBDF6}"/>
              </a:ext>
            </a:extLst>
          </p:cNvPr>
          <p:cNvSpPr>
            <a:spLocks xmlns:a="http://schemas.openxmlformats.org/drawingml/2006/main" noGrp="1"/>
          </p:cNvSpPr>
          <p:nvPr/>
        </p:nvSpPr>
        <p:spPr>
          <a:xfrm xmlns:a="http://schemas.openxmlformats.org/drawingml/2006/main">
            <a:off x="6667500" y="13525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75" b="1">
                <a:solidFill>
                  <a:srgbClr val="202B33"/>
                </a:solidFill>
                <a:latin typeface="Arial Unicode MS"/>
                <a:ea typeface="Arial Unicode MS"/>
                <a:cs typeface="Arial Unicode MS"/>
              </a:defRPr>
            </a:pPr>
            <a:r>
              <a:rPr sz="1275" b="1">
                <a:solidFill>
                  <a:srgbClr val="202B33"/>
                </a:solidFill>
                <a:latin typeface="Arial Unicode MS"/>
                <a:ea typeface="Arial Unicode MS"/>
                <a:cs typeface="Arial Unicode MS"/>
              </a:rPr>
              <a:t>Latest parts experiment: evidence independent of behaviour</a:t>
            </a:r>
          </a:p>
        </p:txBody>
      </p:sp>
      <p:sp>
        <p:nvSpPr>
          <p:cNvPr id="6" name="">
            <a:extLst xmlns:a="http://schemas.openxmlformats.org/drawingml/2006/main">
              <a:ext uri="{FF2B5EF4-FFF2-40B4-BE49-F238E27FC236}">
                <a16:creationId xmlns:a16="http://schemas.microsoft.com/office/drawing/2014/main" id="{EA137890-7465-43CC-8EFC-CF3870FFA7D2}"/>
              </a:ext>
            </a:extLst>
          </p:cNvPr>
          <p:cNvSpPr>
            <a:spLocks xmlns:a="http://schemas.openxmlformats.org/drawingml/2006/main" noGrp="1"/>
          </p:cNvSpPr>
          <p:nvPr/>
        </p:nvSpPr>
        <p:spPr>
          <a:xfrm xmlns:a="http://schemas.openxmlformats.org/drawingml/2006/main">
            <a:off x="847725" y="2095500"/>
            <a:ext cx="1638300"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Partial procedure</a:t>
            </a:r>
          </a:p>
        </p:txBody>
      </p:sp>
      <p:sp>
        <p:nvSpPr>
          <p:cNvPr id="7" name="">
            <a:extLst xmlns:a="http://schemas.openxmlformats.org/drawingml/2006/main">
              <a:ext uri="{FF2B5EF4-FFF2-40B4-BE49-F238E27FC236}">
                <a16:creationId xmlns:a16="http://schemas.microsoft.com/office/drawing/2014/main" id="{7AC8713A-0402-4BE0-A3B7-4A80792321D2}"/>
              </a:ext>
            </a:extLst>
          </p:cNvPr>
          <p:cNvSpPr>
            <a:spLocks xmlns:a="http://schemas.openxmlformats.org/drawingml/2006/main" noGrp="1"/>
          </p:cNvSpPr>
          <p:nvPr/>
        </p:nvSpPr>
        <p:spPr>
          <a:xfrm xmlns:a="http://schemas.openxmlformats.org/drawingml/2006/main">
            <a:off x="3609975" y="2095500"/>
            <a:ext cx="1638300"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Execute prefix</a:t>
            </a:r>
          </a:p>
        </p:txBody>
      </p:sp>
      <p:sp>
        <p:nvSpPr>
          <p:cNvPr id="8" name="">
            <a:extLst xmlns:a="http://schemas.openxmlformats.org/drawingml/2006/main">
              <a:ext uri="{FF2B5EF4-FFF2-40B4-BE49-F238E27FC236}">
                <a16:creationId xmlns:a16="http://schemas.microsoft.com/office/drawing/2014/main" id="{CB5D0F61-5124-4F82-B419-68BE707CB770}"/>
              </a:ext>
            </a:extLst>
          </p:cNvPr>
          <p:cNvSpPr>
            <a:spLocks xmlns:a="http://schemas.openxmlformats.org/drawingml/2006/main" noGrp="1"/>
          </p:cNvSpPr>
          <p:nvPr/>
        </p:nvSpPr>
        <p:spPr>
          <a:xfrm xmlns:a="http://schemas.openxmlformats.org/drawingml/2006/main">
            <a:off x="2266950" y="3381375"/>
            <a:ext cx="1638300"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Suffix evidence</a:t>
            </a:r>
          </a:p>
        </p:txBody>
      </p:sp>
      <p:cxnSp>
        <p:nvCxnSpPr>
          <p:cNvPr id="28" name=""/>
          <p:cNvCxnSpPr>
            <a:stCxn xmlns:a="http://schemas.openxmlformats.org/drawingml/2006/main" id="6" idx="3"/>
            <a:endCxn xmlns:a="http://schemas.openxmlformats.org/drawingml/2006/main" id="7" idx="1"/>
          </p:cNvCxnSpPr>
          <p:nvPr/>
        </p:nvCxnSpPr>
        <p:spPr>
          <a:xfrm xmlns:a="http://schemas.openxmlformats.org/drawingml/2006/main">
            <a:off x="2486025" y="2390775"/>
            <a:ext cx="1123950" cy="0"/>
          </a:xfrm>
          <a:prstGeom xmlns:a="http://schemas.openxmlformats.org/drawingml/2006/main" prst="straightConnector1">
            <a:avLst/>
          </a:prstGeom>
          <a:ln xmlns:a="http://schemas.openxmlformats.org/drawingml/2006/main" w="19050">
            <a:solidFill>
              <a:srgbClr val="2176AD"/>
            </a:solidFill>
            <a:prstDash val="solid"/>
            <a:tailEnd type="triangle" w="sm" len="sm"/>
          </a:ln>
        </p:spPr>
      </p:cxnSp>
      <p:cxnSp>
        <p:nvCxnSpPr>
          <p:cNvPr id="29" name=""/>
          <p:cNvCxnSpPr>
            <a:stCxn xmlns:a="http://schemas.openxmlformats.org/drawingml/2006/main" id="7" idx="2"/>
            <a:endCxn xmlns:a="http://schemas.openxmlformats.org/drawingml/2006/main" id="8" idx="3"/>
          </p:cNvCxnSpPr>
          <p:nvPr/>
        </p:nvCxnSpPr>
        <p:spPr>
          <a:xfrm xmlns:a="http://schemas.openxmlformats.org/drawingml/2006/main" flipH="1">
            <a:off x="3905250" y="2686050"/>
            <a:ext cx="523875" cy="990600"/>
          </a:xfrm>
          <a:prstGeom xmlns:a="http://schemas.openxmlformats.org/drawingml/2006/main" prst="straightConnector1">
            <a:avLst/>
          </a:prstGeom>
          <a:ln xmlns:a="http://schemas.openxmlformats.org/drawingml/2006/main" w="19050">
            <a:solidFill>
              <a:srgbClr val="2176AD"/>
            </a:solidFill>
            <a:prstDash val="solid"/>
            <a:tailEnd type="triangle" w="sm" len="sm"/>
          </a:ln>
        </p:spPr>
      </p:cxnSp>
      <p:cxnSp>
        <p:nvCxnSpPr>
          <p:cNvPr id="30" name=""/>
          <p:cNvCxnSpPr>
            <a:stCxn xmlns:a="http://schemas.openxmlformats.org/drawingml/2006/main" id="8" idx="1"/>
            <a:endCxn xmlns:a="http://schemas.openxmlformats.org/drawingml/2006/main" id="6" idx="2"/>
          </p:cNvCxnSpPr>
          <p:nvPr/>
        </p:nvCxnSpPr>
        <p:spPr>
          <a:xfrm xmlns:a="http://schemas.openxmlformats.org/drawingml/2006/main" flipH="1" flipV="1">
            <a:off x="1666875" y="2686050"/>
            <a:ext cx="600075" cy="990600"/>
          </a:xfrm>
          <a:prstGeom xmlns:a="http://schemas.openxmlformats.org/drawingml/2006/main" prst="straightConnector1">
            <a:avLst/>
          </a:prstGeom>
          <a:ln xmlns:a="http://schemas.openxmlformats.org/drawingml/2006/main" w="19050">
            <a:solidFill>
              <a:srgbClr val="2176AD"/>
            </a:solidFill>
            <a:prstDash val="solid"/>
            <a:tailEnd type="triangle" w="sm" len="sm"/>
          </a:ln>
        </p:spPr>
      </p:cxnSp>
      <p:sp>
        <p:nvSpPr>
          <p:cNvPr id="12" name="">
            <a:extLst xmlns:a="http://schemas.openxmlformats.org/drawingml/2006/main">
              <a:ext uri="{FF2B5EF4-FFF2-40B4-BE49-F238E27FC236}">
                <a16:creationId xmlns:a16="http://schemas.microsoft.com/office/drawing/2014/main" id="{065A3E49-5444-4C09-A73C-9F402ACCFDDD}"/>
              </a:ext>
            </a:extLst>
          </p:cNvPr>
          <p:cNvSpPr>
            <a:spLocks xmlns:a="http://schemas.openxmlformats.org/drawingml/2006/main" noGrp="1"/>
          </p:cNvSpPr>
          <p:nvPr/>
        </p:nvSpPr>
        <p:spPr>
          <a:xfrm xmlns:a="http://schemas.openxmlformats.org/drawingml/2006/main">
            <a:off x="6667500" y="2095500"/>
            <a:ext cx="1981200"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94A1AA"/>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94A1AA"/>
                </a:solidFill>
                <a:latin typeface="Arial Unicode MS"/>
                <a:ea typeface="Arial Unicode MS"/>
                <a:cs typeface="Arial Unicode MS"/>
              </a:defRPr>
            </a:pPr>
            <a:r>
              <a:rPr sz="2100">
                <a:solidFill>
                  <a:srgbClr val="94A1AA"/>
                </a:solidFill>
                <a:latin typeface="Arial Unicode MS"/>
                <a:ea typeface="Arial Unicode MS"/>
                <a:cs typeface="Arial Unicode MS"/>
              </a:rPr>
              <a:t>Permutation</a:t>
            </a:r>
          </a:p>
        </p:txBody>
      </p:sp>
      <p:sp>
        <p:nvSpPr>
          <p:cNvPr id="13" name="">
            <a:extLst xmlns:a="http://schemas.openxmlformats.org/drawingml/2006/main">
              <a:ext uri="{FF2B5EF4-FFF2-40B4-BE49-F238E27FC236}">
                <a16:creationId xmlns:a16="http://schemas.microsoft.com/office/drawing/2014/main" id="{AC7A9EDF-38B2-4481-916E-2A9E7F3751F9}"/>
              </a:ext>
            </a:extLst>
          </p:cNvPr>
          <p:cNvSpPr>
            <a:spLocks xmlns:a="http://schemas.openxmlformats.org/drawingml/2006/main" noGrp="1"/>
          </p:cNvSpPr>
          <p:nvPr/>
        </p:nvSpPr>
        <p:spPr>
          <a:xfrm xmlns:a="http://schemas.openxmlformats.org/drawingml/2006/main">
            <a:off x="9458325" y="2095500"/>
            <a:ext cx="1790700"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Choose X / Y</a:t>
            </a:r>
          </a:p>
        </p:txBody>
      </p:sp>
      <p:cxnSp>
        <p:nvCxnSpPr>
          <p:cNvPr id="33" name=""/>
          <p:cNvCxnSpPr>
            <a:stCxn xmlns:a="http://schemas.openxmlformats.org/drawingml/2006/main" id="12" idx="3"/>
            <a:endCxn xmlns:a="http://schemas.openxmlformats.org/drawingml/2006/main" id="13" idx="1"/>
          </p:cNvCxnSpPr>
          <p:nvPr/>
        </p:nvCxnSpPr>
        <p:spPr>
          <a:xfrm xmlns:a="http://schemas.openxmlformats.org/drawingml/2006/main">
            <a:off x="8648700" y="2390775"/>
            <a:ext cx="809625" cy="0"/>
          </a:xfrm>
          <a:prstGeom xmlns:a="http://schemas.openxmlformats.org/drawingml/2006/main" prst="straightConnector1">
            <a:avLst/>
          </a:prstGeom>
          <a:ln xmlns:a="http://schemas.openxmlformats.org/drawingml/2006/main" w="19050">
            <a:solidFill>
              <a:srgbClr val="94A1AA"/>
            </a:solidFill>
            <a:prstDash val="solid"/>
            <a:tailEnd type="triangle" w="sm" len="sm"/>
          </a:ln>
        </p:spPr>
      </p:cxnSp>
      <p:sp>
        <p:nvSpPr>
          <p:cNvPr id="15" name="text-57">
            <a:extLst xmlns:a="http://schemas.openxmlformats.org/drawingml/2006/main">
              <a:ext uri="{FF2B5EF4-FFF2-40B4-BE49-F238E27FC236}">
                <a16:creationId xmlns:a16="http://schemas.microsoft.com/office/drawing/2014/main" id="{219D17C2-E637-453B-B05C-678A654FB455}"/>
              </a:ext>
            </a:extLst>
          </p:cNvPr>
          <p:cNvSpPr>
            <a:spLocks xmlns:a="http://schemas.openxmlformats.org/drawingml/2006/main" noGrp="1"/>
          </p:cNvSpPr>
          <p:nvPr/>
        </p:nvSpPr>
        <p:spPr>
          <a:xfrm xmlns:a="http://schemas.openxmlformats.org/drawingml/2006/main">
            <a:off x="6286500" y="314325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00" b="0">
                <a:solidFill>
                  <a:srgbClr val="687780"/>
                </a:solidFill>
                <a:latin typeface="Arial Unicode MS"/>
                <a:ea typeface="Arial Unicode MS"/>
                <a:cs typeface="Arial Unicode MS"/>
              </a:defRPr>
            </a:pPr>
            <a:r>
              <a:rPr sz="1200" b="0">
                <a:solidFill>
                  <a:srgbClr val="687780"/>
                </a:solidFill>
                <a:latin typeface="Arial Unicode MS"/>
                <a:ea typeface="Arial Unicode MS"/>
                <a:cs typeface="Arial Unicode MS"/>
              </a:rPr>
              <a:t>The next episode is still sampled independently by the environment</a:t>
            </a:r>
          </a:p>
        </p:txBody>
      </p:sp>
      <p:sp>
        <p:nvSpPr>
          <p:cNvPr id="16" name="text-58">
            <a:extLst xmlns:a="http://schemas.openxmlformats.org/drawingml/2006/main">
              <a:ext uri="{FF2B5EF4-FFF2-40B4-BE49-F238E27FC236}">
                <a16:creationId xmlns:a16="http://schemas.microsoft.com/office/drawing/2014/main" id="{4C7CCB41-4A9F-4FFC-8377-F4225625070B}"/>
              </a:ext>
            </a:extLst>
          </p:cNvPr>
          <p:cNvSpPr>
            <a:spLocks xmlns:a="http://schemas.openxmlformats.org/drawingml/2006/main" noGrp="1"/>
          </p:cNvSpPr>
          <p:nvPr/>
        </p:nvSpPr>
        <p:spPr>
          <a:xfrm xmlns:a="http://schemas.openxmlformats.org/drawingml/2006/main">
            <a:off x="6667500" y="4000500"/>
            <a:ext cx="447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a:solidFill>
                  <a:srgbClr val="202B33"/>
                </a:solidFill>
                <a:latin typeface="Arial Unicode MS"/>
                <a:ea typeface="Arial Unicode MS"/>
                <a:cs typeface="Arial Unicode MS"/>
              </a:defRPr>
            </a:pPr>
            <a:r>
              <a:rPr sz="1875" b="0">
                <a:solidFill>
                  <a:srgbClr val="202B33"/>
                </a:solidFill>
                <a:latin typeface="Arial Unicode MS"/>
                <a:ea typeface="Arial Unicode MS"/>
                <a:cs typeface="Arial Unicode MS"/>
              </a:rPr>
              <a:t>Extra successes before identification</a:t>
            </a:r>
          </a:p>
        </p:txBody>
      </p:sp>
      <p:graphicFrame>
        <p:nvGraphicFramePr>
          <p:cNvPr id="36" name="Chart"/>
          <p:cNvGraphicFramePr/>
          <p:nvPr/>
        </p:nvGraphicFramePr>
        <p:xfrm>
          <a:off xmlns:a="http://schemas.openxmlformats.org/drawingml/2006/main" x="6515100" y="4400550"/>
          <a:ext xmlns:a="http://schemas.openxmlformats.org/drawingml/2006/main" cx="5029200" cy="1581150"/>
        </p:xfrm>
        <a:graphic xmlns:a="http://schemas.openxmlformats.org/drawingml/2006/main">
          <a:graphicData uri="http://schemas.openxmlformats.org/drawingml/2006/chart">
            <c:chart xmlns:r="http://schemas.openxmlformats.org/officeDocument/2006/relationships" xmlns:c="http://schemas.openxmlformats.org/drawingml/2006/chart" r:id="R07061ed6d15c4c46"/>
          </a:graphicData>
        </a:graphic>
      </p:graphicFrame>
      <p:sp>
        <p:nvSpPr>
          <p:cNvPr id="18" name="text-59">
            <a:extLst xmlns:a="http://schemas.openxmlformats.org/drawingml/2006/main">
              <a:ext uri="{FF2B5EF4-FFF2-40B4-BE49-F238E27FC236}">
                <a16:creationId xmlns:a16="http://schemas.microsoft.com/office/drawing/2014/main" id="{2E95630A-35F6-4D7C-8CCA-76CA12F65537}"/>
              </a:ext>
            </a:extLst>
          </p:cNvPr>
          <p:cNvSpPr>
            <a:spLocks xmlns:a="http://schemas.openxmlformats.org/drawingml/2006/main" noGrp="1"/>
          </p:cNvSpPr>
          <p:nvPr/>
        </p:nvSpPr>
        <p:spPr>
          <a:xfrm xmlns:a="http://schemas.openxmlformats.org/drawingml/2006/main">
            <a:off x="762000" y="4914900"/>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202B33"/>
                </a:solidFill>
                <a:latin typeface="Arial Unicode MS"/>
                <a:ea typeface="Arial Unicode MS"/>
                <a:cs typeface="Arial Unicode MS"/>
              </a:defRPr>
            </a:pPr>
            <a:r>
              <a:rPr sz="1650" b="0">
                <a:solidFill>
                  <a:srgbClr val="202B33"/>
                </a:solidFill>
                <a:latin typeface="Arial Unicode MS"/>
                <a:ea typeface="Arial Unicode MS"/>
                <a:cs typeface="Arial Unicode MS"/>
              </a:rPr>
              <a:t>A real closed loop forms only when</a:t>
            </a:r>
          </a:p>
        </p:txBody>
      </p:sp>
      <p:sp>
        <p:nvSpPr>
          <p:cNvPr id="19" name="text-60">
            <a:extLst xmlns:a="http://schemas.openxmlformats.org/drawingml/2006/main">
              <a:ext uri="{FF2B5EF4-FFF2-40B4-BE49-F238E27FC236}">
                <a16:creationId xmlns:a16="http://schemas.microsoft.com/office/drawing/2014/main" id="{610A8A0F-8973-4959-94B2-B0735E26C40B}"/>
              </a:ext>
            </a:extLst>
          </p:cNvPr>
          <p:cNvSpPr>
            <a:spLocks xmlns:a="http://schemas.openxmlformats.org/drawingml/2006/main" noGrp="1"/>
          </p:cNvSpPr>
          <p:nvPr/>
        </p:nvSpPr>
        <p:spPr>
          <a:xfrm xmlns:a="http://schemas.openxmlformats.org/drawingml/2006/main">
            <a:off x="762000" y="5257800"/>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202B33"/>
                </a:solidFill>
                <a:latin typeface="Arial Unicode MS"/>
                <a:ea typeface="Arial Unicode MS"/>
                <a:cs typeface="Arial Unicode MS"/>
              </a:defRPr>
            </a:pPr>
            <a:r>
              <a:rPr sz="1650" b="0">
                <a:solidFill>
                  <a:srgbClr val="202B33"/>
                </a:solidFill>
                <a:latin typeface="Arial Unicode MS"/>
                <a:ea typeface="Arial Unicode MS"/>
                <a:cs typeface="Arial Unicode MS"/>
              </a:rPr>
              <a:t>behaviour changes the later evidence</a:t>
            </a:r>
          </a:p>
        </p:txBody>
      </p:sp>
    </p:spTree>
    <p:extLst>
      <p:ext uri="{BB962C8B-B14F-4D97-AF65-F5344CB8AC3E}">
        <p14:creationId xmlns:p14="http://schemas.microsoft.com/office/powerpoint/2010/main" val="212201101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text-61">
            <a:extLst xmlns:a="http://schemas.openxmlformats.org/drawingml/2006/main">
              <a:ext uri="{FF2B5EF4-FFF2-40B4-BE49-F238E27FC236}">
                <a16:creationId xmlns:a16="http://schemas.microsoft.com/office/drawing/2014/main" id="{361A860B-8A64-4C5D-AF51-279F93ECF795}"/>
              </a:ext>
            </a:extLst>
          </p:cNvPr>
          <p:cNvSpPr>
            <a:spLocks xmlns:a="http://schemas.openxmlformats.org/drawingml/2006/main" noGrp="1"/>
          </p:cNvSpPr>
          <p:nvPr/>
        </p:nvSpPr>
        <p:spPr>
          <a:xfrm xmlns:a="http://schemas.openxmlformats.org/drawingml/2006/main">
            <a:off x="609600" y="3619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00" b="1">
                <a:solidFill>
                  <a:srgbClr val="202B33"/>
                </a:solidFill>
                <a:latin typeface="Arial Unicode MS"/>
                <a:ea typeface="Arial Unicode MS"/>
                <a:cs typeface="Arial Unicode MS"/>
              </a:defRPr>
            </a:pPr>
            <a:r>
              <a:rPr sz="2700" b="1">
                <a:solidFill>
                  <a:srgbClr val="202B33"/>
                </a:solidFill>
                <a:latin typeface="Arial Unicode MS"/>
                <a:ea typeface="Arial Unicode MS"/>
                <a:cs typeface="Arial Unicode MS"/>
              </a:rPr>
              <a:t>After the Structure</a:t>
            </a:r>
          </a:p>
        </p:txBody>
      </p:sp>
      <p:sp>
        <p:nvSpPr>
          <p:cNvPr id="2" name="text-62">
            <a:extLst xmlns:a="http://schemas.openxmlformats.org/drawingml/2006/main">
              <a:ext uri="{FF2B5EF4-FFF2-40B4-BE49-F238E27FC236}">
                <a16:creationId xmlns:a16="http://schemas.microsoft.com/office/drawing/2014/main" id="{0F64AB69-8FAE-410A-A065-0A4D06BEA2BF}"/>
              </a:ext>
            </a:extLst>
          </p:cNvPr>
          <p:cNvSpPr>
            <a:spLocks xmlns:a="http://schemas.openxmlformats.org/drawingml/2006/main" noGrp="1"/>
          </p:cNvSpPr>
          <p:nvPr/>
        </p:nvSpPr>
        <p:spPr>
          <a:xfrm xmlns:a="http://schemas.openxmlformats.org/drawingml/2006/main">
            <a:off x="609600" y="62960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050" b="0">
                <a:solidFill>
                  <a:srgbClr val="687780"/>
                </a:solidFill>
                <a:latin typeface="Arial Unicode MS"/>
                <a:ea typeface="Arial Unicode MS"/>
                <a:cs typeface="Arial Unicode MS"/>
              </a:defRPr>
            </a:pPr>
            <a:r>
              <a:rPr sz="1050" b="0">
                <a:solidFill>
                  <a:srgbClr val="687780"/>
                </a:solidFill>
                <a:latin typeface="Arial Unicode MS"/>
                <a:ea typeface="Arial Unicode MS"/>
                <a:cs typeface="Arial Unicode MS"/>
              </a:rPr>
              <a:t>Task rules given; per-seed records of the hazard sweep are lost, so intervals cannot be recomputed</a:t>
            </a:r>
          </a:p>
        </p:txBody>
      </p:sp>
      <p:sp>
        <p:nvSpPr>
          <p:cNvPr id="3" name="text-63">
            <a:extLst xmlns:a="http://schemas.openxmlformats.org/drawingml/2006/main">
              <a:ext uri="{FF2B5EF4-FFF2-40B4-BE49-F238E27FC236}">
                <a16:creationId xmlns:a16="http://schemas.microsoft.com/office/drawing/2014/main" id="{5EE13DA4-92A9-42EA-899D-1D3906D17462}"/>
              </a:ext>
            </a:extLst>
          </p:cNvPr>
          <p:cNvSpPr>
            <a:spLocks xmlns:a="http://schemas.openxmlformats.org/drawingml/2006/main" noGrp="1"/>
          </p:cNvSpPr>
          <p:nvPr/>
        </p:nvSpPr>
        <p:spPr>
          <a:xfrm xmlns:a="http://schemas.openxmlformats.org/drawingml/2006/main">
            <a:off x="11334750" y="629602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00" b="0">
                <a:solidFill>
                  <a:srgbClr val="687780"/>
                </a:solidFill>
                <a:latin typeface="Arial Unicode MS"/>
                <a:ea typeface="Arial Unicode MS"/>
                <a:cs typeface="Arial Unicode MS"/>
              </a:defRPr>
            </a:pPr>
            <a:r>
              <a:rPr sz="1200" b="0">
                <a:solidFill>
                  <a:srgbClr val="687780"/>
                </a:solidFill>
                <a:latin typeface="Arial Unicode MS"/>
                <a:ea typeface="Arial Unicode MS"/>
                <a:cs typeface="Arial Unicode MS"/>
              </a:rPr>
              <a:t>08</a:t>
            </a:r>
          </a:p>
        </p:txBody>
      </p:sp>
      <p:sp>
        <p:nvSpPr>
          <p:cNvPr id="4" name="text-64">
            <a:extLst xmlns:a="http://schemas.openxmlformats.org/drawingml/2006/main">
              <a:ext uri="{FF2B5EF4-FFF2-40B4-BE49-F238E27FC236}">
                <a16:creationId xmlns:a16="http://schemas.microsoft.com/office/drawing/2014/main" id="{E9F326EE-650A-456E-A999-A7A40B9C9243}"/>
              </a:ext>
            </a:extLst>
          </p:cNvPr>
          <p:cNvSpPr>
            <a:spLocks xmlns:a="http://schemas.openxmlformats.org/drawingml/2006/main" noGrp="1"/>
          </p:cNvSpPr>
          <p:nvPr/>
        </p:nvSpPr>
        <p:spPr>
          <a:xfrm xmlns:a="http://schemas.openxmlformats.org/drawingml/2006/main">
            <a:off x="685800" y="123825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1">
                <a:solidFill>
                  <a:srgbClr val="202B33"/>
                </a:solidFill>
                <a:latin typeface="Arial Unicode MS"/>
                <a:ea typeface="Arial Unicode MS"/>
                <a:cs typeface="Arial Unicode MS"/>
              </a:defRPr>
            </a:pPr>
            <a:r>
              <a:rPr sz="1950" b="1">
                <a:solidFill>
                  <a:srgbClr val="202B33"/>
                </a:solidFill>
                <a:latin typeface="Arial Unicode MS"/>
                <a:ea typeface="Arial Unicode MS"/>
                <a:cs typeface="Arial Unicode MS"/>
              </a:rPr>
              <a:t>Normal environment: all at the ceiling</a:t>
            </a:r>
          </a:p>
        </p:txBody>
      </p:sp>
      <p:sp>
        <p:nvSpPr>
          <p:cNvPr id="5" name="text-65">
            <a:extLst xmlns:a="http://schemas.openxmlformats.org/drawingml/2006/main">
              <a:ext uri="{FF2B5EF4-FFF2-40B4-BE49-F238E27FC236}">
                <a16:creationId xmlns:a16="http://schemas.microsoft.com/office/drawing/2014/main" id="{4793C6C1-03D6-4E88-B1CC-53724F2AE43A}"/>
              </a:ext>
            </a:extLst>
          </p:cNvPr>
          <p:cNvSpPr>
            <a:spLocks xmlns:a="http://schemas.openxmlformats.org/drawingml/2006/main" noGrp="1"/>
          </p:cNvSpPr>
          <p:nvPr/>
        </p:nvSpPr>
        <p:spPr>
          <a:xfrm xmlns:a="http://schemas.openxmlformats.org/drawingml/2006/main">
            <a:off x="2209800" y="2038350"/>
            <a:ext cx="142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0">
                <a:solidFill>
                  <a:srgbClr val="687780"/>
                </a:solidFill>
                <a:latin typeface="Arial Unicode MS"/>
                <a:ea typeface="Arial Unicode MS"/>
                <a:cs typeface="Arial Unicode MS"/>
              </a:defRPr>
            </a:pPr>
            <a:r>
              <a:rPr sz="1650" b="0">
                <a:solidFill>
                  <a:srgbClr val="687780"/>
                </a:solidFill>
                <a:latin typeface="Arial Unicode MS"/>
                <a:ea typeface="Arial Unicode MS"/>
                <a:cs typeface="Arial Unicode MS"/>
              </a:rPr>
              <a:t>No reuse</a:t>
            </a:r>
          </a:p>
        </p:txBody>
      </p:sp>
      <p:sp>
        <p:nvSpPr>
          <p:cNvPr id="6" name="text-66">
            <a:extLst xmlns:a="http://schemas.openxmlformats.org/drawingml/2006/main">
              <a:ext uri="{FF2B5EF4-FFF2-40B4-BE49-F238E27FC236}">
                <a16:creationId xmlns:a16="http://schemas.microsoft.com/office/drawing/2014/main" id="{8B9D8478-3CF9-4557-857E-1EE72257BD6A}"/>
              </a:ext>
            </a:extLst>
          </p:cNvPr>
          <p:cNvSpPr>
            <a:spLocks xmlns:a="http://schemas.openxmlformats.org/drawingml/2006/main" noGrp="1"/>
          </p:cNvSpPr>
          <p:nvPr/>
        </p:nvSpPr>
        <p:spPr>
          <a:xfrm xmlns:a="http://schemas.openxmlformats.org/drawingml/2006/main">
            <a:off x="3810000" y="2038350"/>
            <a:ext cx="142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0">
                <a:solidFill>
                  <a:srgbClr val="687780"/>
                </a:solidFill>
                <a:latin typeface="Arial Unicode MS"/>
                <a:ea typeface="Arial Unicode MS"/>
                <a:cs typeface="Arial Unicode MS"/>
              </a:defRPr>
            </a:pPr>
            <a:r>
              <a:rPr sz="1650" b="0">
                <a:solidFill>
                  <a:srgbClr val="687780"/>
                </a:solidFill>
                <a:latin typeface="Arial Unicode MS"/>
                <a:ea typeface="Arial Unicode MS"/>
                <a:cs typeface="Arial Unicode MS"/>
              </a:rPr>
              <a:t>Reuse</a:t>
            </a:r>
          </a:p>
        </p:txBody>
      </p:sp>
      <p:sp>
        <p:nvSpPr>
          <p:cNvPr id="7" name="text-67">
            <a:extLst xmlns:a="http://schemas.openxmlformats.org/drawingml/2006/main">
              <a:ext uri="{FF2B5EF4-FFF2-40B4-BE49-F238E27FC236}">
                <a16:creationId xmlns:a16="http://schemas.microsoft.com/office/drawing/2014/main" id="{34F00CE8-9614-405A-B0E8-83F320FF2E84}"/>
              </a:ext>
            </a:extLst>
          </p:cNvPr>
          <p:cNvSpPr>
            <a:spLocks xmlns:a="http://schemas.openxmlformats.org/drawingml/2006/main" noGrp="1"/>
          </p:cNvSpPr>
          <p:nvPr/>
        </p:nvSpPr>
        <p:spPr>
          <a:xfrm xmlns:a="http://schemas.openxmlformats.org/drawingml/2006/main">
            <a:off x="685800" y="2762250"/>
            <a:ext cx="133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687780"/>
                </a:solidFill>
                <a:latin typeface="Arial Unicode MS"/>
                <a:ea typeface="Arial Unicode MS"/>
                <a:cs typeface="Arial Unicode MS"/>
              </a:defRPr>
            </a:pPr>
            <a:r>
              <a:rPr sz="1650" b="0">
                <a:solidFill>
                  <a:srgbClr val="687780"/>
                </a:solidFill>
                <a:latin typeface="Arial Unicode MS"/>
                <a:ea typeface="Arial Unicode MS"/>
                <a:cs typeface="Arial Unicode MS"/>
              </a:rPr>
              <a:t>No routing</a:t>
            </a:r>
          </a:p>
        </p:txBody>
      </p:sp>
      <p:sp>
        <p:nvSpPr>
          <p:cNvPr id="8" name="text-68">
            <a:extLst xmlns:a="http://schemas.openxmlformats.org/drawingml/2006/main">
              <a:ext uri="{FF2B5EF4-FFF2-40B4-BE49-F238E27FC236}">
                <a16:creationId xmlns:a16="http://schemas.microsoft.com/office/drawing/2014/main" id="{FA3DD0C1-F640-4AD1-A975-47222216EBDB}"/>
              </a:ext>
            </a:extLst>
          </p:cNvPr>
          <p:cNvSpPr>
            <a:spLocks xmlns:a="http://schemas.openxmlformats.org/drawingml/2006/main" noGrp="1"/>
          </p:cNvSpPr>
          <p:nvPr/>
        </p:nvSpPr>
        <p:spPr>
          <a:xfrm xmlns:a="http://schemas.openxmlformats.org/drawingml/2006/main">
            <a:off x="685800" y="4000500"/>
            <a:ext cx="133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687780"/>
                </a:solidFill>
                <a:latin typeface="Arial Unicode MS"/>
                <a:ea typeface="Arial Unicode MS"/>
                <a:cs typeface="Arial Unicode MS"/>
              </a:defRPr>
            </a:pPr>
            <a:r>
              <a:rPr sz="1650" b="0">
                <a:solidFill>
                  <a:srgbClr val="687780"/>
                </a:solidFill>
                <a:latin typeface="Arial Unicode MS"/>
                <a:ea typeface="Arial Unicode MS"/>
                <a:cs typeface="Arial Unicode MS"/>
              </a:rPr>
              <a:t>Routing</a:t>
            </a:r>
          </a:p>
        </p:txBody>
      </p:sp>
      <p:sp>
        <p:nvSpPr>
          <p:cNvPr id="9" name="">
            <a:extLst xmlns:a="http://schemas.openxmlformats.org/drawingml/2006/main">
              <a:ext uri="{FF2B5EF4-FFF2-40B4-BE49-F238E27FC236}">
                <a16:creationId xmlns:a16="http://schemas.microsoft.com/office/drawing/2014/main" id="{19692107-9C19-41C0-9100-E1502360077D}"/>
              </a:ext>
            </a:extLst>
          </p:cNvPr>
          <p:cNvSpPr>
            <a:spLocks xmlns:a="http://schemas.openxmlformats.org/drawingml/2006/main" noGrp="1"/>
          </p:cNvSpPr>
          <p:nvPr/>
        </p:nvSpPr>
        <p:spPr>
          <a:xfrm xmlns:a="http://schemas.openxmlformats.org/drawingml/2006/main">
            <a:off x="2209800" y="2495550"/>
            <a:ext cx="1428750" cy="1066800"/>
          </a:xfrm>
          <a:prstGeom xmlns:a="http://schemas.openxmlformats.org/drawingml/2006/main" prst="rect">
            <a:avLst/>
          </a:prstGeom>
          <a:solidFill xmlns:a="http://schemas.openxmlformats.org/drawingml/2006/main">
            <a:srgbClr val="FFFFFF"/>
          </a:solidFill>
          <a:ln xmlns:a="http://schemas.openxmlformats.org/drawingml/2006/main" w="14288">
            <a:solidFill>
              <a:srgbClr val="D9E0E4"/>
            </a:solidFill>
          </a:ln>
        </p:spPr>
      </p:sp>
      <p:sp>
        <p:nvSpPr>
          <p:cNvPr id="10" name="text-69">
            <a:extLst xmlns:a="http://schemas.openxmlformats.org/drawingml/2006/main">
              <a:ext uri="{FF2B5EF4-FFF2-40B4-BE49-F238E27FC236}">
                <a16:creationId xmlns:a16="http://schemas.microsoft.com/office/drawing/2014/main" id="{E4BFC031-2AE5-4349-A79B-2D36A1872F81}"/>
              </a:ext>
            </a:extLst>
          </p:cNvPr>
          <p:cNvSpPr>
            <a:spLocks xmlns:a="http://schemas.openxmlformats.org/drawingml/2006/main" noGrp="1"/>
          </p:cNvSpPr>
          <p:nvPr/>
        </p:nvSpPr>
        <p:spPr>
          <a:xfrm xmlns:a="http://schemas.openxmlformats.org/drawingml/2006/main">
            <a:off x="2209800" y="2819400"/>
            <a:ext cx="142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75" b="1">
                <a:solidFill>
                  <a:srgbClr val="202B33"/>
                </a:solidFill>
                <a:latin typeface="Arial Unicode MS"/>
                <a:ea typeface="Arial Unicode MS"/>
                <a:cs typeface="Arial Unicode MS"/>
              </a:defRPr>
            </a:pPr>
            <a:r>
              <a:rPr sz="2175" b="1">
                <a:solidFill>
                  <a:srgbClr val="202B33"/>
                </a:solidFill>
                <a:latin typeface="Arial Unicode MS"/>
                <a:ea typeface="Arial Unicode MS"/>
                <a:cs typeface="Arial Unicode MS"/>
              </a:rPr>
              <a:t>Y00</a:t>
            </a:r>
          </a:p>
        </p:txBody>
      </p:sp>
      <p:sp>
        <p:nvSpPr>
          <p:cNvPr id="11" name="">
            <a:extLst xmlns:a="http://schemas.openxmlformats.org/drawingml/2006/main">
              <a:ext uri="{FF2B5EF4-FFF2-40B4-BE49-F238E27FC236}">
                <a16:creationId xmlns:a16="http://schemas.microsoft.com/office/drawing/2014/main" id="{0BF246E8-3E09-497C-9F50-CC1967DFA2CB}"/>
              </a:ext>
            </a:extLst>
          </p:cNvPr>
          <p:cNvSpPr>
            <a:spLocks xmlns:a="http://schemas.openxmlformats.org/drawingml/2006/main" noGrp="1"/>
          </p:cNvSpPr>
          <p:nvPr/>
        </p:nvSpPr>
        <p:spPr>
          <a:xfrm xmlns:a="http://schemas.openxmlformats.org/drawingml/2006/main">
            <a:off x="3810000" y="2495550"/>
            <a:ext cx="1428750" cy="1066800"/>
          </a:xfrm>
          <a:prstGeom xmlns:a="http://schemas.openxmlformats.org/drawingml/2006/main" prst="rect">
            <a:avLst/>
          </a:prstGeom>
          <a:solidFill xmlns:a="http://schemas.openxmlformats.org/drawingml/2006/main">
            <a:srgbClr val="FFFFFF"/>
          </a:solidFill>
          <a:ln xmlns:a="http://schemas.openxmlformats.org/drawingml/2006/main" w="14288">
            <a:solidFill>
              <a:srgbClr val="D9E0E4"/>
            </a:solidFill>
          </a:ln>
        </p:spPr>
      </p:sp>
      <p:sp>
        <p:nvSpPr>
          <p:cNvPr id="12" name="text-70">
            <a:extLst xmlns:a="http://schemas.openxmlformats.org/drawingml/2006/main">
              <a:ext uri="{FF2B5EF4-FFF2-40B4-BE49-F238E27FC236}">
                <a16:creationId xmlns:a16="http://schemas.microsoft.com/office/drawing/2014/main" id="{F0B3EAF2-7C09-4AFF-BF74-32CF31E8D395}"/>
              </a:ext>
            </a:extLst>
          </p:cNvPr>
          <p:cNvSpPr>
            <a:spLocks xmlns:a="http://schemas.openxmlformats.org/drawingml/2006/main" noGrp="1"/>
          </p:cNvSpPr>
          <p:nvPr/>
        </p:nvSpPr>
        <p:spPr>
          <a:xfrm xmlns:a="http://schemas.openxmlformats.org/drawingml/2006/main">
            <a:off x="3810000" y="2819400"/>
            <a:ext cx="142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75" b="1">
                <a:solidFill>
                  <a:srgbClr val="202B33"/>
                </a:solidFill>
                <a:latin typeface="Arial Unicode MS"/>
                <a:ea typeface="Arial Unicode MS"/>
                <a:cs typeface="Arial Unicode MS"/>
              </a:defRPr>
            </a:pPr>
            <a:r>
              <a:rPr sz="2175" b="1">
                <a:solidFill>
                  <a:srgbClr val="202B33"/>
                </a:solidFill>
                <a:latin typeface="Arial Unicode MS"/>
                <a:ea typeface="Arial Unicode MS"/>
                <a:cs typeface="Arial Unicode MS"/>
              </a:rPr>
              <a:t>Y01</a:t>
            </a:r>
          </a:p>
        </p:txBody>
      </p:sp>
      <p:sp>
        <p:nvSpPr>
          <p:cNvPr id="13" name="">
            <a:extLst xmlns:a="http://schemas.openxmlformats.org/drawingml/2006/main">
              <a:ext uri="{FF2B5EF4-FFF2-40B4-BE49-F238E27FC236}">
                <a16:creationId xmlns:a16="http://schemas.microsoft.com/office/drawing/2014/main" id="{9609061A-5580-4D03-8576-77A845CB309D}"/>
              </a:ext>
            </a:extLst>
          </p:cNvPr>
          <p:cNvSpPr>
            <a:spLocks xmlns:a="http://schemas.openxmlformats.org/drawingml/2006/main" noGrp="1"/>
          </p:cNvSpPr>
          <p:nvPr/>
        </p:nvSpPr>
        <p:spPr>
          <a:xfrm xmlns:a="http://schemas.openxmlformats.org/drawingml/2006/main">
            <a:off x="2209800" y="3733800"/>
            <a:ext cx="1428750" cy="1066800"/>
          </a:xfrm>
          <a:prstGeom xmlns:a="http://schemas.openxmlformats.org/drawingml/2006/main" prst="rect">
            <a:avLst/>
          </a:prstGeom>
          <a:solidFill xmlns:a="http://schemas.openxmlformats.org/drawingml/2006/main">
            <a:srgbClr val="FFFFFF"/>
          </a:solidFill>
          <a:ln xmlns:a="http://schemas.openxmlformats.org/drawingml/2006/main" w="14288">
            <a:solidFill>
              <a:srgbClr val="D9E0E4"/>
            </a:solidFill>
          </a:ln>
        </p:spPr>
      </p:sp>
      <p:sp>
        <p:nvSpPr>
          <p:cNvPr id="14" name="text-71">
            <a:extLst xmlns:a="http://schemas.openxmlformats.org/drawingml/2006/main">
              <a:ext uri="{FF2B5EF4-FFF2-40B4-BE49-F238E27FC236}">
                <a16:creationId xmlns:a16="http://schemas.microsoft.com/office/drawing/2014/main" id="{7400509D-59B2-4F74-9FDF-B78D59FF35A7}"/>
              </a:ext>
            </a:extLst>
          </p:cNvPr>
          <p:cNvSpPr>
            <a:spLocks xmlns:a="http://schemas.openxmlformats.org/drawingml/2006/main" noGrp="1"/>
          </p:cNvSpPr>
          <p:nvPr/>
        </p:nvSpPr>
        <p:spPr>
          <a:xfrm xmlns:a="http://schemas.openxmlformats.org/drawingml/2006/main">
            <a:off x="2209800" y="4057650"/>
            <a:ext cx="142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75" b="1">
                <a:solidFill>
                  <a:srgbClr val="202B33"/>
                </a:solidFill>
                <a:latin typeface="Arial Unicode MS"/>
                <a:ea typeface="Arial Unicode MS"/>
                <a:cs typeface="Arial Unicode MS"/>
              </a:defRPr>
            </a:pPr>
            <a:r>
              <a:rPr sz="2175" b="1">
                <a:solidFill>
                  <a:srgbClr val="202B33"/>
                </a:solidFill>
                <a:latin typeface="Arial Unicode MS"/>
                <a:ea typeface="Arial Unicode MS"/>
                <a:cs typeface="Arial Unicode MS"/>
              </a:rPr>
              <a:t>Y10</a:t>
            </a:r>
          </a:p>
        </p:txBody>
      </p:sp>
      <p:sp>
        <p:nvSpPr>
          <p:cNvPr id="15" name="">
            <a:extLst xmlns:a="http://schemas.openxmlformats.org/drawingml/2006/main">
              <a:ext uri="{FF2B5EF4-FFF2-40B4-BE49-F238E27FC236}">
                <a16:creationId xmlns:a16="http://schemas.microsoft.com/office/drawing/2014/main" id="{99431B6A-E1ED-4314-9622-6B3A8BCCF6A1}"/>
              </a:ext>
            </a:extLst>
          </p:cNvPr>
          <p:cNvSpPr>
            <a:spLocks xmlns:a="http://schemas.openxmlformats.org/drawingml/2006/main" noGrp="1"/>
          </p:cNvSpPr>
          <p:nvPr/>
        </p:nvSpPr>
        <p:spPr>
          <a:xfrm xmlns:a="http://schemas.openxmlformats.org/drawingml/2006/main">
            <a:off x="3810000" y="3733800"/>
            <a:ext cx="1428750" cy="1066800"/>
          </a:xfrm>
          <a:prstGeom xmlns:a="http://schemas.openxmlformats.org/drawingml/2006/main" prst="rect">
            <a:avLst/>
          </a:prstGeom>
          <a:solidFill xmlns:a="http://schemas.openxmlformats.org/drawingml/2006/main">
            <a:srgbClr val="EAF3F9"/>
          </a:solidFill>
          <a:ln xmlns:a="http://schemas.openxmlformats.org/drawingml/2006/main" w="14288">
            <a:solidFill>
              <a:srgbClr val="D9E0E4"/>
            </a:solidFill>
          </a:ln>
        </p:spPr>
      </p:sp>
      <p:sp>
        <p:nvSpPr>
          <p:cNvPr id="16" name="text-72">
            <a:extLst xmlns:a="http://schemas.openxmlformats.org/drawingml/2006/main">
              <a:ext uri="{FF2B5EF4-FFF2-40B4-BE49-F238E27FC236}">
                <a16:creationId xmlns:a16="http://schemas.microsoft.com/office/drawing/2014/main" id="{057DA2CF-6E4E-412C-A3ED-5AF2461AA323}"/>
              </a:ext>
            </a:extLst>
          </p:cNvPr>
          <p:cNvSpPr>
            <a:spLocks xmlns:a="http://schemas.openxmlformats.org/drawingml/2006/main" noGrp="1"/>
          </p:cNvSpPr>
          <p:nvPr/>
        </p:nvSpPr>
        <p:spPr>
          <a:xfrm xmlns:a="http://schemas.openxmlformats.org/drawingml/2006/main">
            <a:off x="3810000" y="4057650"/>
            <a:ext cx="142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75" b="1">
                <a:solidFill>
                  <a:srgbClr val="2176AD"/>
                </a:solidFill>
                <a:latin typeface="Arial Unicode MS"/>
                <a:ea typeface="Arial Unicode MS"/>
                <a:cs typeface="Arial Unicode MS"/>
              </a:defRPr>
            </a:pPr>
            <a:r>
              <a:rPr sz="2175" b="1">
                <a:solidFill>
                  <a:srgbClr val="2176AD"/>
                </a:solidFill>
                <a:latin typeface="Arial Unicode MS"/>
                <a:ea typeface="Arial Unicode MS"/>
                <a:cs typeface="Arial Unicode MS"/>
              </a:rPr>
              <a:t>Y11</a:t>
            </a:r>
          </a:p>
        </p:txBody>
      </p:sp>
      <p:sp>
        <p:nvSpPr>
          <p:cNvPr id="17" name="text-73">
            <a:extLst xmlns:a="http://schemas.openxmlformats.org/drawingml/2006/main">
              <a:ext uri="{FF2B5EF4-FFF2-40B4-BE49-F238E27FC236}">
                <a16:creationId xmlns:a16="http://schemas.microsoft.com/office/drawing/2014/main" id="{6F532A9B-302A-44B5-9588-D0129A56621B}"/>
              </a:ext>
            </a:extLst>
          </p:cNvPr>
          <p:cNvSpPr>
            <a:spLocks xmlns:a="http://schemas.openxmlformats.org/drawingml/2006/main" noGrp="1"/>
          </p:cNvSpPr>
          <p:nvPr/>
        </p:nvSpPr>
        <p:spPr>
          <a:xfrm xmlns:a="http://schemas.openxmlformats.org/drawingml/2006/main">
            <a:off x="685800" y="5048250"/>
            <a:ext cx="504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75" b="0">
                <a:solidFill>
                  <a:srgbClr val="687780"/>
                </a:solidFill>
                <a:latin typeface="Arial Unicode MS"/>
                <a:ea typeface="Arial Unicode MS"/>
                <a:cs typeface="Arial Unicode MS"/>
              </a:defRPr>
            </a:pPr>
            <a:r>
              <a:rPr sz="1275" b="0">
                <a:solidFill>
                  <a:srgbClr val="687780"/>
                </a:solidFill>
                <a:latin typeface="Arial Unicode MS"/>
                <a:ea typeface="Arial Unicode MS"/>
                <a:cs typeface="Arial Unicode MS"/>
              </a:rPr>
              <a:t>The four arms differ little; this cannot rank the mechanisms</a:t>
            </a:r>
          </a:p>
        </p:txBody>
      </p:sp>
      <p:sp>
        <p:nvSpPr>
          <p:cNvPr id="18" name="">
            <a:extLst xmlns:a="http://schemas.openxmlformats.org/drawingml/2006/main">
              <a:ext uri="{FF2B5EF4-FFF2-40B4-BE49-F238E27FC236}">
                <a16:creationId xmlns:a16="http://schemas.microsoft.com/office/drawing/2014/main" id="{674A5116-9E16-437C-B42C-B2A2535E5F9C}"/>
              </a:ext>
            </a:extLst>
          </p:cNvPr>
          <p:cNvSpPr>
            <a:spLocks xmlns:a="http://schemas.openxmlformats.org/drawingml/2006/main" noGrp="1"/>
          </p:cNvSpPr>
          <p:nvPr/>
        </p:nvSpPr>
        <p:spPr>
          <a:xfrm xmlns:a="http://schemas.openxmlformats.org/drawingml/2006/main">
            <a:off x="5810250" y="1219200"/>
            <a:ext cx="0" cy="4286250"/>
          </a:xfrm>
          <a:prstGeom xmlns:a="http://schemas.openxmlformats.org/drawingml/2006/main" prst="line">
            <a:avLst/>
          </a:prstGeom>
          <a:noFill xmlns:a="http://schemas.openxmlformats.org/drawingml/2006/main"/>
          <a:ln xmlns:a="http://schemas.openxmlformats.org/drawingml/2006/main" w="14288">
            <a:solidFill>
              <a:srgbClr val="D9E0E4"/>
            </a:solidFill>
          </a:ln>
        </p:spPr>
      </p:sp>
      <p:sp>
        <p:nvSpPr>
          <p:cNvPr id="19" name="text-74">
            <a:extLst xmlns:a="http://schemas.openxmlformats.org/drawingml/2006/main">
              <a:ext uri="{FF2B5EF4-FFF2-40B4-BE49-F238E27FC236}">
                <a16:creationId xmlns:a16="http://schemas.microsoft.com/office/drawing/2014/main" id="{0D9C1E6E-99F1-407C-97C1-667BCE651C32}"/>
              </a:ext>
            </a:extLst>
          </p:cNvPr>
          <p:cNvSpPr>
            <a:spLocks xmlns:a="http://schemas.openxmlformats.org/drawingml/2006/main" noGrp="1"/>
          </p:cNvSpPr>
          <p:nvPr/>
        </p:nvSpPr>
        <p:spPr>
          <a:xfrm xmlns:a="http://schemas.openxmlformats.org/drawingml/2006/main">
            <a:off x="6210300" y="1238250"/>
            <a:ext cx="533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1">
                <a:solidFill>
                  <a:srgbClr val="202B33"/>
                </a:solidFill>
                <a:latin typeface="Arial Unicode MS"/>
                <a:ea typeface="Arial Unicode MS"/>
                <a:cs typeface="Arial Unicode MS"/>
              </a:defRPr>
            </a:pPr>
            <a:r>
              <a:rPr sz="1950" b="1">
                <a:solidFill>
                  <a:srgbClr val="202B33"/>
                </a:solidFill>
                <a:latin typeface="Arial Unicode MS"/>
                <a:ea typeface="Arial Unicode MS"/>
                <a:cs typeface="Arial Unicode MS"/>
              </a:rPr>
              <a:t>Hazardous / irreversible environment: the gap widens</a:t>
            </a:r>
          </a:p>
        </p:txBody>
      </p:sp>
      <p:graphicFrame>
        <p:nvGraphicFramePr>
          <p:cNvPr id="42" name="Chart"/>
          <p:cNvGraphicFramePr/>
          <p:nvPr/>
        </p:nvGraphicFramePr>
        <p:xfrm>
          <a:off xmlns:a="http://schemas.openxmlformats.org/drawingml/2006/main" x="6096000" y="1771650"/>
          <a:ext xmlns:a="http://schemas.openxmlformats.org/drawingml/2006/main" cx="5524500" cy="3238500"/>
        </p:xfrm>
        <a:graphic xmlns:a="http://schemas.openxmlformats.org/drawingml/2006/main">
          <a:graphicData uri="http://schemas.openxmlformats.org/drawingml/2006/chart">
            <c:chart xmlns:r="http://schemas.openxmlformats.org/officeDocument/2006/relationships" xmlns:c="http://schemas.openxmlformats.org/drawingml/2006/chart" r:id="R405ed9f41f4b4de1"/>
          </a:graphicData>
        </a:graphic>
      </p:graphicFrame>
      <p:sp>
        <p:nvSpPr>
          <p:cNvPr id="21" name="text-75">
            <a:extLst xmlns:a="http://schemas.openxmlformats.org/drawingml/2006/main">
              <a:ext uri="{FF2B5EF4-FFF2-40B4-BE49-F238E27FC236}">
                <a16:creationId xmlns:a16="http://schemas.microsoft.com/office/drawing/2014/main" id="{2DC950D7-CB5C-4815-8F63-15C2273FE0CC}"/>
              </a:ext>
            </a:extLst>
          </p:cNvPr>
          <p:cNvSpPr>
            <a:spLocks xmlns:a="http://schemas.openxmlformats.org/drawingml/2006/main" noGrp="1"/>
          </p:cNvSpPr>
          <p:nvPr/>
        </p:nvSpPr>
        <p:spPr>
          <a:xfrm xmlns:a="http://schemas.openxmlformats.org/drawingml/2006/main">
            <a:off x="6096000" y="5124450"/>
            <a:ext cx="552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1">
                <a:solidFill>
                  <a:srgbClr val="202B33"/>
                </a:solidFill>
                <a:latin typeface="Arial Unicode MS"/>
                <a:ea typeface="Arial Unicode MS"/>
                <a:cs typeface="Arial Unicode MS"/>
              </a:defRPr>
            </a:pPr>
            <a:r>
              <a:rPr sz="1725" b="1">
                <a:solidFill>
                  <a:srgbClr val="202B33"/>
                </a:solidFill>
                <a:latin typeface="Arial Unicode MS"/>
                <a:ea typeface="Arial Unicode MS"/>
                <a:cs typeface="Arial Unicode MS"/>
              </a:rPr>
              <a:t>Skills without routing 0.882   &gt;&gt;   routing without skills 0.106</a:t>
            </a:r>
          </a:p>
        </p:txBody>
      </p:sp>
      <p:sp>
        <p:nvSpPr>
          <p:cNvPr id="22" name="text-76">
            <a:extLst xmlns:a="http://schemas.openxmlformats.org/drawingml/2006/main">
              <a:ext uri="{FF2B5EF4-FFF2-40B4-BE49-F238E27FC236}">
                <a16:creationId xmlns:a16="http://schemas.microsoft.com/office/drawing/2014/main" id="{91792C36-04E3-4BC3-B1C4-C0B7D0C6BEB2}"/>
              </a:ext>
            </a:extLst>
          </p:cNvPr>
          <p:cNvSpPr>
            <a:spLocks xmlns:a="http://schemas.openxmlformats.org/drawingml/2006/main" noGrp="1"/>
          </p:cNvSpPr>
          <p:nvPr/>
        </p:nvSpPr>
        <p:spPr>
          <a:xfrm xmlns:a="http://schemas.openxmlformats.org/drawingml/2006/main">
            <a:off x="6096000" y="5486400"/>
            <a:ext cx="552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0">
                <a:solidFill>
                  <a:srgbClr val="C47A35"/>
                </a:solidFill>
                <a:latin typeface="Arial Unicode MS"/>
                <a:ea typeface="Arial Unicode MS"/>
                <a:cs typeface="Arial Unicode MS"/>
              </a:defRPr>
            </a:pPr>
            <a:r>
              <a:rPr sz="1575" b="0">
                <a:solidFill>
                  <a:srgbClr val="C47A35"/>
                </a:solidFill>
                <a:latin typeface="Arial Unicode MS"/>
                <a:ea typeface="Arial Unicode MS"/>
                <a:cs typeface="Arial Unicode MS"/>
              </a:rPr>
              <a:t>Under this protocol, reuse-related differences are clearly amplified</a:t>
            </a:r>
          </a:p>
        </p:txBody>
      </p:sp>
    </p:spTree>
    <p:extLst>
      <p:ext uri="{BB962C8B-B14F-4D97-AF65-F5344CB8AC3E}">
        <p14:creationId xmlns:p14="http://schemas.microsoft.com/office/powerpoint/2010/main" val="9219464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text-77">
            <a:extLst xmlns:a="http://schemas.openxmlformats.org/drawingml/2006/main">
              <a:ext uri="{FF2B5EF4-FFF2-40B4-BE49-F238E27FC236}">
                <a16:creationId xmlns:a16="http://schemas.microsoft.com/office/drawing/2014/main" id="{FFF583A9-74E8-4046-8505-9B4B0C9B4181}"/>
              </a:ext>
            </a:extLst>
          </p:cNvPr>
          <p:cNvSpPr>
            <a:spLocks xmlns:a="http://schemas.openxmlformats.org/drawingml/2006/main" noGrp="1"/>
          </p:cNvSpPr>
          <p:nvPr/>
        </p:nvSpPr>
        <p:spPr>
          <a:xfrm xmlns:a="http://schemas.openxmlformats.org/drawingml/2006/main">
            <a:off x="609600" y="3619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00" b="1">
                <a:solidFill>
                  <a:srgbClr val="202B33"/>
                </a:solidFill>
                <a:latin typeface="Arial Unicode MS"/>
                <a:ea typeface="Arial Unicode MS"/>
                <a:cs typeface="Arial Unicode MS"/>
              </a:defRPr>
            </a:pPr>
            <a:r>
              <a:rPr sz="2700" b="1">
                <a:solidFill>
                  <a:srgbClr val="202B33"/>
                </a:solidFill>
                <a:latin typeface="Arial Unicode MS"/>
                <a:ea typeface="Arial Unicode MS"/>
                <a:cs typeface="Arial Unicode MS"/>
              </a:rPr>
              <a:t>Three-Layer Research Map</a:t>
            </a:r>
          </a:p>
        </p:txBody>
      </p:sp>
      <p:sp>
        <p:nvSpPr>
          <p:cNvPr id="2" name="text-78">
            <a:extLst xmlns:a="http://schemas.openxmlformats.org/drawingml/2006/main">
              <a:ext uri="{FF2B5EF4-FFF2-40B4-BE49-F238E27FC236}">
                <a16:creationId xmlns:a16="http://schemas.microsoft.com/office/drawing/2014/main" id="{CAB33A4E-C28B-4935-8582-061068CC8A13}"/>
              </a:ext>
            </a:extLst>
          </p:cNvPr>
          <p:cNvSpPr>
            <a:spLocks xmlns:a="http://schemas.openxmlformats.org/drawingml/2006/main" noGrp="1"/>
          </p:cNvSpPr>
          <p:nvPr/>
        </p:nvSpPr>
        <p:spPr>
          <a:xfrm xmlns:a="http://schemas.openxmlformats.org/drawingml/2006/main">
            <a:off x="11334750" y="629602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00" b="0">
                <a:solidFill>
                  <a:srgbClr val="687780"/>
                </a:solidFill>
                <a:latin typeface="Arial Unicode MS"/>
                <a:ea typeface="Arial Unicode MS"/>
                <a:cs typeface="Arial Unicode MS"/>
              </a:defRPr>
            </a:pPr>
            <a:r>
              <a:rPr sz="1200" b="0">
                <a:solidFill>
                  <a:srgbClr val="687780"/>
                </a:solidFill>
                <a:latin typeface="Arial Unicode MS"/>
                <a:ea typeface="Arial Unicode MS"/>
                <a:cs typeface="Arial Unicode MS"/>
              </a:rPr>
              <a:t>09</a:t>
            </a:r>
          </a:p>
        </p:txBody>
      </p:sp>
      <p:sp>
        <p:nvSpPr>
          <p:cNvPr id="3" name="text-79">
            <a:extLst xmlns:a="http://schemas.openxmlformats.org/drawingml/2006/main">
              <a:ext uri="{FF2B5EF4-FFF2-40B4-BE49-F238E27FC236}">
                <a16:creationId xmlns:a16="http://schemas.microsoft.com/office/drawing/2014/main" id="{8D396579-81BF-499C-9B2A-9316F1B67681}"/>
              </a:ext>
            </a:extLst>
          </p:cNvPr>
          <p:cNvSpPr>
            <a:spLocks xmlns:a="http://schemas.openxmlformats.org/drawingml/2006/main" noGrp="1"/>
          </p:cNvSpPr>
          <p:nvPr/>
        </p:nvSpPr>
        <p:spPr>
          <a:xfrm xmlns:a="http://schemas.openxmlformats.org/drawingml/2006/main">
            <a:off x="7810500" y="1352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a:solidFill>
                  <a:srgbClr val="2176AD"/>
                </a:solidFill>
                <a:latin typeface="Arial Unicode MS"/>
                <a:ea typeface="Arial Unicode MS"/>
                <a:cs typeface="Arial Unicode MS"/>
              </a:defRPr>
            </a:pPr>
            <a:r>
              <a:rPr sz="1875" b="0">
                <a:solidFill>
                  <a:srgbClr val="2176AD"/>
                </a:solidFill>
                <a:latin typeface="Arial Unicode MS"/>
                <a:ea typeface="Arial Unicode MS"/>
                <a:cs typeface="Arial Unicode MS"/>
              </a:rPr>
              <a:t>Verified</a:t>
            </a:r>
          </a:p>
        </p:txBody>
      </p:sp>
      <p:sp>
        <p:nvSpPr>
          <p:cNvPr id="4" name="text-80">
            <a:extLst xmlns:a="http://schemas.openxmlformats.org/drawingml/2006/main">
              <a:ext uri="{FF2B5EF4-FFF2-40B4-BE49-F238E27FC236}">
                <a16:creationId xmlns:a16="http://schemas.microsoft.com/office/drawing/2014/main" id="{4EF2CDDC-BB4B-46FE-AA43-AFE2A3147598}"/>
              </a:ext>
            </a:extLst>
          </p:cNvPr>
          <p:cNvSpPr>
            <a:spLocks xmlns:a="http://schemas.openxmlformats.org/drawingml/2006/main" noGrp="1"/>
          </p:cNvSpPr>
          <p:nvPr/>
        </p:nvSpPr>
        <p:spPr>
          <a:xfrm xmlns:a="http://schemas.openxmlformats.org/drawingml/2006/main">
            <a:off x="10001250" y="1352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a:solidFill>
                  <a:srgbClr val="C47A35"/>
                </a:solidFill>
                <a:latin typeface="Arial Unicode MS"/>
                <a:ea typeface="Arial Unicode MS"/>
                <a:cs typeface="Arial Unicode MS"/>
              </a:defRPr>
            </a:pPr>
            <a:r>
              <a:rPr sz="1875" b="0">
                <a:solidFill>
                  <a:srgbClr val="C47A35"/>
                </a:solidFill>
                <a:latin typeface="Arial Unicode MS"/>
                <a:ea typeface="Arial Unicode MS"/>
                <a:cs typeface="Arial Unicode MS"/>
              </a:rPr>
              <a:t>Open</a:t>
            </a:r>
          </a:p>
        </p:txBody>
      </p:sp>
      <p:sp>
        <p:nvSpPr>
          <p:cNvPr id="5" name="text-81">
            <a:extLst xmlns:a="http://schemas.openxmlformats.org/drawingml/2006/main">
              <a:ext uri="{FF2B5EF4-FFF2-40B4-BE49-F238E27FC236}">
                <a16:creationId xmlns:a16="http://schemas.microsoft.com/office/drawing/2014/main" id="{22976E53-6F80-4C7C-83CD-D568C977E568}"/>
              </a:ext>
            </a:extLst>
          </p:cNvPr>
          <p:cNvSpPr>
            <a:spLocks xmlns:a="http://schemas.openxmlformats.org/drawingml/2006/main" noGrp="1"/>
          </p:cNvSpPr>
          <p:nvPr/>
        </p:nvSpPr>
        <p:spPr>
          <a:xfrm xmlns:a="http://schemas.openxmlformats.org/drawingml/2006/main">
            <a:off x="733425" y="2257425"/>
            <a:ext cx="190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a:solidFill>
                  <a:srgbClr val="202B33"/>
                </a:solidFill>
                <a:latin typeface="Arial Unicode MS"/>
                <a:ea typeface="Arial Unicode MS"/>
                <a:cs typeface="Arial Unicode MS"/>
              </a:defRPr>
            </a:pPr>
            <a:r>
              <a:rPr sz="2325" b="1">
                <a:solidFill>
                  <a:srgbClr val="202B33"/>
                </a:solidFill>
                <a:latin typeface="Arial Unicode MS"/>
                <a:ea typeface="Arial Unicode MS"/>
                <a:cs typeface="Arial Unicode MS"/>
              </a:rPr>
              <a:t>Structure discovery</a:t>
            </a:r>
          </a:p>
        </p:txBody>
      </p:sp>
      <p:sp>
        <p:nvSpPr>
          <p:cNvPr id="6" name="text-82">
            <a:extLst xmlns:a="http://schemas.openxmlformats.org/drawingml/2006/main">
              <a:ext uri="{FF2B5EF4-FFF2-40B4-BE49-F238E27FC236}">
                <a16:creationId xmlns:a16="http://schemas.microsoft.com/office/drawing/2014/main" id="{E5450C9E-3030-43CA-B1F4-CA854B1502AA}"/>
              </a:ext>
            </a:extLst>
          </p:cNvPr>
          <p:cNvSpPr>
            <a:spLocks xmlns:a="http://schemas.openxmlformats.org/drawingml/2006/main" noGrp="1"/>
          </p:cNvSpPr>
          <p:nvPr/>
        </p:nvSpPr>
        <p:spPr>
          <a:xfrm xmlns:a="http://schemas.openxmlformats.org/drawingml/2006/main">
            <a:off x="7686675" y="2314575"/>
            <a:ext cx="21812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2176AD"/>
                </a:solidFill>
                <a:latin typeface="Arial Unicode MS"/>
                <a:ea typeface="Arial Unicode MS"/>
                <a:cs typeface="Arial Unicode MS"/>
              </a:defRPr>
            </a:pPr>
            <a:r>
              <a:rPr sz="1800" b="0">
                <a:solidFill>
                  <a:srgbClr val="2176AD"/>
                </a:solidFill>
                <a:latin typeface="Arial Unicode MS"/>
                <a:ea typeface="Arial Unicode MS"/>
                <a:cs typeface="Arial Unicode MS"/>
              </a:rPr>
              <a:t>Restricted online loop</a:t>
            </a:r>
          </a:p>
        </p:txBody>
      </p:sp>
      <p:sp>
        <p:nvSpPr>
          <p:cNvPr id="7" name="text-83">
            <a:extLst xmlns:a="http://schemas.openxmlformats.org/drawingml/2006/main">
              <a:ext uri="{FF2B5EF4-FFF2-40B4-BE49-F238E27FC236}">
                <a16:creationId xmlns:a16="http://schemas.microsoft.com/office/drawing/2014/main" id="{B50D405C-46A5-430F-AC00-ED028E97AEB8}"/>
              </a:ext>
            </a:extLst>
          </p:cNvPr>
          <p:cNvSpPr>
            <a:spLocks xmlns:a="http://schemas.openxmlformats.org/drawingml/2006/main" noGrp="1"/>
          </p:cNvSpPr>
          <p:nvPr/>
        </p:nvSpPr>
        <p:spPr>
          <a:xfrm xmlns:a="http://schemas.openxmlformats.org/drawingml/2006/main">
            <a:off x="9953625" y="2314575"/>
            <a:ext cx="22002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C47A35"/>
                </a:solidFill>
                <a:latin typeface="Arial Unicode MS"/>
                <a:ea typeface="Arial Unicode MS"/>
                <a:cs typeface="Arial Unicode MS"/>
              </a:defRPr>
            </a:pPr>
            <a:r>
              <a:rPr sz="1800" b="0">
                <a:solidFill>
                  <a:srgbClr val="C47A35"/>
                </a:solidFill>
                <a:latin typeface="Arial Unicode MS"/>
                <a:ea typeface="Arial Unicode MS"/>
                <a:cs typeface="Arial Unicode MS"/>
              </a:rPr>
              <a:t>General rule discovery</a:t>
            </a:r>
          </a:p>
        </p:txBody>
      </p:sp>
      <p:sp>
        <p:nvSpPr>
          <p:cNvPr id="8" name="">
            <a:extLst xmlns:a="http://schemas.openxmlformats.org/drawingml/2006/main">
              <a:ext uri="{FF2B5EF4-FFF2-40B4-BE49-F238E27FC236}">
                <a16:creationId xmlns:a16="http://schemas.microsoft.com/office/drawing/2014/main" id="{E8168553-73A8-4AE8-AE9A-D38EADD41358}"/>
              </a:ext>
            </a:extLst>
          </p:cNvPr>
          <p:cNvSpPr>
            <a:spLocks xmlns:a="http://schemas.openxmlformats.org/drawingml/2006/main" noGrp="1"/>
          </p:cNvSpPr>
          <p:nvPr/>
        </p:nvSpPr>
        <p:spPr>
          <a:xfrm xmlns:a="http://schemas.openxmlformats.org/drawingml/2006/main">
            <a:off x="3114675" y="2209800"/>
            <a:ext cx="666750"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A</a:t>
            </a:r>
          </a:p>
        </p:txBody>
      </p:sp>
      <p:sp>
        <p:nvSpPr>
          <p:cNvPr id="9" name="">
            <a:extLst xmlns:a="http://schemas.openxmlformats.org/drawingml/2006/main">
              <a:ext uri="{FF2B5EF4-FFF2-40B4-BE49-F238E27FC236}">
                <a16:creationId xmlns:a16="http://schemas.microsoft.com/office/drawing/2014/main" id="{A2554035-6BA9-453C-9C06-243B71CC81FB}"/>
              </a:ext>
            </a:extLst>
          </p:cNvPr>
          <p:cNvSpPr>
            <a:spLocks xmlns:a="http://schemas.openxmlformats.org/drawingml/2006/main" noGrp="1"/>
          </p:cNvSpPr>
          <p:nvPr/>
        </p:nvSpPr>
        <p:spPr>
          <a:xfrm xmlns:a="http://schemas.openxmlformats.org/drawingml/2006/main">
            <a:off x="4524375" y="2209800"/>
            <a:ext cx="666750"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B</a:t>
            </a:r>
          </a:p>
        </p:txBody>
      </p:sp>
      <p:sp>
        <p:nvSpPr>
          <p:cNvPr id="10" name="">
            <a:extLst xmlns:a="http://schemas.openxmlformats.org/drawingml/2006/main">
              <a:ext uri="{FF2B5EF4-FFF2-40B4-BE49-F238E27FC236}">
                <a16:creationId xmlns:a16="http://schemas.microsoft.com/office/drawing/2014/main" id="{A3F98DD1-0421-445B-8996-CD77B93EB780}"/>
              </a:ext>
            </a:extLst>
          </p:cNvPr>
          <p:cNvSpPr>
            <a:spLocks xmlns:a="http://schemas.openxmlformats.org/drawingml/2006/main" noGrp="1"/>
          </p:cNvSpPr>
          <p:nvPr/>
        </p:nvSpPr>
        <p:spPr>
          <a:xfrm xmlns:a="http://schemas.openxmlformats.org/drawingml/2006/main">
            <a:off x="5934075" y="2209800"/>
            <a:ext cx="666750"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94A1AA"/>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94A1AA"/>
                </a:solidFill>
                <a:latin typeface="Arial Unicode MS"/>
                <a:ea typeface="Arial Unicode MS"/>
                <a:cs typeface="Arial Unicode MS"/>
              </a:defRPr>
            </a:pPr>
            <a:r>
              <a:rPr sz="2100">
                <a:solidFill>
                  <a:srgbClr val="94A1AA"/>
                </a:solidFill>
                <a:latin typeface="Arial Unicode MS"/>
                <a:ea typeface="Arial Unicode MS"/>
                <a:cs typeface="Arial Unicode MS"/>
              </a:rPr>
              <a:t>?</a:t>
            </a:r>
          </a:p>
        </p:txBody>
      </p:sp>
      <p:cxnSp>
        <p:nvCxnSpPr>
          <p:cNvPr id="41" name=""/>
          <p:cNvCxnSpPr>
            <a:stCxn xmlns:a="http://schemas.openxmlformats.org/drawingml/2006/main" id="8" idx="3"/>
            <a:endCxn xmlns:a="http://schemas.openxmlformats.org/drawingml/2006/main" id="9" idx="1"/>
          </p:cNvCxnSpPr>
          <p:nvPr/>
        </p:nvCxnSpPr>
        <p:spPr>
          <a:xfrm xmlns:a="http://schemas.openxmlformats.org/drawingml/2006/main">
            <a:off x="3781425" y="2505075"/>
            <a:ext cx="742950" cy="0"/>
          </a:xfrm>
          <a:prstGeom xmlns:a="http://schemas.openxmlformats.org/drawingml/2006/main" prst="straightConnector1">
            <a:avLst/>
          </a:prstGeom>
          <a:ln xmlns:a="http://schemas.openxmlformats.org/drawingml/2006/main" w="19050">
            <a:solidFill>
              <a:srgbClr val="94A1AA"/>
            </a:solidFill>
            <a:prstDash val="solid"/>
            <a:tailEnd type="triangle" w="sm" len="sm"/>
          </a:ln>
        </p:spPr>
      </p:cxnSp>
      <p:cxnSp>
        <p:nvCxnSpPr>
          <p:cNvPr id="42" name=""/>
          <p:cNvCxnSpPr>
            <a:stCxn xmlns:a="http://schemas.openxmlformats.org/drawingml/2006/main" id="9" idx="3"/>
            <a:endCxn xmlns:a="http://schemas.openxmlformats.org/drawingml/2006/main" id="10" idx="1"/>
          </p:cNvCxnSpPr>
          <p:nvPr/>
        </p:nvCxnSpPr>
        <p:spPr>
          <a:xfrm xmlns:a="http://schemas.openxmlformats.org/drawingml/2006/main">
            <a:off x="5191125" y="2505075"/>
            <a:ext cx="742950" cy="0"/>
          </a:xfrm>
          <a:prstGeom xmlns:a="http://schemas.openxmlformats.org/drawingml/2006/main" prst="straightConnector1">
            <a:avLst/>
          </a:prstGeom>
          <a:ln xmlns:a="http://schemas.openxmlformats.org/drawingml/2006/main" w="19050">
            <a:solidFill>
              <a:srgbClr val="94A1AA"/>
            </a:solidFill>
            <a:prstDash val="dash"/>
            <a:tailEnd type="triangle" w="sm" len="sm"/>
          </a:ln>
        </p:spPr>
      </p:cxnSp>
      <p:sp>
        <p:nvSpPr>
          <p:cNvPr id="13" name="">
            <a:extLst xmlns:a="http://schemas.openxmlformats.org/drawingml/2006/main">
              <a:ext uri="{FF2B5EF4-FFF2-40B4-BE49-F238E27FC236}">
                <a16:creationId xmlns:a16="http://schemas.microsoft.com/office/drawing/2014/main" id="{82F2F9AE-15B5-4D33-A809-693BFF9BA45D}"/>
              </a:ext>
            </a:extLst>
          </p:cNvPr>
          <p:cNvSpPr>
            <a:spLocks xmlns:a="http://schemas.openxmlformats.org/drawingml/2006/main" noGrp="1"/>
          </p:cNvSpPr>
          <p:nvPr/>
        </p:nvSpPr>
        <p:spPr>
          <a:xfrm xmlns:a="http://schemas.openxmlformats.org/drawingml/2006/main">
            <a:off x="723900" y="3257550"/>
            <a:ext cx="10953750" cy="0"/>
          </a:xfrm>
          <a:prstGeom xmlns:a="http://schemas.openxmlformats.org/drawingml/2006/main" prst="line">
            <a:avLst/>
          </a:prstGeom>
          <a:noFill xmlns:a="http://schemas.openxmlformats.org/drawingml/2006/main"/>
          <a:ln xmlns:a="http://schemas.openxmlformats.org/drawingml/2006/main" w="14288">
            <a:solidFill>
              <a:srgbClr val="D9E0E4"/>
            </a:solidFill>
          </a:ln>
        </p:spPr>
      </p:sp>
      <p:sp>
        <p:nvSpPr>
          <p:cNvPr id="14" name="text-84">
            <a:extLst xmlns:a="http://schemas.openxmlformats.org/drawingml/2006/main">
              <a:ext uri="{FF2B5EF4-FFF2-40B4-BE49-F238E27FC236}">
                <a16:creationId xmlns:a16="http://schemas.microsoft.com/office/drawing/2014/main" id="{98DF63CA-E0A1-4EE2-8F9C-3EBA2B47257D}"/>
              </a:ext>
            </a:extLst>
          </p:cNvPr>
          <p:cNvSpPr>
            <a:spLocks xmlns:a="http://schemas.openxmlformats.org/drawingml/2006/main" noGrp="1"/>
          </p:cNvSpPr>
          <p:nvPr/>
        </p:nvSpPr>
        <p:spPr>
          <a:xfrm xmlns:a="http://schemas.openxmlformats.org/drawingml/2006/main">
            <a:off x="733425" y="3619500"/>
            <a:ext cx="190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a:solidFill>
                  <a:srgbClr val="202B33"/>
                </a:solidFill>
                <a:latin typeface="Arial Unicode MS"/>
                <a:ea typeface="Arial Unicode MS"/>
                <a:cs typeface="Arial Unicode MS"/>
              </a:defRPr>
            </a:pPr>
            <a:r>
              <a:rPr sz="2325" b="1">
                <a:solidFill>
                  <a:srgbClr val="202B33"/>
                </a:solidFill>
                <a:latin typeface="Arial Unicode MS"/>
                <a:ea typeface="Arial Unicode MS"/>
                <a:cs typeface="Arial Unicode MS"/>
              </a:rPr>
              <a:t>State Abstraction</a:t>
            </a:r>
          </a:p>
        </p:txBody>
      </p:sp>
      <p:sp>
        <p:nvSpPr>
          <p:cNvPr id="15" name="text-85">
            <a:extLst xmlns:a="http://schemas.openxmlformats.org/drawingml/2006/main">
              <a:ext uri="{FF2B5EF4-FFF2-40B4-BE49-F238E27FC236}">
                <a16:creationId xmlns:a16="http://schemas.microsoft.com/office/drawing/2014/main" id="{0389E383-CE47-4366-99BE-90060DCD724E}"/>
              </a:ext>
            </a:extLst>
          </p:cNvPr>
          <p:cNvSpPr>
            <a:spLocks xmlns:a="http://schemas.openxmlformats.org/drawingml/2006/main" noGrp="1"/>
          </p:cNvSpPr>
          <p:nvPr/>
        </p:nvSpPr>
        <p:spPr>
          <a:xfrm xmlns:a="http://schemas.openxmlformats.org/drawingml/2006/main">
            <a:off x="7686675" y="3676650"/>
            <a:ext cx="21812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2176AD"/>
                </a:solidFill>
                <a:latin typeface="Arial Unicode MS"/>
                <a:ea typeface="Arial Unicode MS"/>
                <a:cs typeface="Arial Unicode MS"/>
              </a:defRPr>
            </a:pPr>
            <a:r>
              <a:rPr sz="1800" b="0">
                <a:solidFill>
                  <a:srgbClr val="2176AD"/>
                </a:solidFill>
                <a:latin typeface="Arial Unicode MS"/>
                <a:ea typeface="Arial Unicode MS"/>
                <a:cs typeface="Arial Unicode MS"/>
              </a:rPr>
              <a:t>Gain from correct compression</a:t>
            </a:r>
          </a:p>
        </p:txBody>
      </p:sp>
      <p:sp>
        <p:nvSpPr>
          <p:cNvPr id="16" name="text-86">
            <a:extLst xmlns:a="http://schemas.openxmlformats.org/drawingml/2006/main">
              <a:ext uri="{FF2B5EF4-FFF2-40B4-BE49-F238E27FC236}">
                <a16:creationId xmlns:a16="http://schemas.microsoft.com/office/drawing/2014/main" id="{EB50836F-5A4D-4D2F-914F-84666EDF6623}"/>
              </a:ext>
            </a:extLst>
          </p:cNvPr>
          <p:cNvSpPr>
            <a:spLocks xmlns:a="http://schemas.openxmlformats.org/drawingml/2006/main" noGrp="1"/>
          </p:cNvSpPr>
          <p:nvPr/>
        </p:nvSpPr>
        <p:spPr>
          <a:xfrm xmlns:a="http://schemas.openxmlformats.org/drawingml/2006/main">
            <a:off x="9953625" y="3676650"/>
            <a:ext cx="22002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C47A35"/>
                </a:solidFill>
                <a:latin typeface="Arial Unicode MS"/>
                <a:ea typeface="Arial Unicode MS"/>
                <a:cs typeface="Arial Unicode MS"/>
              </a:defRPr>
            </a:pPr>
            <a:r>
              <a:rPr sz="1800" b="0">
                <a:solidFill>
                  <a:srgbClr val="C47A35"/>
                </a:solidFill>
                <a:latin typeface="Arial Unicode MS"/>
                <a:ea typeface="Arial Unicode MS"/>
                <a:cs typeface="Arial Unicode MS"/>
              </a:rPr>
              <a:t>Reliable online merging</a:t>
            </a:r>
          </a:p>
        </p:txBody>
      </p:sp>
      <p:sp>
        <p:nvSpPr>
          <p:cNvPr id="17" name="">
            <a:extLst xmlns:a="http://schemas.openxmlformats.org/drawingml/2006/main">
              <a:ext uri="{FF2B5EF4-FFF2-40B4-BE49-F238E27FC236}">
                <a16:creationId xmlns:a16="http://schemas.microsoft.com/office/drawing/2014/main" id="{72BAA136-F046-4142-BA22-1819B38C5E55}"/>
              </a:ext>
            </a:extLst>
          </p:cNvPr>
          <p:cNvSpPr>
            <a:spLocks xmlns:a="http://schemas.openxmlformats.org/drawingml/2006/main" noGrp="1"/>
          </p:cNvSpPr>
          <p:nvPr/>
        </p:nvSpPr>
        <p:spPr>
          <a:xfrm xmlns:a="http://schemas.openxmlformats.org/drawingml/2006/main">
            <a:off x="3114675" y="3409950"/>
            <a:ext cx="952500" cy="466725"/>
          </a:xfrm>
          <a:prstGeom xmlns:a="http://schemas.openxmlformats.org/drawingml/2006/main" prst="rect">
            <a:avLst/>
          </a:prstGeom>
          <a:solidFill xmlns:a="http://schemas.openxmlformats.org/drawingml/2006/main">
            <a:srgbClr val="FFFFFF"/>
          </a:solidFill>
          <a:ln xmlns:a="http://schemas.openxmlformats.org/drawingml/2006/main" w="14288">
            <a:solidFill>
              <a:srgbClr val="94A1AA"/>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94A1AA"/>
                </a:solidFill>
                <a:latin typeface="Arial Unicode MS"/>
                <a:ea typeface="Arial Unicode MS"/>
                <a:cs typeface="Arial Unicode MS"/>
              </a:defRPr>
            </a:pPr>
            <a:r>
              <a:rPr sz="2100">
                <a:solidFill>
                  <a:srgbClr val="94A1AA"/>
                </a:solidFill>
                <a:latin typeface="Arial Unicode MS"/>
                <a:ea typeface="Arial Unicode MS"/>
                <a:cs typeface="Arial Unicode MS"/>
              </a:rPr>
              <a:t>ABC</a:t>
            </a:r>
          </a:p>
        </p:txBody>
      </p:sp>
      <p:sp>
        <p:nvSpPr>
          <p:cNvPr id="18" name="">
            <a:extLst xmlns:a="http://schemas.openxmlformats.org/drawingml/2006/main">
              <a:ext uri="{FF2B5EF4-FFF2-40B4-BE49-F238E27FC236}">
                <a16:creationId xmlns:a16="http://schemas.microsoft.com/office/drawing/2014/main" id="{620C7D8E-85AC-4E4E-ACF1-818C8F585C32}"/>
              </a:ext>
            </a:extLst>
          </p:cNvPr>
          <p:cNvSpPr>
            <a:spLocks xmlns:a="http://schemas.openxmlformats.org/drawingml/2006/main" noGrp="1"/>
          </p:cNvSpPr>
          <p:nvPr/>
        </p:nvSpPr>
        <p:spPr>
          <a:xfrm xmlns:a="http://schemas.openxmlformats.org/drawingml/2006/main">
            <a:off x="3114675" y="4048125"/>
            <a:ext cx="952500" cy="466725"/>
          </a:xfrm>
          <a:prstGeom xmlns:a="http://schemas.openxmlformats.org/drawingml/2006/main" prst="rect">
            <a:avLst/>
          </a:prstGeom>
          <a:solidFill xmlns:a="http://schemas.openxmlformats.org/drawingml/2006/main">
            <a:srgbClr val="FFFFFF"/>
          </a:solidFill>
          <a:ln xmlns:a="http://schemas.openxmlformats.org/drawingml/2006/main" w="14288">
            <a:solidFill>
              <a:srgbClr val="94A1AA"/>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94A1AA"/>
                </a:solidFill>
                <a:latin typeface="Arial Unicode MS"/>
                <a:ea typeface="Arial Unicode MS"/>
                <a:cs typeface="Arial Unicode MS"/>
              </a:defRPr>
            </a:pPr>
            <a:r>
              <a:rPr sz="2100">
                <a:solidFill>
                  <a:srgbClr val="94A1AA"/>
                </a:solidFill>
                <a:latin typeface="Arial Unicode MS"/>
                <a:ea typeface="Arial Unicode MS"/>
                <a:cs typeface="Arial Unicode MS"/>
              </a:rPr>
              <a:t>ACB</a:t>
            </a:r>
          </a:p>
        </p:txBody>
      </p:sp>
      <p:sp>
        <p:nvSpPr>
          <p:cNvPr id="19" name="">
            <a:extLst xmlns:a="http://schemas.openxmlformats.org/drawingml/2006/main">
              <a:ext uri="{FF2B5EF4-FFF2-40B4-BE49-F238E27FC236}">
                <a16:creationId xmlns:a16="http://schemas.microsoft.com/office/drawing/2014/main" id="{47661C79-EC06-44D8-9C51-0A5CDE4833EB}"/>
              </a:ext>
            </a:extLst>
          </p:cNvPr>
          <p:cNvSpPr>
            <a:spLocks xmlns:a="http://schemas.openxmlformats.org/drawingml/2006/main" noGrp="1"/>
          </p:cNvSpPr>
          <p:nvPr/>
        </p:nvSpPr>
        <p:spPr>
          <a:xfrm xmlns:a="http://schemas.openxmlformats.org/drawingml/2006/main">
            <a:off x="5534025" y="3714750"/>
            <a:ext cx="10477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q</a:t>
            </a:r>
          </a:p>
        </p:txBody>
      </p:sp>
      <p:cxnSp>
        <p:nvCxnSpPr>
          <p:cNvPr id="50" name=""/>
          <p:cNvCxnSpPr>
            <a:stCxn xmlns:a="http://schemas.openxmlformats.org/drawingml/2006/main" id="17" idx="3"/>
            <a:endCxn xmlns:a="http://schemas.openxmlformats.org/drawingml/2006/main" id="19" idx="1"/>
          </p:cNvCxnSpPr>
          <p:nvPr/>
        </p:nvCxnSpPr>
        <p:spPr>
          <a:xfrm xmlns:a="http://schemas.openxmlformats.org/drawingml/2006/main">
            <a:off x="4067175" y="3643313"/>
            <a:ext cx="1466850" cy="347663"/>
          </a:xfrm>
          <a:prstGeom xmlns:a="http://schemas.openxmlformats.org/drawingml/2006/main" prst="straightConnector1">
            <a:avLst/>
          </a:prstGeom>
          <a:ln xmlns:a="http://schemas.openxmlformats.org/drawingml/2006/main" w="19050">
            <a:solidFill>
              <a:srgbClr val="94A1AA"/>
            </a:solidFill>
            <a:prstDash val="solid"/>
            <a:tailEnd type="triangle" w="sm" len="sm"/>
          </a:ln>
        </p:spPr>
      </p:cxnSp>
      <p:cxnSp>
        <p:nvCxnSpPr>
          <p:cNvPr id="51" name=""/>
          <p:cNvCxnSpPr>
            <a:stCxn xmlns:a="http://schemas.openxmlformats.org/drawingml/2006/main" id="18" idx="3"/>
            <a:endCxn xmlns:a="http://schemas.openxmlformats.org/drawingml/2006/main" id="19" idx="1"/>
          </p:cNvCxnSpPr>
          <p:nvPr/>
        </p:nvCxnSpPr>
        <p:spPr>
          <a:xfrm xmlns:a="http://schemas.openxmlformats.org/drawingml/2006/main" flipV="1">
            <a:off x="4067175" y="3990975"/>
            <a:ext cx="1466850" cy="290513"/>
          </a:xfrm>
          <a:prstGeom xmlns:a="http://schemas.openxmlformats.org/drawingml/2006/main" prst="straightConnector1">
            <a:avLst/>
          </a:prstGeom>
          <a:ln xmlns:a="http://schemas.openxmlformats.org/drawingml/2006/main" w="19050">
            <a:solidFill>
              <a:srgbClr val="94A1AA"/>
            </a:solidFill>
            <a:prstDash val="solid"/>
            <a:tailEnd type="triangle" w="sm" len="sm"/>
          </a:ln>
        </p:spPr>
      </p:cxnSp>
      <p:sp>
        <p:nvSpPr>
          <p:cNvPr id="22" name="">
            <a:extLst xmlns:a="http://schemas.openxmlformats.org/drawingml/2006/main">
              <a:ext uri="{FF2B5EF4-FFF2-40B4-BE49-F238E27FC236}">
                <a16:creationId xmlns:a16="http://schemas.microsoft.com/office/drawing/2014/main" id="{820678A1-3AE1-4D81-AF10-6D397F1FB1F2}"/>
              </a:ext>
            </a:extLst>
          </p:cNvPr>
          <p:cNvSpPr>
            <a:spLocks xmlns:a="http://schemas.openxmlformats.org/drawingml/2006/main" noGrp="1"/>
          </p:cNvSpPr>
          <p:nvPr/>
        </p:nvSpPr>
        <p:spPr>
          <a:xfrm xmlns:a="http://schemas.openxmlformats.org/drawingml/2006/main">
            <a:off x="723900" y="4619625"/>
            <a:ext cx="10953750" cy="0"/>
          </a:xfrm>
          <a:prstGeom xmlns:a="http://schemas.openxmlformats.org/drawingml/2006/main" prst="line">
            <a:avLst/>
          </a:prstGeom>
          <a:noFill xmlns:a="http://schemas.openxmlformats.org/drawingml/2006/main"/>
          <a:ln xmlns:a="http://schemas.openxmlformats.org/drawingml/2006/main" w="14288">
            <a:solidFill>
              <a:srgbClr val="D9E0E4"/>
            </a:solidFill>
          </a:ln>
        </p:spPr>
      </p:sp>
      <p:sp>
        <p:nvSpPr>
          <p:cNvPr id="23" name="text-87">
            <a:extLst xmlns:a="http://schemas.openxmlformats.org/drawingml/2006/main">
              <a:ext uri="{FF2B5EF4-FFF2-40B4-BE49-F238E27FC236}">
                <a16:creationId xmlns:a16="http://schemas.microsoft.com/office/drawing/2014/main" id="{E386AA6A-57E6-43C4-B4FA-76DA225FEDBD}"/>
              </a:ext>
            </a:extLst>
          </p:cNvPr>
          <p:cNvSpPr>
            <a:spLocks xmlns:a="http://schemas.openxmlformats.org/drawingml/2006/main" noGrp="1"/>
          </p:cNvSpPr>
          <p:nvPr/>
        </p:nvSpPr>
        <p:spPr>
          <a:xfrm xmlns:a="http://schemas.openxmlformats.org/drawingml/2006/main">
            <a:off x="733425" y="4981575"/>
            <a:ext cx="190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a:solidFill>
                  <a:srgbClr val="202B33"/>
                </a:solidFill>
                <a:latin typeface="Arial Unicode MS"/>
                <a:ea typeface="Arial Unicode MS"/>
                <a:cs typeface="Arial Unicode MS"/>
              </a:defRPr>
            </a:pPr>
            <a:r>
              <a:rPr sz="2325" b="1">
                <a:solidFill>
                  <a:srgbClr val="202B33"/>
                </a:solidFill>
                <a:latin typeface="Arial Unicode MS"/>
                <a:ea typeface="Arial Unicode MS"/>
                <a:cs typeface="Arial Unicode MS"/>
              </a:rPr>
              <a:t>Structure use</a:t>
            </a:r>
          </a:p>
        </p:txBody>
      </p:sp>
      <p:sp>
        <p:nvSpPr>
          <p:cNvPr id="24" name="text-88">
            <a:extLst xmlns:a="http://schemas.openxmlformats.org/drawingml/2006/main">
              <a:ext uri="{FF2B5EF4-FFF2-40B4-BE49-F238E27FC236}">
                <a16:creationId xmlns:a16="http://schemas.microsoft.com/office/drawing/2014/main" id="{FB3E502D-9774-4803-8451-354FB31EA1D7}"/>
              </a:ext>
            </a:extLst>
          </p:cNvPr>
          <p:cNvSpPr>
            <a:spLocks xmlns:a="http://schemas.openxmlformats.org/drawingml/2006/main" noGrp="1"/>
          </p:cNvSpPr>
          <p:nvPr/>
        </p:nvSpPr>
        <p:spPr>
          <a:xfrm xmlns:a="http://schemas.openxmlformats.org/drawingml/2006/main">
            <a:off x="7686675" y="5038725"/>
            <a:ext cx="21812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2176AD"/>
                </a:solidFill>
                <a:latin typeface="Arial Unicode MS"/>
                <a:ea typeface="Arial Unicode MS"/>
                <a:cs typeface="Arial Unicode MS"/>
              </a:defRPr>
            </a:pPr>
            <a:r>
              <a:rPr sz="1800" b="0">
                <a:solidFill>
                  <a:srgbClr val="2176AD"/>
                </a:solidFill>
                <a:latin typeface="Arial Unicode MS"/>
                <a:ea typeface="Arial Unicode MS"/>
                <a:cs typeface="Arial Unicode MS"/>
              </a:rPr>
              <a:t>Conditional control gain</a:t>
            </a:r>
          </a:p>
        </p:txBody>
      </p:sp>
      <p:sp>
        <p:nvSpPr>
          <p:cNvPr id="25" name="text-89">
            <a:extLst xmlns:a="http://schemas.openxmlformats.org/drawingml/2006/main">
              <a:ext uri="{FF2B5EF4-FFF2-40B4-BE49-F238E27FC236}">
                <a16:creationId xmlns:a16="http://schemas.microsoft.com/office/drawing/2014/main" id="{27F2A04B-4FF4-4844-A238-D0D97FF7F3A2}"/>
              </a:ext>
            </a:extLst>
          </p:cNvPr>
          <p:cNvSpPr>
            <a:spLocks xmlns:a="http://schemas.openxmlformats.org/drawingml/2006/main" noGrp="1"/>
          </p:cNvSpPr>
          <p:nvPr/>
        </p:nvSpPr>
        <p:spPr>
          <a:xfrm xmlns:a="http://schemas.openxmlformats.org/drawingml/2006/main">
            <a:off x="9953625" y="5038725"/>
            <a:ext cx="22002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C47A35"/>
                </a:solidFill>
                <a:latin typeface="Arial Unicode MS"/>
                <a:ea typeface="Arial Unicode MS"/>
                <a:cs typeface="Arial Unicode MS"/>
              </a:defRPr>
            </a:pPr>
            <a:r>
              <a:rPr sz="1800" b="0">
                <a:solidFill>
                  <a:srgbClr val="C47A35"/>
                </a:solidFill>
                <a:latin typeface="Arial Unicode MS"/>
                <a:ea typeface="Arial Unicode MS"/>
                <a:cs typeface="Arial Unicode MS"/>
              </a:rPr>
              <a:t>Mechanism attribution and scope</a:t>
            </a:r>
          </a:p>
        </p:txBody>
      </p:sp>
      <p:sp>
        <p:nvSpPr>
          <p:cNvPr id="26" name="">
            <a:extLst xmlns:a="http://schemas.openxmlformats.org/drawingml/2006/main">
              <a:ext uri="{FF2B5EF4-FFF2-40B4-BE49-F238E27FC236}">
                <a16:creationId xmlns:a16="http://schemas.microsoft.com/office/drawing/2014/main" id="{389543F6-4481-4D34-BA23-CFEA9FF6B76B}"/>
              </a:ext>
            </a:extLst>
          </p:cNvPr>
          <p:cNvSpPr>
            <a:spLocks xmlns:a="http://schemas.openxmlformats.org/drawingml/2006/main" noGrp="1"/>
          </p:cNvSpPr>
          <p:nvPr/>
        </p:nvSpPr>
        <p:spPr>
          <a:xfrm xmlns:a="http://schemas.openxmlformats.org/drawingml/2006/main">
            <a:off x="3114675" y="4933950"/>
            <a:ext cx="666750"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q</a:t>
            </a:r>
          </a:p>
        </p:txBody>
      </p:sp>
      <p:sp>
        <p:nvSpPr>
          <p:cNvPr id="27" name="">
            <a:extLst xmlns:a="http://schemas.openxmlformats.org/drawingml/2006/main">
              <a:ext uri="{FF2B5EF4-FFF2-40B4-BE49-F238E27FC236}">
                <a16:creationId xmlns:a16="http://schemas.microsoft.com/office/drawing/2014/main" id="{80FE2544-7FD3-4A90-BD7F-8B46A0DEEAB4}"/>
              </a:ext>
            </a:extLst>
          </p:cNvPr>
          <p:cNvSpPr>
            <a:spLocks xmlns:a="http://schemas.openxmlformats.org/drawingml/2006/main" noGrp="1"/>
          </p:cNvSpPr>
          <p:nvPr/>
        </p:nvSpPr>
        <p:spPr>
          <a:xfrm xmlns:a="http://schemas.openxmlformats.org/drawingml/2006/main">
            <a:off x="4524375" y="4933950"/>
            <a:ext cx="838200"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goal</a:t>
            </a:r>
          </a:p>
        </p:txBody>
      </p:sp>
      <p:sp>
        <p:nvSpPr>
          <p:cNvPr id="28" name="">
            <a:extLst xmlns:a="http://schemas.openxmlformats.org/drawingml/2006/main">
              <a:ext uri="{FF2B5EF4-FFF2-40B4-BE49-F238E27FC236}">
                <a16:creationId xmlns:a16="http://schemas.microsoft.com/office/drawing/2014/main" id="{767C5473-93AA-4213-887B-9FE28ECBA54E}"/>
              </a:ext>
            </a:extLst>
          </p:cNvPr>
          <p:cNvSpPr>
            <a:spLocks xmlns:a="http://schemas.openxmlformats.org/drawingml/2006/main" noGrp="1"/>
          </p:cNvSpPr>
          <p:nvPr/>
        </p:nvSpPr>
        <p:spPr>
          <a:xfrm xmlns:a="http://schemas.openxmlformats.org/drawingml/2006/main">
            <a:off x="6010275" y="4933950"/>
            <a:ext cx="971550"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skill</a:t>
            </a:r>
          </a:p>
        </p:txBody>
      </p:sp>
      <p:cxnSp>
        <p:nvCxnSpPr>
          <p:cNvPr id="59" name=""/>
          <p:cNvCxnSpPr>
            <a:stCxn xmlns:a="http://schemas.openxmlformats.org/drawingml/2006/main" id="26" idx="3"/>
            <a:endCxn xmlns:a="http://schemas.openxmlformats.org/drawingml/2006/main" id="27" idx="1"/>
          </p:cNvCxnSpPr>
          <p:nvPr/>
        </p:nvCxnSpPr>
        <p:spPr>
          <a:xfrm xmlns:a="http://schemas.openxmlformats.org/drawingml/2006/main">
            <a:off x="3781425" y="5229225"/>
            <a:ext cx="742950" cy="0"/>
          </a:xfrm>
          <a:prstGeom xmlns:a="http://schemas.openxmlformats.org/drawingml/2006/main" prst="straightConnector1">
            <a:avLst/>
          </a:prstGeom>
          <a:ln xmlns:a="http://schemas.openxmlformats.org/drawingml/2006/main" w="19050">
            <a:solidFill>
              <a:srgbClr val="94A1AA"/>
            </a:solidFill>
            <a:prstDash val="solid"/>
            <a:tailEnd type="triangle" w="sm" len="sm"/>
          </a:ln>
        </p:spPr>
      </p:cxnSp>
      <p:cxnSp>
        <p:nvCxnSpPr>
          <p:cNvPr id="60" name=""/>
          <p:cNvCxnSpPr>
            <a:stCxn xmlns:a="http://schemas.openxmlformats.org/drawingml/2006/main" id="27" idx="3"/>
            <a:endCxn xmlns:a="http://schemas.openxmlformats.org/drawingml/2006/main" id="28" idx="1"/>
          </p:cNvCxnSpPr>
          <p:nvPr/>
        </p:nvCxnSpPr>
        <p:spPr>
          <a:xfrm xmlns:a="http://schemas.openxmlformats.org/drawingml/2006/main">
            <a:off x="5362575" y="5229225"/>
            <a:ext cx="647700" cy="0"/>
          </a:xfrm>
          <a:prstGeom xmlns:a="http://schemas.openxmlformats.org/drawingml/2006/main" prst="straightConnector1">
            <a:avLst/>
          </a:prstGeom>
          <a:ln xmlns:a="http://schemas.openxmlformats.org/drawingml/2006/main" w="19050">
            <a:solidFill>
              <a:srgbClr val="94A1AA"/>
            </a:solidFill>
            <a:prstDash val="solid"/>
            <a:tailEnd type="triangle" w="sm" len="sm"/>
          </a:ln>
        </p:spPr>
      </p:cxnSp>
    </p:spTree>
    <p:extLst>
      <p:ext uri="{BB962C8B-B14F-4D97-AF65-F5344CB8AC3E}">
        <p14:creationId xmlns:p14="http://schemas.microsoft.com/office/powerpoint/2010/main" val="92723215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ext-90">
            <a:extLst xmlns:a="http://schemas.openxmlformats.org/drawingml/2006/main">
              <a:ext uri="{FF2B5EF4-FFF2-40B4-BE49-F238E27FC236}">
                <a16:creationId xmlns:a16="http://schemas.microsoft.com/office/drawing/2014/main" id="{2805D9D3-1616-4E29-AAC1-FE31D64B29A0}"/>
              </a:ext>
            </a:extLst>
          </p:cNvPr>
          <p:cNvSpPr>
            <a:spLocks xmlns:a="http://schemas.openxmlformats.org/drawingml/2006/main" noGrp="1"/>
          </p:cNvSpPr>
          <p:nvPr/>
        </p:nvSpPr>
        <p:spPr>
          <a:xfrm xmlns:a="http://schemas.openxmlformats.org/drawingml/2006/main">
            <a:off x="609600" y="2857500"/>
            <a:ext cx="571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300" b="1">
                <a:solidFill>
                  <a:srgbClr val="202B33"/>
                </a:solidFill>
                <a:latin typeface="Arial Unicode MS"/>
                <a:ea typeface="Arial Unicode MS"/>
                <a:cs typeface="Arial Unicode MS"/>
              </a:defRPr>
            </a:pPr>
            <a:r>
              <a:rPr sz="3300" b="1">
                <a:solidFill>
                  <a:srgbClr val="202B33"/>
                </a:solidFill>
                <a:latin typeface="Arial Unicode MS"/>
                <a:ea typeface="Arial Unicode MS"/>
                <a:cs typeface="Arial Unicode MS"/>
              </a:rPr>
              <a:t>Backup</a:t>
            </a:r>
          </a:p>
        </p:txBody>
      </p:sp>
      <p:sp>
        <p:nvSpPr>
          <p:cNvPr id="2" name="text-91">
            <a:extLst xmlns:a="http://schemas.openxmlformats.org/drawingml/2006/main">
              <a:ext uri="{FF2B5EF4-FFF2-40B4-BE49-F238E27FC236}">
                <a16:creationId xmlns:a16="http://schemas.microsoft.com/office/drawing/2014/main" id="{A2A046DF-7A40-41B2-B330-DA7207475A69}"/>
              </a:ext>
            </a:extLst>
          </p:cNvPr>
          <p:cNvSpPr>
            <a:spLocks xmlns:a="http://schemas.openxmlformats.org/drawingml/2006/main" noGrp="1"/>
          </p:cNvSpPr>
          <p:nvPr/>
        </p:nvSpPr>
        <p:spPr>
          <a:xfrm xmlns:a="http://schemas.openxmlformats.org/drawingml/2006/main">
            <a:off x="11334750" y="629602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00" b="0">
                <a:solidFill>
                  <a:srgbClr val="687780"/>
                </a:solidFill>
                <a:latin typeface="Arial Unicode MS"/>
                <a:ea typeface="Arial Unicode MS"/>
                <a:cs typeface="Arial Unicode MS"/>
              </a:defRPr>
            </a:pPr>
            <a:r>
              <a:rPr sz="1200" b="0">
                <a:solidFill>
                  <a:srgbClr val="687780"/>
                </a:solidFill>
                <a:latin typeface="Arial Unicode MS"/>
                <a:ea typeface="Arial Unicode MS"/>
                <a:cs typeface="Arial Unicode MS"/>
              </a:rPr>
              <a:t>10</a:t>
            </a:r>
          </a:p>
        </p:txBody>
      </p:sp>
    </p:spTree>
    <p:extLst>
      <p:ext uri="{BB962C8B-B14F-4D97-AF65-F5344CB8AC3E}">
        <p14:creationId xmlns:p14="http://schemas.microsoft.com/office/powerpoint/2010/main" val="172520413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92">
            <a:extLst xmlns:a="http://schemas.openxmlformats.org/drawingml/2006/main">
              <a:ext uri="{FF2B5EF4-FFF2-40B4-BE49-F238E27FC236}">
                <a16:creationId xmlns:a16="http://schemas.microsoft.com/office/drawing/2014/main" id="{AA06812E-E3E7-4793-9460-51D018CE9862}"/>
              </a:ext>
            </a:extLst>
          </p:cNvPr>
          <p:cNvSpPr>
            <a:spLocks xmlns:a="http://schemas.openxmlformats.org/drawingml/2006/main" noGrp="1"/>
          </p:cNvSpPr>
          <p:nvPr/>
        </p:nvSpPr>
        <p:spPr>
          <a:xfrm xmlns:a="http://schemas.openxmlformats.org/drawingml/2006/main">
            <a:off x="609600" y="3619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00" b="1">
                <a:solidFill>
                  <a:srgbClr val="202B33"/>
                </a:solidFill>
                <a:latin typeface="Arial Unicode MS"/>
                <a:ea typeface="Arial Unicode MS"/>
                <a:cs typeface="Arial Unicode MS"/>
              </a:defRPr>
            </a:pPr>
            <a:r>
              <a:rPr sz="2700" b="1">
                <a:solidFill>
                  <a:srgbClr val="202B33"/>
                </a:solidFill>
                <a:latin typeface="Arial Unicode MS"/>
                <a:ea typeface="Arial Unicode MS"/>
                <a:cs typeface="Arial Unicode MS"/>
              </a:rPr>
              <a:t>Appendix · Budget for Reliable Task Feedback</a:t>
            </a:r>
          </a:p>
        </p:txBody>
      </p:sp>
      <p:sp>
        <p:nvSpPr>
          <p:cNvPr id="2" name="text-93">
            <a:extLst xmlns:a="http://schemas.openxmlformats.org/drawingml/2006/main">
              <a:ext uri="{FF2B5EF4-FFF2-40B4-BE49-F238E27FC236}">
                <a16:creationId xmlns:a16="http://schemas.microsoft.com/office/drawing/2014/main" id="{8E732EEC-C25A-440F-A156-ED74FCFCBFD5}"/>
              </a:ext>
            </a:extLst>
          </p:cNvPr>
          <p:cNvSpPr>
            <a:spLocks xmlns:a="http://schemas.openxmlformats.org/drawingml/2006/main" noGrp="1"/>
          </p:cNvSpPr>
          <p:nvPr/>
        </p:nvSpPr>
        <p:spPr>
          <a:xfrm xmlns:a="http://schemas.openxmlformats.org/drawingml/2006/main">
            <a:off x="609600" y="62960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050" b="0">
                <a:solidFill>
                  <a:srgbClr val="687780"/>
                </a:solidFill>
                <a:latin typeface="Arial Unicode MS"/>
                <a:ea typeface="Arial Unicode MS"/>
                <a:cs typeface="Arial Unicode MS"/>
              </a:defRPr>
            </a:pPr>
            <a:r>
              <a:rPr sz="1050" b="0">
                <a:solidFill>
                  <a:srgbClr val="687780"/>
                </a:solidFill>
                <a:latin typeface="Arial Unicode MS"/>
                <a:ea typeface="Arial Unicode MS"/>
                <a:cs typeface="Arial Unicode MS"/>
              </a:rPr>
              <a:t>24 task families x 6 seeds; reached 90% at some point within 200,000 environment steps; merging disabled</a:t>
            </a:r>
          </a:p>
        </p:txBody>
      </p:sp>
      <p:sp>
        <p:nvSpPr>
          <p:cNvPr id="3" name="text-94">
            <a:extLst xmlns:a="http://schemas.openxmlformats.org/drawingml/2006/main">
              <a:ext uri="{FF2B5EF4-FFF2-40B4-BE49-F238E27FC236}">
                <a16:creationId xmlns:a16="http://schemas.microsoft.com/office/drawing/2014/main" id="{AC27519F-22D4-4D66-982F-AE8A9D1584ED}"/>
              </a:ext>
            </a:extLst>
          </p:cNvPr>
          <p:cNvSpPr>
            <a:spLocks xmlns:a="http://schemas.openxmlformats.org/drawingml/2006/main" noGrp="1"/>
          </p:cNvSpPr>
          <p:nvPr/>
        </p:nvSpPr>
        <p:spPr>
          <a:xfrm xmlns:a="http://schemas.openxmlformats.org/drawingml/2006/main">
            <a:off x="11334750" y="629602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00" b="0">
                <a:solidFill>
                  <a:srgbClr val="687780"/>
                </a:solidFill>
                <a:latin typeface="Arial Unicode MS"/>
                <a:ea typeface="Arial Unicode MS"/>
                <a:cs typeface="Arial Unicode MS"/>
              </a:defRPr>
            </a:pPr>
            <a:r>
              <a:rPr sz="1200" b="0">
                <a:solidFill>
                  <a:srgbClr val="687780"/>
                </a:solidFill>
                <a:latin typeface="Arial Unicode MS"/>
                <a:ea typeface="Arial Unicode MS"/>
                <a:cs typeface="Arial Unicode MS"/>
              </a:rPr>
              <a:t>11</a:t>
            </a:r>
          </a:p>
        </p:txBody>
      </p:sp>
      <p:graphicFrame>
        <p:nvGraphicFramePr>
          <p:cNvPr id="13" name="Chart"/>
          <p:cNvGraphicFramePr/>
          <p:nvPr/>
        </p:nvGraphicFramePr>
        <p:xfrm>
          <a:off xmlns:a="http://schemas.openxmlformats.org/drawingml/2006/main" x="1000125" y="1438275"/>
          <a:ext xmlns:a="http://schemas.openxmlformats.org/drawingml/2006/main" cx="10287000" cy="3810000"/>
        </p:xfrm>
        <a:graphic xmlns:a="http://schemas.openxmlformats.org/drawingml/2006/main">
          <a:graphicData uri="http://schemas.openxmlformats.org/drawingml/2006/chart">
            <c:chart xmlns:r="http://schemas.openxmlformats.org/officeDocument/2006/relationships" xmlns:c="http://schemas.openxmlformats.org/drawingml/2006/chart" r:id="R4fdf189ab6294dbe"/>
          </a:graphicData>
        </a:graphic>
      </p:graphicFrame>
      <p:sp>
        <p:nvSpPr>
          <p:cNvPr id="5" name="text-95">
            <a:extLst xmlns:a="http://schemas.openxmlformats.org/drawingml/2006/main">
              <a:ext uri="{FF2B5EF4-FFF2-40B4-BE49-F238E27FC236}">
                <a16:creationId xmlns:a16="http://schemas.microsoft.com/office/drawing/2014/main" id="{F37E6C4A-5E3A-4C98-BDD8-65E6A6161722}"/>
              </a:ext>
            </a:extLst>
          </p:cNvPr>
          <p:cNvSpPr>
            <a:spLocks xmlns:a="http://schemas.openxmlformats.org/drawingml/2006/main" noGrp="1"/>
          </p:cNvSpPr>
          <p:nvPr/>
        </p:nvSpPr>
        <p:spPr>
          <a:xfrm xmlns:a="http://schemas.openxmlformats.org/drawingml/2006/main">
            <a:off x="1990725" y="533400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a:solidFill>
                  <a:srgbClr val="687780"/>
                </a:solidFill>
                <a:latin typeface="Arial Unicode MS"/>
                <a:ea typeface="Arial Unicode MS"/>
                <a:cs typeface="Arial Unicode MS"/>
              </a:defRPr>
            </a:pPr>
            <a:r>
              <a:rPr sz="1725" b="0">
                <a:solidFill>
                  <a:srgbClr val="687780"/>
                </a:solidFill>
                <a:latin typeface="Arial Unicode MS"/>
                <a:ea typeface="Arial Unicode MS"/>
                <a:cs typeface="Arial Unicode MS"/>
              </a:rPr>
              <a:t>1 / 144</a:t>
            </a:r>
          </a:p>
        </p:txBody>
      </p:sp>
      <p:sp>
        <p:nvSpPr>
          <p:cNvPr id="6" name="text-96">
            <a:extLst xmlns:a="http://schemas.openxmlformats.org/drawingml/2006/main">
              <a:ext uri="{FF2B5EF4-FFF2-40B4-BE49-F238E27FC236}">
                <a16:creationId xmlns:a16="http://schemas.microsoft.com/office/drawing/2014/main" id="{22C464EC-9BF5-4129-A719-918C1FE6795D}"/>
              </a:ext>
            </a:extLst>
          </p:cNvPr>
          <p:cNvSpPr>
            <a:spLocks xmlns:a="http://schemas.openxmlformats.org/drawingml/2006/main" noGrp="1"/>
          </p:cNvSpPr>
          <p:nvPr/>
        </p:nvSpPr>
        <p:spPr>
          <a:xfrm xmlns:a="http://schemas.openxmlformats.org/drawingml/2006/main">
            <a:off x="4324350" y="533400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a:solidFill>
                  <a:srgbClr val="687780"/>
                </a:solidFill>
                <a:latin typeface="Arial Unicode MS"/>
                <a:ea typeface="Arial Unicode MS"/>
                <a:cs typeface="Arial Unicode MS"/>
              </a:defRPr>
            </a:pPr>
            <a:r>
              <a:rPr sz="1725" b="0">
                <a:solidFill>
                  <a:srgbClr val="687780"/>
                </a:solidFill>
                <a:latin typeface="Arial Unicode MS"/>
                <a:ea typeface="Arial Unicode MS"/>
                <a:cs typeface="Arial Unicode MS"/>
              </a:rPr>
              <a:t>61 / 144</a:t>
            </a:r>
          </a:p>
        </p:txBody>
      </p:sp>
      <p:sp>
        <p:nvSpPr>
          <p:cNvPr id="7" name="text-97">
            <a:extLst xmlns:a="http://schemas.openxmlformats.org/drawingml/2006/main">
              <a:ext uri="{FF2B5EF4-FFF2-40B4-BE49-F238E27FC236}">
                <a16:creationId xmlns:a16="http://schemas.microsoft.com/office/drawing/2014/main" id="{987DD718-EA0B-4FAB-B6E9-D8A9CAFD742D}"/>
              </a:ext>
            </a:extLst>
          </p:cNvPr>
          <p:cNvSpPr>
            <a:spLocks xmlns:a="http://schemas.openxmlformats.org/drawingml/2006/main" noGrp="1"/>
          </p:cNvSpPr>
          <p:nvPr/>
        </p:nvSpPr>
        <p:spPr>
          <a:xfrm xmlns:a="http://schemas.openxmlformats.org/drawingml/2006/main">
            <a:off x="6657975" y="533400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a:solidFill>
                  <a:srgbClr val="687780"/>
                </a:solidFill>
                <a:latin typeface="Arial Unicode MS"/>
                <a:ea typeface="Arial Unicode MS"/>
                <a:cs typeface="Arial Unicode MS"/>
              </a:defRPr>
            </a:pPr>
            <a:r>
              <a:rPr sz="1725" b="0">
                <a:solidFill>
                  <a:srgbClr val="687780"/>
                </a:solidFill>
                <a:latin typeface="Arial Unicode MS"/>
                <a:ea typeface="Arial Unicode MS"/>
                <a:cs typeface="Arial Unicode MS"/>
              </a:rPr>
              <a:t>131 / 144</a:t>
            </a:r>
          </a:p>
        </p:txBody>
      </p:sp>
      <p:sp>
        <p:nvSpPr>
          <p:cNvPr id="8" name="text-98">
            <a:extLst xmlns:a="http://schemas.openxmlformats.org/drawingml/2006/main">
              <a:ext uri="{FF2B5EF4-FFF2-40B4-BE49-F238E27FC236}">
                <a16:creationId xmlns:a16="http://schemas.microsoft.com/office/drawing/2014/main" id="{DBA04DA5-7452-45EC-8781-EF7BDEA09533}"/>
              </a:ext>
            </a:extLst>
          </p:cNvPr>
          <p:cNvSpPr>
            <a:spLocks xmlns:a="http://schemas.openxmlformats.org/drawingml/2006/main" noGrp="1"/>
          </p:cNvSpPr>
          <p:nvPr/>
        </p:nvSpPr>
        <p:spPr>
          <a:xfrm xmlns:a="http://schemas.openxmlformats.org/drawingml/2006/main">
            <a:off x="8991600" y="533400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a:solidFill>
                  <a:srgbClr val="687780"/>
                </a:solidFill>
                <a:latin typeface="Arial Unicode MS"/>
                <a:ea typeface="Arial Unicode MS"/>
                <a:cs typeface="Arial Unicode MS"/>
              </a:defRPr>
            </a:pPr>
            <a:r>
              <a:rPr sz="1725" b="0">
                <a:solidFill>
                  <a:srgbClr val="687780"/>
                </a:solidFill>
                <a:latin typeface="Arial Unicode MS"/>
                <a:ea typeface="Arial Unicode MS"/>
                <a:cs typeface="Arial Unicode MS"/>
              </a:rPr>
              <a:t>144 / 144</a:t>
            </a:r>
          </a:p>
        </p:txBody>
      </p:sp>
      <p:sp>
        <p:nvSpPr>
          <p:cNvPr id="9" name="text-99">
            <a:extLst xmlns:a="http://schemas.openxmlformats.org/drawingml/2006/main">
              <a:ext uri="{FF2B5EF4-FFF2-40B4-BE49-F238E27FC236}">
                <a16:creationId xmlns:a16="http://schemas.microsoft.com/office/drawing/2014/main" id="{3DE8CAAA-832A-480C-ACA8-4ED3DDE3D4E8}"/>
              </a:ext>
            </a:extLst>
          </p:cNvPr>
          <p:cNvSpPr>
            <a:spLocks xmlns:a="http://schemas.openxmlformats.org/drawingml/2006/main" noGrp="1"/>
          </p:cNvSpPr>
          <p:nvPr/>
        </p:nvSpPr>
        <p:spPr>
          <a:xfrm xmlns:a="http://schemas.openxmlformats.org/drawingml/2006/main">
            <a:off x="762000" y="57912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0">
                <a:solidFill>
                  <a:srgbClr val="C47A35"/>
                </a:solidFill>
                <a:latin typeface="Arial Unicode MS"/>
                <a:ea typeface="Arial Unicode MS"/>
                <a:cs typeface="Arial Unicode MS"/>
              </a:defRPr>
            </a:pPr>
            <a:r>
              <a:rPr sz="1650" b="0">
                <a:solidFill>
                  <a:srgbClr val="C47A35"/>
                </a:solidFill>
                <a:latin typeface="Arial Unicode MS"/>
                <a:ea typeface="Arial Unicode MS"/>
                <a:cs typeface="Arial Unicode MS"/>
              </a:rPr>
              <a:t>Shows only that more feedback makes learning easier; it does not imply the structure must be near-complete to be usable</a:t>
            </a:r>
          </a:p>
        </p:txBody>
      </p:sp>
    </p:spTree>
    <p:extLst>
      <p:ext uri="{BB962C8B-B14F-4D97-AF65-F5344CB8AC3E}">
        <p14:creationId xmlns:p14="http://schemas.microsoft.com/office/powerpoint/2010/main" val="9388996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text-100">
            <a:extLst xmlns:a="http://schemas.openxmlformats.org/drawingml/2006/main">
              <a:ext uri="{FF2B5EF4-FFF2-40B4-BE49-F238E27FC236}">
                <a16:creationId xmlns:a16="http://schemas.microsoft.com/office/drawing/2014/main" id="{DCF1A42B-EA42-4FC1-9DFB-75F8959A9DEB}"/>
              </a:ext>
            </a:extLst>
          </p:cNvPr>
          <p:cNvSpPr>
            <a:spLocks xmlns:a="http://schemas.openxmlformats.org/drawingml/2006/main" noGrp="1"/>
          </p:cNvSpPr>
          <p:nvPr/>
        </p:nvSpPr>
        <p:spPr>
          <a:xfrm xmlns:a="http://schemas.openxmlformats.org/drawingml/2006/main">
            <a:off x="609600" y="3619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00" b="1">
                <a:solidFill>
                  <a:srgbClr val="202B33"/>
                </a:solidFill>
                <a:latin typeface="Arial Unicode MS"/>
                <a:ea typeface="Arial Unicode MS"/>
                <a:cs typeface="Arial Unicode MS"/>
              </a:defRPr>
            </a:pPr>
            <a:r>
              <a:rPr sz="2700" b="1">
                <a:solidFill>
                  <a:srgbClr val="202B33"/>
                </a:solidFill>
                <a:latin typeface="Arial Unicode MS"/>
                <a:ea typeface="Arial Unicode MS"/>
                <a:cs typeface="Arial Unicode MS"/>
              </a:rPr>
              <a:t>Appendix · Two Representations of the Same History</a:t>
            </a:r>
          </a:p>
        </p:txBody>
      </p:sp>
      <p:sp>
        <p:nvSpPr>
          <p:cNvPr id="2" name="text-101">
            <a:extLst xmlns:a="http://schemas.openxmlformats.org/drawingml/2006/main">
              <a:ext uri="{FF2B5EF4-FFF2-40B4-BE49-F238E27FC236}">
                <a16:creationId xmlns:a16="http://schemas.microsoft.com/office/drawing/2014/main" id="{EA20F888-9203-48A3-908C-14B4D0773BDA}"/>
              </a:ext>
            </a:extLst>
          </p:cNvPr>
          <p:cNvSpPr>
            <a:spLocks xmlns:a="http://schemas.openxmlformats.org/drawingml/2006/main" noGrp="1"/>
          </p:cNvSpPr>
          <p:nvPr/>
        </p:nvSpPr>
        <p:spPr>
          <a:xfrm xmlns:a="http://schemas.openxmlformats.org/drawingml/2006/main">
            <a:off x="609600" y="62960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050" b="0">
                <a:solidFill>
                  <a:srgbClr val="687780"/>
                </a:solidFill>
                <a:latin typeface="Arial Unicode MS"/>
                <a:ea typeface="Arial Unicode MS"/>
                <a:cs typeface="Arial Unicode MS"/>
              </a:defRPr>
            </a:pPr>
            <a:r>
              <a:rPr sz="1050" b="0">
                <a:solidFill>
                  <a:srgbClr val="687780"/>
                </a:solidFill>
                <a:latin typeface="Arial Unicode MS"/>
                <a:ea typeface="Arial Unicode MS"/>
                <a:cs typeface="Arial Unicode MS"/>
              </a:rPr>
              <a:t>Same information, two notations, identical action for action, so the value does not lie in the graph form</a:t>
            </a:r>
          </a:p>
        </p:txBody>
      </p:sp>
      <p:sp>
        <p:nvSpPr>
          <p:cNvPr id="3" name="text-102">
            <a:extLst xmlns:a="http://schemas.openxmlformats.org/drawingml/2006/main">
              <a:ext uri="{FF2B5EF4-FFF2-40B4-BE49-F238E27FC236}">
                <a16:creationId xmlns:a16="http://schemas.microsoft.com/office/drawing/2014/main" id="{EBFAFA19-7034-4484-942D-5267B23976A2}"/>
              </a:ext>
            </a:extLst>
          </p:cNvPr>
          <p:cNvSpPr>
            <a:spLocks xmlns:a="http://schemas.openxmlformats.org/drawingml/2006/main" noGrp="1"/>
          </p:cNvSpPr>
          <p:nvPr/>
        </p:nvSpPr>
        <p:spPr>
          <a:xfrm xmlns:a="http://schemas.openxmlformats.org/drawingml/2006/main">
            <a:off x="11334750" y="629602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00" b="0">
                <a:solidFill>
                  <a:srgbClr val="687780"/>
                </a:solidFill>
                <a:latin typeface="Arial Unicode MS"/>
                <a:ea typeface="Arial Unicode MS"/>
                <a:cs typeface="Arial Unicode MS"/>
              </a:defRPr>
            </a:pPr>
            <a:r>
              <a:rPr sz="1200" b="0">
                <a:solidFill>
                  <a:srgbClr val="687780"/>
                </a:solidFill>
                <a:latin typeface="Arial Unicode MS"/>
                <a:ea typeface="Arial Unicode MS"/>
                <a:cs typeface="Arial Unicode MS"/>
              </a:rPr>
              <a:t>12</a:t>
            </a:r>
          </a:p>
        </p:txBody>
      </p:sp>
      <p:sp>
        <p:nvSpPr>
          <p:cNvPr id="4" name="text-103">
            <a:extLst xmlns:a="http://schemas.openxmlformats.org/drawingml/2006/main">
              <a:ext uri="{FF2B5EF4-FFF2-40B4-BE49-F238E27FC236}">
                <a16:creationId xmlns:a16="http://schemas.microsoft.com/office/drawing/2014/main" id="{79662093-68F9-46D3-9372-EC7E582A2A89}"/>
              </a:ext>
            </a:extLst>
          </p:cNvPr>
          <p:cNvSpPr>
            <a:spLocks xmlns:a="http://schemas.openxmlformats.org/drawingml/2006/main" noGrp="1"/>
          </p:cNvSpPr>
          <p:nvPr/>
        </p:nvSpPr>
        <p:spPr>
          <a:xfrm xmlns:a="http://schemas.openxmlformats.org/drawingml/2006/main">
            <a:off x="1428750" y="138112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0">
                <a:solidFill>
                  <a:srgbClr val="202B33"/>
                </a:solidFill>
                <a:latin typeface="Arial Unicode MS"/>
                <a:ea typeface="Arial Unicode MS"/>
                <a:cs typeface="Arial Unicode MS"/>
              </a:defRPr>
            </a:pPr>
            <a:r>
              <a:rPr sz="2175" b="0">
                <a:solidFill>
                  <a:srgbClr val="202B33"/>
                </a:solidFill>
                <a:latin typeface="Arial Unicode MS"/>
                <a:ea typeface="Arial Unicode MS"/>
                <a:cs typeface="Arial Unicode MS"/>
              </a:rPr>
              <a:t>Prefix tree</a:t>
            </a:r>
          </a:p>
        </p:txBody>
      </p:sp>
      <p:sp>
        <p:nvSpPr>
          <p:cNvPr id="5" name="text-104">
            <a:extLst xmlns:a="http://schemas.openxmlformats.org/drawingml/2006/main">
              <a:ext uri="{FF2B5EF4-FFF2-40B4-BE49-F238E27FC236}">
                <a16:creationId xmlns:a16="http://schemas.microsoft.com/office/drawing/2014/main" id="{86B9CC80-8CB4-43CE-9956-5EEB6880142A}"/>
              </a:ext>
            </a:extLst>
          </p:cNvPr>
          <p:cNvSpPr>
            <a:spLocks xmlns:a="http://schemas.openxmlformats.org/drawingml/2006/main" noGrp="1"/>
          </p:cNvSpPr>
          <p:nvPr/>
        </p:nvSpPr>
        <p:spPr>
          <a:xfrm xmlns:a="http://schemas.openxmlformats.org/drawingml/2006/main">
            <a:off x="7429500" y="1381125"/>
            <a:ext cx="381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0">
                <a:solidFill>
                  <a:srgbClr val="202B33"/>
                </a:solidFill>
                <a:latin typeface="Arial Unicode MS"/>
                <a:ea typeface="Arial Unicode MS"/>
                <a:cs typeface="Arial Unicode MS"/>
              </a:defRPr>
            </a:pPr>
            <a:r>
              <a:rPr sz="2175" b="0">
                <a:solidFill>
                  <a:srgbClr val="202B33"/>
                </a:solidFill>
                <a:latin typeface="Arial Unicode MS"/>
                <a:ea typeface="Arial Unicode MS"/>
                <a:cs typeface="Arial Unicode MS"/>
              </a:rPr>
              <a:t>History dictionary</a:t>
            </a:r>
          </a:p>
        </p:txBody>
      </p:sp>
      <p:sp>
        <p:nvSpPr>
          <p:cNvPr id="6" name="">
            <a:extLst xmlns:a="http://schemas.openxmlformats.org/drawingml/2006/main">
              <a:ext uri="{FF2B5EF4-FFF2-40B4-BE49-F238E27FC236}">
                <a16:creationId xmlns:a16="http://schemas.microsoft.com/office/drawing/2014/main" id="{1593E6DF-C50C-4116-9508-CE0984165F02}"/>
              </a:ext>
            </a:extLst>
          </p:cNvPr>
          <p:cNvSpPr>
            <a:spLocks xmlns:a="http://schemas.openxmlformats.org/drawingml/2006/main" noGrp="1"/>
          </p:cNvSpPr>
          <p:nvPr/>
        </p:nvSpPr>
        <p:spPr>
          <a:xfrm xmlns:a="http://schemas.openxmlformats.org/drawingml/2006/main">
            <a:off x="971550" y="3362325"/>
            <a:ext cx="590550"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94A1AA"/>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94A1AA"/>
                </a:solidFill>
                <a:latin typeface="Arial Unicode MS"/>
                <a:ea typeface="Arial Unicode MS"/>
                <a:cs typeface="Arial Unicode MS"/>
              </a:defRPr>
            </a:pPr>
            <a:r>
              <a:rPr sz="2100">
                <a:solidFill>
                  <a:srgbClr val="94A1AA"/>
                </a:solidFill>
                <a:latin typeface="Arial Unicode MS"/>
                <a:ea typeface="Arial Unicode MS"/>
                <a:cs typeface="Arial Unicode MS"/>
              </a:rPr>
              <a:t>∅</a:t>
            </a:r>
          </a:p>
        </p:txBody>
      </p:sp>
      <p:sp>
        <p:nvSpPr>
          <p:cNvPr id="7" name="">
            <a:extLst xmlns:a="http://schemas.openxmlformats.org/drawingml/2006/main">
              <a:ext uri="{FF2B5EF4-FFF2-40B4-BE49-F238E27FC236}">
                <a16:creationId xmlns:a16="http://schemas.microsoft.com/office/drawing/2014/main" id="{6336B910-F6FF-408F-8C59-BD70ED4ABFEA}"/>
              </a:ext>
            </a:extLst>
          </p:cNvPr>
          <p:cNvSpPr>
            <a:spLocks xmlns:a="http://schemas.openxmlformats.org/drawingml/2006/main" noGrp="1"/>
          </p:cNvSpPr>
          <p:nvPr/>
        </p:nvSpPr>
        <p:spPr>
          <a:xfrm xmlns:a="http://schemas.openxmlformats.org/drawingml/2006/main">
            <a:off x="2352675" y="2495550"/>
            <a:ext cx="619125"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A</a:t>
            </a:r>
          </a:p>
        </p:txBody>
      </p:sp>
      <p:sp>
        <p:nvSpPr>
          <p:cNvPr id="8" name="">
            <a:extLst xmlns:a="http://schemas.openxmlformats.org/drawingml/2006/main">
              <a:ext uri="{FF2B5EF4-FFF2-40B4-BE49-F238E27FC236}">
                <a16:creationId xmlns:a16="http://schemas.microsoft.com/office/drawing/2014/main" id="{F49694B1-D244-490E-9E19-CAD9F567982C}"/>
              </a:ext>
            </a:extLst>
          </p:cNvPr>
          <p:cNvSpPr>
            <a:spLocks xmlns:a="http://schemas.openxmlformats.org/drawingml/2006/main" noGrp="1"/>
          </p:cNvSpPr>
          <p:nvPr/>
        </p:nvSpPr>
        <p:spPr>
          <a:xfrm xmlns:a="http://schemas.openxmlformats.org/drawingml/2006/main">
            <a:off x="2352675" y="4352925"/>
            <a:ext cx="619125"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C47A35"/>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C47A35"/>
                </a:solidFill>
                <a:latin typeface="Arial Unicode MS"/>
                <a:ea typeface="Arial Unicode MS"/>
                <a:cs typeface="Arial Unicode MS"/>
              </a:defRPr>
            </a:pPr>
            <a:r>
              <a:rPr sz="2100">
                <a:solidFill>
                  <a:srgbClr val="C47A35"/>
                </a:solidFill>
                <a:latin typeface="Arial Unicode MS"/>
                <a:ea typeface="Arial Unicode MS"/>
                <a:cs typeface="Arial Unicode MS"/>
              </a:rPr>
              <a:t>B</a:t>
            </a:r>
          </a:p>
        </p:txBody>
      </p:sp>
      <p:sp>
        <p:nvSpPr>
          <p:cNvPr id="9" name="">
            <a:extLst xmlns:a="http://schemas.openxmlformats.org/drawingml/2006/main">
              <a:ext uri="{FF2B5EF4-FFF2-40B4-BE49-F238E27FC236}">
                <a16:creationId xmlns:a16="http://schemas.microsoft.com/office/drawing/2014/main" id="{851EA722-CEC1-4509-93DE-8D7DB9042C71}"/>
              </a:ext>
            </a:extLst>
          </p:cNvPr>
          <p:cNvSpPr>
            <a:spLocks xmlns:a="http://schemas.openxmlformats.org/drawingml/2006/main" noGrp="1"/>
          </p:cNvSpPr>
          <p:nvPr/>
        </p:nvSpPr>
        <p:spPr>
          <a:xfrm xmlns:a="http://schemas.openxmlformats.org/drawingml/2006/main">
            <a:off x="3829050" y="2495550"/>
            <a:ext cx="619125"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E</a:t>
            </a:r>
          </a:p>
        </p:txBody>
      </p:sp>
      <p:sp>
        <p:nvSpPr>
          <p:cNvPr id="10" name="">
            <a:extLst xmlns:a="http://schemas.openxmlformats.org/drawingml/2006/main">
              <a:ext uri="{FF2B5EF4-FFF2-40B4-BE49-F238E27FC236}">
                <a16:creationId xmlns:a16="http://schemas.microsoft.com/office/drawing/2014/main" id="{D96F3209-27B0-45D2-B8CC-0CE64E9D98E3}"/>
              </a:ext>
            </a:extLst>
          </p:cNvPr>
          <p:cNvSpPr>
            <a:spLocks xmlns:a="http://schemas.openxmlformats.org/drawingml/2006/main" noGrp="1"/>
          </p:cNvSpPr>
          <p:nvPr/>
        </p:nvSpPr>
        <p:spPr>
          <a:xfrm xmlns:a="http://schemas.openxmlformats.org/drawingml/2006/main">
            <a:off x="3829050" y="4352925"/>
            <a:ext cx="619125"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C47A35"/>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C47A35"/>
                </a:solidFill>
                <a:latin typeface="Arial Unicode MS"/>
                <a:ea typeface="Arial Unicode MS"/>
                <a:cs typeface="Arial Unicode MS"/>
              </a:defRPr>
            </a:pPr>
            <a:r>
              <a:rPr sz="2100">
                <a:solidFill>
                  <a:srgbClr val="C47A35"/>
                </a:solidFill>
                <a:latin typeface="Arial Unicode MS"/>
                <a:ea typeface="Arial Unicode MS"/>
                <a:cs typeface="Arial Unicode MS"/>
              </a:rPr>
              <a:t>E</a:t>
            </a:r>
          </a:p>
        </p:txBody>
      </p:sp>
      <p:sp>
        <p:nvSpPr>
          <p:cNvPr id="11" name="">
            <a:extLst xmlns:a="http://schemas.openxmlformats.org/drawingml/2006/main">
              <a:ext uri="{FF2B5EF4-FFF2-40B4-BE49-F238E27FC236}">
                <a16:creationId xmlns:a16="http://schemas.microsoft.com/office/drawing/2014/main" id="{5A55FF64-BB3C-4491-A434-4B365DA42E65}"/>
              </a:ext>
            </a:extLst>
          </p:cNvPr>
          <p:cNvSpPr>
            <a:spLocks xmlns:a="http://schemas.openxmlformats.org/drawingml/2006/main" noGrp="1"/>
          </p:cNvSpPr>
          <p:nvPr/>
        </p:nvSpPr>
        <p:spPr>
          <a:xfrm xmlns:a="http://schemas.openxmlformats.org/drawingml/2006/main">
            <a:off x="5219700" y="2495550"/>
            <a:ext cx="619125"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D</a:t>
            </a:r>
          </a:p>
        </p:txBody>
      </p:sp>
      <p:sp>
        <p:nvSpPr>
          <p:cNvPr id="12" name="">
            <a:extLst xmlns:a="http://schemas.openxmlformats.org/drawingml/2006/main">
              <a:ext uri="{FF2B5EF4-FFF2-40B4-BE49-F238E27FC236}">
                <a16:creationId xmlns:a16="http://schemas.microsoft.com/office/drawing/2014/main" id="{B539E254-76C5-4EE1-81BF-44257193301E}"/>
              </a:ext>
            </a:extLst>
          </p:cNvPr>
          <p:cNvSpPr>
            <a:spLocks xmlns:a="http://schemas.openxmlformats.org/drawingml/2006/main" noGrp="1"/>
          </p:cNvSpPr>
          <p:nvPr/>
        </p:nvSpPr>
        <p:spPr>
          <a:xfrm xmlns:a="http://schemas.openxmlformats.org/drawingml/2006/main">
            <a:off x="5219700" y="4352925"/>
            <a:ext cx="619125"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C47A35"/>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C47A35"/>
                </a:solidFill>
                <a:latin typeface="Arial Unicode MS"/>
                <a:ea typeface="Arial Unicode MS"/>
                <a:cs typeface="Arial Unicode MS"/>
              </a:defRPr>
            </a:pPr>
            <a:r>
              <a:rPr sz="2100">
                <a:solidFill>
                  <a:srgbClr val="C47A35"/>
                </a:solidFill>
                <a:latin typeface="Arial Unicode MS"/>
                <a:ea typeface="Arial Unicode MS"/>
                <a:cs typeface="Arial Unicode MS"/>
              </a:rPr>
              <a:t>C</a:t>
            </a:r>
          </a:p>
        </p:txBody>
      </p:sp>
      <p:cxnSp>
        <p:nvCxnSpPr>
          <p:cNvPr id="39" name=""/>
          <p:cNvCxnSpPr>
            <a:stCxn xmlns:a="http://schemas.openxmlformats.org/drawingml/2006/main" id="6" idx="3"/>
            <a:endCxn xmlns:a="http://schemas.openxmlformats.org/drawingml/2006/main" id="7" idx="1"/>
          </p:cNvCxnSpPr>
          <p:nvPr/>
        </p:nvCxnSpPr>
        <p:spPr>
          <a:xfrm xmlns:a="http://schemas.openxmlformats.org/drawingml/2006/main" flipV="1">
            <a:off x="1562100" y="2790825"/>
            <a:ext cx="790575" cy="866775"/>
          </a:xfrm>
          <a:prstGeom xmlns:a="http://schemas.openxmlformats.org/drawingml/2006/main" prst="straightConnector1">
            <a:avLst/>
          </a:prstGeom>
          <a:ln xmlns:a="http://schemas.openxmlformats.org/drawingml/2006/main" w="19050">
            <a:solidFill>
              <a:srgbClr val="2176AD"/>
            </a:solidFill>
            <a:prstDash val="solid"/>
            <a:tailEnd type="triangle" w="sm" len="sm"/>
          </a:ln>
        </p:spPr>
      </p:cxnSp>
      <p:cxnSp>
        <p:nvCxnSpPr>
          <p:cNvPr id="40" name=""/>
          <p:cNvCxnSpPr>
            <a:stCxn xmlns:a="http://schemas.openxmlformats.org/drawingml/2006/main" id="7" idx="3"/>
            <a:endCxn xmlns:a="http://schemas.openxmlformats.org/drawingml/2006/main" id="9" idx="1"/>
          </p:cNvCxnSpPr>
          <p:nvPr/>
        </p:nvCxnSpPr>
        <p:spPr>
          <a:xfrm xmlns:a="http://schemas.openxmlformats.org/drawingml/2006/main">
            <a:off x="2971800" y="2790825"/>
            <a:ext cx="857250" cy="0"/>
          </a:xfrm>
          <a:prstGeom xmlns:a="http://schemas.openxmlformats.org/drawingml/2006/main" prst="straightConnector1">
            <a:avLst/>
          </a:prstGeom>
          <a:ln xmlns:a="http://schemas.openxmlformats.org/drawingml/2006/main" w="19050">
            <a:solidFill>
              <a:srgbClr val="2176AD"/>
            </a:solidFill>
            <a:prstDash val="solid"/>
            <a:tailEnd type="triangle" w="sm" len="sm"/>
          </a:ln>
        </p:spPr>
      </p:cxnSp>
      <p:cxnSp>
        <p:nvCxnSpPr>
          <p:cNvPr id="41" name=""/>
          <p:cNvCxnSpPr>
            <a:stCxn xmlns:a="http://schemas.openxmlformats.org/drawingml/2006/main" id="9" idx="3"/>
            <a:endCxn xmlns:a="http://schemas.openxmlformats.org/drawingml/2006/main" id="11" idx="1"/>
          </p:cNvCxnSpPr>
          <p:nvPr/>
        </p:nvCxnSpPr>
        <p:spPr>
          <a:xfrm xmlns:a="http://schemas.openxmlformats.org/drawingml/2006/main">
            <a:off x="4448175" y="2790825"/>
            <a:ext cx="771525" cy="0"/>
          </a:xfrm>
          <a:prstGeom xmlns:a="http://schemas.openxmlformats.org/drawingml/2006/main" prst="straightConnector1">
            <a:avLst/>
          </a:prstGeom>
          <a:ln xmlns:a="http://schemas.openxmlformats.org/drawingml/2006/main" w="19050">
            <a:solidFill>
              <a:srgbClr val="2176AD"/>
            </a:solidFill>
            <a:prstDash val="solid"/>
            <a:tailEnd type="triangle" w="sm" len="sm"/>
          </a:ln>
        </p:spPr>
      </p:cxnSp>
      <p:cxnSp>
        <p:nvCxnSpPr>
          <p:cNvPr id="42" name=""/>
          <p:cNvCxnSpPr>
            <a:stCxn xmlns:a="http://schemas.openxmlformats.org/drawingml/2006/main" id="6" idx="3"/>
            <a:endCxn xmlns:a="http://schemas.openxmlformats.org/drawingml/2006/main" id="8" idx="1"/>
          </p:cNvCxnSpPr>
          <p:nvPr/>
        </p:nvCxnSpPr>
        <p:spPr>
          <a:xfrm xmlns:a="http://schemas.openxmlformats.org/drawingml/2006/main">
            <a:off x="1562100" y="3657600"/>
            <a:ext cx="790575" cy="990600"/>
          </a:xfrm>
          <a:prstGeom xmlns:a="http://schemas.openxmlformats.org/drawingml/2006/main" prst="straightConnector1">
            <a:avLst/>
          </a:prstGeom>
          <a:ln xmlns:a="http://schemas.openxmlformats.org/drawingml/2006/main" w="19050">
            <a:solidFill>
              <a:srgbClr val="C47A35"/>
            </a:solidFill>
            <a:prstDash val="solid"/>
            <a:tailEnd type="triangle" w="sm" len="sm"/>
          </a:ln>
        </p:spPr>
      </p:cxnSp>
      <p:cxnSp>
        <p:nvCxnSpPr>
          <p:cNvPr id="43" name=""/>
          <p:cNvCxnSpPr>
            <a:stCxn xmlns:a="http://schemas.openxmlformats.org/drawingml/2006/main" id="8" idx="3"/>
            <a:endCxn xmlns:a="http://schemas.openxmlformats.org/drawingml/2006/main" id="10" idx="1"/>
          </p:cNvCxnSpPr>
          <p:nvPr/>
        </p:nvCxnSpPr>
        <p:spPr>
          <a:xfrm xmlns:a="http://schemas.openxmlformats.org/drawingml/2006/main">
            <a:off x="2971800" y="4648200"/>
            <a:ext cx="857250" cy="0"/>
          </a:xfrm>
          <a:prstGeom xmlns:a="http://schemas.openxmlformats.org/drawingml/2006/main" prst="straightConnector1">
            <a:avLst/>
          </a:prstGeom>
          <a:ln xmlns:a="http://schemas.openxmlformats.org/drawingml/2006/main" w="19050">
            <a:solidFill>
              <a:srgbClr val="C47A35"/>
            </a:solidFill>
            <a:prstDash val="solid"/>
            <a:tailEnd type="triangle" w="sm" len="sm"/>
          </a:ln>
        </p:spPr>
      </p:cxnSp>
      <p:cxnSp>
        <p:nvCxnSpPr>
          <p:cNvPr id="44" name=""/>
          <p:cNvCxnSpPr>
            <a:stCxn xmlns:a="http://schemas.openxmlformats.org/drawingml/2006/main" id="10" idx="3"/>
            <a:endCxn xmlns:a="http://schemas.openxmlformats.org/drawingml/2006/main" id="12" idx="1"/>
          </p:cNvCxnSpPr>
          <p:nvPr/>
        </p:nvCxnSpPr>
        <p:spPr>
          <a:xfrm xmlns:a="http://schemas.openxmlformats.org/drawingml/2006/main">
            <a:off x="4448175" y="4648200"/>
            <a:ext cx="771525" cy="0"/>
          </a:xfrm>
          <a:prstGeom xmlns:a="http://schemas.openxmlformats.org/drawingml/2006/main" prst="straightConnector1">
            <a:avLst/>
          </a:prstGeom>
          <a:ln xmlns:a="http://schemas.openxmlformats.org/drawingml/2006/main" w="19050">
            <a:solidFill>
              <a:srgbClr val="C47A35"/>
            </a:solidFill>
            <a:prstDash val="solid"/>
            <a:tailEnd type="triangle" w="sm" len="sm"/>
          </a:ln>
        </p:spPr>
      </p:cxnSp>
      <p:sp>
        <p:nvSpPr>
          <p:cNvPr id="19" name="text-105">
            <a:extLst xmlns:a="http://schemas.openxmlformats.org/drawingml/2006/main">
              <a:ext uri="{FF2B5EF4-FFF2-40B4-BE49-F238E27FC236}">
                <a16:creationId xmlns:a16="http://schemas.microsoft.com/office/drawing/2014/main" id="{2CCA5E66-FE80-40CB-842F-2B0AAA5D2E2C}"/>
              </a:ext>
            </a:extLst>
          </p:cNvPr>
          <p:cNvSpPr>
            <a:spLocks xmlns:a="http://schemas.openxmlformats.org/drawingml/2006/main" noGrp="1"/>
          </p:cNvSpPr>
          <p:nvPr/>
        </p:nvSpPr>
        <p:spPr>
          <a:xfrm xmlns:a="http://schemas.openxmlformats.org/drawingml/2006/main">
            <a:off x="6229350" y="3267075"/>
            <a:ext cx="857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4875" b="0">
                <a:solidFill>
                  <a:srgbClr val="687780"/>
                </a:solidFill>
                <a:latin typeface="Arial Unicode MS"/>
                <a:ea typeface="Arial Unicode MS"/>
                <a:cs typeface="Arial Unicode MS"/>
              </a:defRPr>
            </a:pPr>
            <a:r>
              <a:rPr sz="4875" b="0">
                <a:solidFill>
                  <a:srgbClr val="687780"/>
                </a:solidFill>
                <a:latin typeface="Arial Unicode MS"/>
                <a:ea typeface="Arial Unicode MS"/>
                <a:cs typeface="Arial Unicode MS"/>
              </a:rPr>
              <a:t>≡</a:t>
            </a:r>
          </a:p>
        </p:txBody>
      </p:sp>
      <p:sp>
        <p:nvSpPr>
          <p:cNvPr id="20" name="text-106">
            <a:extLst xmlns:a="http://schemas.openxmlformats.org/drawingml/2006/main">
              <a:ext uri="{FF2B5EF4-FFF2-40B4-BE49-F238E27FC236}">
                <a16:creationId xmlns:a16="http://schemas.microsoft.com/office/drawing/2014/main" id="{7D6FE339-8920-4934-AF5F-8882EDA6333A}"/>
              </a:ext>
            </a:extLst>
          </p:cNvPr>
          <p:cNvSpPr>
            <a:spLocks xmlns:a="http://schemas.openxmlformats.org/drawingml/2006/main" noGrp="1"/>
          </p:cNvSpPr>
          <p:nvPr/>
        </p:nvSpPr>
        <p:spPr>
          <a:xfrm xmlns:a="http://schemas.openxmlformats.org/drawingml/2006/main">
            <a:off x="7486650" y="2352675"/>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687780"/>
                </a:solidFill>
                <a:latin typeface="Arial Unicode MS"/>
                <a:ea typeface="Arial Unicode MS"/>
                <a:cs typeface="Arial Unicode MS"/>
              </a:defRPr>
            </a:pPr>
            <a:r>
              <a:rPr sz="1800" b="0">
                <a:solidFill>
                  <a:srgbClr val="687780"/>
                </a:solidFill>
                <a:latin typeface="Arial Unicode MS"/>
                <a:ea typeface="Arial Unicode MS"/>
                <a:cs typeface="Arial Unicode MS"/>
              </a:rPr>
              <a:t>History</a:t>
            </a:r>
          </a:p>
        </p:txBody>
      </p:sp>
      <p:sp>
        <p:nvSpPr>
          <p:cNvPr id="21" name="text-107">
            <a:extLst xmlns:a="http://schemas.openxmlformats.org/drawingml/2006/main">
              <a:ext uri="{FF2B5EF4-FFF2-40B4-BE49-F238E27FC236}">
                <a16:creationId xmlns:a16="http://schemas.microsoft.com/office/drawing/2014/main" id="{DEE72A9F-C4E7-49FB-B6A9-7D8A9AFB5A8A}"/>
              </a:ext>
            </a:extLst>
          </p:cNvPr>
          <p:cNvSpPr>
            <a:spLocks xmlns:a="http://schemas.openxmlformats.org/drawingml/2006/main" noGrp="1"/>
          </p:cNvSpPr>
          <p:nvPr/>
        </p:nvSpPr>
        <p:spPr>
          <a:xfrm xmlns:a="http://schemas.openxmlformats.org/drawingml/2006/main">
            <a:off x="9906000" y="2352675"/>
            <a:ext cx="180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687780"/>
                </a:solidFill>
                <a:latin typeface="Arial Unicode MS"/>
                <a:ea typeface="Arial Unicode MS"/>
                <a:cs typeface="Arial Unicode MS"/>
              </a:defRPr>
            </a:pPr>
            <a:r>
              <a:rPr sz="1800" b="0">
                <a:solidFill>
                  <a:srgbClr val="687780"/>
                </a:solidFill>
                <a:latin typeface="Arial Unicode MS"/>
                <a:ea typeface="Arial Unicode MS"/>
                <a:cs typeface="Arial Unicode MS"/>
              </a:rPr>
              <a:t>Next goal</a:t>
            </a:r>
          </a:p>
        </p:txBody>
      </p:sp>
      <p:sp>
        <p:nvSpPr>
          <p:cNvPr id="22" name="">
            <a:extLst xmlns:a="http://schemas.openxmlformats.org/drawingml/2006/main">
              <a:ext uri="{FF2B5EF4-FFF2-40B4-BE49-F238E27FC236}">
                <a16:creationId xmlns:a16="http://schemas.microsoft.com/office/drawing/2014/main" id="{8334EC24-AD0C-4998-9567-8F1EBBA0B971}"/>
              </a:ext>
            </a:extLst>
          </p:cNvPr>
          <p:cNvSpPr>
            <a:spLocks xmlns:a="http://schemas.openxmlformats.org/drawingml/2006/main" noGrp="1"/>
          </p:cNvSpPr>
          <p:nvPr/>
        </p:nvSpPr>
        <p:spPr>
          <a:xfrm xmlns:a="http://schemas.openxmlformats.org/drawingml/2006/main">
            <a:off x="7381875" y="2847975"/>
            <a:ext cx="4095750" cy="0"/>
          </a:xfrm>
          <a:prstGeom xmlns:a="http://schemas.openxmlformats.org/drawingml/2006/main" prst="line">
            <a:avLst/>
          </a:prstGeom>
          <a:noFill xmlns:a="http://schemas.openxmlformats.org/drawingml/2006/main"/>
          <a:ln xmlns:a="http://schemas.openxmlformats.org/drawingml/2006/main" w="14288">
            <a:solidFill>
              <a:srgbClr val="D9E0E4"/>
            </a:solidFill>
          </a:ln>
        </p:spPr>
      </p:sp>
      <p:sp>
        <p:nvSpPr>
          <p:cNvPr id="23" name="text-108">
            <a:extLst xmlns:a="http://schemas.openxmlformats.org/drawingml/2006/main">
              <a:ext uri="{FF2B5EF4-FFF2-40B4-BE49-F238E27FC236}">
                <a16:creationId xmlns:a16="http://schemas.microsoft.com/office/drawing/2014/main" id="{ED3B3FBA-9626-4A8D-8DE4-C5A56F0D4DF1}"/>
              </a:ext>
            </a:extLst>
          </p:cNvPr>
          <p:cNvSpPr>
            <a:spLocks xmlns:a="http://schemas.openxmlformats.org/drawingml/2006/main" noGrp="1"/>
          </p:cNvSpPr>
          <p:nvPr/>
        </p:nvSpPr>
        <p:spPr>
          <a:xfrm xmlns:a="http://schemas.openxmlformats.org/drawingml/2006/main">
            <a:off x="7620000" y="3114675"/>
            <a:ext cx="171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0">
                <a:solidFill>
                  <a:srgbClr val="2176AD"/>
                </a:solidFill>
                <a:latin typeface="Arial Unicode MS"/>
                <a:ea typeface="Arial Unicode MS"/>
                <a:cs typeface="Arial Unicode MS"/>
              </a:defRPr>
            </a:pPr>
            <a:r>
              <a:rPr sz="2400" b="0">
                <a:solidFill>
                  <a:srgbClr val="2176AD"/>
                </a:solidFill>
                <a:latin typeface="Arial Unicode MS"/>
                <a:ea typeface="Arial Unicode MS"/>
                <a:cs typeface="Arial Unicode MS"/>
              </a:rPr>
              <a:t>(A, E)</a:t>
            </a:r>
          </a:p>
        </p:txBody>
      </p:sp>
      <p:sp>
        <p:nvSpPr>
          <p:cNvPr id="24" name="text-109">
            <a:extLst xmlns:a="http://schemas.openxmlformats.org/drawingml/2006/main">
              <a:ext uri="{FF2B5EF4-FFF2-40B4-BE49-F238E27FC236}">
                <a16:creationId xmlns:a16="http://schemas.microsoft.com/office/drawing/2014/main" id="{4C941882-CB4D-43D5-8AD6-B5E3DB7C90D6}"/>
              </a:ext>
            </a:extLst>
          </p:cNvPr>
          <p:cNvSpPr>
            <a:spLocks xmlns:a="http://schemas.openxmlformats.org/drawingml/2006/main" noGrp="1"/>
          </p:cNvSpPr>
          <p:nvPr/>
        </p:nvSpPr>
        <p:spPr>
          <a:xfrm xmlns:a="http://schemas.openxmlformats.org/drawingml/2006/main">
            <a:off x="10363200" y="31146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0">
                <a:solidFill>
                  <a:srgbClr val="2176AD"/>
                </a:solidFill>
                <a:latin typeface="Arial Unicode MS"/>
                <a:ea typeface="Arial Unicode MS"/>
                <a:cs typeface="Arial Unicode MS"/>
              </a:defRPr>
            </a:pPr>
            <a:r>
              <a:rPr sz="2400" b="0">
                <a:solidFill>
                  <a:srgbClr val="2176AD"/>
                </a:solidFill>
                <a:latin typeface="Arial Unicode MS"/>
                <a:ea typeface="Arial Unicode MS"/>
                <a:cs typeface="Arial Unicode MS"/>
              </a:rPr>
              <a:t>D</a:t>
            </a:r>
          </a:p>
        </p:txBody>
      </p:sp>
      <p:sp>
        <p:nvSpPr>
          <p:cNvPr id="25" name="text-110">
            <a:extLst xmlns:a="http://schemas.openxmlformats.org/drawingml/2006/main">
              <a:ext uri="{FF2B5EF4-FFF2-40B4-BE49-F238E27FC236}">
                <a16:creationId xmlns:a16="http://schemas.microsoft.com/office/drawing/2014/main" id="{C59AF40C-7718-4149-9CC4-A962AEA98E6A}"/>
              </a:ext>
            </a:extLst>
          </p:cNvPr>
          <p:cNvSpPr>
            <a:spLocks xmlns:a="http://schemas.openxmlformats.org/drawingml/2006/main" noGrp="1"/>
          </p:cNvSpPr>
          <p:nvPr/>
        </p:nvSpPr>
        <p:spPr>
          <a:xfrm xmlns:a="http://schemas.openxmlformats.org/drawingml/2006/main">
            <a:off x="7620000" y="4238625"/>
            <a:ext cx="171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0">
                <a:solidFill>
                  <a:srgbClr val="C47A35"/>
                </a:solidFill>
                <a:latin typeface="Arial Unicode MS"/>
                <a:ea typeface="Arial Unicode MS"/>
                <a:cs typeface="Arial Unicode MS"/>
              </a:defRPr>
            </a:pPr>
            <a:r>
              <a:rPr sz="2400" b="0">
                <a:solidFill>
                  <a:srgbClr val="C47A35"/>
                </a:solidFill>
                <a:latin typeface="Arial Unicode MS"/>
                <a:ea typeface="Arial Unicode MS"/>
                <a:cs typeface="Arial Unicode MS"/>
              </a:rPr>
              <a:t>(B, E)</a:t>
            </a:r>
          </a:p>
        </p:txBody>
      </p:sp>
      <p:sp>
        <p:nvSpPr>
          <p:cNvPr id="26" name="text-111">
            <a:extLst xmlns:a="http://schemas.openxmlformats.org/drawingml/2006/main">
              <a:ext uri="{FF2B5EF4-FFF2-40B4-BE49-F238E27FC236}">
                <a16:creationId xmlns:a16="http://schemas.microsoft.com/office/drawing/2014/main" id="{DCB95A0F-3DB7-40CD-BE6C-29494582C7BF}"/>
              </a:ext>
            </a:extLst>
          </p:cNvPr>
          <p:cNvSpPr>
            <a:spLocks xmlns:a="http://schemas.openxmlformats.org/drawingml/2006/main" noGrp="1"/>
          </p:cNvSpPr>
          <p:nvPr/>
        </p:nvSpPr>
        <p:spPr>
          <a:xfrm xmlns:a="http://schemas.openxmlformats.org/drawingml/2006/main">
            <a:off x="10363200" y="423862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0">
                <a:solidFill>
                  <a:srgbClr val="C47A35"/>
                </a:solidFill>
                <a:latin typeface="Arial Unicode MS"/>
                <a:ea typeface="Arial Unicode MS"/>
                <a:cs typeface="Arial Unicode MS"/>
              </a:defRPr>
            </a:pPr>
            <a:r>
              <a:rPr sz="2400" b="0">
                <a:solidFill>
                  <a:srgbClr val="C47A35"/>
                </a:solidFill>
                <a:latin typeface="Arial Unicode MS"/>
                <a:ea typeface="Arial Unicode MS"/>
                <a:cs typeface="Arial Unicode MS"/>
              </a:rPr>
              <a:t>C</a:t>
            </a:r>
          </a:p>
        </p:txBody>
      </p:sp>
    </p:spTree>
    <p:extLst>
      <p:ext uri="{BB962C8B-B14F-4D97-AF65-F5344CB8AC3E}">
        <p14:creationId xmlns:p14="http://schemas.microsoft.com/office/powerpoint/2010/main" val="57817408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ext-112">
            <a:extLst xmlns:a="http://schemas.openxmlformats.org/drawingml/2006/main">
              <a:ext uri="{FF2B5EF4-FFF2-40B4-BE49-F238E27FC236}">
                <a16:creationId xmlns:a16="http://schemas.microsoft.com/office/drawing/2014/main" id="{F2C8A171-5B0C-4DE3-B30F-BEF5FB67AC9A}"/>
              </a:ext>
            </a:extLst>
          </p:cNvPr>
          <p:cNvSpPr>
            <a:spLocks xmlns:a="http://schemas.openxmlformats.org/drawingml/2006/main" noGrp="1"/>
          </p:cNvSpPr>
          <p:nvPr/>
        </p:nvSpPr>
        <p:spPr>
          <a:xfrm xmlns:a="http://schemas.openxmlformats.org/drawingml/2006/main">
            <a:off x="609600" y="3619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00" b="1">
                <a:solidFill>
                  <a:srgbClr val="202B33"/>
                </a:solidFill>
                <a:latin typeface="Arial Unicode MS"/>
                <a:ea typeface="Arial Unicode MS"/>
                <a:cs typeface="Arial Unicode MS"/>
              </a:defRPr>
            </a:pPr>
            <a:r>
              <a:rPr sz="2700" b="1">
                <a:solidFill>
                  <a:srgbClr val="202B33"/>
                </a:solidFill>
                <a:latin typeface="Arial Unicode MS"/>
                <a:ea typeface="Arial Unicode MS"/>
                <a:cs typeface="Arial Unicode MS"/>
              </a:rPr>
              <a:t>Appendix · Closed-Form Account of the Compression Factor</a:t>
            </a:r>
          </a:p>
        </p:txBody>
      </p:sp>
      <p:sp>
        <p:nvSpPr>
          <p:cNvPr id="2" name="text-113">
            <a:extLst xmlns:a="http://schemas.openxmlformats.org/drawingml/2006/main">
              <a:ext uri="{FF2B5EF4-FFF2-40B4-BE49-F238E27FC236}">
                <a16:creationId xmlns:a16="http://schemas.microsoft.com/office/drawing/2014/main" id="{464209E9-B6D3-4D1A-BF21-6D7E5418D541}"/>
              </a:ext>
            </a:extLst>
          </p:cNvPr>
          <p:cNvSpPr>
            <a:spLocks xmlns:a="http://schemas.openxmlformats.org/drawingml/2006/main" noGrp="1"/>
          </p:cNvSpPr>
          <p:nvPr/>
        </p:nvSpPr>
        <p:spPr>
          <a:xfrm xmlns:a="http://schemas.openxmlformats.org/drawingml/2006/main">
            <a:off x="609600" y="62960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050" b="0">
                <a:solidFill>
                  <a:srgbClr val="687780"/>
                </a:solidFill>
                <a:latin typeface="Arial Unicode MS"/>
                <a:ea typeface="Arial Unicode MS"/>
                <a:cs typeface="Arial Unicode MS"/>
              </a:defRPr>
            </a:pPr>
            <a:r>
              <a:rPr sz="1050" b="0">
                <a:solidFill>
                  <a:srgbClr val="687780"/>
                </a:solidFill>
                <a:latin typeface="Arial Unicode MS"/>
                <a:ea typeface="Arial Unicode MS"/>
                <a:cs typeface="Arial Unicode MS"/>
              </a:rPr>
              <a:t>The large factor comes from how many table entries must be filled; no extra mechanism is needed</a:t>
            </a:r>
          </a:p>
        </p:txBody>
      </p:sp>
      <p:sp>
        <p:nvSpPr>
          <p:cNvPr id="3" name="text-114">
            <a:extLst xmlns:a="http://schemas.openxmlformats.org/drawingml/2006/main">
              <a:ext uri="{FF2B5EF4-FFF2-40B4-BE49-F238E27FC236}">
                <a16:creationId xmlns:a16="http://schemas.microsoft.com/office/drawing/2014/main" id="{24FFB08B-3FBE-456A-91B4-912F796B5BFE}"/>
              </a:ext>
            </a:extLst>
          </p:cNvPr>
          <p:cNvSpPr>
            <a:spLocks xmlns:a="http://schemas.openxmlformats.org/drawingml/2006/main" noGrp="1"/>
          </p:cNvSpPr>
          <p:nvPr/>
        </p:nvSpPr>
        <p:spPr>
          <a:xfrm xmlns:a="http://schemas.openxmlformats.org/drawingml/2006/main">
            <a:off x="11334750" y="629602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00" b="0">
                <a:solidFill>
                  <a:srgbClr val="687780"/>
                </a:solidFill>
                <a:latin typeface="Arial Unicode MS"/>
                <a:ea typeface="Arial Unicode MS"/>
                <a:cs typeface="Arial Unicode MS"/>
              </a:defRPr>
            </a:pPr>
            <a:r>
              <a:rPr sz="1200" b="0">
                <a:solidFill>
                  <a:srgbClr val="687780"/>
                </a:solidFill>
                <a:latin typeface="Arial Unicode MS"/>
                <a:ea typeface="Arial Unicode MS"/>
                <a:cs typeface="Arial Unicode MS"/>
              </a:rPr>
              <a:t>13</a:t>
            </a:r>
          </a:p>
        </p:txBody>
      </p:sp>
      <p:sp>
        <p:nvSpPr>
          <p:cNvPr id="4" name="text-115">
            <a:extLst xmlns:a="http://schemas.openxmlformats.org/drawingml/2006/main">
              <a:ext uri="{FF2B5EF4-FFF2-40B4-BE49-F238E27FC236}">
                <a16:creationId xmlns:a16="http://schemas.microsoft.com/office/drawing/2014/main" id="{BF5090AB-CB60-48AF-B807-749EFE903A71}"/>
              </a:ext>
            </a:extLst>
          </p:cNvPr>
          <p:cNvSpPr>
            <a:spLocks xmlns:a="http://schemas.openxmlformats.org/drawingml/2006/main" noGrp="1"/>
          </p:cNvSpPr>
          <p:nvPr/>
        </p:nvSpPr>
        <p:spPr>
          <a:xfrm xmlns:a="http://schemas.openxmlformats.org/drawingml/2006/main">
            <a:off x="685800" y="1257300"/>
            <a:ext cx="514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202B33"/>
                </a:solidFill>
                <a:latin typeface="Arial Unicode MS"/>
                <a:ea typeface="Arial Unicode MS"/>
                <a:cs typeface="Arial Unicode MS"/>
              </a:defRPr>
            </a:pPr>
            <a:r>
              <a:rPr sz="2025" b="1">
                <a:solidFill>
                  <a:srgbClr val="202B33"/>
                </a:solidFill>
                <a:latin typeface="Arial Unicode MS"/>
                <a:ea typeface="Arial Unicode MS"/>
                <a:cs typeface="Arial Unicode MS"/>
              </a:rPr>
              <a:t>Why this magnitude</a:t>
            </a:r>
          </a:p>
        </p:txBody>
      </p:sp>
      <p:sp>
        <p:nvSpPr>
          <p:cNvPr id="5" name="text-116">
            <a:extLst xmlns:a="http://schemas.openxmlformats.org/drawingml/2006/main">
              <a:ext uri="{FF2B5EF4-FFF2-40B4-BE49-F238E27FC236}">
                <a16:creationId xmlns:a16="http://schemas.microsoft.com/office/drawing/2014/main" id="{FE5D701B-6076-42D3-BEEA-E9C3DDC91F7D}"/>
              </a:ext>
            </a:extLst>
          </p:cNvPr>
          <p:cNvSpPr>
            <a:spLocks xmlns:a="http://schemas.openxmlformats.org/drawingml/2006/main" noGrp="1"/>
          </p:cNvSpPr>
          <p:nvPr/>
        </p:nvSpPr>
        <p:spPr>
          <a:xfrm xmlns:a="http://schemas.openxmlformats.org/drawingml/2006/main">
            <a:off x="685800" y="1828800"/>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202B33"/>
                </a:solidFill>
                <a:latin typeface="Arial Unicode MS"/>
                <a:ea typeface="Arial Unicode MS"/>
                <a:cs typeface="Arial Unicode MS"/>
              </a:defRPr>
            </a:pPr>
            <a:r>
              <a:rPr sz="1425" b="0">
                <a:solidFill>
                  <a:srgbClr val="202B33"/>
                </a:solidFill>
                <a:latin typeface="Arial Unicode MS"/>
                <a:ea typeface="Arial Unicode MS"/>
                <a:cs typeface="Arial Unicode MS"/>
              </a:rPr>
              <a:t>Wrong action: Q stays 0</a:t>
            </a:r>
          </a:p>
        </p:txBody>
      </p:sp>
      <p:sp>
        <p:nvSpPr>
          <p:cNvPr id="6" name="text-117">
            <a:extLst xmlns:a="http://schemas.openxmlformats.org/drawingml/2006/main">
              <a:ext uri="{FF2B5EF4-FFF2-40B4-BE49-F238E27FC236}">
                <a16:creationId xmlns:a16="http://schemas.microsoft.com/office/drawing/2014/main" id="{A7CABA9B-EA3B-4915-B6BB-8858F9BB8331}"/>
              </a:ext>
            </a:extLst>
          </p:cNvPr>
          <p:cNvSpPr>
            <a:spLocks xmlns:a="http://schemas.openxmlformats.org/drawingml/2006/main" noGrp="1"/>
          </p:cNvSpPr>
          <p:nvPr/>
        </p:nvSpPr>
        <p:spPr>
          <a:xfrm xmlns:a="http://schemas.openxmlformats.org/drawingml/2006/main">
            <a:off x="685800" y="2228850"/>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202B33"/>
                </a:solidFill>
                <a:latin typeface="Arial Unicode MS"/>
                <a:ea typeface="Arial Unicode MS"/>
                <a:cs typeface="Arial Unicode MS"/>
              </a:defRPr>
            </a:pPr>
            <a:r>
              <a:rPr sz="1425" b="0">
                <a:solidFill>
                  <a:srgbClr val="202B33"/>
                </a:solidFill>
                <a:latin typeface="Arial Unicode MS"/>
                <a:ea typeface="Arial Unicode MS"/>
                <a:cs typeface="Arial Unicode MS"/>
              </a:rPr>
              <a:t>Right action: Q = 1 after its first positive reward,</a:t>
            </a:r>
          </a:p>
        </p:txBody>
      </p:sp>
      <p:sp>
        <p:nvSpPr>
          <p:cNvPr id="7" name="text-118">
            <a:extLst xmlns:a="http://schemas.openxmlformats.org/drawingml/2006/main">
              <a:ext uri="{FF2B5EF4-FFF2-40B4-BE49-F238E27FC236}">
                <a16:creationId xmlns:a16="http://schemas.microsoft.com/office/drawing/2014/main" id="{AB29D431-D03F-4514-91E4-4273D8A04DC0}"/>
              </a:ext>
            </a:extLst>
          </p:cNvPr>
          <p:cNvSpPr>
            <a:spLocks xmlns:a="http://schemas.openxmlformats.org/drawingml/2006/main" noGrp="1"/>
          </p:cNvSpPr>
          <p:nvPr/>
        </p:nvSpPr>
        <p:spPr>
          <a:xfrm xmlns:a="http://schemas.openxmlformats.org/drawingml/2006/main">
            <a:off x="685800" y="2628900"/>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2176AD"/>
                </a:solidFill>
                <a:latin typeface="Arial Unicode MS"/>
                <a:ea typeface="Arial Unicode MS"/>
                <a:cs typeface="Arial Unicode MS"/>
              </a:defRPr>
            </a:pPr>
            <a:r>
              <a:rPr sz="1425" b="0">
                <a:solidFill>
                  <a:srgbClr val="2176AD"/>
                </a:solidFill>
                <a:latin typeface="Arial Unicode MS"/>
                <a:ea typeface="Arial Unicode MS"/>
                <a:cs typeface="Arial Unicode MS"/>
              </a:rPr>
              <a:t>and that state is answered correctly ever after</a:t>
            </a:r>
          </a:p>
        </p:txBody>
      </p:sp>
      <p:sp>
        <p:nvSpPr>
          <p:cNvPr id="8" name="text-119">
            <a:extLst xmlns:a="http://schemas.openxmlformats.org/drawingml/2006/main">
              <a:ext uri="{FF2B5EF4-FFF2-40B4-BE49-F238E27FC236}">
                <a16:creationId xmlns:a16="http://schemas.microsoft.com/office/drawing/2014/main" id="{5E2012D5-7998-42FB-8CE4-47B3267B3F3F}"/>
              </a:ext>
            </a:extLst>
          </p:cNvPr>
          <p:cNvSpPr>
            <a:spLocks xmlns:a="http://schemas.openxmlformats.org/drawingml/2006/main" noGrp="1"/>
          </p:cNvSpPr>
          <p:nvPr/>
        </p:nvSpPr>
        <p:spPr>
          <a:xfrm xmlns:a="http://schemas.openxmlformats.org/drawingml/2006/main">
            <a:off x="685800" y="3028950"/>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202B33"/>
                </a:solidFill>
                <a:latin typeface="Arial Unicode MS"/>
                <a:ea typeface="Arial Unicode MS"/>
                <a:cs typeface="Arial Unicode MS"/>
              </a:defRPr>
            </a:pPr>
            <a:r>
              <a:rPr sz="1425" b="0">
                <a:solidFill>
                  <a:srgbClr val="202B33"/>
                </a:solidFill>
                <a:latin typeface="Arial Unicode MS"/>
                <a:ea typeface="Arial Unicode MS"/>
                <a:cs typeface="Arial Unicode MS"/>
              </a:rPr>
              <a:t>Uncovered states tie at random, right half the time</a:t>
            </a:r>
          </a:p>
        </p:txBody>
      </p:sp>
      <p:sp>
        <p:nvSpPr>
          <p:cNvPr id="9" name="text-120">
            <a:extLst xmlns:a="http://schemas.openxmlformats.org/drawingml/2006/main">
              <a:ext uri="{FF2B5EF4-FFF2-40B4-BE49-F238E27FC236}">
                <a16:creationId xmlns:a16="http://schemas.microsoft.com/office/drawing/2014/main" id="{E8FDD8EC-DC7B-455A-826D-9E10E3BC8F23}"/>
              </a:ext>
            </a:extLst>
          </p:cNvPr>
          <p:cNvSpPr>
            <a:spLocks xmlns:a="http://schemas.openxmlformats.org/drawingml/2006/main" noGrp="1"/>
          </p:cNvSpPr>
          <p:nvPr/>
        </p:nvSpPr>
        <p:spPr>
          <a:xfrm xmlns:a="http://schemas.openxmlformats.org/drawingml/2006/main">
            <a:off x="685800" y="3429000"/>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2176AD"/>
                </a:solidFill>
                <a:latin typeface="Arial Unicode MS"/>
                <a:ea typeface="Arial Unicode MS"/>
                <a:cs typeface="Arial Unicode MS"/>
              </a:defRPr>
            </a:pPr>
            <a:r>
              <a:rPr sz="1425" b="0">
                <a:solidFill>
                  <a:srgbClr val="2176AD"/>
                </a:solidFill>
                <a:latin typeface="Arial Unicode MS"/>
                <a:ea typeface="Arial Unicode MS"/>
                <a:cs typeface="Arial Unicode MS"/>
              </a:rPr>
              <a:t>-&gt; accuracy = (H + c) / 2H; 95% needs c &gt;= 0.9H</a:t>
            </a:r>
          </a:p>
        </p:txBody>
      </p:sp>
      <p:sp>
        <p:nvSpPr>
          <p:cNvPr id="10" name="text-121">
            <a:extLst xmlns:a="http://schemas.openxmlformats.org/drawingml/2006/main">
              <a:ext uri="{FF2B5EF4-FFF2-40B4-BE49-F238E27FC236}">
                <a16:creationId xmlns:a16="http://schemas.microsoft.com/office/drawing/2014/main" id="{D8D0BF55-A230-4D10-932B-15ADABCCAFF0}"/>
              </a:ext>
            </a:extLst>
          </p:cNvPr>
          <p:cNvSpPr>
            <a:spLocks xmlns:a="http://schemas.openxmlformats.org/drawingml/2006/main" noGrp="1"/>
          </p:cNvSpPr>
          <p:nvPr/>
        </p:nvSpPr>
        <p:spPr>
          <a:xfrm xmlns:a="http://schemas.openxmlformats.org/drawingml/2006/main">
            <a:off x="685800" y="3829050"/>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202B33"/>
                </a:solidFill>
                <a:latin typeface="Arial Unicode MS"/>
                <a:ea typeface="Arial Unicode MS"/>
                <a:cs typeface="Arial Unicode MS"/>
              </a:defRPr>
            </a:pPr>
            <a:r>
              <a:rPr sz="1425" b="0">
                <a:solidFill>
                  <a:srgbClr val="202B33"/>
                </a:solidFill>
                <a:latin typeface="Arial Unicode MS"/>
                <a:ea typeface="Arial Unicode MS"/>
                <a:cs typeface="Arial Unicode MS"/>
              </a:rPr>
              <a:t>With i covered, P(cover one more) = (H - i) / 2H</a:t>
            </a:r>
          </a:p>
        </p:txBody>
      </p:sp>
      <p:sp>
        <p:nvSpPr>
          <p:cNvPr id="11" name="text-122">
            <a:extLst xmlns:a="http://schemas.openxmlformats.org/drawingml/2006/main">
              <a:ext uri="{FF2B5EF4-FFF2-40B4-BE49-F238E27FC236}">
                <a16:creationId xmlns:a16="http://schemas.microsoft.com/office/drawing/2014/main" id="{F380FEFE-B64E-4271-A8A5-A1E34184D523}"/>
              </a:ext>
            </a:extLst>
          </p:cNvPr>
          <p:cNvSpPr>
            <a:spLocks xmlns:a="http://schemas.openxmlformats.org/drawingml/2006/main" noGrp="1"/>
          </p:cNvSpPr>
          <p:nvPr/>
        </p:nvSpPr>
        <p:spPr>
          <a:xfrm xmlns:a="http://schemas.openxmlformats.org/drawingml/2006/main">
            <a:off x="685800" y="4229100"/>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2176AD"/>
                </a:solidFill>
                <a:latin typeface="Arial Unicode MS"/>
                <a:ea typeface="Arial Unicode MS"/>
                <a:cs typeface="Arial Unicode MS"/>
              </a:defRPr>
            </a:pPr>
            <a:r>
              <a:rPr sz="1425" b="0">
                <a:solidFill>
                  <a:srgbClr val="2176AD"/>
                </a:solidFill>
                <a:latin typeface="Arial Unicode MS"/>
                <a:ea typeface="Arial Unicode MS"/>
                <a:cs typeface="Arial Unicode MS"/>
              </a:rPr>
              <a:t>-&gt; expected wait 2H / (H - i)</a:t>
            </a:r>
          </a:p>
        </p:txBody>
      </p:sp>
      <p:sp>
        <p:nvSpPr>
          <p:cNvPr id="12" name="text-123">
            <a:extLst xmlns:a="http://schemas.openxmlformats.org/drawingml/2006/main">
              <a:ext uri="{FF2B5EF4-FFF2-40B4-BE49-F238E27FC236}">
                <a16:creationId xmlns:a16="http://schemas.microsoft.com/office/drawing/2014/main" id="{7770BECC-96DB-4E70-996B-46C3B29AF272}"/>
              </a:ext>
            </a:extLst>
          </p:cNvPr>
          <p:cNvSpPr>
            <a:spLocks xmlns:a="http://schemas.openxmlformats.org/drawingml/2006/main" noGrp="1"/>
          </p:cNvSpPr>
          <p:nvPr/>
        </p:nvSpPr>
        <p:spPr>
          <a:xfrm xmlns:a="http://schemas.openxmlformats.org/drawingml/2006/main">
            <a:off x="685800" y="4629150"/>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202B33"/>
                </a:solidFill>
                <a:latin typeface="Arial Unicode MS"/>
                <a:ea typeface="Arial Unicode MS"/>
                <a:cs typeface="Arial Unicode MS"/>
              </a:defRPr>
            </a:pPr>
            <a:r>
              <a:rPr sz="1425" b="0">
                <a:solidFill>
                  <a:srgbClr val="202B33"/>
                </a:solidFill>
                <a:latin typeface="Arial Unicode MS"/>
                <a:ea typeface="Arial Unicode MS"/>
                <a:cs typeface="Arial Unicode MS"/>
              </a:rPr>
              <a:t>T95 = Σ 2H/(H - i), i = 0 … ceil(0.9H) - 1</a:t>
            </a:r>
          </a:p>
        </p:txBody>
      </p:sp>
      <p:sp>
        <p:nvSpPr>
          <p:cNvPr id="13" name="text-124">
            <a:extLst xmlns:a="http://schemas.openxmlformats.org/drawingml/2006/main">
              <a:ext uri="{FF2B5EF4-FFF2-40B4-BE49-F238E27FC236}">
                <a16:creationId xmlns:a16="http://schemas.microsoft.com/office/drawing/2014/main" id="{9C47BD78-DBD1-4B7A-9391-402EEE33F01A}"/>
              </a:ext>
            </a:extLst>
          </p:cNvPr>
          <p:cNvSpPr>
            <a:spLocks xmlns:a="http://schemas.openxmlformats.org/drawingml/2006/main" noGrp="1"/>
          </p:cNvSpPr>
          <p:nvPr/>
        </p:nvSpPr>
        <p:spPr>
          <a:xfrm xmlns:a="http://schemas.openxmlformats.org/drawingml/2006/main">
            <a:off x="685800" y="5029200"/>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2176AD"/>
                </a:solidFill>
                <a:latin typeface="Arial Unicode MS"/>
                <a:ea typeface="Arial Unicode MS"/>
                <a:cs typeface="Arial Unicode MS"/>
              </a:defRPr>
            </a:pPr>
            <a:r>
              <a:rPr sz="1425" b="0">
                <a:solidFill>
                  <a:srgbClr val="2176AD"/>
                </a:solidFill>
                <a:latin typeface="Arial Unicode MS"/>
                <a:ea typeface="Arial Unicode MS"/>
                <a:cs typeface="Arial Unicode MS"/>
              </a:rPr>
              <a:t>H = n! = 6 / 24 / 120; compressed H = 2 -&gt; 6.0 episodes</a:t>
            </a:r>
          </a:p>
        </p:txBody>
      </p:sp>
      <p:graphicFrame>
        <p:nvGraphicFramePr>
          <p:cNvPr id="29" name="Chart"/>
          <p:cNvGraphicFramePr/>
          <p:nvPr/>
        </p:nvGraphicFramePr>
        <p:xfrm>
          <a:off xmlns:a="http://schemas.openxmlformats.org/drawingml/2006/main" x="6191250" y="1714500"/>
          <a:ext xmlns:a="http://schemas.openxmlformats.org/drawingml/2006/main" cx="5391150" cy="3619500"/>
        </p:xfrm>
        <a:graphic xmlns:a="http://schemas.openxmlformats.org/drawingml/2006/main">
          <a:graphicData uri="http://schemas.openxmlformats.org/drawingml/2006/chart">
            <c:chart xmlns:r="http://schemas.openxmlformats.org/officeDocument/2006/relationships" xmlns:c="http://schemas.openxmlformats.org/drawingml/2006/chart" r:id="Rcb01e11fc3b64489"/>
          </a:graphicData>
        </a:graphic>
      </p:graphicFrame>
      <p:sp>
        <p:nvSpPr>
          <p:cNvPr id="15" name="text-125">
            <a:extLst xmlns:a="http://schemas.openxmlformats.org/drawingml/2006/main">
              <a:ext uri="{FF2B5EF4-FFF2-40B4-BE49-F238E27FC236}">
                <a16:creationId xmlns:a16="http://schemas.microsoft.com/office/drawing/2014/main" id="{C18ECA7A-3E0B-4CB7-90E1-9DC3756F241C}"/>
              </a:ext>
            </a:extLst>
          </p:cNvPr>
          <p:cNvSpPr>
            <a:spLocks xmlns:a="http://schemas.openxmlformats.org/drawingml/2006/main" noGrp="1"/>
          </p:cNvSpPr>
          <p:nvPr/>
        </p:nvSpPr>
        <p:spPr>
          <a:xfrm xmlns:a="http://schemas.openxmlformats.org/drawingml/2006/main">
            <a:off x="6191250" y="5505450"/>
            <a:ext cx="5391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75" b="1">
                <a:solidFill>
                  <a:srgbClr val="2176AD"/>
                </a:solidFill>
                <a:latin typeface="Arial Unicode MS"/>
                <a:ea typeface="Arial Unicode MS"/>
                <a:cs typeface="Arial Unicode MS"/>
              </a:defRPr>
            </a:pPr>
            <a:r>
              <a:rPr sz="1875" b="1">
                <a:solidFill>
                  <a:srgbClr val="2176AD"/>
                </a:solidFill>
                <a:latin typeface="Arial Unicode MS"/>
                <a:ea typeface="Arial Unicode MS"/>
                <a:cs typeface="Arial Unicode MS"/>
              </a:rPr>
              <a:t>Theoretical factor 90.63x    observed 89.75x</a:t>
            </a:r>
          </a:p>
        </p:txBody>
      </p:sp>
    </p:spTree>
    <p:extLst>
      <p:ext uri="{BB962C8B-B14F-4D97-AF65-F5344CB8AC3E}">
        <p14:creationId xmlns:p14="http://schemas.microsoft.com/office/powerpoint/2010/main" val="7965421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126">
            <a:extLst xmlns:a="http://schemas.openxmlformats.org/drawingml/2006/main">
              <a:ext uri="{FF2B5EF4-FFF2-40B4-BE49-F238E27FC236}">
                <a16:creationId xmlns:a16="http://schemas.microsoft.com/office/drawing/2014/main" id="{0A0E6BDC-1B31-4DCF-B7CE-09DEDC0EB0F9}"/>
              </a:ext>
            </a:extLst>
          </p:cNvPr>
          <p:cNvSpPr>
            <a:spLocks xmlns:a="http://schemas.openxmlformats.org/drawingml/2006/main" noGrp="1"/>
          </p:cNvSpPr>
          <p:nvPr/>
        </p:nvSpPr>
        <p:spPr>
          <a:xfrm xmlns:a="http://schemas.openxmlformats.org/drawingml/2006/main">
            <a:off x="609600" y="3619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00" b="1">
                <a:solidFill>
                  <a:srgbClr val="202B33"/>
                </a:solidFill>
                <a:latin typeface="Arial Unicode MS"/>
                <a:ea typeface="Arial Unicode MS"/>
                <a:cs typeface="Arial Unicode MS"/>
              </a:defRPr>
            </a:pPr>
            <a:r>
              <a:rPr sz="2700" b="1">
                <a:solidFill>
                  <a:srgbClr val="202B33"/>
                </a:solidFill>
                <a:latin typeface="Arial Unicode MS"/>
                <a:ea typeface="Arial Unicode MS"/>
                <a:cs typeface="Arial Unicode MS"/>
              </a:rPr>
              <a:t>Appendix · Full Definitions for the Merge Audit</a:t>
            </a:r>
          </a:p>
        </p:txBody>
      </p:sp>
      <p:sp>
        <p:nvSpPr>
          <p:cNvPr id="2" name="text-127">
            <a:extLst xmlns:a="http://schemas.openxmlformats.org/drawingml/2006/main">
              <a:ext uri="{FF2B5EF4-FFF2-40B4-BE49-F238E27FC236}">
                <a16:creationId xmlns:a16="http://schemas.microsoft.com/office/drawing/2014/main" id="{8E27CB00-20EC-42DA-9437-298709EB3297}"/>
              </a:ext>
            </a:extLst>
          </p:cNvPr>
          <p:cNvSpPr>
            <a:spLocks xmlns:a="http://schemas.openxmlformats.org/drawingml/2006/main" noGrp="1"/>
          </p:cNvSpPr>
          <p:nvPr/>
        </p:nvSpPr>
        <p:spPr>
          <a:xfrm xmlns:a="http://schemas.openxmlformats.org/drawingml/2006/main">
            <a:off x="609600" y="62960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050" b="0">
                <a:solidFill>
                  <a:srgbClr val="687780"/>
                </a:solidFill>
                <a:latin typeface="Arial Unicode MS"/>
                <a:ea typeface="Arial Unicode MS"/>
                <a:cs typeface="Arial Unicode MS"/>
              </a:defRPr>
            </a:pPr>
            <a:r>
              <a:rPr sz="1050" b="0">
                <a:solidFill>
                  <a:srgbClr val="687780"/>
                </a:solidFill>
                <a:latin typeface="Arial Unicode MS"/>
                <a:ea typeface="Arial Unicode MS"/>
                <a:cs typeface="Arial Unicode MS"/>
              </a:rPr>
              <a:t>Verdict correct = the borrowed answer matches the true verdict; attribution correct = the merged partner really is the same task state</a:t>
            </a:r>
          </a:p>
        </p:txBody>
      </p:sp>
      <p:sp>
        <p:nvSpPr>
          <p:cNvPr id="3" name="text-128">
            <a:extLst xmlns:a="http://schemas.openxmlformats.org/drawingml/2006/main">
              <a:ext uri="{FF2B5EF4-FFF2-40B4-BE49-F238E27FC236}">
                <a16:creationId xmlns:a16="http://schemas.microsoft.com/office/drawing/2014/main" id="{AB203FAE-48A0-4BBF-B61F-B8D08E37CA58}"/>
              </a:ext>
            </a:extLst>
          </p:cNvPr>
          <p:cNvSpPr>
            <a:spLocks xmlns:a="http://schemas.openxmlformats.org/drawingml/2006/main" noGrp="1"/>
          </p:cNvSpPr>
          <p:nvPr/>
        </p:nvSpPr>
        <p:spPr>
          <a:xfrm xmlns:a="http://schemas.openxmlformats.org/drawingml/2006/main">
            <a:off x="11334750" y="629602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00" b="0">
                <a:solidFill>
                  <a:srgbClr val="687780"/>
                </a:solidFill>
                <a:latin typeface="Arial Unicode MS"/>
                <a:ea typeface="Arial Unicode MS"/>
                <a:cs typeface="Arial Unicode MS"/>
              </a:defRPr>
            </a:pPr>
            <a:r>
              <a:rPr sz="1200" b="0">
                <a:solidFill>
                  <a:srgbClr val="687780"/>
                </a:solidFill>
                <a:latin typeface="Arial Unicode MS"/>
                <a:ea typeface="Arial Unicode MS"/>
                <a:cs typeface="Arial Unicode MS"/>
              </a:rPr>
              <a:t>14</a:t>
            </a:r>
          </a:p>
        </p:txBody>
      </p:sp>
      <p:sp>
        <p:nvSpPr>
          <p:cNvPr id="4" name="text-129">
            <a:extLst xmlns:a="http://schemas.openxmlformats.org/drawingml/2006/main">
              <a:ext uri="{FF2B5EF4-FFF2-40B4-BE49-F238E27FC236}">
                <a16:creationId xmlns:a16="http://schemas.microsoft.com/office/drawing/2014/main" id="{04920724-0765-42BF-BD48-BD18B8A5E421}"/>
              </a:ext>
            </a:extLst>
          </p:cNvPr>
          <p:cNvSpPr>
            <a:spLocks xmlns:a="http://schemas.openxmlformats.org/drawingml/2006/main" noGrp="1"/>
          </p:cNvSpPr>
          <p:nvPr/>
        </p:nvSpPr>
        <p:spPr>
          <a:xfrm xmlns:a="http://schemas.openxmlformats.org/drawingml/2006/main">
            <a:off x="638175" y="1381125"/>
            <a:ext cx="34575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25" b="0">
                <a:solidFill>
                  <a:srgbClr val="202B33"/>
                </a:solidFill>
                <a:latin typeface="Arial Unicode MS"/>
                <a:ea typeface="Arial Unicode MS"/>
                <a:cs typeface="Arial Unicode MS"/>
              </a:defRPr>
            </a:pPr>
            <a:r>
              <a:rPr sz="2025" b="0">
                <a:solidFill>
                  <a:srgbClr val="202B33"/>
                </a:solidFill>
                <a:latin typeface="Arial Unicode MS"/>
                <a:ea typeface="Arial Unicode MS"/>
                <a:cs typeface="Arial Unicode MS"/>
              </a:rPr>
              <a:t>Verdict accuracy</a:t>
            </a:r>
          </a:p>
        </p:txBody>
      </p:sp>
      <p:sp>
        <p:nvSpPr>
          <p:cNvPr id="5" name="text-130">
            <a:extLst xmlns:a="http://schemas.openxmlformats.org/drawingml/2006/main">
              <a:ext uri="{FF2B5EF4-FFF2-40B4-BE49-F238E27FC236}">
                <a16:creationId xmlns:a16="http://schemas.microsoft.com/office/drawing/2014/main" id="{FEB58AB3-4858-4C7D-9A22-B5B8CE4DB518}"/>
              </a:ext>
            </a:extLst>
          </p:cNvPr>
          <p:cNvSpPr>
            <a:spLocks xmlns:a="http://schemas.openxmlformats.org/drawingml/2006/main" noGrp="1"/>
          </p:cNvSpPr>
          <p:nvPr/>
        </p:nvSpPr>
        <p:spPr>
          <a:xfrm xmlns:a="http://schemas.openxmlformats.org/drawingml/2006/main">
            <a:off x="4467225" y="1381125"/>
            <a:ext cx="34575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25" b="0">
                <a:solidFill>
                  <a:srgbClr val="202B33"/>
                </a:solidFill>
                <a:latin typeface="Arial Unicode MS"/>
                <a:ea typeface="Arial Unicode MS"/>
                <a:cs typeface="Arial Unicode MS"/>
              </a:defRPr>
            </a:pPr>
            <a:r>
              <a:rPr sz="2025" b="0">
                <a:solidFill>
                  <a:srgbClr val="202B33"/>
                </a:solidFill>
                <a:latin typeface="Arial Unicode MS"/>
                <a:ea typeface="Arial Unicode MS"/>
                <a:cs typeface="Arial Unicode MS"/>
              </a:rPr>
              <a:t>State-attribution accuracy</a:t>
            </a:r>
          </a:p>
        </p:txBody>
      </p:sp>
      <p:sp>
        <p:nvSpPr>
          <p:cNvPr id="6" name="text-131">
            <a:extLst xmlns:a="http://schemas.openxmlformats.org/drawingml/2006/main">
              <a:ext uri="{FF2B5EF4-FFF2-40B4-BE49-F238E27FC236}">
                <a16:creationId xmlns:a16="http://schemas.microsoft.com/office/drawing/2014/main" id="{8DE8099C-F4E6-4B74-A687-00E92847DAE0}"/>
              </a:ext>
            </a:extLst>
          </p:cNvPr>
          <p:cNvSpPr>
            <a:spLocks xmlns:a="http://schemas.openxmlformats.org/drawingml/2006/main" noGrp="1"/>
          </p:cNvSpPr>
          <p:nvPr/>
        </p:nvSpPr>
        <p:spPr>
          <a:xfrm xmlns:a="http://schemas.openxmlformats.org/drawingml/2006/main">
            <a:off x="8296275" y="1381125"/>
            <a:ext cx="34575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25" b="0">
                <a:solidFill>
                  <a:srgbClr val="202B33"/>
                </a:solidFill>
                <a:latin typeface="Arial Unicode MS"/>
                <a:ea typeface="Arial Unicode MS"/>
                <a:cs typeface="Arial Unicode MS"/>
              </a:defRPr>
            </a:pPr>
            <a:r>
              <a:rPr sz="2025" b="0">
                <a:solidFill>
                  <a:srgbClr val="202B33"/>
                </a:solidFill>
                <a:latin typeface="Arial Unicode MS"/>
                <a:ea typeface="Arial Unicode MS"/>
                <a:cs typeface="Arial Unicode MS"/>
              </a:rPr>
              <a:t>Queries saved</a:t>
            </a:r>
          </a:p>
        </p:txBody>
      </p:sp>
      <p:graphicFrame>
        <p:nvGraphicFramePr>
          <p:cNvPr id="18" name="Chart"/>
          <p:cNvGraphicFramePr/>
          <p:nvPr/>
        </p:nvGraphicFramePr>
        <p:xfrm>
          <a:off xmlns:a="http://schemas.openxmlformats.org/drawingml/2006/main" x="590550" y="1981200"/>
          <a:ext xmlns:a="http://schemas.openxmlformats.org/drawingml/2006/main" cx="3362325" cy="3429000"/>
        </p:xfrm>
        <a:graphic xmlns:a="http://schemas.openxmlformats.org/drawingml/2006/main">
          <a:graphicData uri="http://schemas.openxmlformats.org/drawingml/2006/chart">
            <c:chart xmlns:r="http://schemas.openxmlformats.org/officeDocument/2006/relationships" xmlns:c="http://schemas.openxmlformats.org/drawingml/2006/chart" r:id="Rf0778cfa81284c98"/>
          </a:graphicData>
        </a:graphic>
      </p:graphicFrame>
      <p:graphicFrame>
        <p:nvGraphicFramePr>
          <p:cNvPr id="19" name="Chart"/>
          <p:cNvGraphicFramePr/>
          <p:nvPr/>
        </p:nvGraphicFramePr>
        <p:xfrm>
          <a:off xmlns:a="http://schemas.openxmlformats.org/drawingml/2006/main" x="4419600" y="1981200"/>
          <a:ext xmlns:a="http://schemas.openxmlformats.org/drawingml/2006/main" cx="3362325" cy="3429000"/>
        </p:xfrm>
        <a:graphic xmlns:a="http://schemas.openxmlformats.org/drawingml/2006/main">
          <a:graphicData uri="http://schemas.openxmlformats.org/drawingml/2006/chart">
            <c:chart xmlns:r="http://schemas.openxmlformats.org/officeDocument/2006/relationships" xmlns:c="http://schemas.openxmlformats.org/drawingml/2006/chart" r:id="Rd20004997c4a4729"/>
          </a:graphicData>
        </a:graphic>
      </p:graphicFrame>
      <p:graphicFrame>
        <p:nvGraphicFramePr>
          <p:cNvPr id="20" name="Chart"/>
          <p:cNvGraphicFramePr/>
          <p:nvPr/>
        </p:nvGraphicFramePr>
        <p:xfrm>
          <a:off xmlns:a="http://schemas.openxmlformats.org/drawingml/2006/main" x="8248650" y="1981200"/>
          <a:ext xmlns:a="http://schemas.openxmlformats.org/drawingml/2006/main" cx="3362325" cy="3429000"/>
        </p:xfrm>
        <a:graphic xmlns:a="http://schemas.openxmlformats.org/drawingml/2006/main">
          <a:graphicData uri="http://schemas.openxmlformats.org/drawingml/2006/chart">
            <c:chart xmlns:r="http://schemas.openxmlformats.org/officeDocument/2006/relationships" xmlns:c="http://schemas.openxmlformats.org/drawingml/2006/chart" r:id="R306b6453ac5449d4"/>
          </a:graphicData>
        </a:graphic>
      </p:graphicFrame>
      <p:sp>
        <p:nvSpPr>
          <p:cNvPr id="10" name="text-132">
            <a:extLst xmlns:a="http://schemas.openxmlformats.org/drawingml/2006/main">
              <a:ext uri="{FF2B5EF4-FFF2-40B4-BE49-F238E27FC236}">
                <a16:creationId xmlns:a16="http://schemas.microsoft.com/office/drawing/2014/main" id="{9B6E9077-F49A-4BBB-8EB6-10A44C58B590}"/>
              </a:ext>
            </a:extLst>
          </p:cNvPr>
          <p:cNvSpPr>
            <a:spLocks xmlns:a="http://schemas.openxmlformats.org/drawingml/2006/main" noGrp="1"/>
          </p:cNvSpPr>
          <p:nvPr/>
        </p:nvSpPr>
        <p:spPr>
          <a:xfrm xmlns:a="http://schemas.openxmlformats.org/drawingml/2006/main">
            <a:off x="762000" y="558165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0">
                <a:solidFill>
                  <a:srgbClr val="202B33"/>
                </a:solidFill>
                <a:latin typeface="Arial Unicode MS"/>
                <a:ea typeface="Arial Unicode MS"/>
                <a:cs typeface="Arial Unicode MS"/>
              </a:defRPr>
            </a:pPr>
            <a:r>
              <a:rPr sz="1650" b="0">
                <a:solidFill>
                  <a:srgbClr val="202B33"/>
                </a:solidFill>
                <a:latin typeface="Arial Unicode MS"/>
                <a:ea typeface="Arial Unicode MS"/>
                <a:cs typeface="Arial Unicode MS"/>
              </a:rPr>
              <a:t>Of 236 forced merges, 140 proved histories of different true states to be the same; online k_min is 8-12 while the true state count is 19-27</a:t>
            </a:r>
          </a:p>
        </p:txBody>
      </p:sp>
      <p:sp>
        <p:nvSpPr>
          <p:cNvPr id="11" name="text-133">
            <a:extLst xmlns:a="http://schemas.openxmlformats.org/drawingml/2006/main">
              <a:ext uri="{FF2B5EF4-FFF2-40B4-BE49-F238E27FC236}">
                <a16:creationId xmlns:a16="http://schemas.microsoft.com/office/drawing/2014/main" id="{D8ADC24F-15D8-4C52-A2A5-B09CC5954AB7}"/>
              </a:ext>
            </a:extLst>
          </p:cNvPr>
          <p:cNvSpPr>
            <a:spLocks xmlns:a="http://schemas.openxmlformats.org/drawingml/2006/main" noGrp="1"/>
          </p:cNvSpPr>
          <p:nvPr/>
        </p:nvSpPr>
        <p:spPr>
          <a:xfrm xmlns:a="http://schemas.openxmlformats.org/drawingml/2006/main">
            <a:off x="762000" y="59436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0">
                <a:solidFill>
                  <a:srgbClr val="AE514B"/>
                </a:solidFill>
                <a:latin typeface="Arial Unicode MS"/>
                <a:ea typeface="Arial Unicode MS"/>
                <a:cs typeface="Arial Unicode MS"/>
              </a:defRPr>
            </a:pPr>
            <a:r>
              <a:rPr sz="1575" b="0">
                <a:solidFill>
                  <a:srgbClr val="AE514B"/>
                </a:solidFill>
                <a:latin typeface="Arial Unicode MS"/>
                <a:ea typeface="Arial Unicode MS"/>
                <a:cs typeface="Arial Unicode MS"/>
              </a:rPr>
              <a:t>Pre-registered criteria 3 / 3 not met: saving 16.9% &lt; 20%; 47 wrong verdicts; 140 wrong attributions; sensitivity ceiling 23.6% still short</a:t>
            </a:r>
          </a:p>
        </p:txBody>
      </p:sp>
    </p:spTree>
    <p:extLst>
      <p:ext uri="{BB962C8B-B14F-4D97-AF65-F5344CB8AC3E}">
        <p14:creationId xmlns:p14="http://schemas.microsoft.com/office/powerpoint/2010/main" val="138890007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ext-134">
            <a:extLst xmlns:a="http://schemas.openxmlformats.org/drawingml/2006/main">
              <a:ext uri="{FF2B5EF4-FFF2-40B4-BE49-F238E27FC236}">
                <a16:creationId xmlns:a16="http://schemas.microsoft.com/office/drawing/2014/main" id="{2CC67F8E-F291-474A-85A5-545846DEEAAD}"/>
              </a:ext>
            </a:extLst>
          </p:cNvPr>
          <p:cNvSpPr>
            <a:spLocks xmlns:a="http://schemas.openxmlformats.org/drawingml/2006/main" noGrp="1"/>
          </p:cNvSpPr>
          <p:nvPr/>
        </p:nvSpPr>
        <p:spPr>
          <a:xfrm xmlns:a="http://schemas.openxmlformats.org/drawingml/2006/main">
            <a:off x="609600" y="3619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00" b="1">
                <a:solidFill>
                  <a:srgbClr val="202B33"/>
                </a:solidFill>
                <a:latin typeface="Arial Unicode MS"/>
                <a:ea typeface="Arial Unicode MS"/>
                <a:cs typeface="Arial Unicode MS"/>
              </a:defRPr>
            </a:pPr>
            <a:r>
              <a:rPr sz="2700" b="1">
                <a:solidFill>
                  <a:srgbClr val="202B33"/>
                </a:solidFill>
                <a:latin typeface="Arial Unicode MS"/>
                <a:ea typeface="Arial Unicode MS"/>
                <a:cs typeface="Arial Unicode MS"/>
              </a:rPr>
              <a:t>Appendix · Full Five-Arm Numbers for Structure Use</a:t>
            </a:r>
          </a:p>
        </p:txBody>
      </p:sp>
      <p:sp>
        <p:nvSpPr>
          <p:cNvPr id="2" name="text-135">
            <a:extLst xmlns:a="http://schemas.openxmlformats.org/drawingml/2006/main">
              <a:ext uri="{FF2B5EF4-FFF2-40B4-BE49-F238E27FC236}">
                <a16:creationId xmlns:a16="http://schemas.microsoft.com/office/drawing/2014/main" id="{92798204-BD54-478A-9EBA-6C757AC1831D}"/>
              </a:ext>
            </a:extLst>
          </p:cNvPr>
          <p:cNvSpPr>
            <a:spLocks xmlns:a="http://schemas.openxmlformats.org/drawingml/2006/main" noGrp="1"/>
          </p:cNvSpPr>
          <p:nvPr/>
        </p:nvSpPr>
        <p:spPr>
          <a:xfrm xmlns:a="http://schemas.openxmlformats.org/drawingml/2006/main">
            <a:off x="609600" y="62960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050" b="0">
                <a:solidFill>
                  <a:srgbClr val="687780"/>
                </a:solidFill>
                <a:latin typeface="Arial Unicode MS"/>
                <a:ea typeface="Arial Unicode MS"/>
                <a:cs typeface="Arial Unicode MS"/>
              </a:defRPr>
            </a:pPr>
            <a:r>
              <a:rPr sz="1050" b="0">
                <a:solidFill>
                  <a:srgbClr val="687780"/>
                </a:solidFill>
                <a:latin typeface="Arial Unicode MS"/>
                <a:ea typeface="Arial Unicode MS"/>
                <a:cs typeface="Arial Unicode MS"/>
              </a:rPr>
              <a:t>AUC sits near the ceiling and cannot rank the mechanisms</a:t>
            </a:r>
          </a:p>
        </p:txBody>
      </p:sp>
      <p:sp>
        <p:nvSpPr>
          <p:cNvPr id="3" name="text-136">
            <a:extLst xmlns:a="http://schemas.openxmlformats.org/drawingml/2006/main">
              <a:ext uri="{FF2B5EF4-FFF2-40B4-BE49-F238E27FC236}">
                <a16:creationId xmlns:a16="http://schemas.microsoft.com/office/drawing/2014/main" id="{83DA0C96-8AFD-4E84-B722-104198C376A5}"/>
              </a:ext>
            </a:extLst>
          </p:cNvPr>
          <p:cNvSpPr>
            <a:spLocks xmlns:a="http://schemas.openxmlformats.org/drawingml/2006/main" noGrp="1"/>
          </p:cNvSpPr>
          <p:nvPr/>
        </p:nvSpPr>
        <p:spPr>
          <a:xfrm xmlns:a="http://schemas.openxmlformats.org/drawingml/2006/main">
            <a:off x="11334750" y="629602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00" b="0">
                <a:solidFill>
                  <a:srgbClr val="687780"/>
                </a:solidFill>
                <a:latin typeface="Arial Unicode MS"/>
                <a:ea typeface="Arial Unicode MS"/>
                <a:cs typeface="Arial Unicode MS"/>
              </a:defRPr>
            </a:pPr>
            <a:r>
              <a:rPr sz="1200" b="0">
                <a:solidFill>
                  <a:srgbClr val="687780"/>
                </a:solidFill>
                <a:latin typeface="Arial Unicode MS"/>
                <a:ea typeface="Arial Unicode MS"/>
                <a:cs typeface="Arial Unicode MS"/>
              </a:rPr>
              <a:t>15</a:t>
            </a:r>
          </a:p>
        </p:txBody>
      </p:sp>
      <p:sp>
        <p:nvSpPr>
          <p:cNvPr id="4" name="text-137">
            <a:extLst xmlns:a="http://schemas.openxmlformats.org/drawingml/2006/main">
              <a:ext uri="{FF2B5EF4-FFF2-40B4-BE49-F238E27FC236}">
                <a16:creationId xmlns:a16="http://schemas.microsoft.com/office/drawing/2014/main" id="{25AE2C27-E490-4EF0-823E-D68D1DC23582}"/>
              </a:ext>
            </a:extLst>
          </p:cNvPr>
          <p:cNvSpPr>
            <a:spLocks xmlns:a="http://schemas.openxmlformats.org/drawingml/2006/main" noGrp="1"/>
          </p:cNvSpPr>
          <p:nvPr/>
        </p:nvSpPr>
        <p:spPr>
          <a:xfrm xmlns:a="http://schemas.openxmlformats.org/drawingml/2006/main">
            <a:off x="2533650" y="137160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687780"/>
                </a:solidFill>
                <a:latin typeface="Arial Unicode MS"/>
                <a:ea typeface="Arial Unicode MS"/>
                <a:cs typeface="Arial Unicode MS"/>
              </a:defRPr>
            </a:pPr>
            <a:r>
              <a:rPr sz="1800" b="0">
                <a:solidFill>
                  <a:srgbClr val="687780"/>
                </a:solidFill>
                <a:latin typeface="Arial Unicode MS"/>
                <a:ea typeface="Arial Unicode MS"/>
                <a:cs typeface="Arial Unicode MS"/>
              </a:rPr>
              <a:t>No reuse</a:t>
            </a:r>
          </a:p>
        </p:txBody>
      </p:sp>
      <p:sp>
        <p:nvSpPr>
          <p:cNvPr id="5" name="text-138">
            <a:extLst xmlns:a="http://schemas.openxmlformats.org/drawingml/2006/main">
              <a:ext uri="{FF2B5EF4-FFF2-40B4-BE49-F238E27FC236}">
                <a16:creationId xmlns:a16="http://schemas.microsoft.com/office/drawing/2014/main" id="{6A2C4A24-CC45-44B6-8A4C-1079A2A79C3A}"/>
              </a:ext>
            </a:extLst>
          </p:cNvPr>
          <p:cNvSpPr>
            <a:spLocks xmlns:a="http://schemas.openxmlformats.org/drawingml/2006/main" noGrp="1"/>
          </p:cNvSpPr>
          <p:nvPr/>
        </p:nvSpPr>
        <p:spPr>
          <a:xfrm xmlns:a="http://schemas.openxmlformats.org/drawingml/2006/main">
            <a:off x="4410075" y="137160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687780"/>
                </a:solidFill>
                <a:latin typeface="Arial Unicode MS"/>
                <a:ea typeface="Arial Unicode MS"/>
                <a:cs typeface="Arial Unicode MS"/>
              </a:defRPr>
            </a:pPr>
            <a:r>
              <a:rPr sz="1800" b="0">
                <a:solidFill>
                  <a:srgbClr val="687780"/>
                </a:solidFill>
                <a:latin typeface="Arial Unicode MS"/>
                <a:ea typeface="Arial Unicode MS"/>
                <a:cs typeface="Arial Unicode MS"/>
              </a:rPr>
              <a:t>Reuse</a:t>
            </a:r>
          </a:p>
        </p:txBody>
      </p:sp>
      <p:sp>
        <p:nvSpPr>
          <p:cNvPr id="6" name="text-139">
            <a:extLst xmlns:a="http://schemas.openxmlformats.org/drawingml/2006/main">
              <a:ext uri="{FF2B5EF4-FFF2-40B4-BE49-F238E27FC236}">
                <a16:creationId xmlns:a16="http://schemas.microsoft.com/office/drawing/2014/main" id="{20308B98-8CC8-407D-90EC-24CEC258154E}"/>
              </a:ext>
            </a:extLst>
          </p:cNvPr>
          <p:cNvSpPr>
            <a:spLocks xmlns:a="http://schemas.openxmlformats.org/drawingml/2006/main" noGrp="1"/>
          </p:cNvSpPr>
          <p:nvPr/>
        </p:nvSpPr>
        <p:spPr>
          <a:xfrm xmlns:a="http://schemas.openxmlformats.org/drawingml/2006/main">
            <a:off x="581025" y="2476500"/>
            <a:ext cx="133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687780"/>
                </a:solidFill>
                <a:latin typeface="Arial Unicode MS"/>
                <a:ea typeface="Arial Unicode MS"/>
                <a:cs typeface="Arial Unicode MS"/>
              </a:defRPr>
            </a:pPr>
            <a:r>
              <a:rPr sz="1800" b="0">
                <a:solidFill>
                  <a:srgbClr val="687780"/>
                </a:solidFill>
                <a:latin typeface="Arial Unicode MS"/>
                <a:ea typeface="Arial Unicode MS"/>
                <a:cs typeface="Arial Unicode MS"/>
              </a:rPr>
              <a:t>No routing</a:t>
            </a:r>
          </a:p>
        </p:txBody>
      </p:sp>
      <p:sp>
        <p:nvSpPr>
          <p:cNvPr id="7" name="text-140">
            <a:extLst xmlns:a="http://schemas.openxmlformats.org/drawingml/2006/main">
              <a:ext uri="{FF2B5EF4-FFF2-40B4-BE49-F238E27FC236}">
                <a16:creationId xmlns:a16="http://schemas.microsoft.com/office/drawing/2014/main" id="{A0614BCA-CEAE-41A2-A53B-2A1E7287FF2B}"/>
              </a:ext>
            </a:extLst>
          </p:cNvPr>
          <p:cNvSpPr>
            <a:spLocks xmlns:a="http://schemas.openxmlformats.org/drawingml/2006/main" noGrp="1"/>
          </p:cNvSpPr>
          <p:nvPr/>
        </p:nvSpPr>
        <p:spPr>
          <a:xfrm xmlns:a="http://schemas.openxmlformats.org/drawingml/2006/main">
            <a:off x="581025" y="4410075"/>
            <a:ext cx="133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687780"/>
                </a:solidFill>
                <a:latin typeface="Arial Unicode MS"/>
                <a:ea typeface="Arial Unicode MS"/>
                <a:cs typeface="Arial Unicode MS"/>
              </a:defRPr>
            </a:pPr>
            <a:r>
              <a:rPr sz="1800" b="0">
                <a:solidFill>
                  <a:srgbClr val="687780"/>
                </a:solidFill>
                <a:latin typeface="Arial Unicode MS"/>
                <a:ea typeface="Arial Unicode MS"/>
                <a:cs typeface="Arial Unicode MS"/>
              </a:rPr>
              <a:t>Routing</a:t>
            </a:r>
          </a:p>
        </p:txBody>
      </p:sp>
      <p:sp>
        <p:nvSpPr>
          <p:cNvPr id="8" name="">
            <a:extLst xmlns:a="http://schemas.openxmlformats.org/drawingml/2006/main">
              <a:ext uri="{FF2B5EF4-FFF2-40B4-BE49-F238E27FC236}">
                <a16:creationId xmlns:a16="http://schemas.microsoft.com/office/drawing/2014/main" id="{B1504CB5-513D-47AD-9680-2AA69C6C33CE}"/>
              </a:ext>
            </a:extLst>
          </p:cNvPr>
          <p:cNvSpPr>
            <a:spLocks xmlns:a="http://schemas.openxmlformats.org/drawingml/2006/main" noGrp="1"/>
          </p:cNvSpPr>
          <p:nvPr/>
        </p:nvSpPr>
        <p:spPr>
          <a:xfrm xmlns:a="http://schemas.openxmlformats.org/drawingml/2006/main">
            <a:off x="2114550" y="2000250"/>
            <a:ext cx="1866900" cy="1628775"/>
          </a:xfrm>
          <a:prstGeom xmlns:a="http://schemas.openxmlformats.org/drawingml/2006/main" prst="rect">
            <a:avLst/>
          </a:prstGeom>
          <a:solidFill xmlns:a="http://schemas.openxmlformats.org/drawingml/2006/main">
            <a:srgbClr val="FFFFFF"/>
          </a:solidFill>
          <a:ln xmlns:a="http://schemas.openxmlformats.org/drawingml/2006/main" w="14288">
            <a:solidFill>
              <a:srgbClr val="D9E0E4"/>
            </a:solidFill>
          </a:ln>
        </p:spPr>
      </p:sp>
      <p:sp>
        <p:nvSpPr>
          <p:cNvPr id="9" name="text-141">
            <a:extLst xmlns:a="http://schemas.openxmlformats.org/drawingml/2006/main">
              <a:ext uri="{FF2B5EF4-FFF2-40B4-BE49-F238E27FC236}">
                <a16:creationId xmlns:a16="http://schemas.microsoft.com/office/drawing/2014/main" id="{209CDE8C-FF45-420A-AC72-7CD06003AAE4}"/>
              </a:ext>
            </a:extLst>
          </p:cNvPr>
          <p:cNvSpPr>
            <a:spLocks xmlns:a="http://schemas.openxmlformats.org/drawingml/2006/main" noGrp="1"/>
          </p:cNvSpPr>
          <p:nvPr/>
        </p:nvSpPr>
        <p:spPr>
          <a:xfrm xmlns:a="http://schemas.openxmlformats.org/drawingml/2006/main">
            <a:off x="2286000" y="2124075"/>
            <a:ext cx="1524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a:solidFill>
                  <a:srgbClr val="202B33"/>
                </a:solidFill>
                <a:latin typeface="Arial Unicode MS"/>
                <a:ea typeface="Arial Unicode MS"/>
                <a:cs typeface="Arial Unicode MS"/>
              </a:defRPr>
            </a:pPr>
            <a:r>
              <a:rPr sz="2175" b="1">
                <a:solidFill>
                  <a:srgbClr val="202B33"/>
                </a:solidFill>
                <a:latin typeface="Arial Unicode MS"/>
                <a:ea typeface="Arial Unicode MS"/>
                <a:cs typeface="Arial Unicode MS"/>
              </a:rPr>
              <a:t>Y00</a:t>
            </a:r>
          </a:p>
        </p:txBody>
      </p:sp>
      <p:sp>
        <p:nvSpPr>
          <p:cNvPr id="10" name="text-142">
            <a:extLst xmlns:a="http://schemas.openxmlformats.org/drawingml/2006/main">
              <a:ext uri="{FF2B5EF4-FFF2-40B4-BE49-F238E27FC236}">
                <a16:creationId xmlns:a16="http://schemas.microsoft.com/office/drawing/2014/main" id="{CBC04420-4648-4542-A74B-6405533388AB}"/>
              </a:ext>
            </a:extLst>
          </p:cNvPr>
          <p:cNvSpPr>
            <a:spLocks xmlns:a="http://schemas.openxmlformats.org/drawingml/2006/main" noGrp="1"/>
          </p:cNvSpPr>
          <p:nvPr/>
        </p:nvSpPr>
        <p:spPr>
          <a:xfrm xmlns:a="http://schemas.openxmlformats.org/drawingml/2006/main">
            <a:off x="2286000" y="2590800"/>
            <a:ext cx="1638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687780"/>
                </a:solidFill>
                <a:latin typeface="Arial Unicode MS"/>
                <a:ea typeface="Arial Unicode MS"/>
                <a:cs typeface="Arial Unicode MS"/>
              </a:defRPr>
            </a:pPr>
            <a:r>
              <a:rPr sz="1425" b="0">
                <a:solidFill>
                  <a:srgbClr val="687780"/>
                </a:solidFill>
                <a:latin typeface="Arial Unicode MS"/>
                <a:ea typeface="Arial Unicode MS"/>
                <a:cs typeface="Arial Unicode MS"/>
              </a:rPr>
              <a:t>Flat history</a:t>
            </a:r>
          </a:p>
        </p:txBody>
      </p:sp>
      <p:sp>
        <p:nvSpPr>
          <p:cNvPr id="11" name="text-143">
            <a:extLst xmlns:a="http://schemas.openxmlformats.org/drawingml/2006/main">
              <a:ext uri="{FF2B5EF4-FFF2-40B4-BE49-F238E27FC236}">
                <a16:creationId xmlns:a16="http://schemas.microsoft.com/office/drawing/2014/main" id="{87A884CB-26E7-4932-A35F-910889E9E649}"/>
              </a:ext>
            </a:extLst>
          </p:cNvPr>
          <p:cNvSpPr>
            <a:spLocks xmlns:a="http://schemas.openxmlformats.org/drawingml/2006/main" noGrp="1"/>
          </p:cNvSpPr>
          <p:nvPr/>
        </p:nvSpPr>
        <p:spPr>
          <a:xfrm xmlns:a="http://schemas.openxmlformats.org/drawingml/2006/main">
            <a:off x="2286000" y="3076575"/>
            <a:ext cx="1581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202B33"/>
                </a:solidFill>
                <a:latin typeface="Arial Unicode MS"/>
                <a:ea typeface="Arial Unicode MS"/>
                <a:cs typeface="Arial Unicode MS"/>
              </a:defRPr>
            </a:pPr>
            <a:r>
              <a:rPr sz="1650" b="0">
                <a:solidFill>
                  <a:srgbClr val="202B33"/>
                </a:solidFill>
                <a:latin typeface="Arial Unicode MS"/>
                <a:ea typeface="Arial Unicode MS"/>
                <a:cs typeface="Arial Unicode MS"/>
              </a:rPr>
              <a:t>AUC .821</a:t>
            </a:r>
          </a:p>
        </p:txBody>
      </p:sp>
      <p:sp>
        <p:nvSpPr>
          <p:cNvPr id="12" name="">
            <a:extLst xmlns:a="http://schemas.openxmlformats.org/drawingml/2006/main">
              <a:ext uri="{FF2B5EF4-FFF2-40B4-BE49-F238E27FC236}">
                <a16:creationId xmlns:a16="http://schemas.microsoft.com/office/drawing/2014/main" id="{03C1CDE7-A089-4A63-9490-4283DEF62E84}"/>
              </a:ext>
            </a:extLst>
          </p:cNvPr>
          <p:cNvSpPr>
            <a:spLocks xmlns:a="http://schemas.openxmlformats.org/drawingml/2006/main" noGrp="1"/>
          </p:cNvSpPr>
          <p:nvPr/>
        </p:nvSpPr>
        <p:spPr>
          <a:xfrm xmlns:a="http://schemas.openxmlformats.org/drawingml/2006/main">
            <a:off x="4171950" y="2000250"/>
            <a:ext cx="1866900" cy="1628775"/>
          </a:xfrm>
          <a:prstGeom xmlns:a="http://schemas.openxmlformats.org/drawingml/2006/main" prst="rect">
            <a:avLst/>
          </a:prstGeom>
          <a:solidFill xmlns:a="http://schemas.openxmlformats.org/drawingml/2006/main">
            <a:srgbClr val="FFFFFF"/>
          </a:solidFill>
          <a:ln xmlns:a="http://schemas.openxmlformats.org/drawingml/2006/main" w="14288">
            <a:solidFill>
              <a:srgbClr val="D9E0E4"/>
            </a:solidFill>
          </a:ln>
        </p:spPr>
      </p:sp>
      <p:sp>
        <p:nvSpPr>
          <p:cNvPr id="13" name="text-144">
            <a:extLst xmlns:a="http://schemas.openxmlformats.org/drawingml/2006/main">
              <a:ext uri="{FF2B5EF4-FFF2-40B4-BE49-F238E27FC236}">
                <a16:creationId xmlns:a16="http://schemas.microsoft.com/office/drawing/2014/main" id="{C421B26F-32BD-44EE-94AE-649A013243D7}"/>
              </a:ext>
            </a:extLst>
          </p:cNvPr>
          <p:cNvSpPr>
            <a:spLocks xmlns:a="http://schemas.openxmlformats.org/drawingml/2006/main" noGrp="1"/>
          </p:cNvSpPr>
          <p:nvPr/>
        </p:nvSpPr>
        <p:spPr>
          <a:xfrm xmlns:a="http://schemas.openxmlformats.org/drawingml/2006/main">
            <a:off x="4343400" y="2124075"/>
            <a:ext cx="1524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a:solidFill>
                  <a:srgbClr val="202B33"/>
                </a:solidFill>
                <a:latin typeface="Arial Unicode MS"/>
                <a:ea typeface="Arial Unicode MS"/>
                <a:cs typeface="Arial Unicode MS"/>
              </a:defRPr>
            </a:pPr>
            <a:r>
              <a:rPr sz="2175" b="1">
                <a:solidFill>
                  <a:srgbClr val="202B33"/>
                </a:solidFill>
                <a:latin typeface="Arial Unicode MS"/>
                <a:ea typeface="Arial Unicode MS"/>
                <a:cs typeface="Arial Unicode MS"/>
              </a:rPr>
              <a:t>Y01</a:t>
            </a:r>
          </a:p>
        </p:txBody>
      </p:sp>
      <p:sp>
        <p:nvSpPr>
          <p:cNvPr id="14" name="text-145">
            <a:extLst xmlns:a="http://schemas.openxmlformats.org/drawingml/2006/main">
              <a:ext uri="{FF2B5EF4-FFF2-40B4-BE49-F238E27FC236}">
                <a16:creationId xmlns:a16="http://schemas.microsoft.com/office/drawing/2014/main" id="{D9AAA959-156B-424F-BF60-77D14176728D}"/>
              </a:ext>
            </a:extLst>
          </p:cNvPr>
          <p:cNvSpPr>
            <a:spLocks xmlns:a="http://schemas.openxmlformats.org/drawingml/2006/main" noGrp="1"/>
          </p:cNvSpPr>
          <p:nvPr/>
        </p:nvSpPr>
        <p:spPr>
          <a:xfrm xmlns:a="http://schemas.openxmlformats.org/drawingml/2006/main">
            <a:off x="4343400" y="2590800"/>
            <a:ext cx="1638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687780"/>
                </a:solidFill>
                <a:latin typeface="Arial Unicode MS"/>
                <a:ea typeface="Arial Unicode MS"/>
                <a:cs typeface="Arial Unicode MS"/>
              </a:defRPr>
            </a:pPr>
            <a:r>
              <a:rPr sz="1425" b="0">
                <a:solidFill>
                  <a:srgbClr val="687780"/>
                </a:solidFill>
                <a:latin typeface="Arial Unicode MS"/>
                <a:ea typeface="Arial Unicode MS"/>
                <a:cs typeface="Arial Unicode MS"/>
              </a:rPr>
              <a:t>Learned meta-controller</a:t>
            </a:r>
          </a:p>
        </p:txBody>
      </p:sp>
      <p:sp>
        <p:nvSpPr>
          <p:cNvPr id="15" name="text-146">
            <a:extLst xmlns:a="http://schemas.openxmlformats.org/drawingml/2006/main">
              <a:ext uri="{FF2B5EF4-FFF2-40B4-BE49-F238E27FC236}">
                <a16:creationId xmlns:a16="http://schemas.microsoft.com/office/drawing/2014/main" id="{9E2C7ECE-6F62-418A-9022-8CDF6E22035E}"/>
              </a:ext>
            </a:extLst>
          </p:cNvPr>
          <p:cNvSpPr>
            <a:spLocks xmlns:a="http://schemas.openxmlformats.org/drawingml/2006/main" noGrp="1"/>
          </p:cNvSpPr>
          <p:nvPr/>
        </p:nvSpPr>
        <p:spPr>
          <a:xfrm xmlns:a="http://schemas.openxmlformats.org/drawingml/2006/main">
            <a:off x="4343400" y="3076575"/>
            <a:ext cx="1581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202B33"/>
                </a:solidFill>
                <a:latin typeface="Arial Unicode MS"/>
                <a:ea typeface="Arial Unicode MS"/>
                <a:cs typeface="Arial Unicode MS"/>
              </a:defRPr>
            </a:pPr>
            <a:r>
              <a:rPr sz="1650" b="0">
                <a:solidFill>
                  <a:srgbClr val="202B33"/>
                </a:solidFill>
                <a:latin typeface="Arial Unicode MS"/>
                <a:ea typeface="Arial Unicode MS"/>
                <a:cs typeface="Arial Unicode MS"/>
              </a:rPr>
              <a:t>AUC .883</a:t>
            </a:r>
          </a:p>
        </p:txBody>
      </p:sp>
      <p:sp>
        <p:nvSpPr>
          <p:cNvPr id="16" name="">
            <a:extLst xmlns:a="http://schemas.openxmlformats.org/drawingml/2006/main">
              <a:ext uri="{FF2B5EF4-FFF2-40B4-BE49-F238E27FC236}">
                <a16:creationId xmlns:a16="http://schemas.microsoft.com/office/drawing/2014/main" id="{DF655E45-D9A5-44CE-9D80-6CE8B61C1EE5}"/>
              </a:ext>
            </a:extLst>
          </p:cNvPr>
          <p:cNvSpPr>
            <a:spLocks xmlns:a="http://schemas.openxmlformats.org/drawingml/2006/main" noGrp="1"/>
          </p:cNvSpPr>
          <p:nvPr/>
        </p:nvSpPr>
        <p:spPr>
          <a:xfrm xmlns:a="http://schemas.openxmlformats.org/drawingml/2006/main">
            <a:off x="2114550" y="3914775"/>
            <a:ext cx="1866900" cy="1628775"/>
          </a:xfrm>
          <a:prstGeom xmlns:a="http://schemas.openxmlformats.org/drawingml/2006/main" prst="rect">
            <a:avLst/>
          </a:prstGeom>
          <a:solidFill xmlns:a="http://schemas.openxmlformats.org/drawingml/2006/main">
            <a:srgbClr val="FFFFFF"/>
          </a:solidFill>
          <a:ln xmlns:a="http://schemas.openxmlformats.org/drawingml/2006/main" w="14288">
            <a:solidFill>
              <a:srgbClr val="D9E0E4"/>
            </a:solidFill>
          </a:ln>
        </p:spPr>
      </p:sp>
      <p:sp>
        <p:nvSpPr>
          <p:cNvPr id="17" name="text-147">
            <a:extLst xmlns:a="http://schemas.openxmlformats.org/drawingml/2006/main">
              <a:ext uri="{FF2B5EF4-FFF2-40B4-BE49-F238E27FC236}">
                <a16:creationId xmlns:a16="http://schemas.microsoft.com/office/drawing/2014/main" id="{72E5C79C-0C1C-42CF-9632-5CF5BF883603}"/>
              </a:ext>
            </a:extLst>
          </p:cNvPr>
          <p:cNvSpPr>
            <a:spLocks xmlns:a="http://schemas.openxmlformats.org/drawingml/2006/main" noGrp="1"/>
          </p:cNvSpPr>
          <p:nvPr/>
        </p:nvSpPr>
        <p:spPr>
          <a:xfrm xmlns:a="http://schemas.openxmlformats.org/drawingml/2006/main">
            <a:off x="2286000" y="4038600"/>
            <a:ext cx="1524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a:solidFill>
                  <a:srgbClr val="202B33"/>
                </a:solidFill>
                <a:latin typeface="Arial Unicode MS"/>
                <a:ea typeface="Arial Unicode MS"/>
                <a:cs typeface="Arial Unicode MS"/>
              </a:defRPr>
            </a:pPr>
            <a:r>
              <a:rPr sz="2175" b="1">
                <a:solidFill>
                  <a:srgbClr val="202B33"/>
                </a:solidFill>
                <a:latin typeface="Arial Unicode MS"/>
                <a:ea typeface="Arial Unicode MS"/>
                <a:cs typeface="Arial Unicode MS"/>
              </a:rPr>
              <a:t>Y10</a:t>
            </a:r>
          </a:p>
        </p:txBody>
      </p:sp>
      <p:sp>
        <p:nvSpPr>
          <p:cNvPr id="18" name="text-148">
            <a:extLst xmlns:a="http://schemas.openxmlformats.org/drawingml/2006/main">
              <a:ext uri="{FF2B5EF4-FFF2-40B4-BE49-F238E27FC236}">
                <a16:creationId xmlns:a16="http://schemas.microsoft.com/office/drawing/2014/main" id="{15107CC1-1C5D-4736-8AA5-A5B9B94DDE20}"/>
              </a:ext>
            </a:extLst>
          </p:cNvPr>
          <p:cNvSpPr>
            <a:spLocks xmlns:a="http://schemas.openxmlformats.org/drawingml/2006/main" noGrp="1"/>
          </p:cNvSpPr>
          <p:nvPr/>
        </p:nvSpPr>
        <p:spPr>
          <a:xfrm xmlns:a="http://schemas.openxmlformats.org/drawingml/2006/main">
            <a:off x="2286000" y="4505325"/>
            <a:ext cx="1638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687780"/>
                </a:solidFill>
                <a:latin typeface="Arial Unicode MS"/>
                <a:ea typeface="Arial Unicode MS"/>
                <a:cs typeface="Arial Unicode MS"/>
              </a:defRPr>
            </a:pPr>
            <a:r>
              <a:rPr sz="1425" b="0">
                <a:solidFill>
                  <a:srgbClr val="687780"/>
                </a:solidFill>
                <a:latin typeface="Arial Unicode MS"/>
                <a:ea typeface="Arial Unicode MS"/>
                <a:cs typeface="Arial Unicode MS"/>
              </a:rPr>
              <a:t>Per-stage skills</a:t>
            </a:r>
          </a:p>
        </p:txBody>
      </p:sp>
      <p:sp>
        <p:nvSpPr>
          <p:cNvPr id="19" name="text-149">
            <a:extLst xmlns:a="http://schemas.openxmlformats.org/drawingml/2006/main">
              <a:ext uri="{FF2B5EF4-FFF2-40B4-BE49-F238E27FC236}">
                <a16:creationId xmlns:a16="http://schemas.microsoft.com/office/drawing/2014/main" id="{9BCFBDD1-E39B-4014-B84D-2C9D4E74C287}"/>
              </a:ext>
            </a:extLst>
          </p:cNvPr>
          <p:cNvSpPr>
            <a:spLocks xmlns:a="http://schemas.openxmlformats.org/drawingml/2006/main" noGrp="1"/>
          </p:cNvSpPr>
          <p:nvPr/>
        </p:nvSpPr>
        <p:spPr>
          <a:xfrm xmlns:a="http://schemas.openxmlformats.org/drawingml/2006/main">
            <a:off x="2286000" y="4991100"/>
            <a:ext cx="1581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202B33"/>
                </a:solidFill>
                <a:latin typeface="Arial Unicode MS"/>
                <a:ea typeface="Arial Unicode MS"/>
                <a:cs typeface="Arial Unicode MS"/>
              </a:defRPr>
            </a:pPr>
            <a:r>
              <a:rPr sz="1650" b="0">
                <a:solidFill>
                  <a:srgbClr val="202B33"/>
                </a:solidFill>
                <a:latin typeface="Arial Unicode MS"/>
                <a:ea typeface="Arial Unicode MS"/>
                <a:cs typeface="Arial Unicode MS"/>
              </a:rPr>
              <a:t>AUC .988</a:t>
            </a:r>
          </a:p>
        </p:txBody>
      </p:sp>
      <p:sp>
        <p:nvSpPr>
          <p:cNvPr id="20" name="">
            <a:extLst xmlns:a="http://schemas.openxmlformats.org/drawingml/2006/main">
              <a:ext uri="{FF2B5EF4-FFF2-40B4-BE49-F238E27FC236}">
                <a16:creationId xmlns:a16="http://schemas.microsoft.com/office/drawing/2014/main" id="{26964F34-1A2C-46EF-B74C-5007CE3C2ACC}"/>
              </a:ext>
            </a:extLst>
          </p:cNvPr>
          <p:cNvSpPr>
            <a:spLocks xmlns:a="http://schemas.openxmlformats.org/drawingml/2006/main" noGrp="1"/>
          </p:cNvSpPr>
          <p:nvPr/>
        </p:nvSpPr>
        <p:spPr>
          <a:xfrm xmlns:a="http://schemas.openxmlformats.org/drawingml/2006/main">
            <a:off x="4171950" y="3914775"/>
            <a:ext cx="1866900" cy="1628775"/>
          </a:xfrm>
          <a:prstGeom xmlns:a="http://schemas.openxmlformats.org/drawingml/2006/main" prst="rect">
            <a:avLst/>
          </a:prstGeom>
          <a:solidFill xmlns:a="http://schemas.openxmlformats.org/drawingml/2006/main">
            <a:srgbClr val="EAF3F9"/>
          </a:solidFill>
          <a:ln xmlns:a="http://schemas.openxmlformats.org/drawingml/2006/main" w="14288">
            <a:solidFill>
              <a:srgbClr val="D9E0E4"/>
            </a:solidFill>
          </a:ln>
        </p:spPr>
      </p:sp>
      <p:sp>
        <p:nvSpPr>
          <p:cNvPr id="21" name="text-150">
            <a:extLst xmlns:a="http://schemas.openxmlformats.org/drawingml/2006/main">
              <a:ext uri="{FF2B5EF4-FFF2-40B4-BE49-F238E27FC236}">
                <a16:creationId xmlns:a16="http://schemas.microsoft.com/office/drawing/2014/main" id="{E6F0A662-E1EC-4716-AF2F-5044CB07A3DC}"/>
              </a:ext>
            </a:extLst>
          </p:cNvPr>
          <p:cNvSpPr>
            <a:spLocks xmlns:a="http://schemas.openxmlformats.org/drawingml/2006/main" noGrp="1"/>
          </p:cNvSpPr>
          <p:nvPr/>
        </p:nvSpPr>
        <p:spPr>
          <a:xfrm xmlns:a="http://schemas.openxmlformats.org/drawingml/2006/main">
            <a:off x="4343400" y="4038600"/>
            <a:ext cx="1524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a:solidFill>
                  <a:srgbClr val="2176AD"/>
                </a:solidFill>
                <a:latin typeface="Arial Unicode MS"/>
                <a:ea typeface="Arial Unicode MS"/>
                <a:cs typeface="Arial Unicode MS"/>
              </a:defRPr>
            </a:pPr>
            <a:r>
              <a:rPr sz="2175" b="1">
                <a:solidFill>
                  <a:srgbClr val="2176AD"/>
                </a:solidFill>
                <a:latin typeface="Arial Unicode MS"/>
                <a:ea typeface="Arial Unicode MS"/>
                <a:cs typeface="Arial Unicode MS"/>
              </a:rPr>
              <a:t>Y11</a:t>
            </a:r>
          </a:p>
        </p:txBody>
      </p:sp>
      <p:sp>
        <p:nvSpPr>
          <p:cNvPr id="22" name="text-151">
            <a:extLst xmlns:a="http://schemas.openxmlformats.org/drawingml/2006/main">
              <a:ext uri="{FF2B5EF4-FFF2-40B4-BE49-F238E27FC236}">
                <a16:creationId xmlns:a16="http://schemas.microsoft.com/office/drawing/2014/main" id="{A3FFB7CB-19FC-480D-95BF-2203C5DB3FC6}"/>
              </a:ext>
            </a:extLst>
          </p:cNvPr>
          <p:cNvSpPr>
            <a:spLocks xmlns:a="http://schemas.openxmlformats.org/drawingml/2006/main" noGrp="1"/>
          </p:cNvSpPr>
          <p:nvPr/>
        </p:nvSpPr>
        <p:spPr>
          <a:xfrm xmlns:a="http://schemas.openxmlformats.org/drawingml/2006/main">
            <a:off x="4343400" y="4505325"/>
            <a:ext cx="1638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687780"/>
                </a:solidFill>
                <a:latin typeface="Arial Unicode MS"/>
                <a:ea typeface="Arial Unicode MS"/>
                <a:cs typeface="Arial Unicode MS"/>
              </a:defRPr>
            </a:pPr>
            <a:r>
              <a:rPr sz="1425" b="0">
                <a:solidFill>
                  <a:srgbClr val="687780"/>
                </a:solidFill>
                <a:latin typeface="Arial Unicode MS"/>
                <a:ea typeface="Arial Unicode MS"/>
                <a:cs typeface="Arial Unicode MS"/>
              </a:rPr>
              <a:t>Shared skills</a:t>
            </a:r>
          </a:p>
        </p:txBody>
      </p:sp>
      <p:sp>
        <p:nvSpPr>
          <p:cNvPr id="23" name="text-152">
            <a:extLst xmlns:a="http://schemas.openxmlformats.org/drawingml/2006/main">
              <a:ext uri="{FF2B5EF4-FFF2-40B4-BE49-F238E27FC236}">
                <a16:creationId xmlns:a16="http://schemas.microsoft.com/office/drawing/2014/main" id="{0E32531A-688E-44D4-AADB-772FFB37EBC4}"/>
              </a:ext>
            </a:extLst>
          </p:cNvPr>
          <p:cNvSpPr>
            <a:spLocks xmlns:a="http://schemas.openxmlformats.org/drawingml/2006/main" noGrp="1"/>
          </p:cNvSpPr>
          <p:nvPr/>
        </p:nvSpPr>
        <p:spPr>
          <a:xfrm xmlns:a="http://schemas.openxmlformats.org/drawingml/2006/main">
            <a:off x="4343400" y="4991100"/>
            <a:ext cx="1581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202B33"/>
                </a:solidFill>
                <a:latin typeface="Arial Unicode MS"/>
                <a:ea typeface="Arial Unicode MS"/>
                <a:cs typeface="Arial Unicode MS"/>
              </a:defRPr>
            </a:pPr>
            <a:r>
              <a:rPr sz="1650" b="0">
                <a:solidFill>
                  <a:srgbClr val="202B33"/>
                </a:solidFill>
                <a:latin typeface="Arial Unicode MS"/>
                <a:ea typeface="Arial Unicode MS"/>
                <a:cs typeface="Arial Unicode MS"/>
              </a:rPr>
              <a:t>AUC .997</a:t>
            </a:r>
          </a:p>
        </p:txBody>
      </p:sp>
      <p:sp>
        <p:nvSpPr>
          <p:cNvPr id="24" name="text-153">
            <a:extLst xmlns:a="http://schemas.openxmlformats.org/drawingml/2006/main">
              <a:ext uri="{FF2B5EF4-FFF2-40B4-BE49-F238E27FC236}">
                <a16:creationId xmlns:a16="http://schemas.microsoft.com/office/drawing/2014/main" id="{AEBB8797-DA2D-4CB0-A214-56094F1F572E}"/>
              </a:ext>
            </a:extLst>
          </p:cNvPr>
          <p:cNvSpPr>
            <a:spLocks xmlns:a="http://schemas.openxmlformats.org/drawingml/2006/main" noGrp="1"/>
          </p:cNvSpPr>
          <p:nvPr/>
        </p:nvSpPr>
        <p:spPr>
          <a:xfrm xmlns:a="http://schemas.openxmlformats.org/drawingml/2006/main">
            <a:off x="7181850" y="1333500"/>
            <a:ext cx="4048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a:solidFill>
                  <a:srgbClr val="202B33"/>
                </a:solidFill>
                <a:latin typeface="Arial Unicode MS"/>
                <a:ea typeface="Arial Unicode MS"/>
                <a:cs typeface="Arial Unicode MS"/>
              </a:defRPr>
            </a:pPr>
            <a:r>
              <a:rPr sz="1875" b="0">
                <a:solidFill>
                  <a:srgbClr val="202B33"/>
                </a:solidFill>
                <a:latin typeface="Arial Unicode MS"/>
                <a:ea typeface="Arial Unicode MS"/>
                <a:cs typeface="Arial Unicode MS"/>
              </a:rPr>
              <a:t>Median first90 / environment steps</a:t>
            </a:r>
          </a:p>
        </p:txBody>
      </p:sp>
      <p:graphicFrame>
        <p:nvGraphicFramePr>
          <p:cNvPr id="52" name="Chart"/>
          <p:cNvGraphicFramePr/>
          <p:nvPr/>
        </p:nvGraphicFramePr>
        <p:xfrm>
          <a:off xmlns:a="http://schemas.openxmlformats.org/drawingml/2006/main" x="6610350" y="2095500"/>
          <a:ext xmlns:a="http://schemas.openxmlformats.org/drawingml/2006/main" cx="5000625" cy="3333750"/>
        </p:xfrm>
        <a:graphic xmlns:a="http://schemas.openxmlformats.org/drawingml/2006/main">
          <a:graphicData uri="http://schemas.openxmlformats.org/drawingml/2006/chart">
            <c:chart xmlns:r="http://schemas.openxmlformats.org/officeDocument/2006/relationships" xmlns:c="http://schemas.openxmlformats.org/drawingml/2006/chart" r:id="Rbf996e172db34f19"/>
          </a:graphicData>
        </a:graphic>
      </p:graphicFrame>
      <p:sp>
        <p:nvSpPr>
          <p:cNvPr id="26" name="text-154">
            <a:extLst xmlns:a="http://schemas.openxmlformats.org/drawingml/2006/main">
              <a:ext uri="{FF2B5EF4-FFF2-40B4-BE49-F238E27FC236}">
                <a16:creationId xmlns:a16="http://schemas.microsoft.com/office/drawing/2014/main" id="{BF207D6A-AA9A-4534-85C5-5C6DCCF2B4F5}"/>
              </a:ext>
            </a:extLst>
          </p:cNvPr>
          <p:cNvSpPr>
            <a:spLocks xmlns:a="http://schemas.openxmlformats.org/drawingml/2006/main" noGrp="1"/>
          </p:cNvSpPr>
          <p:nvPr/>
        </p:nvSpPr>
        <p:spPr>
          <a:xfrm xmlns:a="http://schemas.openxmlformats.org/drawingml/2006/main">
            <a:off x="7734300" y="5600700"/>
            <a:ext cx="323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a:solidFill>
                  <a:srgbClr val="687780"/>
                </a:solidFill>
                <a:latin typeface="Arial Unicode MS"/>
                <a:ea typeface="Arial Unicode MS"/>
                <a:cs typeface="Arial Unicode MS"/>
              </a:defRPr>
            </a:pPr>
            <a:r>
              <a:rPr sz="1725" b="0">
                <a:solidFill>
                  <a:srgbClr val="687780"/>
                </a:solidFill>
                <a:latin typeface="Arial Unicode MS"/>
                <a:ea typeface="Arial Unicode MS"/>
                <a:cs typeface="Arial Unicode MS"/>
              </a:rPr>
              <a:t>QRM  AUC .972</a:t>
            </a:r>
          </a:p>
        </p:txBody>
      </p:sp>
      <p:sp>
        <p:nvSpPr>
          <p:cNvPr id="27" name="text-155">
            <a:extLst xmlns:a="http://schemas.openxmlformats.org/drawingml/2006/main">
              <a:ext uri="{FF2B5EF4-FFF2-40B4-BE49-F238E27FC236}">
                <a16:creationId xmlns:a16="http://schemas.microsoft.com/office/drawing/2014/main" id="{38389700-6579-48A1-9AC1-DC3F855A5043}"/>
              </a:ext>
            </a:extLst>
          </p:cNvPr>
          <p:cNvSpPr>
            <a:spLocks xmlns:a="http://schemas.openxmlformats.org/drawingml/2006/main" noGrp="1"/>
          </p:cNvSpPr>
          <p:nvPr/>
        </p:nvSpPr>
        <p:spPr>
          <a:xfrm xmlns:a="http://schemas.openxmlformats.org/drawingml/2006/main">
            <a:off x="762000" y="59626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425" b="0">
                <a:solidFill>
                  <a:srgbClr val="C47A35"/>
                </a:solidFill>
                <a:latin typeface="Arial Unicode MS"/>
                <a:ea typeface="Arial Unicode MS"/>
                <a:cs typeface="Arial Unicode MS"/>
              </a:defRPr>
            </a:pPr>
            <a:r>
              <a:rPr sz="1425" b="0">
                <a:solidFill>
                  <a:srgbClr val="C47A35"/>
                </a:solidFill>
                <a:latin typeface="Arial Unicode MS"/>
                <a:ea typeface="Arial Unicode MS"/>
                <a:cs typeface="Arial Unicode MS"/>
              </a:rPr>
              <a:t>Censoring: 30/720 runs of Y00 and 10/720 of Y01 never attained; medians are over attainers only</a:t>
            </a:r>
          </a:p>
        </p:txBody>
      </p:sp>
    </p:spTree>
    <p:extLst>
      <p:ext uri="{BB962C8B-B14F-4D97-AF65-F5344CB8AC3E}">
        <p14:creationId xmlns:p14="http://schemas.microsoft.com/office/powerpoint/2010/main" val="77041637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156">
            <a:extLst xmlns:a="http://schemas.openxmlformats.org/drawingml/2006/main">
              <a:ext uri="{FF2B5EF4-FFF2-40B4-BE49-F238E27FC236}">
                <a16:creationId xmlns:a16="http://schemas.microsoft.com/office/drawing/2014/main" id="{1F9EB0A8-4DDB-45F3-89A7-8EFBE47AD08E}"/>
              </a:ext>
            </a:extLst>
          </p:cNvPr>
          <p:cNvSpPr>
            <a:spLocks xmlns:a="http://schemas.openxmlformats.org/drawingml/2006/main" noGrp="1"/>
          </p:cNvSpPr>
          <p:nvPr/>
        </p:nvSpPr>
        <p:spPr>
          <a:xfrm xmlns:a="http://schemas.openxmlformats.org/drawingml/2006/main">
            <a:off x="609600" y="3619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00" b="1">
                <a:solidFill>
                  <a:srgbClr val="202B33"/>
                </a:solidFill>
                <a:latin typeface="Arial Unicode MS"/>
                <a:ea typeface="Arial Unicode MS"/>
                <a:cs typeface="Arial Unicode MS"/>
              </a:defRPr>
            </a:pPr>
            <a:r>
              <a:rPr sz="2700" b="1">
                <a:solidFill>
                  <a:srgbClr val="202B33"/>
                </a:solidFill>
                <a:latin typeface="Arial Unicode MS"/>
                <a:ea typeface="Arial Unicode MS"/>
                <a:cs typeface="Arial Unicode MS"/>
              </a:rPr>
              <a:t>Appendix · Hazard-Cell Dose Sweep</a:t>
            </a:r>
          </a:p>
        </p:txBody>
      </p:sp>
      <p:sp>
        <p:nvSpPr>
          <p:cNvPr id="2" name="text-157">
            <a:extLst xmlns:a="http://schemas.openxmlformats.org/drawingml/2006/main">
              <a:ext uri="{FF2B5EF4-FFF2-40B4-BE49-F238E27FC236}">
                <a16:creationId xmlns:a16="http://schemas.microsoft.com/office/drawing/2014/main" id="{DAE78B47-10C1-4816-BD3B-B6EA8C15F684}"/>
              </a:ext>
            </a:extLst>
          </p:cNvPr>
          <p:cNvSpPr>
            <a:spLocks xmlns:a="http://schemas.openxmlformats.org/drawingml/2006/main" noGrp="1"/>
          </p:cNvSpPr>
          <p:nvPr/>
        </p:nvSpPr>
        <p:spPr>
          <a:xfrm xmlns:a="http://schemas.openxmlformats.org/drawingml/2006/main">
            <a:off x="609600" y="62960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050" b="0">
                <a:solidFill>
                  <a:srgbClr val="687780"/>
                </a:solidFill>
                <a:latin typeface="Arial Unicode MS"/>
                <a:ea typeface="Arial Unicode MS"/>
                <a:cs typeface="Arial Unicode MS"/>
              </a:defRPr>
            </a:pPr>
            <a:r>
              <a:rPr sz="1050" b="0">
                <a:solidFill>
                  <a:srgbClr val="687780"/>
                </a:solidFill>
                <a:latin typeface="Arial Unicode MS"/>
                <a:ea typeface="Arial Unicode MS"/>
                <a:cs typeface="Arial Unicode MS"/>
              </a:rPr>
              <a:t>Rules given; fixed step-cost protocol; 1,000,000-step budget; per-seed records lost, intervals cannot be recomputed</a:t>
            </a:r>
          </a:p>
        </p:txBody>
      </p:sp>
      <p:sp>
        <p:nvSpPr>
          <p:cNvPr id="3" name="text-158">
            <a:extLst xmlns:a="http://schemas.openxmlformats.org/drawingml/2006/main">
              <a:ext uri="{FF2B5EF4-FFF2-40B4-BE49-F238E27FC236}">
                <a16:creationId xmlns:a16="http://schemas.microsoft.com/office/drawing/2014/main" id="{4D77A7E8-9B3D-4DCA-909E-DC73DB4F0EE5}"/>
              </a:ext>
            </a:extLst>
          </p:cNvPr>
          <p:cNvSpPr>
            <a:spLocks xmlns:a="http://schemas.openxmlformats.org/drawingml/2006/main" noGrp="1"/>
          </p:cNvSpPr>
          <p:nvPr/>
        </p:nvSpPr>
        <p:spPr>
          <a:xfrm xmlns:a="http://schemas.openxmlformats.org/drawingml/2006/main">
            <a:off x="11334750" y="629602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00" b="0">
                <a:solidFill>
                  <a:srgbClr val="687780"/>
                </a:solidFill>
                <a:latin typeface="Arial Unicode MS"/>
                <a:ea typeface="Arial Unicode MS"/>
                <a:cs typeface="Arial Unicode MS"/>
              </a:defRPr>
            </a:pPr>
            <a:r>
              <a:rPr sz="1200" b="0">
                <a:solidFill>
                  <a:srgbClr val="687780"/>
                </a:solidFill>
                <a:latin typeface="Arial Unicode MS"/>
                <a:ea typeface="Arial Unicode MS"/>
                <a:cs typeface="Arial Unicode MS"/>
              </a:rPr>
              <a:t>16</a:t>
            </a:r>
          </a:p>
        </p:txBody>
      </p:sp>
      <p:graphicFrame>
        <p:nvGraphicFramePr>
          <p:cNvPr id="11" name="Chart"/>
          <p:cNvGraphicFramePr/>
          <p:nvPr/>
        </p:nvGraphicFramePr>
        <p:xfrm>
          <a:off xmlns:a="http://schemas.openxmlformats.org/drawingml/2006/main" x="866775" y="1371600"/>
          <a:ext xmlns:a="http://schemas.openxmlformats.org/drawingml/2006/main" cx="10525125" cy="4038600"/>
        </p:xfrm>
        <a:graphic xmlns:a="http://schemas.openxmlformats.org/drawingml/2006/main">
          <a:graphicData uri="http://schemas.openxmlformats.org/drawingml/2006/chart">
            <c:chart xmlns:r="http://schemas.openxmlformats.org/officeDocument/2006/relationships" xmlns:c="http://schemas.openxmlformats.org/drawingml/2006/chart" r:id="R6d3db3ec709f4c2a"/>
          </a:graphicData>
        </a:graphic>
      </p:graphicFrame>
      <p:sp>
        <p:nvSpPr>
          <p:cNvPr id="5" name="">
            <a:extLst xmlns:a="http://schemas.openxmlformats.org/drawingml/2006/main">
              <a:ext uri="{FF2B5EF4-FFF2-40B4-BE49-F238E27FC236}">
                <a16:creationId xmlns:a16="http://schemas.microsoft.com/office/drawing/2014/main" id="{B6AC8D97-AAEE-4079-93DF-85F7C24AEFF9}"/>
              </a:ext>
            </a:extLst>
          </p:cNvPr>
          <p:cNvSpPr>
            <a:spLocks xmlns:a="http://schemas.openxmlformats.org/drawingml/2006/main" noGrp="1"/>
          </p:cNvSpPr>
          <p:nvPr/>
        </p:nvSpPr>
        <p:spPr>
          <a:xfrm xmlns:a="http://schemas.openxmlformats.org/drawingml/2006/main">
            <a:off x="1428750" y="5562600"/>
            <a:ext cx="9334500" cy="0"/>
          </a:xfrm>
          <a:prstGeom xmlns:a="http://schemas.openxmlformats.org/drawingml/2006/main" prst="line">
            <a:avLst/>
          </a:prstGeom>
          <a:noFill xmlns:a="http://schemas.openxmlformats.org/drawingml/2006/main"/>
          <a:ln xmlns:a="http://schemas.openxmlformats.org/drawingml/2006/main" w="14288">
            <a:solidFill>
              <a:srgbClr val="D9E0E4"/>
            </a:solidFill>
          </a:ln>
        </p:spPr>
      </p:sp>
      <p:sp>
        <p:nvSpPr>
          <p:cNvPr id="6" name="text-159">
            <a:extLst xmlns:a="http://schemas.openxmlformats.org/drawingml/2006/main">
              <a:ext uri="{FF2B5EF4-FFF2-40B4-BE49-F238E27FC236}">
                <a16:creationId xmlns:a16="http://schemas.microsoft.com/office/drawing/2014/main" id="{7FFFA85D-BA7A-4C1B-82FF-2DE3DF43B870}"/>
              </a:ext>
            </a:extLst>
          </p:cNvPr>
          <p:cNvSpPr>
            <a:spLocks xmlns:a="http://schemas.openxmlformats.org/drawingml/2006/main" noGrp="1"/>
          </p:cNvSpPr>
          <p:nvPr/>
        </p:nvSpPr>
        <p:spPr>
          <a:xfrm xmlns:a="http://schemas.openxmlformats.org/drawingml/2006/main">
            <a:off x="762000" y="56769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75" b="1">
                <a:solidFill>
                  <a:srgbClr val="202B33"/>
                </a:solidFill>
                <a:latin typeface="Arial Unicode MS"/>
                <a:ea typeface="Arial Unicode MS"/>
                <a:cs typeface="Arial Unicode MS"/>
              </a:defRPr>
            </a:pPr>
            <a:r>
              <a:rPr sz="1875" b="1">
                <a:solidFill>
                  <a:srgbClr val="202B33"/>
                </a:solidFill>
                <a:latin typeface="Arial Unicode MS"/>
                <a:ea typeface="Arial Unicode MS"/>
                <a:cs typeface="Arial Unicode MS"/>
              </a:rPr>
              <a:t>Skills without routing 0.882   &gt;&gt;   routing without skills 0.106</a:t>
            </a:r>
          </a:p>
        </p:txBody>
      </p:sp>
      <p:sp>
        <p:nvSpPr>
          <p:cNvPr id="7" name="text-160">
            <a:extLst xmlns:a="http://schemas.openxmlformats.org/drawingml/2006/main">
              <a:ext uri="{FF2B5EF4-FFF2-40B4-BE49-F238E27FC236}">
                <a16:creationId xmlns:a16="http://schemas.microsoft.com/office/drawing/2014/main" id="{A29E6E87-0848-485C-826C-7580DA601835}"/>
              </a:ext>
            </a:extLst>
          </p:cNvPr>
          <p:cNvSpPr>
            <a:spLocks xmlns:a="http://schemas.openxmlformats.org/drawingml/2006/main" noGrp="1"/>
          </p:cNvSpPr>
          <p:nvPr/>
        </p:nvSpPr>
        <p:spPr>
          <a:xfrm xmlns:a="http://schemas.openxmlformats.org/drawingml/2006/main">
            <a:off x="762000" y="60102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0">
                <a:solidFill>
                  <a:srgbClr val="C47A35"/>
                </a:solidFill>
                <a:latin typeface="Arial Unicode MS"/>
                <a:ea typeface="Arial Unicode MS"/>
                <a:cs typeface="Arial Unicode MS"/>
              </a:defRPr>
            </a:pPr>
            <a:r>
              <a:rPr sz="1575" b="0">
                <a:solidFill>
                  <a:srgbClr val="C47A35"/>
                </a:solidFill>
                <a:latin typeface="Arial Unicode MS"/>
                <a:ea typeface="Arial Unicode MS"/>
                <a:cs typeface="Arial Unicode MS"/>
              </a:rPr>
              <a:t>Irreversibility amplifies reuse, not routing (with no hazard cells both arms sit at 100%)</a:t>
            </a:r>
          </a:p>
        </p:txBody>
      </p:sp>
    </p:spTree>
    <p:extLst>
      <p:ext uri="{BB962C8B-B14F-4D97-AF65-F5344CB8AC3E}">
        <p14:creationId xmlns:p14="http://schemas.microsoft.com/office/powerpoint/2010/main" val="28538191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2026-09-16T15:13:35.7520000Z</dcterms:created>
  <dcterms:modified xsi:type="dcterms:W3CDTF">2026-09-16T15:13:35.7520000Z</dcterms:modified>
</coreProperties>
</file>