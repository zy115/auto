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9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0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20a478b95b4971" /><Relationship Type="http://schemas.openxmlformats.org/officeDocument/2006/relationships/extended-properties" Target="/docProps/app.xml" Id="Rdf54af4155ca483d" /><Relationship Type="http://schemas.openxmlformats.org/officeDocument/2006/relationships/officeDocument" Target="/ppt/presentation.xml" Id="R8bdfb8f7b35f4e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030bd6ebb7462c"/>
  </p:sldMasterIdLst>
  <p:notesMasterIdLst>
    <p:notesMasterId xmlns:r="http://schemas.openxmlformats.org/officeDocument/2006/relationships" r:id="Rdf0a2a317db846a2"/>
  </p:notesMasterIdLst>
  <p:sldIdLst>
    <p:sldId xmlns:r="http://schemas.openxmlformats.org/officeDocument/2006/relationships" id="256" r:id="R906f8cea9c2e4196"/>
    <p:sldId xmlns:r="http://schemas.openxmlformats.org/officeDocument/2006/relationships" id="257" r:id="Rbe35ac6eb43e4fb4"/>
    <p:sldId xmlns:r="http://schemas.openxmlformats.org/officeDocument/2006/relationships" id="258" r:id="R500981ba1269406f"/>
    <p:sldId xmlns:r="http://schemas.openxmlformats.org/officeDocument/2006/relationships" id="259" r:id="Rae6dc40111a14190"/>
    <p:sldId xmlns:r="http://schemas.openxmlformats.org/officeDocument/2006/relationships" id="260" r:id="R514f7bbf7d024e17"/>
    <p:sldId xmlns:r="http://schemas.openxmlformats.org/officeDocument/2006/relationships" id="261" r:id="R3f2b7c0cc6984244"/>
    <p:sldId xmlns:r="http://schemas.openxmlformats.org/officeDocument/2006/relationships" id="262" r:id="R7bd4ad146eb147e1"/>
    <p:sldId xmlns:r="http://schemas.openxmlformats.org/officeDocument/2006/relationships" id="263" r:id="R6ba4c22b9d2544d3"/>
    <p:sldId xmlns:r="http://schemas.openxmlformats.org/officeDocument/2006/relationships" id="264" r:id="R29f8dfcf42f84800"/>
    <p:sldId xmlns:r="http://schemas.openxmlformats.org/officeDocument/2006/relationships" id="265" r:id="R21d32d8a8f6d47a6"/>
    <p:sldId xmlns:r="http://schemas.openxmlformats.org/officeDocument/2006/relationships" id="266" r:id="R4b74134d8e3d475f"/>
    <p:sldId xmlns:r="http://schemas.openxmlformats.org/officeDocument/2006/relationships" id="267" r:id="R695efa6d37c54d47"/>
    <p:sldId xmlns:r="http://schemas.openxmlformats.org/officeDocument/2006/relationships" id="268" r:id="R6c869f80b4284f1a"/>
    <p:sldId xmlns:r="http://schemas.openxmlformats.org/officeDocument/2006/relationships" id="269" r:id="Rac2a5b29289b47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230e3b78c34be8" /><Relationship Type="http://schemas.openxmlformats.org/officeDocument/2006/relationships/slideMaster" Target="/ppt/slideMasters/slideMaster1.xml" Id="Rec030bd6ebb7462c" /><Relationship Type="http://schemas.openxmlformats.org/officeDocument/2006/relationships/notesMaster" Target="/ppt/notesMasters/notesMaster1.xml" Id="Rdf0a2a317db846a2" /><Relationship Type="http://schemas.openxmlformats.org/officeDocument/2006/relationships/presProps" Target="/ppt/presProps.xml" Id="R56119cd8959f48f4" /><Relationship Type="http://schemas.openxmlformats.org/officeDocument/2006/relationships/tableStyles" Target="/ppt/tableStyles.xml" Id="R53043954f59e44fc" /><Relationship Type="http://schemas.openxmlformats.org/officeDocument/2006/relationships/slide" Target="/ppt/slides/slide1.xml" Id="R906f8cea9c2e4196" /><Relationship Type="http://schemas.openxmlformats.org/officeDocument/2006/relationships/slide" Target="/ppt/slides/slide2.xml" Id="Rbe35ac6eb43e4fb4" /><Relationship Type="http://schemas.openxmlformats.org/officeDocument/2006/relationships/slide" Target="/ppt/slides/slide3.xml" Id="R500981ba1269406f" /><Relationship Type="http://schemas.openxmlformats.org/officeDocument/2006/relationships/slide" Target="/ppt/slides/slide4.xml" Id="Rae6dc40111a14190" /><Relationship Type="http://schemas.openxmlformats.org/officeDocument/2006/relationships/slide" Target="/ppt/slides/slide5.xml" Id="R514f7bbf7d024e17" /><Relationship Type="http://schemas.openxmlformats.org/officeDocument/2006/relationships/slide" Target="/ppt/slides/slide6.xml" Id="R3f2b7c0cc6984244" /><Relationship Type="http://schemas.openxmlformats.org/officeDocument/2006/relationships/slide" Target="/ppt/slides/slide7.xml" Id="R7bd4ad146eb147e1" /><Relationship Type="http://schemas.openxmlformats.org/officeDocument/2006/relationships/slide" Target="/ppt/slides/slide8.xml" Id="R6ba4c22b9d2544d3" /><Relationship Type="http://schemas.openxmlformats.org/officeDocument/2006/relationships/slide" Target="/ppt/slides/slide9.xml" Id="R29f8dfcf42f84800" /><Relationship Type="http://schemas.openxmlformats.org/officeDocument/2006/relationships/slide" Target="/ppt/slides/slide10.xml" Id="R21d32d8a8f6d47a6" /><Relationship Type="http://schemas.openxmlformats.org/officeDocument/2006/relationships/slide" Target="/ppt/slides/slide11.xml" Id="R4b74134d8e3d475f" /><Relationship Type="http://schemas.openxmlformats.org/officeDocument/2006/relationships/slide" Target="/ppt/slides/slide12.xml" Id="R695efa6d37c54d47" /><Relationship Type="http://schemas.openxmlformats.org/officeDocument/2006/relationships/slide" Target="/ppt/slides/slide13.xml" Id="R6c869f80b4284f1a" /><Relationship Type="http://schemas.openxmlformats.org/officeDocument/2006/relationships/slide" Target="/ppt/slides/slide14.xml" Id="Rac2a5b29289b47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daa469d15e49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cee9e9c039427c" /><Relationship Type="http://schemas.openxmlformats.org/officeDocument/2006/relationships/notesMaster" Target="/ppt/notesMasters/notesMaster1.xml" Id="R924de7f349084a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8b59a960f24e69" /><Relationship Type="http://schemas.openxmlformats.org/officeDocument/2006/relationships/notesMaster" Target="/ppt/notesMasters/notesMaster1.xml" Id="R00103a16def94f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d73142c256449f" /><Relationship Type="http://schemas.openxmlformats.org/officeDocument/2006/relationships/notesMaster" Target="/ppt/notesMasters/notesMaster1.xml" Id="Re64f3ba328444a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c9f413fbc84cb6" /><Relationship Type="http://schemas.openxmlformats.org/officeDocument/2006/relationships/notesMaster" Target="/ppt/notesMasters/notesMaster1.xml" Id="R89ce2b4c8a9e42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4bffc2341642b9" /><Relationship Type="http://schemas.openxmlformats.org/officeDocument/2006/relationships/notesMaster" Target="/ppt/notesMasters/notesMaster1.xml" Id="R9e8017f6073b4d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7c906693244ef4" /><Relationship Type="http://schemas.openxmlformats.org/officeDocument/2006/relationships/notesMaster" Target="/ppt/notesMasters/notesMaster1.xml" Id="R25ebd676712a42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9bfbb779564937" /><Relationship Type="http://schemas.openxmlformats.org/officeDocument/2006/relationships/notesMaster" Target="/ppt/notesMasters/notesMaster1.xml" Id="R8d29e9e9d55740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9d3d8733e74d81" /><Relationship Type="http://schemas.openxmlformats.org/officeDocument/2006/relationships/notesMaster" Target="/ppt/notesMasters/notesMaster1.xml" Id="R51f2dab0e27544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c8b28044fd43ac" /><Relationship Type="http://schemas.openxmlformats.org/officeDocument/2006/relationships/notesMaster" Target="/ppt/notesMasters/notesMaster1.xml" Id="R4d15e93486a046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64f53f5cd24dc2" /><Relationship Type="http://schemas.openxmlformats.org/officeDocument/2006/relationships/notesMaster" Target="/ppt/notesMasters/notesMaster1.xml" Id="R80425f1971844c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ad444589c14d09" /><Relationship Type="http://schemas.openxmlformats.org/officeDocument/2006/relationships/notesMaster" Target="/ppt/notesMasters/notesMaster1.xml" Id="Ra370d6ed1d464b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8e281c2f5a48fa" /><Relationship Type="http://schemas.openxmlformats.org/officeDocument/2006/relationships/notesMaster" Target="/ppt/notesMasters/notesMaster1.xml" Id="Rffecf5e096d748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17eb8673c242bb" /><Relationship Type="http://schemas.openxmlformats.org/officeDocument/2006/relationships/notesMaster" Target="/ppt/notesMasters/notesMaster1.xml" Id="Rc5ddf4313b584d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a5f4fb863af46fe" /><Relationship Type="http://schemas.openxmlformats.org/officeDocument/2006/relationships/notesMaster" Target="/ppt/notesMasters/notesMaster1.xml" Id="R8c9dfa565b694d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问题是隐藏任务顺序/逻辑的发现，不是完全没有任务信号的目标发现。事件可识别，早期实验提供可靠的逐步推进反馈。格子图仅为机制示意，不对应具体实验地图。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6：长度16，动作噪声，第二批32个新种子。左图为首次成功率达到90%的平均环境步。右图为第一次完整成功之前，在已知目标前缀中累计执行的平均步数，两者观察区间不同，不应当相减或当成总成本的精确分解。三方法每步9次Bellman更新；立即/延迟epsilon均为0.005，普通replay为0.05（开发集选择）。未声称超过ISA等既有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在线性任务与可靠进度反馈条件下，进度唯一标记任务阶段。列表是链式自动机的等价表示；结果不证明图形式本身的优势。未知项由试错逐步填入。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→E与B→E汇入同一物理位置，进度均为2、末事件均为E，但后继要求不同。图中两个E表示不同历史下的任务状态，不是两个物理位置。充分历史可以解决这个任务。咖啡例子只是同构的直觉说明，不是实验中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前缀树与完整成功事件历史dictionary在匹配输入与随机数时逐动作一致。字典包含足够历史，并非只存进度或最后事件。这里比较表示形式，不涉及合并不同历史。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件任务规则：A先于B则选X，否则选Y，其他零件位置无关。完整顺序由环境提供；末端只做一次二选一。此图表示末端决策等价，不声称每个中间前缀在环境状态上都等价。正确自动机与等价手写程序使用同一状态划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TL/AUTO/docs/MEMORY_COMPRESSION_PILOT.md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规模400个配对种子，每方法5000幕。T95为首次达到并在后续记录点保持至少95%准确率的幕数，本批主要对照无删失，因此RMST等于平均T95。压缩等价关系由设计者提供。完整历史与正确压缩使用同样Q-learning。自动机与等价手写程序逐种子逐评估点一致。比值来自未取整均值，不应以显示取整值要求精确相除。该量级有闭式解释：错误动作Q恒为0，正确动作首次获正奖励后Q=1，此后该状态永远答对；未覆盖状态随机并列答对一半，故准确率=(H+c)/2H，要达95%需覆盖c&gt;=0.9H。已覆盖i格时新覆盖一格的概率为(H-i)/(2H)，期望等待2H/(H-i)，累加得 sum(2H/(H-i), i=0..ceil(0.9H)-1)。H=6/24/120给出29.40/109.25/543.76幕，压缩后H=2给出6.0幕，理论倍数90.63x，实测89.75x。大倍数来自填表次数，不需要额外机制假设。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TL/AUTO/results/runs/memory_compression_pilot_5k.md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机制示意。左侧：暂时具有相同观测的历史可能在未见后缀上要求不同操作；合并会错用经验。右侧：等价历史始终分开会重复学习。示意不是本次审计的原始自动机，不把当前裁决相同视为全后缀等价。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。固定基线轨迹，逐查询只使用当时证据进行回放审计；未将这些合并接入控制器，也没有相应学习曲线。k_min是当时证据所容许的最小机器状态数，+1放松该上界。节省只计审计识别的可安全节省部分（134/792），那102次落在必要查询上的复用不计入节省，它是另一种危害：把真正需要买的答案用别人的答案替掉。判据在跑之前写定：节省&gt;=20%且错误共享约等于0。在线k_min是8-12而真状态数是19-27，证据少时最小机器严重过度合并，这是离线97.6%精确率无法在线复现的全部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归档AUTO/discovery/results/verify.jsonl.gz：预算40/80/160/320，first90&lt;200000的运行分别1/61/131/144，共144。图中百分比按用户口播四舍五入为1/42/91/100。嵌入图表数据保留12位小数，分子分母在页面与备注中保留精确计数。160预算时最终仍&gt;=90%的只有127/144；本图量的是曾经达标，不是最终成功比例。控制器按历史节点读取局部证据，未启用合并。不能由最终树节点数推断必须完整结构才能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TL/AUTO/discovery/src/run_verify.py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零件pilot每规模400种子。训练期间、规则唯一识别前立即法相比延迟法实际额外成功均值为0.1225、0.4525、0.635，图显示口播取整0.123/0.453/0.635。不是贪心评估累计期望0.137/0.533/0.696。规则识别前准确率不足95%；识别后两臂在该实现中相同，因此T95没有分辨能力。该必然性只针对这个规则族、确定反馈、更新与阈值设置。主动任务早期调用技能改变到达后缀的行为，被动任务每幕独立给出排列，动作不影响下一份证据。不能据此断言所有边学边用收益都必须依赖主动取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族×30种子×5臂，预算200000步。first90是报告中的中位数，AUC为成功率曲线面积。Y00没有两种机制，Y01用学习型元控制器调用共享技能，Y10真规则路由但技能按任务状态独立，Y11真规则路由且跨状态共享技能；QRM单列。Y01并未被给定正确目标顺序，结构化臂用真规则而不是在线学规则。原报告关于路由压倒性强于复用的AUC解释已在Step38撤回，因天花板影响；不能用本页做该推断。后续C-full审计指出Y10/Y11差异不只来自参数共享，还涉及经验传播、采样和探索计数。删失：原始归档results/factorial.json中first90=-1（从未达标）共40次，全部落在Y00（30/720）与Y01（10/720），Y10/Y11/QRM为0。页面中位数按达标者计；Y00若把-1记作预算200000，中位为41000而非38500。该丢弃使Y00/Y01显得偏好，因此本页对比是保守的。另：报告曾给出样本复杂度主效应路由6.39x、复用5.34x，本次未能从归档复现（把-1记作预算得9.03x/4.50x），故本页不列该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38.5剂量扫描，昂贵导航，自有导出模拟器，任务规则已给定，训练预算1000000环境步。达标率为预算内达到90%成功率的运行比例。Y10/Y11数据按历史报告提供。此扫描的逐种子原始数据后来确认遗失，因此不能重算置信区间。Step40新网格逐运行归档：步费改变QRM排序，并使风险交互效应缩小；不能将此页视为协议不变的效应大小。无论存在何种图论路径，危险格可能迫使成功轨迹绕行。这里不声明几何难度完全不变。页底两行取自REPORT_STEP38_5第125-126行：昂贵地图加岩浆时「有技能无路由」0.882远胜「有路由无技能」0.106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TL/progressive_task_discovery/stage8_compression/REPORT_STEP38_5.md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层不是全都已集成的一套通用算法。结构发现的受限未知顺序闭环有正结果；状态抽象的已知正确压缩有明确收益，可靠在线合并尚未解决；结构利用的路由/共享实现具有条件性收益，但一般机制归因、协议与任务边界未定。未建立超过ISA等的通用新方法，不声称自动机语法优于等价手写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a1f029a314c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2c6dd7e66d4c11" /><Relationship Type="http://schemas.openxmlformats.org/officeDocument/2006/relationships/slideLayout" Target="/ppt/slideLayouts/slideLayout1.xml" Id="R7c1bbbeacdf948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1bbbeacdf948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60302bf8e4293" /><Relationship Type="http://schemas.openxmlformats.org/officeDocument/2006/relationships/notesSlide" Target="/ppt/notesSlides/notesSlide1.xml" Id="R4269fdf9cc634b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9dd7d98c44ae3" /><Relationship Type="http://schemas.openxmlformats.org/officeDocument/2006/relationships/chart" Target="/ppt/slides/charts/chart1.xml" Id="R32d7e9883b7b4b91" /><Relationship Type="http://schemas.openxmlformats.org/officeDocument/2006/relationships/chart" Target="/ppt/slides/charts/chart2.xml" Id="R2464146768754561" /><Relationship Type="http://schemas.openxmlformats.org/officeDocument/2006/relationships/notesSlide" Target="/ppt/notesSlides/notesSlide2.xml" Id="R73320158b88a4b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671df187f44bb" /><Relationship Type="http://schemas.openxmlformats.org/officeDocument/2006/relationships/notesSlide" Target="/ppt/notesSlides/notesSlide3.xml" Id="R986760eaaf7844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bd221e00943fa" /><Relationship Type="http://schemas.openxmlformats.org/officeDocument/2006/relationships/notesSlide" Target="/ppt/notesSlides/notesSlide4.xml" Id="R6fc3a643463f45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ab317839d48bf" /><Relationship Type="http://schemas.openxmlformats.org/officeDocument/2006/relationships/notesSlide" Target="/ppt/notesSlides/notesSlide5.xml" Id="Rb42ce1ca2bc94c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98231da35407e" /><Relationship Type="http://schemas.openxmlformats.org/officeDocument/2006/relationships/notesSlide" Target="/ppt/notesSlides/notesSlide6.xml" Id="R4ddac56746f34c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a90fd252946fd" /><Relationship Type="http://schemas.openxmlformats.org/officeDocument/2006/relationships/chart" Target="/ppt/slides/charts/chart3.xml" Id="R38e59e0b6cac42d7" /><Relationship Type="http://schemas.openxmlformats.org/officeDocument/2006/relationships/notesSlide" Target="/ppt/notesSlides/notesSlide7.xml" Id="R88421526d0f44e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8e21952ec47b6" /><Relationship Type="http://schemas.openxmlformats.org/officeDocument/2006/relationships/notesSlide" Target="/ppt/notesSlides/notesSlide8.xml" Id="Ree30010101b54f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efd10999d4e4f" /><Relationship Type="http://schemas.openxmlformats.org/officeDocument/2006/relationships/chart" Target="/ppt/slides/charts/chart4.xml" Id="R800ab38632314ff9" /><Relationship Type="http://schemas.openxmlformats.org/officeDocument/2006/relationships/chart" Target="/ppt/slides/charts/chart5.xml" Id="Rb1bb384b9d9647f4" /><Relationship Type="http://schemas.openxmlformats.org/officeDocument/2006/relationships/chart" Target="/ppt/slides/charts/chart6.xml" Id="Rc88c0437f75d4a63" /><Relationship Type="http://schemas.openxmlformats.org/officeDocument/2006/relationships/notesSlide" Target="/ppt/notesSlides/notesSlide9.xml" Id="R6043448d0b244b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febeed6a34311" /><Relationship Type="http://schemas.openxmlformats.org/officeDocument/2006/relationships/chart" Target="/ppt/slides/charts/chart7.xml" Id="R1da2c6f13039497e" /><Relationship Type="http://schemas.openxmlformats.org/officeDocument/2006/relationships/notesSlide" Target="/ppt/notesSlides/notesSlide10.xml" Id="Rc9fd922d5fcb4f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5e3c18e724d9d" /><Relationship Type="http://schemas.openxmlformats.org/officeDocument/2006/relationships/chart" Target="/ppt/slides/charts/chart8.xml" Id="Rbe7dbfac42fc456d" /><Relationship Type="http://schemas.openxmlformats.org/officeDocument/2006/relationships/notesSlide" Target="/ppt/notesSlides/notesSlide11.xml" Id="R885da5222f3b45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d86392bf94818" /><Relationship Type="http://schemas.openxmlformats.org/officeDocument/2006/relationships/chart" Target="/ppt/slides/charts/chart9.xml" Id="Rb6d28245a5b54999" /><Relationship Type="http://schemas.openxmlformats.org/officeDocument/2006/relationships/notesSlide" Target="/ppt/notesSlides/notesSlide12.xml" Id="R64c67a546d2b4b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5050bf4854c4a" /><Relationship Type="http://schemas.openxmlformats.org/officeDocument/2006/relationships/chart" Target="/ppt/slides/charts/chart10.xml" Id="R6284f3cff3bd485a" /><Relationship Type="http://schemas.openxmlformats.org/officeDocument/2006/relationships/notesSlide" Target="/ppt/notesSlides/notesSlide13.xml" Id="R705083fc679341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a91b4bf2d4984" /><Relationship Type="http://schemas.openxmlformats.org/officeDocument/2006/relationships/notesSlide" Target="/ppt/notesSlides/notesSlide14.xml" Id="R6719e92f3df546b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 first90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A1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普通 replay</c:v>
                </c:pt>
                <c:pt idx="1">
                  <c:v>延迟使用</c:v>
                </c:pt>
                <c:pt idx="2">
                  <c:v>立即使用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18594</c:v>
                </c:pt>
                <c:pt idx="1">
                  <c:v>37938</c:v>
                </c:pt>
                <c:pt idx="2">
                  <c:v>6906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已知前缀执行步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延迟</c:v>
                </c:pt>
                <c:pt idx="1">
                  <c:v>立即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33194</c:v>
                </c:pt>
                <c:pt idx="1">
                  <c:v>2566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完整历史</c:v>
          </c:tx>
          <c:spPr>
            <a:solidFill xmlns:a="http://schemas.openxmlformats.org/drawingml/2006/main">
              <a:srgbClr val="94A1AA"/>
            </a:solidFill>
          </c:spPr>
          <c:cat>
            <c:strRef>
              <c:f>'Chart Data'!$A$2:$A$4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28.28</c:v>
                </c:pt>
                <c:pt idx="1">
                  <c:v>109.15</c:v>
                </c:pt>
                <c:pt idx="2">
                  <c:v>547.23</c:v>
                </c:pt>
              </c:numCache>
            </c:numRef>
          </c:val>
        </c:ser>
        <c:ser>
          <c:idx val="1"/>
          <c:order val="1"/>
          <c:tx>
            <c:v>正确压缩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Data'!$C$2:$C$4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6.05</c:v>
                </c:pt>
                <c:pt idx="1">
                  <c:v>5.89</c:v>
                </c:pt>
                <c:pt idx="2">
                  <c:v>6.1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0.801</c:v>
                </c:pt>
                <c:pt idx="1">
                  <c:v>0.773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达标运行比例</c:v>
          </c:tx>
          <c:spPr>
            <a:solidFill xmlns:a="http://schemas.openxmlformats.org/drawingml/2006/main">
              <a:srgbClr val="2176AD"/>
            </a:solidFill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40</c:v>
                </c:pt>
                <c:pt idx="1">
                  <c:v>80</c:v>
                </c:pt>
                <c:pt idx="2">
                  <c:v>160</c:v>
                </c:pt>
                <c:pt idx="3">
                  <c:v>320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0.006944444444</c:v>
                </c:pt>
                <c:pt idx="1">
                  <c:v>0.423611111111</c:v>
                </c:pt>
                <c:pt idx="2">
                  <c:v>0.909722222222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提问预算 / 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立即减延迟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Data'!$A$2:$A$4</c:f>
              <c:strCache>
                <c:ptCount val="3"/>
                <c:pt idx="0">
                  <c:v>3 个</c:v>
                </c:pt>
                <c:pt idx="1">
                  <c:v>4 个</c:v>
                </c:pt>
                <c:pt idx="2">
                  <c:v>5 个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0.123</c:v>
                </c:pt>
                <c:pt idx="1">
                  <c:v>0.453</c:v>
                </c:pt>
                <c:pt idx="2">
                  <c:v>0.635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first90</c:v>
          </c:tx>
          <c:spPr>
            <a:solidFill xmlns:a="http://schemas.openxmlformats.org/drawingml/2006/main">
              <a:srgbClr val="94A1A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2A0B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Y00</c:v>
                </c:pt>
                <c:pt idx="1">
                  <c:v>Y01</c:v>
                </c:pt>
                <c:pt idx="2">
                  <c:v>Y10</c:v>
                </c:pt>
                <c:pt idx="3">
                  <c:v>Y11</c:v>
                </c:pt>
                <c:pt idx="4">
                  <c:v>QRM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38500</c:v>
                </c:pt>
                <c:pt idx="1">
                  <c:v>4000</c:v>
                </c:pt>
                <c:pt idx="2">
                  <c:v>3750</c:v>
                </c:pt>
                <c:pt idx="3">
                  <c:v>1000</c:v>
                </c:pt>
                <c:pt idx="4">
                  <c:v>7000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text-1">
            <a:extLst xmlns:a="http://schemas.openxmlformats.org/drawingml/2006/main">
              <a:ext uri="{FF2B5EF4-FFF2-40B4-BE49-F238E27FC236}">
                <a16:creationId xmlns:a16="http://schemas.microsoft.com/office/drawing/2014/main" id="{C65FDBD4-95D0-48CD-BFA6-E13EA2AE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未知任务中的在线发现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E6DB0F8-A539-40BA-93CB-D9426AA2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FEDC009-E074-4ECE-9D9B-B0E1A58B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事件可见，进度反馈可靠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2311EF-5D09-4B38-AEA0-EFE7B797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975EC-6677-469B-B710-1DCE2A48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2F0CF-29C4-4DEE-89E8-7D6F3281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B9C02-D458-4C33-A06C-9FA1570F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47C55-E143-417D-AD82-C6CCC711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08633-D5C5-4E39-B92F-F1EE45F2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C5AA4-ED56-451F-B8DE-4380306D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CB0F3-4D14-43EF-AC0E-2452DC47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BB230-6396-41F1-B8D1-FDC8FD0D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73A1F-BC1D-4312-B3E2-200239A3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66F08-29F2-4026-A553-93B7BB30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0044D-94CA-498C-8572-B0CC1086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7C7F0-6AF7-4595-8737-16B0AC7F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53EB51-CC5A-4828-86A1-F2D2FF3A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79D99-8E22-4FE0-BE4A-540634A2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D45E93-0D7A-4F46-AE55-4D629742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CCAD9D-4F49-49A3-BE7A-A6D7BA7C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80E24-1752-4D59-9E37-02E3C8BD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D0A091-A2C0-496F-9860-35DDC38C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635210-3FE3-41BF-9C28-6ADD1B84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04897F-7FD8-4F7F-A0F4-97B19F22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9D1908-B4C2-4D70-B0B4-071132EF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A4FD3E-A84C-42FC-A1C6-AA9A5E3F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C20A6C-9D6D-42AD-B11E-BD34F61B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9CDE7A-CCE7-4DE2-BE5B-A76E3D12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8C2C1E-A3BC-4C9F-BCE6-5D04C22B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6EA593-46EA-478A-BAD5-754503D8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32A6FA-B4D9-4482-956B-7029471C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005505-86B7-42E1-8FC7-4C39190D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385BC9-9C11-4808-8E91-133956AC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C9B48A-7516-4029-BAD4-ACBE4C05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9F93AE-E95D-4EC0-A1E6-C725FFC0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A2A5F8-199F-4994-A604-73C7DF86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299266-4884-4E74-B873-288BC59E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D8261E-4983-48C7-A9D1-18F4761A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BB5A32-0707-4B0F-A7B4-369DC934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0" name="text-4">
            <a:extLst xmlns:a="http://schemas.openxmlformats.org/drawingml/2006/main">
              <a:ext uri="{FF2B5EF4-FFF2-40B4-BE49-F238E27FC236}">
                <a16:creationId xmlns:a16="http://schemas.microsoft.com/office/drawing/2014/main" id="{523D3696-98CE-441D-B02B-B1F1641E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41" name="text-5">
            <a:extLst xmlns:a="http://schemas.openxmlformats.org/drawingml/2006/main">
              <a:ext uri="{FF2B5EF4-FFF2-40B4-BE49-F238E27FC236}">
                <a16:creationId xmlns:a16="http://schemas.microsoft.com/office/drawing/2014/main" id="{63AD9C9F-9B18-433D-A8E4-FCB18063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42" name="text-6">
            <a:extLst xmlns:a="http://schemas.openxmlformats.org/drawingml/2006/main">
              <a:ext uri="{FF2B5EF4-FFF2-40B4-BE49-F238E27FC236}">
                <a16:creationId xmlns:a16="http://schemas.microsoft.com/office/drawing/2014/main" id="{38FC1CD3-1E4B-45C7-B5F6-07854030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43" name="text-7">
            <a:extLst xmlns:a="http://schemas.openxmlformats.org/drawingml/2006/main">
              <a:ext uri="{FF2B5EF4-FFF2-40B4-BE49-F238E27FC236}">
                <a16:creationId xmlns:a16="http://schemas.microsoft.com/office/drawing/2014/main" id="{A5EA291D-A491-4195-8052-1AE947E7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44" name="text-8">
            <a:extLst xmlns:a="http://schemas.openxmlformats.org/drawingml/2006/main">
              <a:ext uri="{FF2B5EF4-FFF2-40B4-BE49-F238E27FC236}">
                <a16:creationId xmlns:a16="http://schemas.microsoft.com/office/drawing/2014/main" id="{78644718-07EC-4ABB-9DB4-42C1FC1D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45" name="text-9">
            <a:extLst xmlns:a="http://schemas.openxmlformats.org/drawingml/2006/main">
              <a:ext uri="{FF2B5EF4-FFF2-40B4-BE49-F238E27FC236}">
                <a16:creationId xmlns:a16="http://schemas.microsoft.com/office/drawing/2014/main" id="{259D97A3-0C59-4DFF-8893-DD2B1EFF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   ?   B   ?   C   ?   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3EA551-3C88-4755-AC35-4A39FBB1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交互反馈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C13D5E-5B47-4DA3-AD16-AA92C237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局部任务结构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BC5C62-373C-4F2E-AA32-D34743E3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继续探索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E3AF9B-9143-4A5C-8DEC-BED2F6CE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调用已学技能</a:t>
            </a:r>
          </a:p>
        </p:txBody>
      </p:sp>
      <p:cxnSp>
        <p:nvCxnSpPr>
          <p:cNvPr id="105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7953375" y="23145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9953625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9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7953375" y="45053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8" idx="0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6858000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54" name="text-10">
            <a:extLst xmlns:a="http://schemas.openxmlformats.org/drawingml/2006/main">
              <a:ext uri="{FF2B5EF4-FFF2-40B4-BE49-F238E27FC236}">
                <a16:creationId xmlns:a16="http://schemas.microsoft.com/office/drawing/2014/main" id="{E42D8056-4ECB-4710-B486-DE483CB0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未知部分</a:t>
            </a:r>
          </a:p>
        </p:txBody>
      </p:sp>
      <p:sp>
        <p:nvSpPr>
          <p:cNvPr id="55" name="text-11">
            <a:extLst xmlns:a="http://schemas.openxmlformats.org/drawingml/2006/main">
              <a:ext uri="{FF2B5EF4-FFF2-40B4-BE49-F238E27FC236}">
                <a16:creationId xmlns:a16="http://schemas.microsoft.com/office/drawing/2014/main" id="{9ABB3909-9F2B-4042-BC89-17CD0BD0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已知前缀</a:t>
            </a:r>
          </a:p>
        </p:txBody>
      </p:sp>
    </p:spTree>
    <p:extLst>
      <p:ext uri="{BB962C8B-B14F-4D97-AF65-F5344CB8AC3E}">
        <p14:creationId xmlns:p14="http://schemas.microsoft.com/office/powerpoint/2010/main" val="20197575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E8F9110C-5424-4881-B9B9-58B7B661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线性任务：立即使用已发现的前缀</a:t>
            </a:r>
          </a:p>
        </p:txBody>
      </p:sp>
      <p:sp>
        <p:nvSpPr>
          <p:cNvPr id="2" name="text-13">
            <a:extLst xmlns:a="http://schemas.openxmlformats.org/drawingml/2006/main">
              <a:ext uri="{FF2B5EF4-FFF2-40B4-BE49-F238E27FC236}">
                <a16:creationId xmlns:a16="http://schemas.microsoft.com/office/drawing/2014/main" id="{1A358FC4-E137-4A89-AF0D-FF75626D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长度 16，32 个种子；环境步越少越好</a:t>
            </a:r>
          </a:p>
        </p:txBody>
      </p:sp>
      <p:sp>
        <p:nvSpPr>
          <p:cNvPr id="3" name="text-14">
            <a:extLst xmlns:a="http://schemas.openxmlformats.org/drawingml/2006/main">
              <a:ext uri="{FF2B5EF4-FFF2-40B4-BE49-F238E27FC236}">
                <a16:creationId xmlns:a16="http://schemas.microsoft.com/office/drawing/2014/main" id="{E4E3492E-06FB-480C-8AF2-54003677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text-15">
            <a:extLst xmlns:a="http://schemas.openxmlformats.org/drawingml/2006/main">
              <a:ext uri="{FF2B5EF4-FFF2-40B4-BE49-F238E27FC236}">
                <a16:creationId xmlns:a16="http://schemas.microsoft.com/office/drawing/2014/main" id="{BDC3734C-65B7-4DC1-91EE-B051B79A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首次达到 90%</a:t>
            </a:r>
          </a:p>
        </p:txBody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ED435079-D8E2-47CE-9534-22EF4C1D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049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首次完整成功前：已知前缀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6715125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d7e9883b7b4b91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734300" y="1885950"/>
          <a:ext xmlns:a="http://schemas.openxmlformats.org/drawingml/2006/main" cx="3848100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64146768754561"/>
          </a:graphicData>
        </a:graphic>
      </p:graphicFrame>
    </p:spTree>
    <p:extLst>
      <p:ext uri="{BB962C8B-B14F-4D97-AF65-F5344CB8AC3E}">
        <p14:creationId xmlns:p14="http://schemas.microsoft.com/office/powerpoint/2010/main" val="381755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7">
            <a:extLst xmlns:a="http://schemas.openxmlformats.org/drawingml/2006/main">
              <a:ext uri="{FF2B5EF4-FFF2-40B4-BE49-F238E27FC236}">
                <a16:creationId xmlns:a16="http://schemas.microsoft.com/office/drawing/2014/main" id="{1D7268D5-C3B5-419C-8FB1-762AF5E3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线性任务的最小记忆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9216A820-B71B-4ED9-9DEF-B25AA7C9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text-19">
            <a:extLst xmlns:a="http://schemas.openxmlformats.org/drawingml/2006/main">
              <a:ext uri="{FF2B5EF4-FFF2-40B4-BE49-F238E27FC236}">
                <a16:creationId xmlns:a16="http://schemas.microsoft.com/office/drawing/2014/main" id="{BBE16E14-F236-428A-BE00-CD260A34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阶段列表</a:t>
            </a:r>
          </a:p>
        </p:txBody>
      </p:sp>
      <p:sp>
        <p:nvSpPr>
          <p:cNvPr id="4" name="text-20">
            <a:extLst xmlns:a="http://schemas.openxmlformats.org/drawingml/2006/main">
              <a:ext uri="{FF2B5EF4-FFF2-40B4-BE49-F238E27FC236}">
                <a16:creationId xmlns:a16="http://schemas.microsoft.com/office/drawing/2014/main" id="{85CFC295-E8E2-4356-9DF9-D84D4429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链式自动机</a:t>
            </a:r>
          </a:p>
        </p:txBody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0921A301-FD1A-4BE4-A439-EC4F6B9B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4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progress</a:t>
            </a:r>
          </a:p>
        </p:txBody>
      </p:sp>
      <p:sp>
        <p:nvSpPr>
          <p:cNvPr id="6" name="text-22">
            <a:extLst xmlns:a="http://schemas.openxmlformats.org/drawingml/2006/main">
              <a:ext uri="{FF2B5EF4-FFF2-40B4-BE49-F238E27FC236}">
                <a16:creationId xmlns:a16="http://schemas.microsoft.com/office/drawing/2014/main" id="{A51DA76A-23B2-49B2-B6E1-8D4B5E7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14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038E6-931D-49DA-A084-ECEEF3A3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8" name="text-23">
            <a:extLst xmlns:a="http://schemas.openxmlformats.org/drawingml/2006/main">
              <a:ext uri="{FF2B5EF4-FFF2-40B4-BE49-F238E27FC236}">
                <a16:creationId xmlns:a16="http://schemas.microsoft.com/office/drawing/2014/main" id="{14207744-D53A-4702-B41C-627D2005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9" name="text-24">
            <a:extLst xmlns:a="http://schemas.openxmlformats.org/drawingml/2006/main">
              <a:ext uri="{FF2B5EF4-FFF2-40B4-BE49-F238E27FC236}">
                <a16:creationId xmlns:a16="http://schemas.microsoft.com/office/drawing/2014/main" id="{C55753AA-53FD-4DAF-BAF4-821EC965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242A6-80B3-4694-89B4-55BF07A8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BDF1AA34-0A7A-40EB-8F33-07299895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text-26">
            <a:extLst xmlns:a="http://schemas.openxmlformats.org/drawingml/2006/main">
              <a:ext uri="{FF2B5EF4-FFF2-40B4-BE49-F238E27FC236}">
                <a16:creationId xmlns:a16="http://schemas.microsoft.com/office/drawing/2014/main" id="{A2B7C1D5-2B37-46B8-BE92-8EEC5E48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805EB-B0EC-4FB6-AEFF-115E6376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27">
            <a:extLst xmlns:a="http://schemas.openxmlformats.org/drawingml/2006/main">
              <a:ext uri="{FF2B5EF4-FFF2-40B4-BE49-F238E27FC236}">
                <a16:creationId xmlns:a16="http://schemas.microsoft.com/office/drawing/2014/main" id="{A29DD07D-F747-41B2-B6CF-226588E4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5" name="text-28">
            <a:extLst xmlns:a="http://schemas.openxmlformats.org/drawingml/2006/main">
              <a:ext uri="{FF2B5EF4-FFF2-40B4-BE49-F238E27FC236}">
                <a16:creationId xmlns:a16="http://schemas.microsoft.com/office/drawing/2014/main" id="{B5366C7A-E3CD-4AB7-9159-E2C247F8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A9E00-8665-4B03-A533-B2D8247E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207759BB-3072-46F8-BAB2-B808F2A6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text-30">
            <a:extLst xmlns:a="http://schemas.openxmlformats.org/drawingml/2006/main">
              <a:ext uri="{FF2B5EF4-FFF2-40B4-BE49-F238E27FC236}">
                <a16:creationId xmlns:a16="http://schemas.microsoft.com/office/drawing/2014/main" id="{55C765A3-8895-47AF-8DDA-3EED4D05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sp>
        <p:nvSpPr>
          <p:cNvPr id="19" name="text-31">
            <a:extLst xmlns:a="http://schemas.openxmlformats.org/drawingml/2006/main">
              <a:ext uri="{FF2B5EF4-FFF2-40B4-BE49-F238E27FC236}">
                <a16:creationId xmlns:a16="http://schemas.microsoft.com/office/drawing/2014/main" id="{DA1BEF3B-C068-4AFE-A5E7-D7219682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90900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A8563-7F10-413B-BB7E-F6C01D06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BA7B42-3414-459A-91DE-C60E31C5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6D995-7427-40CE-A847-CDC03CB8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FF8338-D387-4B17-8C76-2FA03FDE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87780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q₃</a:t>
            </a:r>
          </a:p>
        </p:txBody>
      </p:sp>
      <p:cxnSp>
        <p:nvCxnSpPr>
          <p:cNvPr id="5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858125" y="28194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167938" y="3143250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858125" y="47625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7" name="text-32">
            <a:extLst xmlns:a="http://schemas.openxmlformats.org/drawingml/2006/main">
              <a:ext uri="{FF2B5EF4-FFF2-40B4-BE49-F238E27FC236}">
                <a16:creationId xmlns:a16="http://schemas.microsoft.com/office/drawing/2014/main" id="{22FB892A-C8D4-47C3-BB15-AEB89731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8" name="text-33">
            <a:extLst xmlns:a="http://schemas.openxmlformats.org/drawingml/2006/main">
              <a:ext uri="{FF2B5EF4-FFF2-40B4-BE49-F238E27FC236}">
                <a16:creationId xmlns:a16="http://schemas.microsoft.com/office/drawing/2014/main" id="{36168785-A589-48A8-8FC6-C4993BD8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05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9" name="text-34">
            <a:extLst xmlns:a="http://schemas.openxmlformats.org/drawingml/2006/main">
              <a:ext uri="{FF2B5EF4-FFF2-40B4-BE49-F238E27FC236}">
                <a16:creationId xmlns:a16="http://schemas.microsoft.com/office/drawing/2014/main" id="{B5454C10-F887-4AF7-9245-6BE19E3E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8578915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35">
            <a:extLst xmlns:a="http://schemas.openxmlformats.org/drawingml/2006/main">
              <a:ext uri="{FF2B5EF4-FFF2-40B4-BE49-F238E27FC236}">
                <a16:creationId xmlns:a16="http://schemas.microsoft.com/office/drawing/2014/main" id="{24B90573-DECF-498D-8B77-B8E76C98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分支任务：相同进度，不同未来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AF0C68C8-3188-4723-9DA2-351BA0ED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两条历史进度相同（都做了 2 步）、刚完成的动作也相同（都是倒水），但下一步完全不同 —— 只看进度和当前位置分不出来</a:t>
            </a:r>
          </a:p>
        </p:txBody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FD347721-5473-49DF-BF27-B8AC47F0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7A91D868-1BA5-412B-B71F-F25E4413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382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已发生的历史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C9986110-AF46-48C4-87D2-67C27D3C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4382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相同物理位置 E</a:t>
            </a:r>
          </a:p>
        </p:txBody>
      </p:sp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2225B651-9235-4569-8771-5445D43E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4382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FD8DE-D4CE-4DED-AAF1-7048B58F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1CAF2-2FB0-435C-9BD7-D54A8CB3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E545D-A69E-4DB0-B2F9-1372BC20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000C4-E1D0-4B01-BE7D-4D25B70E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2AB3C-5A44-4169-AA34-66E78550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7CBB7A-9ECE-4C8F-B74C-A9955F21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43150" y="2867025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43150" y="4686300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829425" y="2867025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829425" y="4686300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text-41">
            <a:extLst xmlns:a="http://schemas.openxmlformats.org/drawingml/2006/main">
              <a:ext uri="{FF2B5EF4-FFF2-40B4-BE49-F238E27FC236}">
                <a16:creationId xmlns:a16="http://schemas.microsoft.com/office/drawing/2014/main" id="{EF3B26D3-3E9F-436F-AC49-C055805A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52825"/>
            <a:ext cx="2733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progress = 2</a:t>
            </a:r>
          </a:p>
        </p:txBody>
      </p:sp>
      <p:sp>
        <p:nvSpPr>
          <p:cNvPr id="18" name="text-42">
            <a:extLst xmlns:a="http://schemas.openxmlformats.org/drawingml/2006/main">
              <a:ext uri="{FF2B5EF4-FFF2-40B4-BE49-F238E27FC236}">
                <a16:creationId xmlns:a16="http://schemas.microsoft.com/office/drawing/2014/main" id="{1A08A7F3-7E41-4FE0-93E0-FCD6E65E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383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A, E</a:t>
            </a:r>
          </a:p>
        </p:txBody>
      </p:sp>
      <p:sp>
        <p:nvSpPr>
          <p:cNvPr id="19" name="text-43">
            <a:extLst xmlns:a="http://schemas.openxmlformats.org/drawingml/2006/main">
              <a:ext uri="{FF2B5EF4-FFF2-40B4-BE49-F238E27FC236}">
                <a16:creationId xmlns:a16="http://schemas.microsoft.com/office/drawing/2014/main" id="{C789CF6B-5678-43C9-97B3-89ED920F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576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B, E</a:t>
            </a:r>
          </a:p>
        </p:txBody>
      </p:sp>
      <p:sp>
        <p:nvSpPr>
          <p:cNvPr id="20" name="text-44">
            <a:extLst xmlns:a="http://schemas.openxmlformats.org/drawingml/2006/main">
              <a:ext uri="{FF2B5EF4-FFF2-40B4-BE49-F238E27FC236}">
                <a16:creationId xmlns:a16="http://schemas.microsoft.com/office/drawing/2014/main" id="{0669A4DC-0E0F-4C6F-8CF7-5847EB0A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861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先倒热水</a:t>
            </a:r>
          </a:p>
        </p:txBody>
      </p:sp>
      <p:sp>
        <p:nvSpPr>
          <p:cNvPr id="21" name="text-45">
            <a:extLst xmlns:a="http://schemas.openxmlformats.org/drawingml/2006/main">
              <a:ext uri="{FF2B5EF4-FFF2-40B4-BE49-F238E27FC236}">
                <a16:creationId xmlns:a16="http://schemas.microsoft.com/office/drawing/2014/main" id="{3E96BE8A-095C-4B5F-83E8-B44C95AB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861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倒 水</a:t>
            </a:r>
          </a:p>
        </p:txBody>
      </p:sp>
      <p:sp>
        <p:nvSpPr>
          <p:cNvPr id="22" name="text-46">
            <a:extLst xmlns:a="http://schemas.openxmlformats.org/drawingml/2006/main">
              <a:ext uri="{FF2B5EF4-FFF2-40B4-BE49-F238E27FC236}">
                <a16:creationId xmlns:a16="http://schemas.microsoft.com/office/drawing/2014/main" id="{CD915A86-4253-493D-8313-97743E0D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立刻过滤 = 热泡</a:t>
            </a:r>
          </a:p>
        </p:txBody>
      </p:sp>
      <p:sp>
        <p:nvSpPr>
          <p:cNvPr id="23" name="text-47">
            <a:extLst xmlns:a="http://schemas.openxmlformats.org/drawingml/2006/main">
              <a:ext uri="{FF2B5EF4-FFF2-40B4-BE49-F238E27FC236}">
                <a16:creationId xmlns:a16="http://schemas.microsoft.com/office/drawing/2014/main" id="{4DF25140-3916-40C9-8E40-C62B02BB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054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先放粉</a:t>
            </a:r>
          </a:p>
        </p:txBody>
      </p:sp>
      <p:sp>
        <p:nvSpPr>
          <p:cNvPr id="24" name="text-48">
            <a:extLst xmlns:a="http://schemas.openxmlformats.org/drawingml/2006/main">
              <a:ext uri="{FF2B5EF4-FFF2-40B4-BE49-F238E27FC236}">
                <a16:creationId xmlns:a16="http://schemas.microsoft.com/office/drawing/2014/main" id="{2D9D9337-CBA3-46C8-A771-97361BE2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054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倒 水</a:t>
            </a:r>
          </a:p>
        </p:txBody>
      </p:sp>
      <p:sp>
        <p:nvSpPr>
          <p:cNvPr id="25" name="text-49">
            <a:extLst xmlns:a="http://schemas.openxmlformats.org/drawingml/2006/main">
              <a:ext uri="{FF2B5EF4-FFF2-40B4-BE49-F238E27FC236}">
                <a16:creationId xmlns:a16="http://schemas.microsoft.com/office/drawing/2014/main" id="{377E1756-4CA2-44E0-ABD8-8CD63EDA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1054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等 12 小时 = 冷萃</a:t>
            </a:r>
          </a:p>
        </p:txBody>
      </p:sp>
      <p:sp>
        <p:nvSpPr>
          <p:cNvPr id="26" name="text-50">
            <a:extLst xmlns:a="http://schemas.openxmlformats.org/drawingml/2006/main">
              <a:ext uri="{FF2B5EF4-FFF2-40B4-BE49-F238E27FC236}">
                <a16:creationId xmlns:a16="http://schemas.microsoft.com/office/drawing/2014/main" id="{97F09FCE-C2A2-41B3-AA5B-18EBB0AC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715000"/>
            <a:ext cx="2733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同样的料，顺序不同</a:t>
            </a:r>
          </a:p>
        </p:txBody>
      </p:sp>
    </p:spTree>
    <p:extLst>
      <p:ext uri="{BB962C8B-B14F-4D97-AF65-F5344CB8AC3E}">
        <p14:creationId xmlns:p14="http://schemas.microsoft.com/office/powerpoint/2010/main" val="10189432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51">
            <a:extLst xmlns:a="http://schemas.openxmlformats.org/drawingml/2006/main">
              <a:ext uri="{FF2B5EF4-FFF2-40B4-BE49-F238E27FC236}">
                <a16:creationId xmlns:a16="http://schemas.microsoft.com/office/drawing/2014/main" id="{3E5EFD7D-2D78-4B61-BC86-55912EC9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同一份历史的两种表示</a:t>
            </a:r>
          </a:p>
        </p:txBody>
      </p:sp>
      <p:sp>
        <p:nvSpPr>
          <p:cNvPr id="2" name="text-52">
            <a:extLst xmlns:a="http://schemas.openxmlformats.org/drawingml/2006/main">
              <a:ext uri="{FF2B5EF4-FFF2-40B4-BE49-F238E27FC236}">
                <a16:creationId xmlns:a16="http://schemas.microsoft.com/office/drawing/2014/main" id="{A020AE6F-5443-419A-98F9-1F4E177E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02EB28BB-D943-4C0E-A37A-CC616B29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Prefix tree</a:t>
            </a:r>
          </a:p>
        </p:txBody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E2421CB2-1669-4732-BA5E-64741ECF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History dictionary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88C3D-EC4B-4447-87FD-263B8E58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EA6CA-AFF6-4052-BF9D-7AA412EE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50780-251A-4570-A0DE-08F535C3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7B93F-7E25-45FD-A650-D190A8CA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6DDEF-47D0-4B55-B161-616E724A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1F01C-7457-4179-92BD-09CA8C86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64441-3A11-4B8F-81BF-0E0748FA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562100" y="2790825"/>
            <a:ext cx="79057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71800" y="279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448175" y="27908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562100" y="3657600"/>
            <a:ext cx="7905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4648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48175" y="4648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8" name="text-55">
            <a:extLst xmlns:a="http://schemas.openxmlformats.org/drawingml/2006/main">
              <a:ext uri="{FF2B5EF4-FFF2-40B4-BE49-F238E27FC236}">
                <a16:creationId xmlns:a16="http://schemas.microsoft.com/office/drawing/2014/main" id="{2571D779-1B4A-40CC-8196-8984A297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67075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19" name="text-56">
            <a:extLst xmlns:a="http://schemas.openxmlformats.org/drawingml/2006/main">
              <a:ext uri="{FF2B5EF4-FFF2-40B4-BE49-F238E27FC236}">
                <a16:creationId xmlns:a16="http://schemas.microsoft.com/office/drawing/2014/main" id="{3CEA4AEA-80DD-4B20-90E6-EAD84BCE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52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</a:t>
            </a:r>
          </a:p>
        </p:txBody>
      </p:sp>
      <p:sp>
        <p:nvSpPr>
          <p:cNvPr id="20" name="text-57">
            <a:extLst xmlns:a="http://schemas.openxmlformats.org/drawingml/2006/main">
              <a:ext uri="{FF2B5EF4-FFF2-40B4-BE49-F238E27FC236}">
                <a16:creationId xmlns:a16="http://schemas.microsoft.com/office/drawing/2014/main" id="{61528D94-ED96-46CC-A765-AAEFECA9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CDBAD4-EE19-48D3-86A1-BB91D656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2" name="text-58">
            <a:extLst xmlns:a="http://schemas.openxmlformats.org/drawingml/2006/main">
              <a:ext uri="{FF2B5EF4-FFF2-40B4-BE49-F238E27FC236}">
                <a16:creationId xmlns:a16="http://schemas.microsoft.com/office/drawing/2014/main" id="{2A11C71D-2533-45D7-B8E0-C966097D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(A, E)</a:t>
            </a:r>
          </a:p>
        </p:txBody>
      </p:sp>
      <p:sp>
        <p:nvSpPr>
          <p:cNvPr id="23" name="text-59">
            <a:extLst xmlns:a="http://schemas.openxmlformats.org/drawingml/2006/main">
              <a:ext uri="{FF2B5EF4-FFF2-40B4-BE49-F238E27FC236}">
                <a16:creationId xmlns:a16="http://schemas.microsoft.com/office/drawing/2014/main" id="{2E29B7B0-090B-4A3F-A40A-6FA774C6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14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4" name="text-60">
            <a:extLst xmlns:a="http://schemas.openxmlformats.org/drawingml/2006/main">
              <a:ext uri="{FF2B5EF4-FFF2-40B4-BE49-F238E27FC236}">
                <a16:creationId xmlns:a16="http://schemas.microsoft.com/office/drawing/2014/main" id="{D413F295-32D6-4F6C-BBD0-9A94F0F1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(B, E)</a:t>
            </a:r>
          </a:p>
        </p:txBody>
      </p:sp>
      <p:sp>
        <p:nvSpPr>
          <p:cNvPr id="25" name="text-61">
            <a:extLst xmlns:a="http://schemas.openxmlformats.org/drawingml/2006/main">
              <a:ext uri="{FF2B5EF4-FFF2-40B4-BE49-F238E27FC236}">
                <a16:creationId xmlns:a16="http://schemas.microsoft.com/office/drawing/2014/main" id="{8128F051-A8B6-4F9A-B000-F9F5AA7E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38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6" name="text-62">
            <a:extLst xmlns:a="http://schemas.openxmlformats.org/drawingml/2006/main">
              <a:ext uri="{FF2B5EF4-FFF2-40B4-BE49-F238E27FC236}">
                <a16:creationId xmlns:a16="http://schemas.microsoft.com/office/drawing/2014/main" id="{FB988E17-EFCE-4C9D-B52D-9BAFA276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0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逐动作一致</a:t>
            </a:r>
          </a:p>
        </p:txBody>
      </p:sp>
    </p:spTree>
    <p:extLst>
      <p:ext uri="{BB962C8B-B14F-4D97-AF65-F5344CB8AC3E}">
        <p14:creationId xmlns:p14="http://schemas.microsoft.com/office/powerpoint/2010/main" val="9332831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63">
            <a:extLst xmlns:a="http://schemas.openxmlformats.org/drawingml/2006/main">
              <a:ext uri="{FF2B5EF4-FFF2-40B4-BE49-F238E27FC236}">
                <a16:creationId xmlns:a16="http://schemas.microsoft.com/office/drawing/2014/main" id="{EF11AD43-D3AA-4D32-8036-2B67590A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状态抽象：合并未来等价的历史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FDF00411-AD20-48E8-89D3-28D31A3F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咖啡：磨豆、烧水、拿杯子谁先谁后都行；只有「先热水还是先放粉」决定结果 —— 前者不必分开记，后者必须分开记</a:t>
            </a:r>
          </a:p>
        </p:txBody>
      </p:sp>
      <p:sp>
        <p:nvSpPr>
          <p:cNvPr id="3" name="text-65">
            <a:extLst xmlns:a="http://schemas.openxmlformats.org/drawingml/2006/main">
              <a:ext uri="{FF2B5EF4-FFF2-40B4-BE49-F238E27FC236}">
                <a16:creationId xmlns:a16="http://schemas.microsoft.com/office/drawing/2014/main" id="{F5576547-F19F-4953-AB53-C26FD772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text-66">
            <a:extLst xmlns:a="http://schemas.openxmlformats.org/drawingml/2006/main">
              <a:ext uri="{FF2B5EF4-FFF2-40B4-BE49-F238E27FC236}">
                <a16:creationId xmlns:a16="http://schemas.microsoft.com/office/drawing/2014/main" id="{58A4A639-8BEE-4665-A2A3-071A8831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95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完整历史</a:t>
            </a:r>
          </a:p>
        </p:txBody>
      </p:sp>
      <p:sp>
        <p:nvSpPr>
          <p:cNvPr id="5" name="text-67">
            <a:extLst xmlns:a="http://schemas.openxmlformats.org/drawingml/2006/main">
              <a:ext uri="{FF2B5EF4-FFF2-40B4-BE49-F238E27FC236}">
                <a16:creationId xmlns:a16="http://schemas.microsoft.com/office/drawing/2014/main" id="{12450BE0-C9CB-4201-9BD5-D09BF5EC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95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最终任务状态</a:t>
            </a:r>
          </a:p>
        </p:txBody>
      </p:sp>
      <p:sp>
        <p:nvSpPr>
          <p:cNvPr id="6" name="text-68">
            <a:extLst xmlns:a="http://schemas.openxmlformats.org/drawingml/2006/main">
              <a:ext uri="{FF2B5EF4-FFF2-40B4-BE49-F238E27FC236}">
                <a16:creationId xmlns:a16="http://schemas.microsoft.com/office/drawing/2014/main" id="{B44C5A88-AB5A-47D5-90D7-51DD8ABA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954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共享动作价值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DCDD8-43CA-4173-BBA6-7406ABF9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 先于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97B45-7879-4A39-80E8-41013491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 先于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8C1EC-2C70-40A0-9DAE-346D0EFE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224790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8BCB6-0A2B-4D5C-AB5B-75799011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4E3B0-7DBF-44AD-8F95-0B4F8BA5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5C721-AC55-4DD5-B972-1C9D7309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BAC</a:t>
            </a:r>
          </a:p>
        </p:txBody>
      </p:sp>
      <p:cxnSp>
        <p:nvCxnSpPr>
          <p:cNvPr id="40" name=""/>
          <p:cNvCxnSpPr>
            <a:stCxn xmlns:a="http://schemas.openxmlformats.org/drawingml/2006/main" id="1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428625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24B96-FC2C-4B93-9835-37A00D08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BCA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DD7509-A9E2-445D-8A0A-FD6E6E94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CBA</a:t>
            </a:r>
          </a:p>
        </p:txBody>
      </p:sp>
      <p:cxnSp>
        <p:nvCxnSpPr>
          <p:cNvPr id="44" name=""/>
          <p:cNvCxnSpPr>
            <a:stCxn xmlns:a="http://schemas.openxmlformats.org/drawingml/2006/main" id="1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6A78A-DE7B-4C87-A14F-64303E60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F2C72F-466C-4C6F-BE8E-3FDC7EAB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2895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34250" y="49339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013960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9">
            <a:extLst xmlns:a="http://schemas.openxmlformats.org/drawingml/2006/main">
              <a:ext uri="{FF2B5EF4-FFF2-40B4-BE49-F238E27FC236}">
                <a16:creationId xmlns:a16="http://schemas.microsoft.com/office/drawing/2014/main" id="{1DE155C6-DDBF-47E9-82F3-DA9F0BC4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正确压缩与逐条历史学习</a:t>
            </a:r>
          </a:p>
        </p:txBody>
      </p:sp>
      <p:sp>
        <p:nvSpPr>
          <p:cNvPr id="2" name="text-70">
            <a:extLst xmlns:a="http://schemas.openxmlformats.org/drawingml/2006/main">
              <a:ext uri="{FF2B5EF4-FFF2-40B4-BE49-F238E27FC236}">
                <a16:creationId xmlns:a16="http://schemas.microsoft.com/office/drawing/2014/main" id="{6B3CF4BB-0916-4E82-80E9-1D339466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正确等价关系已知；每规模 400 个配对种子（不是 400 个任务：候选族只有 6 / 12 / 20 条规则）</a:t>
            </a:r>
          </a:p>
        </p:txBody>
      </p:sp>
      <p:sp>
        <p:nvSpPr>
          <p:cNvPr id="3" name="text-71">
            <a:extLst xmlns:a="http://schemas.openxmlformats.org/drawingml/2006/main">
              <a:ext uri="{FF2B5EF4-FFF2-40B4-BE49-F238E27FC236}">
                <a16:creationId xmlns:a16="http://schemas.microsoft.com/office/drawing/2014/main" id="{A5D9B676-0D35-49CE-9792-FBFBB7D0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419225"/>
          <a:ext xmlns:a="http://schemas.openxmlformats.org/drawingml/2006/main" cx="10668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8e59e0b6cac42d7"/>
          </a:graphicData>
        </a:graphic>
      </p:graphicFrame>
      <p:sp>
        <p:nvSpPr>
          <p:cNvPr id="5" name="text-72">
            <a:extLst xmlns:a="http://schemas.openxmlformats.org/drawingml/2006/main">
              <a:ext uri="{FF2B5EF4-FFF2-40B4-BE49-F238E27FC236}">
                <a16:creationId xmlns:a16="http://schemas.microsoft.com/office/drawing/2014/main" id="{262666F2-9F31-4D0B-B241-0E448CD7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4.67×</a:t>
            </a:r>
          </a:p>
        </p:txBody>
      </p:sp>
      <p:sp>
        <p:nvSpPr>
          <p:cNvPr id="6" name="text-73">
            <a:extLst xmlns:a="http://schemas.openxmlformats.org/drawingml/2006/main">
              <a:ext uri="{FF2B5EF4-FFF2-40B4-BE49-F238E27FC236}">
                <a16:creationId xmlns:a16="http://schemas.microsoft.com/office/drawing/2014/main" id="{91EBC9A3-EF90-4AE3-A269-CF34A205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18.55×</a:t>
            </a:r>
          </a:p>
        </p:txBody>
      </p:sp>
      <p:sp>
        <p:nvSpPr>
          <p:cNvPr id="7" name="text-74">
            <a:extLst xmlns:a="http://schemas.openxmlformats.org/drawingml/2006/main">
              <a:ext uri="{FF2B5EF4-FFF2-40B4-BE49-F238E27FC236}">
                <a16:creationId xmlns:a16="http://schemas.microsoft.com/office/drawing/2014/main" id="{B472D4B6-F547-4678-B280-A27A0BCB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89.75×</a:t>
            </a:r>
          </a:p>
        </p:txBody>
      </p:sp>
      <p:sp>
        <p:nvSpPr>
          <p:cNvPr id="8" name="text-75">
            <a:extLst xmlns:a="http://schemas.openxmlformats.org/drawingml/2006/main">
              <a:ext uri="{FF2B5EF4-FFF2-40B4-BE49-F238E27FC236}">
                <a16:creationId xmlns:a16="http://schemas.microsoft.com/office/drawing/2014/main" id="{90D23F2B-997F-411A-9C88-7C7FBB56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闭式解 Σ 2H/(H-i)，H = n! = 6 / 24 / 120 → 理论 29.4 / 109.2 / 543.8 幕，与观测一致</a:t>
            </a:r>
          </a:p>
        </p:txBody>
      </p:sp>
    </p:spTree>
    <p:extLst>
      <p:ext uri="{BB962C8B-B14F-4D97-AF65-F5344CB8AC3E}">
        <p14:creationId xmlns:p14="http://schemas.microsoft.com/office/powerpoint/2010/main" val="20808109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76">
            <a:extLst xmlns:a="http://schemas.openxmlformats.org/drawingml/2006/main">
              <a:ext uri="{FF2B5EF4-FFF2-40B4-BE49-F238E27FC236}">
                <a16:creationId xmlns:a16="http://schemas.microsoft.com/office/drawing/2014/main" id="{67146C18-BCA4-4870-B8B8-9F33D2C7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有限证据下的合并判断</a:t>
            </a:r>
          </a:p>
        </p:txBody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7B4D478A-1A24-46D7-8659-90EA6DCC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咖啡：两条历史现在都「该倒水了」，但一条之后要加热、一条要冷藏 —— 现在合并，就是把冷萃的经验用到热泡上</a:t>
            </a:r>
          </a:p>
        </p:txBody>
      </p:sp>
      <p:sp>
        <p:nvSpPr>
          <p:cNvPr id="3" name="text-78">
            <a:extLst xmlns:a="http://schemas.openxmlformats.org/drawingml/2006/main">
              <a:ext uri="{FF2B5EF4-FFF2-40B4-BE49-F238E27FC236}">
                <a16:creationId xmlns:a16="http://schemas.microsoft.com/office/drawing/2014/main" id="{2B0B1238-7F37-4E98-AE99-05B329C6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858190A7-B5CF-4F43-BD7C-8FE5506A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858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过早合并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D04CDA72-7F76-4AFE-88EE-924E6AED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858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保守不合并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31231-E81E-4DF6-8D45-5AE37E9D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C4791-4AB5-40C6-8133-FD9E3F1A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50B84-F955-45F7-8CC2-128EA1FE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1476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514B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同一状态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43125" y="2881313"/>
            <a:ext cx="1162050" cy="928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143125" y="3810000"/>
            <a:ext cx="1162050" cy="909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sp>
        <p:nvSpPr>
          <p:cNvPr id="11" name="text-81">
            <a:extLst xmlns:a="http://schemas.openxmlformats.org/drawingml/2006/main">
              <a:ext uri="{FF2B5EF4-FFF2-40B4-BE49-F238E27FC236}">
                <a16:creationId xmlns:a16="http://schemas.microsoft.com/office/drawing/2014/main" id="{74D71EDA-AE60-4EC6-8FFF-88F0923D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860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加热？</a:t>
            </a:r>
          </a:p>
        </p:txBody>
      </p:sp>
      <p:sp>
        <p:nvSpPr>
          <p:cNvPr id="12" name="text-82">
            <a:extLst xmlns:a="http://schemas.openxmlformats.org/drawingml/2006/main">
              <a:ext uri="{FF2B5EF4-FFF2-40B4-BE49-F238E27FC236}">
                <a16:creationId xmlns:a16="http://schemas.microsoft.com/office/drawing/2014/main" id="{74AFBC5C-CA7B-4A2D-A338-B98CAA8F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196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冷却？</a:t>
            </a:r>
          </a:p>
        </p:txBody>
      </p:sp>
      <p:sp>
        <p:nvSpPr>
          <p:cNvPr id="13" name="text-83">
            <a:extLst xmlns:a="http://schemas.openxmlformats.org/drawingml/2006/main">
              <a:ext uri="{FF2B5EF4-FFF2-40B4-BE49-F238E27FC236}">
                <a16:creationId xmlns:a16="http://schemas.microsoft.com/office/drawing/2014/main" id="{2858B928-E704-4276-8E49-72DD3D14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未见后缀可能不同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8BDA7-1D01-42E8-98BE-E4B8F181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3050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A0AF0-94B1-4164-8589-2199EE53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050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39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277225" y="26193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1ED4C6-E461-4D35-A066-5B213C4C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6710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BA4412-8F15-49B9-BDC9-217DFD4E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671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277225" y="378142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FF8931-2268-407E-8D8F-01F1983C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291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D7C92-05F1-480B-8C1D-7DF6E3F1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291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5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277225" y="49434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3" name="text-84">
            <a:extLst xmlns:a="http://schemas.openxmlformats.org/drawingml/2006/main">
              <a:ext uri="{FF2B5EF4-FFF2-40B4-BE49-F238E27FC236}">
                <a16:creationId xmlns:a16="http://schemas.microsoft.com/office/drawing/2014/main" id="{D924ECE6-02BD-4354-85CB-4087A5B3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等价历史分别学习</a:t>
            </a:r>
          </a:p>
        </p:txBody>
      </p:sp>
    </p:spTree>
    <p:extLst>
      <p:ext uri="{BB962C8B-B14F-4D97-AF65-F5344CB8AC3E}">
        <p14:creationId xmlns:p14="http://schemas.microsoft.com/office/powerpoint/2010/main" val="1795340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85">
            <a:extLst xmlns:a="http://schemas.openxmlformats.org/drawingml/2006/main">
              <a:ext uri="{FF2B5EF4-FFF2-40B4-BE49-F238E27FC236}">
                <a16:creationId xmlns:a16="http://schemas.microsoft.com/office/drawing/2014/main" id="{0AEB9030-7B6C-4B05-BED8-97B23A68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合并审计：正确性与查询节省</a:t>
            </a:r>
          </a:p>
        </p:txBody>
      </p:sp>
      <p:sp>
        <p:nvSpPr>
          <p:cNvPr id="2" name="text-86">
            <a:extLst xmlns:a="http://schemas.openxmlformats.org/drawingml/2006/main">
              <a:ext uri="{FF2B5EF4-FFF2-40B4-BE49-F238E27FC236}">
                <a16:creationId xmlns:a16="http://schemas.microsoft.com/office/drawing/2014/main" id="{F12F6F20-E215-4DEB-8E1E-783F8AE2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预注册判据 3 / 3 不达标：查询节省 16.9% &lt; 20%；错误裁决 47 次；错误归属 140 次。敏感性上界 23.6% 仍不达标</a:t>
            </a:r>
          </a:p>
        </p:txBody>
      </p:sp>
      <p:sp>
        <p:nvSpPr>
          <p:cNvPr id="3" name="text-87">
            <a:extLst xmlns:a="http://schemas.openxmlformats.org/drawingml/2006/main">
              <a:ext uri="{FF2B5EF4-FFF2-40B4-BE49-F238E27FC236}">
                <a16:creationId xmlns:a16="http://schemas.microsoft.com/office/drawing/2014/main" id="{EC8B263E-2F73-444E-B703-7E847E97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4" name="text-88">
            <a:extLst xmlns:a="http://schemas.openxmlformats.org/drawingml/2006/main">
              <a:ext uri="{FF2B5EF4-FFF2-40B4-BE49-F238E27FC236}">
                <a16:creationId xmlns:a16="http://schemas.microsoft.com/office/drawing/2014/main" id="{228013A7-EDF6-41BF-B6D6-B068C611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裁决正确率</a:t>
            </a:r>
          </a:p>
        </p:txBody>
      </p:sp>
      <p:sp>
        <p:nvSpPr>
          <p:cNvPr id="5" name="text-89">
            <a:extLst xmlns:a="http://schemas.openxmlformats.org/drawingml/2006/main">
              <a:ext uri="{FF2B5EF4-FFF2-40B4-BE49-F238E27FC236}">
                <a16:creationId xmlns:a16="http://schemas.microsoft.com/office/drawing/2014/main" id="{4F5DE1CE-C0BD-49A3-B59F-8BB697D4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状态归属正确率</a:t>
            </a:r>
          </a:p>
        </p:txBody>
      </p:sp>
      <p:sp>
        <p:nvSpPr>
          <p:cNvPr id="6" name="text-90">
            <a:extLst xmlns:a="http://schemas.openxmlformats.org/drawingml/2006/main">
              <a:ext uri="{FF2B5EF4-FFF2-40B4-BE49-F238E27FC236}">
                <a16:creationId xmlns:a16="http://schemas.microsoft.com/office/drawing/2014/main" id="{96B749BF-6AC2-485C-9743-77991931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可省查询比例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905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0ab38632314ff9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41960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bb384b9d9647f4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82486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8c0437f75d4a63"/>
          </a:graphicData>
        </a:graphic>
      </p:graphicFrame>
      <p:sp>
        <p:nvSpPr>
          <p:cNvPr id="10" name="text-91">
            <a:extLst xmlns:a="http://schemas.openxmlformats.org/drawingml/2006/main">
              <a:ext uri="{FF2B5EF4-FFF2-40B4-BE49-F238E27FC236}">
                <a16:creationId xmlns:a16="http://schemas.microsoft.com/office/drawing/2014/main" id="{FECCD6E1-43D3-406C-B11A-69FC3AA2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预注册判据 3 / 3 不达标 —— 这条线因此关闭</a:t>
            </a:r>
          </a:p>
        </p:txBody>
      </p:sp>
    </p:spTree>
    <p:extLst>
      <p:ext uri="{BB962C8B-B14F-4D97-AF65-F5344CB8AC3E}">
        <p14:creationId xmlns:p14="http://schemas.microsoft.com/office/powerpoint/2010/main" val="13706167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92">
            <a:extLst xmlns:a="http://schemas.openxmlformats.org/drawingml/2006/main">
              <a:ext uri="{FF2B5EF4-FFF2-40B4-BE49-F238E27FC236}">
                <a16:creationId xmlns:a16="http://schemas.microsoft.com/office/drawing/2014/main" id="{BD766002-EF5E-480A-BEE2-82C34692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可靠任务反馈的预算</a:t>
            </a:r>
          </a:p>
        </p:txBody>
      </p:sp>
      <p:sp>
        <p:nvSpPr>
          <p:cNvPr id="2" name="text-93">
            <a:extLst xmlns:a="http://schemas.openxmlformats.org/drawingml/2006/main">
              <a:ext uri="{FF2B5EF4-FFF2-40B4-BE49-F238E27FC236}">
                <a16:creationId xmlns:a16="http://schemas.microsoft.com/office/drawing/2014/main" id="{39C7AA1C-1F0E-45CB-886C-374DEF70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24 个任务族 × 6 个种子；200,000 环境步内曾达到 90%</a:t>
            </a:r>
          </a:p>
        </p:txBody>
      </p:sp>
      <p:sp>
        <p:nvSpPr>
          <p:cNvPr id="3" name="text-94">
            <a:extLst xmlns:a="http://schemas.openxmlformats.org/drawingml/2006/main">
              <a:ext uri="{FF2B5EF4-FFF2-40B4-BE49-F238E27FC236}">
                <a16:creationId xmlns:a16="http://schemas.microsoft.com/office/drawing/2014/main" id="{499F01B0-7AAD-42B6-BF3A-E4EC5741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1000125" y="1438275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a2c6f13039497e"/>
          </a:graphicData>
        </a:graphic>
      </p:graphicFrame>
      <p:sp>
        <p:nvSpPr>
          <p:cNvPr id="5" name="text-95">
            <a:extLst xmlns:a="http://schemas.openxmlformats.org/drawingml/2006/main">
              <a:ext uri="{FF2B5EF4-FFF2-40B4-BE49-F238E27FC236}">
                <a16:creationId xmlns:a16="http://schemas.microsoft.com/office/drawing/2014/main" id="{44B1D44F-949D-40FE-A16C-1FA15B94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 / 144</a:t>
            </a:r>
          </a:p>
        </p:txBody>
      </p:sp>
      <p:sp>
        <p:nvSpPr>
          <p:cNvPr id="6" name="text-96">
            <a:extLst xmlns:a="http://schemas.openxmlformats.org/drawingml/2006/main">
              <a:ext uri="{FF2B5EF4-FFF2-40B4-BE49-F238E27FC236}">
                <a16:creationId xmlns:a16="http://schemas.microsoft.com/office/drawing/2014/main" id="{630AC1E2-FC44-41E5-9329-E5C30C85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61 / 144</a:t>
            </a:r>
          </a:p>
        </p:txBody>
      </p:sp>
      <p:sp>
        <p:nvSpPr>
          <p:cNvPr id="7" name="text-97">
            <a:extLst xmlns:a="http://schemas.openxmlformats.org/drawingml/2006/main">
              <a:ext uri="{FF2B5EF4-FFF2-40B4-BE49-F238E27FC236}">
                <a16:creationId xmlns:a16="http://schemas.microsoft.com/office/drawing/2014/main" id="{D62FCDDB-7ABC-40EA-A51E-0682FFD4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131 / 144</a:t>
            </a:r>
          </a:p>
        </p:txBody>
      </p:sp>
      <p:sp>
        <p:nvSpPr>
          <p:cNvPr id="8" name="text-98">
            <a:extLst xmlns:a="http://schemas.openxmlformats.org/drawingml/2006/main">
              <a:ext uri="{FF2B5EF4-FFF2-40B4-BE49-F238E27FC236}">
                <a16:creationId xmlns:a16="http://schemas.microsoft.com/office/drawing/2014/main" id="{2A4221C1-A5EF-4FBB-8FDD-9ECC94DF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144 / 144</a:t>
            </a:r>
          </a:p>
        </p:txBody>
      </p:sp>
    </p:spTree>
    <p:extLst>
      <p:ext uri="{BB962C8B-B14F-4D97-AF65-F5344CB8AC3E}">
        <p14:creationId xmlns:p14="http://schemas.microsoft.com/office/powerpoint/2010/main" val="7778970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99">
            <a:extLst xmlns:a="http://schemas.openxmlformats.org/drawingml/2006/main">
              <a:ext uri="{FF2B5EF4-FFF2-40B4-BE49-F238E27FC236}">
                <a16:creationId xmlns:a16="http://schemas.microsoft.com/office/drawing/2014/main" id="{3D6C6B88-8D77-4D95-BD3C-28433381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提前使用：主动探索与被动证据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2FF09E0B-D055-407F-B6A8-FEC1E3D4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零件实验：识别前未达 95%，识别后策略相同，因此 T95 相同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187C1B01-FBB4-4E98-BA5F-6A786CD7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text-102">
            <a:extLst xmlns:a="http://schemas.openxmlformats.org/drawingml/2006/main">
              <a:ext uri="{FF2B5EF4-FFF2-40B4-BE49-F238E27FC236}">
                <a16:creationId xmlns:a16="http://schemas.microsoft.com/office/drawing/2014/main" id="{5DFAD901-5306-4189-8C4C-3B91B0D9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早期导航任务</a:t>
            </a:r>
          </a:p>
        </p:txBody>
      </p:sp>
      <p:sp>
        <p:nvSpPr>
          <p:cNvPr id="5" name="text-103">
            <a:extLst xmlns:a="http://schemas.openxmlformats.org/drawingml/2006/main">
              <a:ext uri="{FF2B5EF4-FFF2-40B4-BE49-F238E27FC236}">
                <a16:creationId xmlns:a16="http://schemas.microsoft.com/office/drawing/2014/main" id="{EA9C2B35-EA4E-46CA-839F-EDE08238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335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最新零件实验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F4C27-696D-495D-8F55-9A3443CD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F63F7-5160-43AA-98C6-397C2DDA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执行前缀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9C92F-14CD-43D1-B222-02CAE30C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后缀证据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86025" y="2390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05250" y="2686050"/>
            <a:ext cx="5238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666875" y="2686050"/>
            <a:ext cx="6000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1416D-6FF8-4FED-9AF2-0332E2EE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环境给出排列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2253FE-3EBD-4218-9B71-3A46AD87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955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选择 X / Y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20150" y="23907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5" name="text-104">
            <a:extLst xmlns:a="http://schemas.openxmlformats.org/drawingml/2006/main">
              <a:ext uri="{FF2B5EF4-FFF2-40B4-BE49-F238E27FC236}">
                <a16:creationId xmlns:a16="http://schemas.microsoft.com/office/drawing/2014/main" id="{B4987432-930B-4020-876E-3C1DB96F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95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下一幕仍由环境独立抽样</a:t>
            </a:r>
          </a:p>
        </p:txBody>
      </p:sp>
      <p:sp>
        <p:nvSpPr>
          <p:cNvPr id="16" name="text-105">
            <a:extLst xmlns:a="http://schemas.openxmlformats.org/drawingml/2006/main">
              <a:ext uri="{FF2B5EF4-FFF2-40B4-BE49-F238E27FC236}">
                <a16:creationId xmlns:a16="http://schemas.microsoft.com/office/drawing/2014/main" id="{10D4BBB5-096A-4A1D-ACD7-62A85493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434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识别前实际额外成功 / 次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515100" y="4000500"/>
          <a:ext xmlns:a="http://schemas.openxmlformats.org/drawingml/2006/main" cx="502920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7dbfac42fc456d"/>
          </a:graphicData>
        </a:graphic>
      </p:graphicFrame>
      <p:sp>
        <p:nvSpPr>
          <p:cNvPr id="18" name="text-106">
            <a:extLst xmlns:a="http://schemas.openxmlformats.org/drawingml/2006/main">
              <a:ext uri="{FF2B5EF4-FFF2-40B4-BE49-F238E27FC236}">
                <a16:creationId xmlns:a16="http://schemas.microsoft.com/office/drawing/2014/main" id="{830D69C8-D29F-4624-B9B0-B324C267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每规模 400 个配对种子</a:t>
            </a:r>
          </a:p>
        </p:txBody>
      </p:sp>
    </p:spTree>
    <p:extLst>
      <p:ext uri="{BB962C8B-B14F-4D97-AF65-F5344CB8AC3E}">
        <p14:creationId xmlns:p14="http://schemas.microsoft.com/office/powerpoint/2010/main" val="10226287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07">
            <a:extLst xmlns:a="http://schemas.openxmlformats.org/drawingml/2006/main">
              <a:ext uri="{FF2B5EF4-FFF2-40B4-BE49-F238E27FC236}">
                <a16:creationId xmlns:a16="http://schemas.microsoft.com/office/drawing/2014/main" id="{E3870696-5858-43C4-A21C-3EE4FA80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结构利用：任务路由与技能复用</a:t>
            </a:r>
          </a:p>
        </p:txBody>
      </p:sp>
      <p:sp>
        <p:nvSpPr>
          <p:cNvPr id="2" name="text-108">
            <a:extLst xmlns:a="http://schemas.openxmlformats.org/drawingml/2006/main">
              <a:ext uri="{FF2B5EF4-FFF2-40B4-BE49-F238E27FC236}">
                <a16:creationId xmlns:a16="http://schemas.microsoft.com/office/drawing/2014/main" id="{E5CB24E6-DE1D-4405-9424-3D465913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已知规则的控制消融；AUC 接近天花板，不能据此排序机制强弱</a:t>
            </a:r>
          </a:p>
        </p:txBody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4BC9F666-B10F-4BAB-A930-0A387270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E915C045-090F-4661-BAF3-B509E4B0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5" name="text-111">
            <a:extLst xmlns:a="http://schemas.openxmlformats.org/drawingml/2006/main">
              <a:ext uri="{FF2B5EF4-FFF2-40B4-BE49-F238E27FC236}">
                <a16:creationId xmlns:a16="http://schemas.microsoft.com/office/drawing/2014/main" id="{75D19F95-63A6-45B9-956D-D4F0C9B6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6" name="text-112">
            <a:extLst xmlns:a="http://schemas.openxmlformats.org/drawingml/2006/main">
              <a:ext uri="{FF2B5EF4-FFF2-40B4-BE49-F238E27FC236}">
                <a16:creationId xmlns:a16="http://schemas.microsoft.com/office/drawing/2014/main" id="{D22E2C91-AC58-45C0-BCFC-9F5B72AF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7" name="text-113">
            <a:extLst xmlns:a="http://schemas.openxmlformats.org/drawingml/2006/main">
              <a:ext uri="{FF2B5EF4-FFF2-40B4-BE49-F238E27FC236}">
                <a16:creationId xmlns:a16="http://schemas.microsoft.com/office/drawing/2014/main" id="{7256DE56-7237-4EA5-9ED8-C29C5F57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100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BCB68-65D7-4BC7-8876-BF89B49C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114">
            <a:extLst xmlns:a="http://schemas.openxmlformats.org/drawingml/2006/main">
              <a:ext uri="{FF2B5EF4-FFF2-40B4-BE49-F238E27FC236}">
                <a16:creationId xmlns:a16="http://schemas.microsoft.com/office/drawing/2014/main" id="{08B16847-4C3F-4096-99FD-98C969BF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0" name="text-115">
            <a:extLst xmlns:a="http://schemas.openxmlformats.org/drawingml/2006/main">
              <a:ext uri="{FF2B5EF4-FFF2-40B4-BE49-F238E27FC236}">
                <a16:creationId xmlns:a16="http://schemas.microsoft.com/office/drawing/2014/main" id="{E2B38D19-E4B9-4DDA-92AF-4099E249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平坦历史</a:t>
            </a:r>
          </a:p>
        </p:txBody>
      </p:sp>
      <p:sp>
        <p:nvSpPr>
          <p:cNvPr id="11" name="text-116">
            <a:extLst xmlns:a="http://schemas.openxmlformats.org/drawingml/2006/main">
              <a:ext uri="{FF2B5EF4-FFF2-40B4-BE49-F238E27FC236}">
                <a16:creationId xmlns:a16="http://schemas.microsoft.com/office/drawing/2014/main" id="{2101541F-DC74-40A2-92E7-D845FFD3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B990D-240E-4B20-8448-F0810937E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3" name="text-117">
            <a:extLst xmlns:a="http://schemas.openxmlformats.org/drawingml/2006/main">
              <a:ext uri="{FF2B5EF4-FFF2-40B4-BE49-F238E27FC236}">
                <a16:creationId xmlns:a16="http://schemas.microsoft.com/office/drawing/2014/main" id="{72DA5AF9-0FF5-4ABC-B372-97B099A7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4" name="text-118">
            <a:extLst xmlns:a="http://schemas.openxmlformats.org/drawingml/2006/main">
              <a:ext uri="{FF2B5EF4-FFF2-40B4-BE49-F238E27FC236}">
                <a16:creationId xmlns:a16="http://schemas.microsoft.com/office/drawing/2014/main" id="{B7E4DE1E-2AA4-44D5-8CAE-05EE91C1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学习型元控制</a:t>
            </a:r>
          </a:p>
        </p:txBody>
      </p:sp>
      <p:sp>
        <p:nvSpPr>
          <p:cNvPr id="15" name="text-119">
            <a:extLst xmlns:a="http://schemas.openxmlformats.org/drawingml/2006/main">
              <a:ext uri="{FF2B5EF4-FFF2-40B4-BE49-F238E27FC236}">
                <a16:creationId xmlns:a16="http://schemas.microsoft.com/office/drawing/2014/main" id="{49200CF4-F8BA-43DA-A213-5B5D3FB8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977EB8-8968-44F3-9983-DBCAA847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120">
            <a:extLst xmlns:a="http://schemas.openxmlformats.org/drawingml/2006/main">
              <a:ext uri="{FF2B5EF4-FFF2-40B4-BE49-F238E27FC236}">
                <a16:creationId xmlns:a16="http://schemas.microsoft.com/office/drawing/2014/main" id="{39DDBDF7-F835-492B-8594-945909F5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8" name="text-121">
            <a:extLst xmlns:a="http://schemas.openxmlformats.org/drawingml/2006/main">
              <a:ext uri="{FF2B5EF4-FFF2-40B4-BE49-F238E27FC236}">
                <a16:creationId xmlns:a16="http://schemas.microsoft.com/office/drawing/2014/main" id="{BE2FDE84-53D4-4DAE-9F77-14226A25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分阶段技能</a:t>
            </a:r>
          </a:p>
        </p:txBody>
      </p:sp>
      <p:sp>
        <p:nvSpPr>
          <p:cNvPr id="19" name="text-122">
            <a:extLst xmlns:a="http://schemas.openxmlformats.org/drawingml/2006/main">
              <a:ext uri="{FF2B5EF4-FFF2-40B4-BE49-F238E27FC236}">
                <a16:creationId xmlns:a16="http://schemas.microsoft.com/office/drawing/2014/main" id="{590F09E6-E3D0-4DFC-AFB5-9B7B375A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CBE32E-B97D-47B9-B3FA-B7B1ADC5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1" name="text-123">
            <a:extLst xmlns:a="http://schemas.openxmlformats.org/drawingml/2006/main">
              <a:ext uri="{FF2B5EF4-FFF2-40B4-BE49-F238E27FC236}">
                <a16:creationId xmlns:a16="http://schemas.microsoft.com/office/drawing/2014/main" id="{8A613A05-8735-4243-ADA9-FB55AF4C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22" name="text-124">
            <a:extLst xmlns:a="http://schemas.openxmlformats.org/drawingml/2006/main">
              <a:ext uri="{FF2B5EF4-FFF2-40B4-BE49-F238E27FC236}">
                <a16:creationId xmlns:a16="http://schemas.microsoft.com/office/drawing/2014/main" id="{B45AE576-51DD-4A29-BBAE-CBACB34C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共享技能</a:t>
            </a:r>
          </a:p>
        </p:txBody>
      </p:sp>
      <p:sp>
        <p:nvSpPr>
          <p:cNvPr id="23" name="text-125">
            <a:extLst xmlns:a="http://schemas.openxmlformats.org/drawingml/2006/main">
              <a:ext uri="{FF2B5EF4-FFF2-40B4-BE49-F238E27FC236}">
                <a16:creationId xmlns:a16="http://schemas.microsoft.com/office/drawing/2014/main" id="{CE4BC48A-120A-4AA3-B8A7-E001D9B5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.997</a:t>
            </a:r>
          </a:p>
        </p:txBody>
      </p:sp>
      <p:sp>
        <p:nvSpPr>
          <p:cNvPr id="24" name="text-126">
            <a:extLst xmlns:a="http://schemas.openxmlformats.org/drawingml/2006/main">
              <a:ext uri="{FF2B5EF4-FFF2-40B4-BE49-F238E27FC236}">
                <a16:creationId xmlns:a16="http://schemas.microsoft.com/office/drawing/2014/main" id="{93D91843-FE75-4A47-95F6-2B13B12E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33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first90 中位 / 环境步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6610350" y="2095500"/>
          <a:ext xmlns:a="http://schemas.openxmlformats.org/drawingml/2006/main" cx="5000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d28245a5b54999"/>
          </a:graphicData>
        </a:graphic>
      </p:graphicFrame>
      <p:sp>
        <p:nvSpPr>
          <p:cNvPr id="26" name="text-127">
            <a:extLst xmlns:a="http://schemas.openxmlformats.org/drawingml/2006/main">
              <a:ext uri="{FF2B5EF4-FFF2-40B4-BE49-F238E27FC236}">
                <a16:creationId xmlns:a16="http://schemas.microsoft.com/office/drawing/2014/main" id="{E10670D6-A3DC-4268-B31E-2B614D3A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007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QRM  AUC .972</a:t>
            </a:r>
          </a:p>
        </p:txBody>
      </p:sp>
      <p:sp>
        <p:nvSpPr>
          <p:cNvPr id="27" name="text-128">
            <a:extLst xmlns:a="http://schemas.openxmlformats.org/drawingml/2006/main">
              <a:ext uri="{FF2B5EF4-FFF2-40B4-BE49-F238E27FC236}">
                <a16:creationId xmlns:a16="http://schemas.microsoft.com/office/drawing/2014/main" id="{BA867F90-4E22-499F-9A30-180D395B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删失：Y00 有 30/720、Y01 有 10/720 次从未达标，中位数按达标者计</a:t>
            </a:r>
          </a:p>
        </p:txBody>
      </p:sp>
    </p:spTree>
    <p:extLst>
      <p:ext uri="{BB962C8B-B14F-4D97-AF65-F5344CB8AC3E}">
        <p14:creationId xmlns:p14="http://schemas.microsoft.com/office/powerpoint/2010/main" val="17344209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9">
            <a:extLst xmlns:a="http://schemas.openxmlformats.org/drawingml/2006/main">
              <a:ext uri="{FF2B5EF4-FFF2-40B4-BE49-F238E27FC236}">
                <a16:creationId xmlns:a16="http://schemas.microsoft.com/office/drawing/2014/main" id="{F4DE20FF-3D76-4BDF-AC01-E6C77492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危险格数量与达标率</a:t>
            </a:r>
          </a:p>
        </p:txBody>
      </p:sp>
      <p:sp>
        <p:nvSpPr>
          <p:cNvPr id="2" name="text-130">
            <a:extLst xmlns:a="http://schemas.openxmlformats.org/drawingml/2006/main">
              <a:ext uri="{FF2B5EF4-FFF2-40B4-BE49-F238E27FC236}">
                <a16:creationId xmlns:a16="http://schemas.microsoft.com/office/drawing/2014/main" id="{24396DE3-1BBA-448D-B0AA-48E2D6E3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已知规则；固定步费协议；100 万步预算；该扫描逐种子记录已缺失，不能重算区间</a:t>
            </a:r>
          </a:p>
        </p:txBody>
      </p:sp>
      <p:sp>
        <p:nvSpPr>
          <p:cNvPr id="3" name="text-131">
            <a:extLst xmlns:a="http://schemas.openxmlformats.org/drawingml/2006/main">
              <a:ext uri="{FF2B5EF4-FFF2-40B4-BE49-F238E27FC236}">
                <a16:creationId xmlns:a16="http://schemas.microsoft.com/office/drawing/2014/main" id="{B21A14C9-67FC-42D9-9F0E-939B4B77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66775" y="1371600"/>
          <a:ext xmlns:a="http://schemas.openxmlformats.org/drawingml/2006/main" cx="10525125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84f3cff3bd485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357CD-1380-4147-816D-CEAB8FDF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6" name="text-132">
            <a:extLst xmlns:a="http://schemas.openxmlformats.org/drawingml/2006/main">
              <a:ext uri="{FF2B5EF4-FFF2-40B4-BE49-F238E27FC236}">
                <a16:creationId xmlns:a16="http://schemas.microsoft.com/office/drawing/2014/main" id="{B4E8CCFC-0D07-47EE-BD0C-F1646F2F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7" name="text-133">
            <a:extLst xmlns:a="http://schemas.openxmlformats.org/drawingml/2006/main">
              <a:ext uri="{FF2B5EF4-FFF2-40B4-BE49-F238E27FC236}">
                <a16:creationId xmlns:a16="http://schemas.microsoft.com/office/drawing/2014/main" id="{BE3C2A79-CE63-473F-868D-26138BF0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不可逆性放大的是复用，不是路由 —— 与上一页的普通条件相反</a:t>
            </a:r>
          </a:p>
        </p:txBody>
      </p:sp>
    </p:spTree>
    <p:extLst>
      <p:ext uri="{BB962C8B-B14F-4D97-AF65-F5344CB8AC3E}">
        <p14:creationId xmlns:p14="http://schemas.microsoft.com/office/powerpoint/2010/main" val="6082524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34">
            <a:extLst xmlns:a="http://schemas.openxmlformats.org/drawingml/2006/main">
              <a:ext uri="{FF2B5EF4-FFF2-40B4-BE49-F238E27FC236}">
                <a16:creationId xmlns:a16="http://schemas.microsoft.com/office/drawing/2014/main" id="{660DC2D8-B92C-4BA4-8C69-0DB2FEC0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三层研究关系</a:t>
            </a:r>
          </a:p>
        </p:txBody>
      </p:sp>
      <p:sp>
        <p:nvSpPr>
          <p:cNvPr id="2" name="text-135">
            <a:extLst xmlns:a="http://schemas.openxmlformats.org/drawingml/2006/main">
              <a:ext uri="{FF2B5EF4-FFF2-40B4-BE49-F238E27FC236}">
                <a16:creationId xmlns:a16="http://schemas.microsoft.com/office/drawing/2014/main" id="{523170C0-749A-4CCF-A634-727CB783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text-136">
            <a:extLst xmlns:a="http://schemas.openxmlformats.org/drawingml/2006/main">
              <a:ext uri="{FF2B5EF4-FFF2-40B4-BE49-F238E27FC236}">
                <a16:creationId xmlns:a16="http://schemas.microsoft.com/office/drawing/2014/main" id="{43C07D00-A4AF-4D12-B6CE-6DBA0982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4" name="text-137">
            <a:extLst xmlns:a="http://schemas.openxmlformats.org/drawingml/2006/main">
              <a:ext uri="{FF2B5EF4-FFF2-40B4-BE49-F238E27FC236}">
                <a16:creationId xmlns:a16="http://schemas.microsoft.com/office/drawing/2014/main" id="{6EABDC1A-F6AE-4BFE-B2BB-3A6C0CFC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尚未解决</a:t>
            </a:r>
          </a:p>
        </p:txBody>
      </p:sp>
      <p:sp>
        <p:nvSpPr>
          <p:cNvPr id="5" name="text-138">
            <a:extLst xmlns:a="http://schemas.openxmlformats.org/drawingml/2006/main">
              <a:ext uri="{FF2B5EF4-FFF2-40B4-BE49-F238E27FC236}">
                <a16:creationId xmlns:a16="http://schemas.microsoft.com/office/drawing/2014/main" id="{8A084FBF-1870-4569-8F0C-F884CBD4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结构发现</a:t>
            </a:r>
          </a:p>
        </p:txBody>
      </p:sp>
      <p:sp>
        <p:nvSpPr>
          <p:cNvPr id="6" name="text-139">
            <a:extLst xmlns:a="http://schemas.openxmlformats.org/drawingml/2006/main">
              <a:ext uri="{FF2B5EF4-FFF2-40B4-BE49-F238E27FC236}">
                <a16:creationId xmlns:a16="http://schemas.microsoft.com/office/drawing/2014/main" id="{39270464-023B-40CB-80C1-4709E171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1457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受限在线闭环</a:t>
            </a:r>
          </a:p>
        </p:txBody>
      </p:sp>
      <p:sp>
        <p:nvSpPr>
          <p:cNvPr id="7" name="text-140">
            <a:extLst xmlns:a="http://schemas.openxmlformats.org/drawingml/2006/main">
              <a:ext uri="{FF2B5EF4-FFF2-40B4-BE49-F238E27FC236}">
                <a16:creationId xmlns:a16="http://schemas.microsoft.com/office/drawing/2014/main" id="{0BEAE6D6-AB33-4C2B-A61B-4EFA2B4D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14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一般规则发现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195FD-4860-40AF-8010-DA90B0EC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71838-BE69-41E8-9850-22D0F023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A7372-97BB-40FD-9DE4-393FD48C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814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911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dash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E713D-3F4E-4A19-A1D5-5D360A6B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141">
            <a:extLst xmlns:a="http://schemas.openxmlformats.org/drawingml/2006/main">
              <a:ext uri="{FF2B5EF4-FFF2-40B4-BE49-F238E27FC236}">
                <a16:creationId xmlns:a16="http://schemas.microsoft.com/office/drawing/2014/main" id="{BBF93752-8A95-488C-8DEB-3F7A1A9D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</a:t>
            </a:r>
          </a:p>
        </p:txBody>
      </p:sp>
      <p:sp>
        <p:nvSpPr>
          <p:cNvPr id="15" name="text-142">
            <a:extLst xmlns:a="http://schemas.openxmlformats.org/drawingml/2006/main">
              <a:ext uri="{FF2B5EF4-FFF2-40B4-BE49-F238E27FC236}">
                <a16:creationId xmlns:a16="http://schemas.microsoft.com/office/drawing/2014/main" id="{4F7C0674-066C-4EA4-B2F9-4F6604B5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76650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正确压缩收益</a:t>
            </a:r>
          </a:p>
        </p:txBody>
      </p:sp>
      <p:sp>
        <p:nvSpPr>
          <p:cNvPr id="16" name="text-143">
            <a:extLst xmlns:a="http://schemas.openxmlformats.org/drawingml/2006/main">
              <a:ext uri="{FF2B5EF4-FFF2-40B4-BE49-F238E27FC236}">
                <a16:creationId xmlns:a16="http://schemas.microsoft.com/office/drawing/2014/main" id="{C4B59AB7-C7C4-45D7-9262-904A2B2F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76650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可靠在线合并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C502C-7141-4279-9061-F3B38F20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0995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393D4D-C3BF-4B8B-8657-0AF599E6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481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00A74-5DA5-40D9-B141-184EB6DE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14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67175" y="3643313"/>
            <a:ext cx="1466850" cy="347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67175" y="3990975"/>
            <a:ext cx="1466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84BAE-1BAD-4D40-B22C-82E37114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144">
            <a:extLst xmlns:a="http://schemas.openxmlformats.org/drawingml/2006/main">
              <a:ext uri="{FF2B5EF4-FFF2-40B4-BE49-F238E27FC236}">
                <a16:creationId xmlns:a16="http://schemas.microsoft.com/office/drawing/2014/main" id="{CB7BC1EC-B37D-4D5F-B6D8-D15D93F9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815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</a:t>
            </a:r>
          </a:p>
        </p:txBody>
      </p:sp>
      <p:sp>
        <p:nvSpPr>
          <p:cNvPr id="24" name="text-145">
            <a:extLst xmlns:a="http://schemas.openxmlformats.org/drawingml/2006/main">
              <a:ext uri="{FF2B5EF4-FFF2-40B4-BE49-F238E27FC236}">
                <a16:creationId xmlns:a16="http://schemas.microsoft.com/office/drawing/2014/main" id="{5F78A4DA-5F03-4B20-A1FA-8B233079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3872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条件性控制收益</a:t>
            </a:r>
          </a:p>
        </p:txBody>
      </p:sp>
      <p:sp>
        <p:nvSpPr>
          <p:cNvPr id="25" name="text-146">
            <a:extLst xmlns:a="http://schemas.openxmlformats.org/drawingml/2006/main">
              <a:ext uri="{FF2B5EF4-FFF2-40B4-BE49-F238E27FC236}">
                <a16:creationId xmlns:a16="http://schemas.microsoft.com/office/drawing/2014/main" id="{9F6D29AF-491B-48D7-8324-AF3333D0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3872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机制归因与边界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57CEB6-24DF-407C-93C1-34A3F1F9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339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4F7C5D-AD9B-4342-8299-3F21FED1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CA8BDF-ACF2-4C30-894A-30F00DDD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技能</a:t>
            </a:r>
          </a:p>
        </p:txBody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781425" y="52292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62575" y="52292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29215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2026-09-16T04:39:24.6230000Z</dcterms:created>
  <dcterms:modified xsi:type="dcterms:W3CDTF">2026-09-16T04:39:24.6230000Z</dcterms:modified>
</coreProperties>
</file>